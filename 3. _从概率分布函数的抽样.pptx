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15"/>
  </p:notesMasterIdLst>
  <p:sldIdLst>
    <p:sldId id="256" r:id="rId2"/>
    <p:sldId id="367" r:id="rId3"/>
    <p:sldId id="257" r:id="rId4"/>
    <p:sldId id="298" r:id="rId5"/>
    <p:sldId id="295" r:id="rId6"/>
    <p:sldId id="385" r:id="rId7"/>
    <p:sldId id="296" r:id="rId8"/>
    <p:sldId id="365" r:id="rId9"/>
    <p:sldId id="368" r:id="rId10"/>
    <p:sldId id="297" r:id="rId11"/>
    <p:sldId id="366" r:id="rId12"/>
    <p:sldId id="259" r:id="rId13"/>
    <p:sldId id="299" r:id="rId14"/>
    <p:sldId id="300" r:id="rId15"/>
    <p:sldId id="374" r:id="rId16"/>
    <p:sldId id="264" r:id="rId17"/>
    <p:sldId id="301" r:id="rId18"/>
    <p:sldId id="268" r:id="rId19"/>
    <p:sldId id="369" r:id="rId20"/>
    <p:sldId id="386" r:id="rId21"/>
    <p:sldId id="271" r:id="rId22"/>
    <p:sldId id="302" r:id="rId23"/>
    <p:sldId id="269" r:id="rId24"/>
    <p:sldId id="370" r:id="rId25"/>
    <p:sldId id="270" r:id="rId26"/>
    <p:sldId id="371" r:id="rId27"/>
    <p:sldId id="260" r:id="rId28"/>
    <p:sldId id="375" r:id="rId29"/>
    <p:sldId id="261" r:id="rId30"/>
    <p:sldId id="262" r:id="rId31"/>
    <p:sldId id="263" r:id="rId32"/>
    <p:sldId id="373" r:id="rId33"/>
    <p:sldId id="372" r:id="rId34"/>
    <p:sldId id="384" r:id="rId35"/>
    <p:sldId id="272" r:id="rId36"/>
    <p:sldId id="273" r:id="rId37"/>
    <p:sldId id="303" r:id="rId38"/>
    <p:sldId id="304" r:id="rId39"/>
    <p:sldId id="305" r:id="rId40"/>
    <p:sldId id="306" r:id="rId41"/>
    <p:sldId id="376" r:id="rId42"/>
    <p:sldId id="377" r:id="rId43"/>
    <p:sldId id="307" r:id="rId44"/>
    <p:sldId id="308" r:id="rId45"/>
    <p:sldId id="309" r:id="rId46"/>
    <p:sldId id="387" r:id="rId47"/>
    <p:sldId id="310" r:id="rId48"/>
    <p:sldId id="378" r:id="rId49"/>
    <p:sldId id="379" r:id="rId50"/>
    <p:sldId id="311" r:id="rId51"/>
    <p:sldId id="388" r:id="rId52"/>
    <p:sldId id="389" r:id="rId53"/>
    <p:sldId id="312" r:id="rId54"/>
    <p:sldId id="380" r:id="rId55"/>
    <p:sldId id="313" r:id="rId56"/>
    <p:sldId id="314" r:id="rId57"/>
    <p:sldId id="315" r:id="rId58"/>
    <p:sldId id="316" r:id="rId59"/>
    <p:sldId id="381" r:id="rId60"/>
    <p:sldId id="382" r:id="rId61"/>
    <p:sldId id="383" r:id="rId62"/>
    <p:sldId id="317" r:id="rId63"/>
    <p:sldId id="318" r:id="rId64"/>
    <p:sldId id="319" r:id="rId65"/>
    <p:sldId id="320" r:id="rId66"/>
    <p:sldId id="321" r:id="rId67"/>
    <p:sldId id="274" r:id="rId68"/>
    <p:sldId id="275" r:id="rId69"/>
    <p:sldId id="322" r:id="rId70"/>
    <p:sldId id="323" r:id="rId71"/>
    <p:sldId id="276" r:id="rId72"/>
    <p:sldId id="277" r:id="rId73"/>
    <p:sldId id="324" r:id="rId74"/>
    <p:sldId id="278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214E4"/>
    <a:srgbClr val="0C1CE8"/>
    <a:srgbClr val="7300FF"/>
    <a:srgbClr val="ACF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7" autoAdjust="0"/>
    <p:restoredTop sz="90884"/>
  </p:normalViewPr>
  <p:slideViewPr>
    <p:cSldViewPr>
      <p:cViewPr varScale="1">
        <p:scale>
          <a:sx n="84" d="100"/>
          <a:sy n="84" d="100"/>
        </p:scale>
        <p:origin x="216" y="8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5C186-E596-FF4A-9CDF-7255D9415A82}" type="datetimeFigureOut">
              <a:rPr kumimoji="1" lang="zh-CN" altLang="en-US" smtClean="0"/>
              <a:t>2026/4/15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6BA06-7855-0444-BDBD-699CC54E5B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556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这里</a:t>
            </a:r>
            <a:r>
              <a:rPr lang="el-GR" altLang="zh-CN" dirty="0"/>
              <a:t>δ(</a:t>
            </a:r>
            <a:r>
              <a:rPr lang="en-US" altLang="zh-CN" dirty="0"/>
              <a:t>x−xi​) </a:t>
            </a:r>
            <a:r>
              <a:rPr lang="zh-CN" altLang="en-US" dirty="0"/>
              <a:t>是在 </a:t>
            </a:r>
            <a:r>
              <a:rPr lang="en-US" altLang="zh-CN" dirty="0"/>
              <a:t>x=xi​ </a:t>
            </a:r>
            <a:r>
              <a:rPr lang="zh-CN" altLang="en-US" dirty="0"/>
              <a:t>处的“无限窄且面积为</a:t>
            </a:r>
            <a:r>
              <a:rPr lang="en-US" altLang="zh-CN" dirty="0"/>
              <a:t>1”</a:t>
            </a:r>
            <a:r>
              <a:rPr lang="zh-CN" altLang="en-US" dirty="0"/>
              <a:t>的脉冲。</a:t>
            </a:r>
          </a:p>
          <a:p>
            <a:r>
              <a:rPr lang="zh-CN" altLang="en-US" dirty="0"/>
              <a:t>每个点 </a:t>
            </a:r>
            <a:r>
              <a:rPr lang="en-US" altLang="zh-CN" dirty="0"/>
              <a:t>xi​ </a:t>
            </a:r>
            <a:r>
              <a:rPr lang="zh-CN" altLang="en-US" dirty="0"/>
              <a:t>处都对应了概率 </a:t>
            </a:r>
            <a:r>
              <a:rPr lang="en-US" altLang="zh-CN" dirty="0"/>
              <a:t>pi</a:t>
            </a:r>
            <a:r>
              <a:rPr lang="zh-CN" altLang="en-US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6BA06-7855-0444-BDBD-699CC54E5BD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725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89D30-5DA2-4944-8DBC-10E4971450C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450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7F04-24D7-5C44-939D-5E862B67BF0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82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CFED-07E6-BA44-9E99-AC5962DA8C0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122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B08FF-FB2D-C147-A7D5-6CBBC61F4CF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6255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947A8-1209-9B45-9995-840CF65140D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07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DEF6-39DF-BB45-BFD2-75E7087D7AC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25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4D2A-8698-E347-B2CF-96B1885CA1D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49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0BBA5-8A67-5C47-9EA3-BFD9CAF15A4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905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B8B30-B9CB-064B-AAB7-C4B77EFD7D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644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84825-930F-464E-B7DE-C7E46FC6CC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97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69D8-E158-294C-9C51-68F967025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17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0833" y="376571"/>
            <a:ext cx="10515600" cy="757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6F477-B192-E94F-8F86-4D46288796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37579861-B1E2-1FB5-A5A3-F245DE8CDFE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12208933" cy="757238"/>
            <a:chOff x="0" y="0"/>
            <a:chExt cx="5768" cy="477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D3EBFD03-739A-1A36-38EB-3AA6A1185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0EC6B78D-2DE8-D55F-2DA6-A337F06F6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057F520-767D-D4A8-1472-13E500D1CE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026FD8-EC0F-D491-3846-6D82308AD3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7878FF0A-BFE4-3B45-BA32-E8592A3D5B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448EEE1-C6F0-F18A-9B48-DF42508C5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1527D2F-AAF2-24AD-E4EA-FE0D941C57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22A750F6-4D5B-7323-2296-267D6C75E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2BD3EE65-925D-C8C2-2EEF-B200A1EECD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232F5A24-E899-75BB-5982-74F877E89E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D0F70240-347B-561A-B296-5C0CDE2F24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0D7CCEB1-2ACF-FAA7-2D10-9766BA008A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62B600CD-C285-5C88-1D2F-1E5B435AF3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0A7E7A00-E27F-A824-90FA-ADBB8193B1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F793990F-CF33-236D-490B-49A392CC09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CEA1B350-E365-785C-D4DE-B7C0EE7DF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53A0369E-CA6D-3A9A-FDF4-3B70D1E2C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EFC3428A-FF42-01E9-7F38-90B5B25ECE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E809EEC5-BA05-9ED0-7741-3535BB335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F8CB0077-C4C9-4A30-2756-07B291B69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932A05E0-6D85-7B84-7C73-EE82D5B902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8D47CDD3-D912-9ADB-D9B6-B599BF8B03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4928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9.emf"/><Relationship Id="rId5" Type="http://schemas.openxmlformats.org/officeDocument/2006/relationships/image" Target="../media/image36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oleObject" Target="../embeddings/oleObject2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31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52.emf"/><Relationship Id="rId3" Type="http://schemas.openxmlformats.org/officeDocument/2006/relationships/image" Target="../media/image11.e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38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51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50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4.emf"/><Relationship Id="rId10" Type="http://schemas.openxmlformats.org/officeDocument/2006/relationships/image" Target="../media/image57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emf"/><Relationship Id="rId4" Type="http://schemas.openxmlformats.org/officeDocument/2006/relationships/oleObject" Target="../embeddings/oleObject43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emf"/><Relationship Id="rId4" Type="http://schemas.openxmlformats.org/officeDocument/2006/relationships/oleObject" Target="../embeddings/oleObject45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emf"/><Relationship Id="rId4" Type="http://schemas.openxmlformats.org/officeDocument/2006/relationships/oleObject" Target="../embeddings/oleObject48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75.emf"/><Relationship Id="rId7" Type="http://schemas.openxmlformats.org/officeDocument/2006/relationships/image" Target="../media/image77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76.e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78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0.emf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89.emf"/><Relationship Id="rId4" Type="http://schemas.openxmlformats.org/officeDocument/2006/relationships/oleObject" Target="../embeddings/oleObject54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93.emf"/><Relationship Id="rId3" Type="http://schemas.openxmlformats.org/officeDocument/2006/relationships/image" Target="../media/image88.png"/><Relationship Id="rId7" Type="http://schemas.openxmlformats.org/officeDocument/2006/relationships/image" Target="../media/image90.emf"/><Relationship Id="rId12" Type="http://schemas.openxmlformats.org/officeDocument/2006/relationships/oleObject" Target="../embeddings/oleObject58.bin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92.emf"/><Relationship Id="rId5" Type="http://schemas.openxmlformats.org/officeDocument/2006/relationships/image" Target="../media/image89.e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91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94.emf"/><Relationship Id="rId7" Type="http://schemas.openxmlformats.org/officeDocument/2006/relationships/image" Target="../media/image89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95.emf"/><Relationship Id="rId5" Type="http://schemas.openxmlformats.org/officeDocument/2006/relationships/image" Target="../media/image88.png"/><Relationship Id="rId10" Type="http://schemas.openxmlformats.org/officeDocument/2006/relationships/oleObject" Target="../embeddings/oleObject60.bin"/><Relationship Id="rId4" Type="http://schemas.openxmlformats.org/officeDocument/2006/relationships/image" Target="../media/image87.jpeg"/><Relationship Id="rId9" Type="http://schemas.openxmlformats.org/officeDocument/2006/relationships/image" Target="../media/image90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7" Type="http://schemas.openxmlformats.org/officeDocument/2006/relationships/image" Target="../media/image93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98.emf"/><Relationship Id="rId4" Type="http://schemas.openxmlformats.org/officeDocument/2006/relationships/oleObject" Target="../embeddings/oleObject63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100.emf"/><Relationship Id="rId7" Type="http://schemas.openxmlformats.org/officeDocument/2006/relationships/image" Target="../media/image102.e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101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103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emf"/><Relationship Id="rId4" Type="http://schemas.openxmlformats.org/officeDocument/2006/relationships/oleObject" Target="../embeddings/oleObject71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emf"/><Relationship Id="rId4" Type="http://schemas.openxmlformats.org/officeDocument/2006/relationships/oleObject" Target="../embeddings/oleObject73.bin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emf"/><Relationship Id="rId4" Type="http://schemas.openxmlformats.org/officeDocument/2006/relationships/oleObject" Target="../embeddings/oleObject75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114.emf"/><Relationship Id="rId7" Type="http://schemas.openxmlformats.org/officeDocument/2006/relationships/image" Target="../media/image116.e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115.e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17.e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image" Target="../media/image118.emf"/><Relationship Id="rId7" Type="http://schemas.openxmlformats.org/officeDocument/2006/relationships/image" Target="../media/image120.e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122.emf"/><Relationship Id="rId5" Type="http://schemas.openxmlformats.org/officeDocument/2006/relationships/image" Target="../media/image119.e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121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7" Type="http://schemas.openxmlformats.org/officeDocument/2006/relationships/image" Target="../media/image127.e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126.emf"/><Relationship Id="rId4" Type="http://schemas.openxmlformats.org/officeDocument/2006/relationships/oleObject" Target="../embeddings/oleObject91.bin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128.emf"/><Relationship Id="rId7" Type="http://schemas.openxmlformats.org/officeDocument/2006/relationships/image" Target="../media/image130.e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5.bin"/><Relationship Id="rId5" Type="http://schemas.openxmlformats.org/officeDocument/2006/relationships/image" Target="../media/image129.e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31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emf"/><Relationship Id="rId4" Type="http://schemas.openxmlformats.org/officeDocument/2006/relationships/oleObject" Target="../embeddings/oleObject100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emf"/><Relationship Id="rId4" Type="http://schemas.openxmlformats.org/officeDocument/2006/relationships/oleObject" Target="../embeddings/oleObject102.bin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image" Target="../media/image138.emf"/><Relationship Id="rId7" Type="http://schemas.openxmlformats.org/officeDocument/2006/relationships/image" Target="../media/image140.e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42.emf"/><Relationship Id="rId5" Type="http://schemas.openxmlformats.org/officeDocument/2006/relationships/image" Target="../media/image139.e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41.emf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50.emf"/><Relationship Id="rId3" Type="http://schemas.openxmlformats.org/officeDocument/2006/relationships/image" Target="../media/image143.emf"/><Relationship Id="rId7" Type="http://schemas.openxmlformats.org/officeDocument/2006/relationships/image" Target="../media/image145.emf"/><Relationship Id="rId12" Type="http://schemas.openxmlformats.org/officeDocument/2006/relationships/oleObject" Target="../embeddings/oleObject113.bin"/><Relationship Id="rId17" Type="http://schemas.openxmlformats.org/officeDocument/2006/relationships/oleObject" Target="../embeddings/oleObject116.bin"/><Relationship Id="rId2" Type="http://schemas.openxmlformats.org/officeDocument/2006/relationships/oleObject" Target="../embeddings/oleObject108.bin"/><Relationship Id="rId16" Type="http://schemas.openxmlformats.org/officeDocument/2006/relationships/image" Target="../media/image14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47.emf"/><Relationship Id="rId5" Type="http://schemas.openxmlformats.org/officeDocument/2006/relationships/image" Target="../media/image144.emf"/><Relationship Id="rId15" Type="http://schemas.openxmlformats.org/officeDocument/2006/relationships/oleObject" Target="../embeddings/oleObject115.bin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46.emf"/><Relationship Id="rId14" Type="http://schemas.openxmlformats.org/officeDocument/2006/relationships/image" Target="../media/image148.e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48.emf"/><Relationship Id="rId18" Type="http://schemas.openxmlformats.org/officeDocument/2006/relationships/oleObject" Target="../embeddings/oleObject123.bin"/><Relationship Id="rId3" Type="http://schemas.openxmlformats.org/officeDocument/2006/relationships/image" Target="../media/image143.emf"/><Relationship Id="rId7" Type="http://schemas.openxmlformats.org/officeDocument/2006/relationships/image" Target="../media/image152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56.emf"/><Relationship Id="rId2" Type="http://schemas.openxmlformats.org/officeDocument/2006/relationships/oleObject" Target="../embeddings/oleObject108.bin"/><Relationship Id="rId16" Type="http://schemas.openxmlformats.org/officeDocument/2006/relationships/oleObject" Target="../embeddings/oleObject1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54.emf"/><Relationship Id="rId5" Type="http://schemas.openxmlformats.org/officeDocument/2006/relationships/image" Target="../media/image151.emf"/><Relationship Id="rId15" Type="http://schemas.openxmlformats.org/officeDocument/2006/relationships/image" Target="../media/image155.emf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57.e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53.emf"/><Relationship Id="rId14" Type="http://schemas.openxmlformats.org/officeDocument/2006/relationships/oleObject" Target="../embeddings/oleObject121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7" Type="http://schemas.openxmlformats.org/officeDocument/2006/relationships/image" Target="../media/image160.emf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6.bin"/><Relationship Id="rId5" Type="http://schemas.openxmlformats.org/officeDocument/2006/relationships/image" Target="../media/image159.emf"/><Relationship Id="rId4" Type="http://schemas.openxmlformats.org/officeDocument/2006/relationships/oleObject" Target="../embeddings/oleObject125.bin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67.emf"/><Relationship Id="rId3" Type="http://schemas.openxmlformats.org/officeDocument/2006/relationships/image" Target="../media/image162.emf"/><Relationship Id="rId7" Type="http://schemas.openxmlformats.org/officeDocument/2006/relationships/image" Target="../media/image164.emf"/><Relationship Id="rId12" Type="http://schemas.openxmlformats.org/officeDocument/2006/relationships/oleObject" Target="../embeddings/oleObject133.bin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66.emf"/><Relationship Id="rId5" Type="http://schemas.openxmlformats.org/officeDocument/2006/relationships/image" Target="../media/image163.emf"/><Relationship Id="rId15" Type="http://schemas.openxmlformats.org/officeDocument/2006/relationships/image" Target="../media/image168.emf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65.emf"/><Relationship Id="rId14" Type="http://schemas.openxmlformats.org/officeDocument/2006/relationships/oleObject" Target="../embeddings/oleObject134.bin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emf"/><Relationship Id="rId4" Type="http://schemas.openxmlformats.org/officeDocument/2006/relationships/oleObject" Target="../embeddings/oleObject136.bin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7" Type="http://schemas.openxmlformats.org/officeDocument/2006/relationships/image" Target="../media/image173.emf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9.bin"/><Relationship Id="rId5" Type="http://schemas.openxmlformats.org/officeDocument/2006/relationships/image" Target="../media/image172.emf"/><Relationship Id="rId4" Type="http://schemas.openxmlformats.org/officeDocument/2006/relationships/oleObject" Target="../embeddings/oleObject138.bin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emf"/><Relationship Id="rId4" Type="http://schemas.openxmlformats.org/officeDocument/2006/relationships/oleObject" Target="../embeddings/oleObject1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67A2726-99F3-54A4-2B35-3E9AED6D3A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模拟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C9DF9AB-28F0-1A4C-FD95-1C08399C2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27076" y="2334761"/>
            <a:ext cx="9337848" cy="26304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第三章 </a:t>
            </a:r>
            <a:b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从概率分布函数的抽样</a:t>
            </a:r>
            <a:b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en-US" altLang="zh-CN" sz="20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(Sampling from Probability Distribution Functions)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4E6C-026E-6533-88DF-64F102A5A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ECD2A2-58B4-3407-6F38-88238CB41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0"/>
            <a:ext cx="7772400" cy="685800"/>
          </a:xfrm>
        </p:spPr>
        <p:txBody>
          <a:bodyPr/>
          <a:lstStyle/>
          <a:p>
            <a:r>
              <a:rPr lang="zh-CN" altLang="en-US" sz="32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第三章 从概率分布函数的抽样</a:t>
            </a:r>
            <a:endParaRPr lang="zh-CN" altLang="en-US" sz="2000" b="1" u="sng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8BEAC04-D55B-855A-1F19-15C60D121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990600"/>
            <a:ext cx="583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en-US" altLang="zh-CN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算法的一个重要组成部分：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735BD21-357F-22DD-CDF0-FFF7379A6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524000"/>
            <a:ext cx="815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81013" indent="-4810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241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4319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22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描述所要模拟的物理系统的一些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概率密度函数（</a:t>
            </a:r>
            <a:r>
              <a:rPr lang="en-US" altLang="zh-CN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PDF)</a:t>
            </a:r>
            <a:endParaRPr lang="en-US" altLang="zh-CN" b="1" dirty="0">
              <a:solidFill>
                <a:srgbClr val="0C1CE8"/>
              </a:solidFill>
              <a:latin typeface="Comic Sans MS" panose="030F0902030302020204" pitchFamily="66" charset="0"/>
              <a:ea typeface="楷体_GB2312" pitchFamily="49" charset="-122"/>
              <a:sym typeface="Wingdings" pitchFamily="2" charset="2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BE56F42E-38D7-FF0B-F026-F1ADAA75C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072483"/>
            <a:ext cx="7696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5763" indent="-38576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626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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描述整个系统在空间、能量、时间或多维相空间中的发展和演化；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377C80-005B-8CEB-7CB1-90AA410307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16456" y="3145472"/>
            <a:ext cx="3979545" cy="2721928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38E8FF45-1DD2-7604-F0E1-7AC42EABF4E5}"/>
              </a:ext>
            </a:extLst>
          </p:cNvPr>
          <p:cNvSpPr/>
          <p:nvPr/>
        </p:nvSpPr>
        <p:spPr>
          <a:xfrm>
            <a:off x="4498017" y="4360314"/>
            <a:ext cx="619760" cy="6197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</a:rPr>
              <a:t>肿瘤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D0EE4B-084B-3413-B2F1-F2E0E323D607}"/>
              </a:ext>
            </a:extLst>
          </p:cNvPr>
          <p:cNvSpPr txBox="1"/>
          <p:nvPr/>
        </p:nvSpPr>
        <p:spPr>
          <a:xfrm>
            <a:off x="6186120" y="3676472"/>
            <a:ext cx="4158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5763" indent="-385763">
              <a:buFont typeface="Arial" panose="020B0604020202020204" pitchFamily="34" charset="0"/>
              <a:buChar char="•"/>
            </a:pPr>
            <a:r>
              <a:rPr lang="el-GR" altLang="zh-CN" b="1" dirty="0">
                <a:solidFill>
                  <a:srgbClr val="050507"/>
                </a:solidFill>
                <a:ea typeface="楷体_GB2312" pitchFamily="49" charset="-122"/>
              </a:rPr>
              <a:t>γ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射线穿过组织后的能量沉积分布</a:t>
            </a:r>
            <a:endParaRPr lang="en-US" altLang="zh-CN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  <a:p>
            <a:pPr marL="385763" indent="-385763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  <a:p>
            <a:pPr marL="385763" indent="-385763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质子、重离子的能量沉积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39507D-ED79-D840-B75A-87F3B6EEA1EB}"/>
              </a:ext>
            </a:extLst>
          </p:cNvPr>
          <p:cNvSpPr txBox="1"/>
          <p:nvPr/>
        </p:nvSpPr>
        <p:spPr>
          <a:xfrm>
            <a:off x="1991544" y="5911698"/>
            <a:ext cx="4582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accent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已将剂量归一化，曲线下面积为</a:t>
            </a:r>
            <a:r>
              <a:rPr lang="en-US" altLang="zh-CN" dirty="0">
                <a:solidFill>
                  <a:schemeClr val="accent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dirty="0">
                <a:solidFill>
                  <a:schemeClr val="accent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，可表示为粒子到达某个特定深度的概率密度</a:t>
            </a:r>
          </a:p>
        </p:txBody>
      </p:sp>
    </p:spTree>
    <p:extLst>
      <p:ext uri="{BB962C8B-B14F-4D97-AF65-F5344CB8AC3E}">
        <p14:creationId xmlns:p14="http://schemas.microsoft.com/office/powerpoint/2010/main" val="353179877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81" grpId="0"/>
      <p:bldP spid="3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D832F53-08C4-EFDE-36E2-63C0F6E8A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0"/>
            <a:ext cx="7772400" cy="685800"/>
          </a:xfrm>
        </p:spPr>
        <p:txBody>
          <a:bodyPr/>
          <a:lstStyle/>
          <a:p>
            <a:r>
              <a:rPr lang="zh-CN" altLang="en-US" sz="32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第三章 从概率分布函数的抽样</a:t>
            </a:r>
            <a:endParaRPr lang="zh-CN" altLang="en-US" sz="2000" b="1" u="sng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1FCBB98-65B2-1A1C-8267-825FD1D38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990600"/>
            <a:ext cx="443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模拟的主要任务</a:t>
            </a:r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: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FA22D45-7829-5636-80F9-BAD46A3AE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4" y="1782553"/>
            <a:ext cx="8377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7325" indent="-187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02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779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256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33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0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877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4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2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通过对这些概率密度函数的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随机抽样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来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模拟物理系统的状态</a:t>
            </a:r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;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EB2261E-145D-9FAC-E4AC-30009428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2505510"/>
            <a:ext cx="82744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4163" indent="-28416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02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779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256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338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05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877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49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2188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随机抽样的数值将输入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物理模型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中去推演，是描述系统的演化所必需的一些附加运算</a:t>
            </a:r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.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AC9C5EED-40A5-38E4-15E1-B6CF37020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4437113"/>
            <a:ext cx="891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/>
            <a:r>
              <a:rPr lang="zh-CN" altLang="en-US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</a:rPr>
              <a:t>小结：物理过程的描述 </a:t>
            </a:r>
            <a:r>
              <a:rPr lang="zh-CN" altLang="en-US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 从描述物理系统的</a:t>
            </a:r>
            <a:r>
              <a:rPr lang="en-US" altLang="zh-CN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pdf</a:t>
            </a:r>
            <a:r>
              <a:rPr lang="zh-CN" altLang="en-US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出发，随机抽取</a:t>
            </a:r>
            <a:r>
              <a:rPr lang="en-US" altLang="zh-CN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			</a:t>
            </a:r>
            <a:r>
              <a:rPr lang="zh-CN" altLang="en-US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         系统的可能状态，再输入物理模型中，</a:t>
            </a:r>
            <a:r>
              <a:rPr lang="en-US" altLang="zh-CN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			</a:t>
            </a:r>
            <a:r>
              <a:rPr lang="zh-CN" altLang="en-US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         实现仿真模拟。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autoUpdateAnimBg="0"/>
      <p:bldP spid="3078" grpId="0" autoUpdateAnimBg="0"/>
      <p:bldP spid="3079" grpId="0" autoUpdateAnimBg="0"/>
      <p:bldP spid="308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ADE94-4F01-A75A-F16A-D1BD01097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692696"/>
            <a:ext cx="7772400" cy="93610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3.1</a:t>
            </a:r>
            <a:r>
              <a:rPr lang="zh-CN" altLang="en-US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 等价的连续概率密度函数</a:t>
            </a:r>
            <a:endParaRPr lang="en-US" altLang="zh-CN" sz="2400" b="1" dirty="0">
              <a:solidFill>
                <a:srgbClr val="050507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3.2</a:t>
            </a:r>
            <a:r>
              <a:rPr lang="zh-CN" altLang="en-US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pdf</a:t>
            </a:r>
            <a:r>
              <a:rPr lang="zh-CN" altLang="en-US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的变换</a:t>
            </a:r>
            <a:endParaRPr lang="en-US" altLang="zh-CN" sz="2400" b="1" dirty="0">
              <a:solidFill>
                <a:srgbClr val="050507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2400" b="1" dirty="0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A7E175-1BD7-71D5-01B9-3C16343DDC87}"/>
              </a:ext>
            </a:extLst>
          </p:cNvPr>
          <p:cNvSpPr txBox="1"/>
          <p:nvPr/>
        </p:nvSpPr>
        <p:spPr>
          <a:xfrm>
            <a:off x="1847528" y="4636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ahoma" panose="020B0604030504040204" pitchFamily="34" charset="0"/>
                <a:ea typeface="楷体_GB2312" pitchFamily="49" charset="-122"/>
              </a:rPr>
              <a:t>目录：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87FA8F-75AA-9145-0FB9-A05A24C78248}"/>
              </a:ext>
            </a:extLst>
          </p:cNvPr>
          <p:cNvSpPr txBox="1"/>
          <p:nvPr/>
        </p:nvSpPr>
        <p:spPr>
          <a:xfrm>
            <a:off x="2218427" y="1963196"/>
            <a:ext cx="7414592" cy="388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本章介绍</a:t>
            </a:r>
            <a:r>
              <a:rPr lang="zh-CN" altLang="en-US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从一个任意的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pdf</a:t>
            </a:r>
            <a:r>
              <a:rPr lang="zh-CN" altLang="en-US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获取样本的抽样方法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：</a:t>
            </a:r>
            <a:endParaRPr lang="en-US" altLang="zh-CN" sz="2400" b="1" dirty="0">
              <a:solidFill>
                <a:srgbClr val="050507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3.3</a:t>
            </a:r>
            <a:r>
              <a:rPr kumimoji="1" lang="zh-CN" altLang="en-US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直接抽样法（反函数法）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3.4</a:t>
            </a:r>
            <a:r>
              <a:rPr lang="zh-CN" altLang="en-US" sz="24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变换抽样法</a:t>
            </a:r>
            <a:r>
              <a:rPr lang="en-US" altLang="zh-CN" sz="2400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sz="2400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直接抽样法的一般形式</a:t>
            </a:r>
            <a:endParaRPr lang="en-US" altLang="zh-CN" sz="2400" b="1" dirty="0">
              <a:solidFill>
                <a:srgbClr val="050507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050507"/>
                </a:solidFill>
                <a:latin typeface="Comic Sans MS" charset="0"/>
                <a:ea typeface="楷体_GB2312" charset="0"/>
              </a:rPr>
              <a:t>3.5</a:t>
            </a:r>
            <a:r>
              <a:rPr kumimoji="1" lang="zh-CN" altLang="en-US" sz="2400" b="1" dirty="0">
                <a:solidFill>
                  <a:srgbClr val="050507"/>
                </a:solidFill>
                <a:latin typeface="Comic Sans MS" charset="0"/>
                <a:ea typeface="楷体_GB2312" charset="0"/>
              </a:rPr>
              <a:t> </a:t>
            </a:r>
            <a:r>
              <a:rPr lang="zh-CN" altLang="en-US" sz="24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舍选抽样法</a:t>
            </a:r>
            <a:endParaRPr lang="en-US" altLang="zh-CN" sz="2400" b="1" dirty="0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dirty="0"/>
              <a:t>3.6</a:t>
            </a:r>
            <a:r>
              <a:rPr kumimoji="1" lang="zh-CN" altLang="en-US" sz="2400" dirty="0"/>
              <a:t>  </a:t>
            </a:r>
            <a:r>
              <a:rPr lang="zh-CN" altLang="en-US" sz="2400" b="1" dirty="0">
                <a:solidFill>
                  <a:srgbClr val="02020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复合分布的抽样方法</a:t>
            </a:r>
            <a:endParaRPr lang="en-US" altLang="zh-CN" sz="2400" b="1" dirty="0">
              <a:solidFill>
                <a:srgbClr val="02020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panose="030F0902030302020204" pitchFamily="66" charset="0"/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02020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</a:t>
            </a:r>
            <a:r>
              <a:rPr kumimoji="1" lang="zh-CN" altLang="en-US" sz="2400" b="1" dirty="0">
                <a:solidFill>
                  <a:srgbClr val="02020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混合抽样法</a:t>
            </a:r>
            <a:endParaRPr lang="en-US" altLang="zh-CN" sz="2400" b="1" dirty="0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3.8</a:t>
            </a:r>
            <a:r>
              <a:rPr lang="zh-CN" altLang="en-US" sz="24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近似抽样法（列表法</a:t>
            </a:r>
            <a:r>
              <a:rPr lang="en-US" altLang="zh-CN" sz="24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3.9</a:t>
            </a:r>
            <a:r>
              <a:rPr lang="zh-CN" altLang="en-US" sz="24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charset="0"/>
                <a:ea typeface="楷体_GB2312" charset="0"/>
                <a:cs typeface="楷体_GB2312" charset="0"/>
              </a:rPr>
              <a:t>多维分布的抽样</a:t>
            </a:r>
            <a:endParaRPr lang="en-US" altLang="zh-CN" sz="2400" b="1" dirty="0"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B25B7B-ABA6-07C4-3093-564861EC7A85}"/>
              </a:ext>
            </a:extLst>
          </p:cNvPr>
          <p:cNvSpPr txBox="1"/>
          <p:nvPr/>
        </p:nvSpPr>
        <p:spPr>
          <a:xfrm>
            <a:off x="2230433" y="5733256"/>
            <a:ext cx="4583016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20202"/>
                </a:solidFill>
                <a:latin typeface="Times New Roman" charset="0"/>
                <a:ea typeface="楷体_GB2312" pitchFamily="49" charset="-122"/>
              </a:rPr>
              <a:t>3.1</a:t>
            </a:r>
            <a:r>
              <a:rPr lang="en-US" altLang="zh-CN" sz="2400" b="1" dirty="0">
                <a:solidFill>
                  <a:srgbClr val="020202"/>
                </a:solidFill>
                <a:latin typeface="Times New Roman" charset="0"/>
                <a:ea typeface="楷体_GB2312" charset="0"/>
              </a:rPr>
              <a:t>0</a:t>
            </a:r>
            <a:r>
              <a:rPr lang="zh-CN" altLang="en-US" sz="2400" b="1" dirty="0">
                <a:solidFill>
                  <a:srgbClr val="020202"/>
                </a:solidFill>
                <a:latin typeface="Times New Roman" charset="0"/>
                <a:ea typeface="楷体_GB2312" charset="0"/>
              </a:rPr>
              <a:t> </a:t>
            </a:r>
            <a:r>
              <a:rPr lang="en-US" altLang="zh-CN" sz="2400" b="1" dirty="0">
                <a:solidFill>
                  <a:srgbClr val="030305"/>
                </a:solidFill>
                <a:latin typeface="Comic Sans MS" charset="0"/>
                <a:ea typeface="楷体_GB2312" charset="0"/>
                <a:cs typeface="楷体_GB2312" charset="0"/>
              </a:rPr>
              <a:t>Metropolis</a:t>
            </a:r>
            <a:r>
              <a:rPr lang="zh-CN" altLang="en-US" sz="2400" b="1" dirty="0">
                <a:solidFill>
                  <a:srgbClr val="030305"/>
                </a:solidFill>
                <a:latin typeface="Comic Sans MS" charset="0"/>
                <a:ea typeface="楷体_GB2312" charset="0"/>
                <a:cs typeface="楷体_GB2312" charset="0"/>
              </a:rPr>
              <a:t>抽样方法</a:t>
            </a:r>
            <a:endParaRPr lang="en-US" altLang="zh-CN" sz="2400" b="1" dirty="0">
              <a:solidFill>
                <a:srgbClr val="020202"/>
              </a:solidFill>
              <a:latin typeface="Comic Sans MS" panose="030F0902030302020204" pitchFamily="66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562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527216D-EC03-A8D6-A9B1-72D1311C09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模拟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1F3403B-A775-D112-E443-06A9926016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1371600"/>
          </a:xfrm>
        </p:spPr>
        <p:txBody>
          <a:bodyPr/>
          <a:lstStyle/>
          <a:p>
            <a: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第三章 </a:t>
            </a:r>
            <a:b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从概率分布函数的抽样</a:t>
            </a:r>
            <a:b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en-US" altLang="zh-CN" sz="2000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(Sampling from Probability Distribution Functions)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3ACD8191-8FE1-267C-8F1C-6423422DB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4114800"/>
            <a:ext cx="31582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3.1 </a:t>
            </a:r>
            <a:r>
              <a:rPr lang="zh-CN" altLang="en-US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等价的连续概率密度函数</a:t>
            </a:r>
            <a:endParaRPr lang="en-US" altLang="zh-CN" b="1" dirty="0">
              <a:solidFill>
                <a:srgbClr val="050507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76F59-58D8-1620-9C47-5DCB4148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F84C0-C511-688B-C1A0-97C016EB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b="1" dirty="0">
              <a:solidFill>
                <a:srgbClr val="050507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514350" indent="-514350">
              <a:buAutoNum type="arabicPeriod"/>
            </a:pP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函数引入</a:t>
            </a:r>
            <a:endParaRPr lang="en-US" altLang="zh-CN" b="1" dirty="0">
              <a:solidFill>
                <a:srgbClr val="0C1CE8"/>
              </a:solidFill>
              <a:latin typeface="Comic Sans MS" panose="030F0902030302020204" pitchFamily="66" charset="0"/>
              <a:ea typeface="楷体_GB2312" pitchFamily="49" charset="-122"/>
              <a:sym typeface="Symbol" pitchFamily="2" charset="2"/>
            </a:endParaRPr>
          </a:p>
          <a:p>
            <a:pPr marL="914400" lvl="1" indent="-514350"/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离散型随机变量的分布列 </a:t>
            </a:r>
            <a:r>
              <a:rPr lang="en-US" altLang="zh-CN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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连续性随机变量的</a:t>
            </a:r>
            <a:r>
              <a:rPr lang="en-US" altLang="zh-CN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pdf</a:t>
            </a:r>
          </a:p>
          <a:p>
            <a:pPr marL="400050" lvl="1" indent="0">
              <a:buNone/>
            </a:pPr>
            <a:endParaRPr lang="en-US" altLang="zh-CN" b="1" dirty="0">
              <a:solidFill>
                <a:srgbClr val="0C1CE8"/>
              </a:solidFill>
              <a:latin typeface="Comic Sans MS" panose="030F0902030302020204" pitchFamily="66" charset="0"/>
              <a:ea typeface="楷体_GB2312" pitchFamily="49" charset="-122"/>
              <a:sym typeface="Symbol" pitchFamily="2" charset="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2.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函数本质</a:t>
            </a:r>
            <a:endParaRPr lang="zh-CN" altLang="en-US" b="1" dirty="0">
              <a:solidFill>
                <a:srgbClr val="050507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32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4AFACA2-03B6-E3BF-E266-5647B2451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3.1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等价的连续概率密度函数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AF47FDB-558D-4AFE-88C7-9B9C5E8C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1905001"/>
            <a:ext cx="5497513" cy="3211513"/>
          </a:xfrm>
          <a:prstGeom prst="rect">
            <a:avLst/>
          </a:prstGeom>
          <a:solidFill>
            <a:schemeClr val="hlink"/>
          </a:solidFill>
        </p:spPr>
      </p:pic>
      <p:sp>
        <p:nvSpPr>
          <p:cNvPr id="3077" name="Rectangle 5">
            <a:extLst>
              <a:ext uri="{FF2B5EF4-FFF2-40B4-BE49-F238E27FC236}">
                <a16:creationId xmlns:a16="http://schemas.microsoft.com/office/drawing/2014/main" id="{4B1CDA0B-0C27-EC67-154F-7E768DDE5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838200"/>
            <a:ext cx="405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>
                <a:solidFill>
                  <a:srgbClr val="040000"/>
                </a:solidFill>
                <a:ea typeface="楷体_GB2312" pitchFamily="49" charset="-122"/>
              </a:rPr>
              <a:t>随机变量：连续型、分离型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2E9B972-A472-93A2-B6D5-25055E603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1295400"/>
            <a:ext cx="605486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概率密度函数：概率密度函数</a:t>
            </a:r>
            <a:r>
              <a:rPr lang="en-US" altLang="zh-CN" b="1" dirty="0">
                <a:solidFill>
                  <a:srgbClr val="040000"/>
                </a:solidFill>
                <a:ea typeface="楷体_GB2312" pitchFamily="49" charset="-122"/>
              </a:rPr>
              <a:t>pdf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、分布列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2217446-1F86-F227-D428-B11271CE7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0842" y="5305426"/>
            <a:ext cx="7570316" cy="1137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accent2">
                    <a:lumMod val="10000"/>
                  </a:schemeClr>
                </a:solidFill>
                <a:latin typeface="Comic Sans MS" panose="030F0902030302020204" pitchFamily="66" charset="0"/>
                <a:ea typeface="楷体_GB2312" pitchFamily="49" charset="-122"/>
              </a:rPr>
              <a:t>为了能在统一的“连续型”框架下进行各种运算，需要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分离型</a:t>
            </a:r>
            <a:r>
              <a:rPr lang="en-US" altLang="zh-CN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分布列 </a:t>
            </a:r>
            <a:r>
              <a:rPr lang="en-US" altLang="zh-CN" b="1" u="sng" dirty="0">
                <a:solidFill>
                  <a:schemeClr val="accent5">
                    <a:lumMod val="10000"/>
                  </a:schemeClr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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连续型 </a:t>
            </a:r>
            <a:r>
              <a:rPr lang="en-US" altLang="zh-CN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pdf 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描述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1AF65D-3CA6-B84A-CB41-3F2A47EF3DD5}"/>
              </a:ext>
            </a:extLst>
          </p:cNvPr>
          <p:cNvSpPr txBox="1"/>
          <p:nvPr/>
        </p:nvSpPr>
        <p:spPr>
          <a:xfrm>
            <a:off x="1752537" y="2531996"/>
            <a:ext cx="123469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1600" b="1" dirty="0">
                <a:solidFill>
                  <a:srgbClr val="FF0000"/>
                </a:solidFill>
              </a:rPr>
              <a:t>非负性</a:t>
            </a:r>
            <a:endParaRPr kumimoji="1" lang="en-US" altLang="zh-CN" sz="1600" b="1" dirty="0">
              <a:solidFill>
                <a:srgbClr val="FF0000"/>
              </a:solidFill>
            </a:endParaRPr>
          </a:p>
          <a:p>
            <a:pPr algn="r"/>
            <a:endParaRPr kumimoji="1" lang="en-US" altLang="zh-CN" sz="1600" b="1" dirty="0">
              <a:solidFill>
                <a:srgbClr val="FF0000"/>
              </a:solidFill>
            </a:endParaRPr>
          </a:p>
          <a:p>
            <a:pPr algn="r"/>
            <a:r>
              <a:rPr lang="zh-CN" altLang="en-US" sz="1600" b="1" dirty="0">
                <a:solidFill>
                  <a:srgbClr val="FF0000"/>
                </a:solidFill>
              </a:rPr>
              <a:t>归一性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algn="r"/>
            <a:endParaRPr lang="en-US" altLang="zh-CN" sz="1600" b="1" dirty="0">
              <a:solidFill>
                <a:srgbClr val="FF0000"/>
              </a:solidFill>
            </a:endParaRPr>
          </a:p>
          <a:p>
            <a:pPr algn="r"/>
            <a:endParaRPr lang="en-US" altLang="zh-CN" sz="1600" b="1" dirty="0">
              <a:solidFill>
                <a:srgbClr val="FF0000"/>
              </a:solidFill>
            </a:endParaRPr>
          </a:p>
          <a:p>
            <a:pPr algn="r"/>
            <a:endParaRPr lang="en-US" altLang="zh-CN" sz="1600" b="1" dirty="0">
              <a:solidFill>
                <a:srgbClr val="FF0000"/>
              </a:solidFill>
            </a:endParaRPr>
          </a:p>
          <a:p>
            <a:pPr algn="r"/>
            <a:endParaRPr lang="en-US" altLang="zh-CN" sz="1600" b="1" dirty="0">
              <a:solidFill>
                <a:srgbClr val="FF0000"/>
              </a:solidFill>
            </a:endParaRPr>
          </a:p>
          <a:p>
            <a:pPr algn="r"/>
            <a:r>
              <a:rPr kumimoji="1" lang="zh-CN" altLang="en-US" sz="1600" b="1" dirty="0">
                <a:solidFill>
                  <a:srgbClr val="FF0000"/>
                </a:solidFill>
              </a:rPr>
              <a:t>期望值定义</a:t>
            </a:r>
            <a:endParaRPr kumimoji="1" lang="en-US" altLang="zh-CN" sz="1600" b="1" dirty="0">
              <a:solidFill>
                <a:srgbClr val="FF0000"/>
              </a:solidFill>
            </a:endParaRPr>
          </a:p>
          <a:p>
            <a:pPr algn="r"/>
            <a:endParaRPr kumimoji="1" lang="en-US" altLang="zh-CN" sz="1600" b="1" dirty="0">
              <a:solidFill>
                <a:srgbClr val="FF0000"/>
              </a:solidFill>
            </a:endParaRPr>
          </a:p>
          <a:p>
            <a:pPr algn="r"/>
            <a:r>
              <a:rPr lang="zh-CN" altLang="en-US" sz="1600" b="1" dirty="0">
                <a:solidFill>
                  <a:srgbClr val="FF0000"/>
                </a:solidFill>
              </a:rPr>
              <a:t>方差定义</a:t>
            </a:r>
            <a:endParaRPr kumimoji="1"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6EF1CB-037C-B24C-A43A-FB383BAE5AC0}"/>
              </a:ext>
            </a:extLst>
          </p:cNvPr>
          <p:cNvSpPr txBox="1"/>
          <p:nvPr/>
        </p:nvSpPr>
        <p:spPr>
          <a:xfrm>
            <a:off x="8832305" y="5878225"/>
            <a:ext cx="790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❓</a:t>
            </a:r>
            <a:endParaRPr kumimoji="1" lang="zh-CN" altLang="en-US" sz="48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autoUpdateAnimBg="0"/>
      <p:bldP spid="3079" grpId="0" autoUpdateAnimBg="0"/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C3D2F-6630-F2C4-516C-15F94E96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函数（狄拉克</a:t>
            </a:r>
            <a:r>
              <a:rPr lang="en-US" altLang="zh-CN" sz="36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delta</a:t>
            </a:r>
            <a:r>
              <a:rPr lang="zh-CN" altLang="en-US" sz="36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）引入</a:t>
            </a:r>
            <a:endParaRPr kumimoji="1"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D7A457-777A-6447-9977-CA875CB495C3}"/>
              </a:ext>
            </a:extLst>
          </p:cNvPr>
          <p:cNvSpPr txBox="1"/>
          <p:nvPr/>
        </p:nvSpPr>
        <p:spPr>
          <a:xfrm>
            <a:off x="1919537" y="2070141"/>
            <a:ext cx="4224233" cy="734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实际应用中，很多物理量是离散的：</a:t>
            </a:r>
            <a:endParaRPr lang="en-US" altLang="zh-CN" b="1" dirty="0">
              <a:solidFill>
                <a:srgbClr val="040000"/>
              </a:solidFill>
              <a:ea typeface="楷体_GB2312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040000"/>
                </a:solidFill>
                <a:ea typeface="楷体_GB2312" pitchFamily="49" charset="-122"/>
              </a:rPr>
              <a:t>—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 例如能级数、粒子种类编号等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A99548-F46F-C44E-CB3D-9561C3AB6FFB}"/>
              </a:ext>
            </a:extLst>
          </p:cNvPr>
          <p:cNvSpPr txBox="1"/>
          <p:nvPr/>
        </p:nvSpPr>
        <p:spPr>
          <a:xfrm>
            <a:off x="1919536" y="3212976"/>
            <a:ext cx="849694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能级跃迁模拟：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粒子在</a:t>
            </a:r>
            <a:r>
              <a:rPr lang="zh-CN" altLang="en-US" dirty="0">
                <a:solidFill>
                  <a:srgbClr val="0C1CE8"/>
                </a:solidFill>
                <a:ea typeface="楷体_GB2312" pitchFamily="49" charset="-122"/>
              </a:rPr>
              <a:t>若干个固定能级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，但需要</a:t>
            </a:r>
            <a:r>
              <a:rPr lang="zh-CN" altLang="en-US" dirty="0">
                <a:solidFill>
                  <a:srgbClr val="0C1CE8"/>
                </a:solidFill>
                <a:ea typeface="楷体_GB2312" pitchFamily="49" charset="-122"/>
              </a:rPr>
              <a:t>模拟能量损失曲线，用连续函数便于处理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；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图像模拟中离散灰度采样：</a:t>
            </a:r>
            <a:r>
              <a:rPr lang="zh-CN" altLang="en-US" dirty="0">
                <a:solidFill>
                  <a:srgbClr val="0C1CE8"/>
                </a:solidFill>
                <a:ea typeface="楷体_GB2312" pitchFamily="49" charset="-122"/>
              </a:rPr>
              <a:t>灰度值是离散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的，但处理卷积、傅里叶变换</a:t>
            </a:r>
            <a:r>
              <a:rPr lang="zh-CN" altLang="en-US" dirty="0">
                <a:solidFill>
                  <a:srgbClr val="0C1CE8"/>
                </a:solidFill>
                <a:ea typeface="楷体_GB2312" pitchFamily="49" charset="-122"/>
              </a:rPr>
              <a:t>需连续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；</a:t>
            </a: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altLang="zh-CN" b="1" dirty="0">
                <a:solidFill>
                  <a:srgbClr val="040000"/>
                </a:solidFill>
                <a:ea typeface="楷体_GB2312" pitchFamily="49" charset="-122"/>
              </a:rPr>
              <a:t>Geant4 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或 </a:t>
            </a:r>
            <a:r>
              <a:rPr lang="en-US" altLang="zh-CN" b="1" dirty="0">
                <a:solidFill>
                  <a:srgbClr val="040000"/>
                </a:solidFill>
                <a:ea typeface="楷体_GB2312" pitchFamily="49" charset="-122"/>
              </a:rPr>
              <a:t>ROOT 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模拟分析中的直方图：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数据做</a:t>
            </a:r>
            <a:r>
              <a:rPr lang="zh-CN" altLang="en-US" dirty="0">
                <a:solidFill>
                  <a:srgbClr val="0C1CE8"/>
                </a:solidFill>
                <a:ea typeface="楷体_GB2312" pitchFamily="49" charset="-122"/>
              </a:rPr>
              <a:t>拟合（往往是连续函数拟合</a:t>
            </a:r>
            <a:r>
              <a:rPr lang="zh-CN" altLang="en-US" dirty="0">
                <a:solidFill>
                  <a:srgbClr val="040000"/>
                </a:solidFill>
                <a:ea typeface="楷体_GB2312" pitchFamily="49" charset="-122"/>
              </a:rPr>
              <a:t>）、反卷积、微分等操作；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1AA10D4-3A03-8CCA-729C-97AB5CEDF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836713"/>
            <a:ext cx="883920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</a:rPr>
              <a:t>利用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函数（狄拉克</a:t>
            </a:r>
            <a:r>
              <a:rPr lang="en-US" altLang="zh-CN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delta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）</a:t>
            </a:r>
            <a:r>
              <a:rPr lang="zh-CN" altLang="en-US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将分离型 </a:t>
            </a:r>
            <a:r>
              <a:rPr lang="zh-CN" altLang="en-US" b="1" u="sng" dirty="0">
                <a:solidFill>
                  <a:schemeClr val="accent5">
                    <a:lumMod val="10000"/>
                  </a:schemeClr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用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连续型</a:t>
            </a:r>
            <a:r>
              <a:rPr lang="en-US" altLang="zh-CN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pdf 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描述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     用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同样的方式</a:t>
            </a:r>
            <a:r>
              <a:rPr lang="zh-CN" altLang="en-US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来讨论 </a:t>
            </a:r>
            <a:r>
              <a:rPr lang="zh-CN" altLang="en-US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分离型和连续型 </a:t>
            </a: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随机变量的抽样方法</a:t>
            </a:r>
          </a:p>
        </p:txBody>
      </p:sp>
    </p:spTree>
    <p:extLst>
      <p:ext uri="{BB962C8B-B14F-4D97-AF65-F5344CB8AC3E}">
        <p14:creationId xmlns:p14="http://schemas.microsoft.com/office/powerpoint/2010/main" val="363315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uiExpand="1" build="p"/>
      <p:bldP spid="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B6CE40-2EA6-47A3-575E-F07EC235EC36}"/>
              </a:ext>
            </a:extLst>
          </p:cNvPr>
          <p:cNvSpPr txBox="1"/>
          <p:nvPr/>
        </p:nvSpPr>
        <p:spPr>
          <a:xfrm>
            <a:off x="3588534" y="980729"/>
            <a:ext cx="50149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等价的连续概率密度函数？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9E4B15-4EA1-BDCF-B2E1-C571F4289332}"/>
              </a:ext>
            </a:extLst>
          </p:cNvPr>
          <p:cNvSpPr txBox="1"/>
          <p:nvPr/>
        </p:nvSpPr>
        <p:spPr>
          <a:xfrm>
            <a:off x="2063552" y="1789235"/>
            <a:ext cx="8208912" cy="418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rgbClr val="7030A0"/>
                </a:solidFill>
                <a:highlight>
                  <a:srgbClr val="FFFF00"/>
                </a:highlight>
              </a:rPr>
              <a:t>概念：</a:t>
            </a:r>
            <a:r>
              <a:rPr lang="zh-CN" altLang="en-US" sz="2800" b="1" dirty="0">
                <a:solidFill>
                  <a:srgbClr val="7030A0"/>
                </a:solidFill>
              </a:rPr>
              <a:t>将原本离散的概率分布，使用狄拉克</a:t>
            </a:r>
            <a:r>
              <a:rPr lang="el-GR" altLang="zh-CN" sz="2800" b="1" dirty="0">
                <a:solidFill>
                  <a:srgbClr val="7030A0"/>
                </a:solidFill>
              </a:rPr>
              <a:t>δ</a:t>
            </a:r>
            <a:r>
              <a:rPr lang="zh-CN" altLang="en-US" sz="2800" b="1" dirty="0">
                <a:solidFill>
                  <a:srgbClr val="7030A0"/>
                </a:solidFill>
              </a:rPr>
              <a:t>函数的线性组合，写成</a:t>
            </a:r>
            <a:r>
              <a:rPr lang="zh-CN" altLang="en-US" sz="2800" b="1" u="sng" dirty="0">
                <a:solidFill>
                  <a:srgbClr val="7030A0"/>
                </a:solidFill>
              </a:rPr>
              <a:t>在数学形式上满足</a:t>
            </a:r>
            <a:r>
              <a:rPr lang="zh-CN" altLang="en-US" sz="2800" b="1" dirty="0">
                <a:solidFill>
                  <a:srgbClr val="7030A0"/>
                </a:solidFill>
              </a:rPr>
              <a:t>“连续型 </a:t>
            </a:r>
            <a:r>
              <a:rPr lang="en-US" altLang="zh-CN" sz="2800" b="1" dirty="0">
                <a:solidFill>
                  <a:srgbClr val="7030A0"/>
                </a:solidFill>
              </a:rPr>
              <a:t>pdf”</a:t>
            </a:r>
            <a:r>
              <a:rPr lang="zh-CN" altLang="en-US" sz="2800" b="1" dirty="0">
                <a:solidFill>
                  <a:srgbClr val="7030A0"/>
                </a:solidFill>
              </a:rPr>
              <a:t>定义的一个函数。</a:t>
            </a:r>
            <a:endParaRPr lang="en-US" altLang="zh-CN" sz="2800" b="1" dirty="0">
              <a:solidFill>
                <a:srgbClr val="7030A0"/>
              </a:solidFill>
            </a:endParaRP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l"/>
            </a:pPr>
            <a:endParaRPr lang="en-US" altLang="zh-CN" sz="2800" b="1" dirty="0">
              <a:solidFill>
                <a:srgbClr val="7030A0"/>
              </a:solidFill>
            </a:endParaRP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l"/>
            </a:pPr>
            <a:r>
              <a:rPr lang="en-US" altLang="zh-CN" sz="2800" b="1" dirty="0">
                <a:solidFill>
                  <a:srgbClr val="7030A0"/>
                </a:solidFill>
                <a:sym typeface="Wingdings" pitchFamily="2" charset="2"/>
              </a:rPr>
              <a:t> </a:t>
            </a:r>
            <a:r>
              <a:rPr lang="zh-CN" altLang="en-US" sz="2800" b="1" dirty="0">
                <a:solidFill>
                  <a:srgbClr val="7030A0"/>
                </a:solidFill>
              </a:rPr>
              <a:t>离散型就能在统一的“连续型”框架下进行积分、卷积、傅里叶变换等</a:t>
            </a:r>
            <a:r>
              <a:rPr lang="zh-CN" altLang="en-US" sz="2800" b="1" u="sng" dirty="0">
                <a:solidFill>
                  <a:srgbClr val="7030A0"/>
                </a:solidFill>
              </a:rPr>
              <a:t>各种运算</a:t>
            </a:r>
            <a:r>
              <a:rPr lang="zh-CN" altLang="en-US" sz="2800" b="1" dirty="0">
                <a:solidFill>
                  <a:srgbClr val="7030A0"/>
                </a:solidFill>
              </a:rPr>
              <a:t>，同时又</a:t>
            </a:r>
            <a:r>
              <a:rPr lang="zh-CN" altLang="en-US" sz="2800" b="1" u="sng" dirty="0">
                <a:solidFill>
                  <a:srgbClr val="7030A0"/>
                </a:solidFill>
              </a:rPr>
              <a:t>保持了与原离散分布“等效”的概率属性</a:t>
            </a:r>
            <a:r>
              <a:rPr lang="zh-CN" altLang="en-US" sz="2800" b="1" dirty="0">
                <a:solidFill>
                  <a:srgbClr val="7030A0"/>
                </a:solidFill>
              </a:rPr>
              <a:t>。</a:t>
            </a:r>
            <a:br>
              <a:rPr lang="zh-CN" altLang="en-US" sz="2800" b="1" dirty="0">
                <a:solidFill>
                  <a:srgbClr val="7030A0"/>
                </a:solidFill>
              </a:rPr>
            </a:br>
            <a:endParaRPr lang="zh-CN" altLang="en-US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58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B1917EE-EA1B-F86A-33E9-F8CA976F9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3.1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等价的连续概率密度函数</a:t>
            </a:r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0C133F66-9907-D7BF-291A-0E99CD224A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481514"/>
              </p:ext>
            </p:extLst>
          </p:nvPr>
        </p:nvGraphicFramePr>
        <p:xfrm>
          <a:off x="2039778" y="1920111"/>
          <a:ext cx="29718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21300" imgH="9944100" progId="Equation.3">
                  <p:embed/>
                </p:oleObj>
              </mc:Choice>
              <mc:Fallback>
                <p:oleObj name="Equation" r:id="rId3" imgW="30721300" imgH="9944100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0C133F66-9907-D7BF-291A-0E99CD224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778" y="1920111"/>
                        <a:ext cx="2971800" cy="8588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>
            <a:extLst>
              <a:ext uri="{FF2B5EF4-FFF2-40B4-BE49-F238E27FC236}">
                <a16:creationId xmlns:a16="http://schemas.microsoft.com/office/drawing/2014/main" id="{27965957-4146-7F36-21C6-0B3A2EDC8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886200"/>
          <a:ext cx="45339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779400" imgH="21069300" progId="Equation.3">
                  <p:embed/>
                </p:oleObj>
              </mc:Choice>
              <mc:Fallback>
                <p:oleObj name="Equation" r:id="rId5" imgW="63779400" imgH="21069300" progId="Equation.3">
                  <p:embed/>
                  <p:pic>
                    <p:nvPicPr>
                      <p:cNvPr id="4101" name="Object 5">
                        <a:extLst>
                          <a:ext uri="{FF2B5EF4-FFF2-40B4-BE49-F238E27FC236}">
                            <a16:creationId xmlns:a16="http://schemas.microsoft.com/office/drawing/2014/main" id="{27965957-4146-7F36-21C6-0B3A2EDC8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86200"/>
                        <a:ext cx="4533900" cy="13589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>
            <a:extLst>
              <a:ext uri="{FF2B5EF4-FFF2-40B4-BE49-F238E27FC236}">
                <a16:creationId xmlns:a16="http://schemas.microsoft.com/office/drawing/2014/main" id="{D12A9128-47DF-E6AA-0FD8-76AE2EBA2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1" y="5334001"/>
          <a:ext cx="654367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040200" imgH="21069300" progId="Equation.3">
                  <p:embed/>
                </p:oleObj>
              </mc:Choice>
              <mc:Fallback>
                <p:oleObj name="Equation" r:id="rId7" imgW="93040200" imgH="21069300" progId="Equation.3">
                  <p:embed/>
                  <p:pic>
                    <p:nvPicPr>
                      <p:cNvPr id="4102" name="Object 6">
                        <a:extLst>
                          <a:ext uri="{FF2B5EF4-FFF2-40B4-BE49-F238E27FC236}">
                            <a16:creationId xmlns:a16="http://schemas.microsoft.com/office/drawing/2014/main" id="{D12A9128-47DF-E6AA-0FD8-76AE2EBA2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5334001"/>
                        <a:ext cx="6543675" cy="13430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8">
            <a:extLst>
              <a:ext uri="{FF2B5EF4-FFF2-40B4-BE49-F238E27FC236}">
                <a16:creationId xmlns:a16="http://schemas.microsoft.com/office/drawing/2014/main" id="{FA3A865B-F7CC-061F-B450-B2C459E47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38201"/>
            <a:ext cx="837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已知分离型</a:t>
            </a:r>
            <a:r>
              <a:rPr lang="en-US" altLang="zh-CN" b="1" dirty="0">
                <a:solidFill>
                  <a:srgbClr val="040000"/>
                </a:solidFill>
                <a:ea typeface="楷体_GB2312" pitchFamily="49" charset="-122"/>
              </a:rPr>
              <a:t>pdf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</a:rPr>
              <a:t>：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</a:rPr>
              <a:t>{</a:t>
            </a:r>
            <a:r>
              <a:rPr lang="en-US" altLang="zh-CN" b="1" i="1" dirty="0">
                <a:solidFill>
                  <a:srgbClr val="0C1CE8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 dirty="0">
                <a:solidFill>
                  <a:srgbClr val="0C1CE8"/>
                </a:solidFill>
                <a:ea typeface="楷体_GB2312" pitchFamily="49" charset="-122"/>
              </a:rPr>
              <a:t>i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</a:rPr>
              <a:t>} 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 </a:t>
            </a:r>
            <a:r>
              <a:rPr lang="zh-CN" altLang="en-US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分离型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随机变量</a:t>
            </a:r>
            <a:r>
              <a:rPr lang="en-US" altLang="zh-CN" b="1" i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X</a:t>
            </a:r>
            <a:r>
              <a:rPr lang="zh-CN" altLang="en-US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的取值为</a:t>
            </a:r>
            <a:r>
              <a:rPr lang="en-US" altLang="zh-CN" b="1" i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x</a:t>
            </a:r>
            <a:r>
              <a:rPr lang="en-US" altLang="zh-CN" b="1" baseline="-25000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i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的概率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461891CD-A023-42A0-8FAB-95F78DCE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371601"/>
            <a:ext cx="4777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函数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  <a:sym typeface="Wingdings" pitchFamily="2" charset="2"/>
              </a:rPr>
              <a:t>定义一个等价的连续型</a:t>
            </a:r>
            <a:r>
              <a:rPr lang="en-US" altLang="zh-CN" b="1" dirty="0">
                <a:solidFill>
                  <a:srgbClr val="040000"/>
                </a:solidFill>
                <a:ea typeface="楷体_GB2312" pitchFamily="49" charset="-122"/>
                <a:sym typeface="Wingdings" pitchFamily="2" charset="2"/>
              </a:rPr>
              <a:t>pdf:</a:t>
            </a:r>
          </a:p>
        </p:txBody>
      </p:sp>
      <p:graphicFrame>
        <p:nvGraphicFramePr>
          <p:cNvPr id="4106" name="Object 10">
            <a:extLst>
              <a:ext uri="{FF2B5EF4-FFF2-40B4-BE49-F238E27FC236}">
                <a16:creationId xmlns:a16="http://schemas.microsoft.com/office/drawing/2014/main" id="{8781FF18-AA2A-466E-2127-D21823390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468437"/>
              </p:ext>
            </p:extLst>
          </p:nvPr>
        </p:nvGraphicFramePr>
        <p:xfrm>
          <a:off x="6776621" y="1796935"/>
          <a:ext cx="37338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912800" imgH="15214600" progId="Equation.3">
                  <p:embed/>
                </p:oleObj>
              </mc:Choice>
              <mc:Fallback>
                <p:oleObj name="Equation" r:id="rId9" imgW="38912800" imgH="15214600" progId="Equation.3">
                  <p:embed/>
                  <p:pic>
                    <p:nvPicPr>
                      <p:cNvPr id="4106" name="Object 10">
                        <a:extLst>
                          <a:ext uri="{FF2B5EF4-FFF2-40B4-BE49-F238E27FC236}">
                            <a16:creationId xmlns:a16="http://schemas.microsoft.com/office/drawing/2014/main" id="{8781FF18-AA2A-466E-2127-D21823390F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621" y="1796935"/>
                        <a:ext cx="3733800" cy="1081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Rectangle 11">
            <a:extLst>
              <a:ext uri="{FF2B5EF4-FFF2-40B4-BE49-F238E27FC236}">
                <a16:creationId xmlns:a16="http://schemas.microsoft.com/office/drawing/2014/main" id="{49EC20B6-D967-2176-9B0F-4F7BE0BBD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1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  <a:sym typeface="Wingdings" pitchFamily="2" charset="2"/>
              </a:rPr>
              <a:t>利用与连续型随机变量相同的方式计算，恰好与分离型随机变量的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期望值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  <a:sym typeface="Wingdings" pitchFamily="2" charset="2"/>
              </a:rPr>
              <a:t>和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方差</a:t>
            </a:r>
            <a:r>
              <a:rPr lang="zh-CN" altLang="en-US" b="1" dirty="0">
                <a:solidFill>
                  <a:srgbClr val="040000"/>
                </a:solidFill>
                <a:ea typeface="楷体_GB2312" pitchFamily="49" charset="-122"/>
                <a:sym typeface="Wingdings" pitchFamily="2" charset="2"/>
              </a:rPr>
              <a:t>定义相同。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Wingdings" pitchFamily="2" charset="2"/>
              </a:rPr>
              <a:t>推导如下：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515D30-EC51-1C67-3595-9F174D3ABF46}"/>
              </a:ext>
            </a:extLst>
          </p:cNvPr>
          <p:cNvSpPr txBox="1"/>
          <p:nvPr/>
        </p:nvSpPr>
        <p:spPr>
          <a:xfrm>
            <a:off x="5142752" y="2160527"/>
            <a:ext cx="1502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l-GR" altLang="zh-CN" sz="2000" b="1" dirty="0">
                <a:solidFill>
                  <a:srgbClr val="0C1CE8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δ</a:t>
            </a:r>
            <a:r>
              <a:rPr lang="zh-CN" altLang="en-US" sz="2000" b="1" dirty="0">
                <a:solidFill>
                  <a:srgbClr val="0C1CE8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函数满足：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8A37B5-F16E-406F-B047-06996147583C}"/>
              </a:ext>
            </a:extLst>
          </p:cNvPr>
          <p:cNvSpPr txBox="1"/>
          <p:nvPr/>
        </p:nvSpPr>
        <p:spPr>
          <a:xfrm>
            <a:off x="7877201" y="4013945"/>
            <a:ext cx="263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C1CE8"/>
                </a:solidFill>
                <a:highlight>
                  <a:srgbClr val="FFFF00"/>
                </a:highlight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函数的加入不改变其原本概率属性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" grpId="0" autoUpdateAnimBg="0"/>
      <p:bldP spid="4107" grpId="0" autoUpdateAnimBg="0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A7C31-E0CF-3470-206A-8C206014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88" y="73260"/>
            <a:ext cx="6478488" cy="692696"/>
          </a:xfrm>
        </p:spPr>
        <p:txBody>
          <a:bodyPr>
            <a:normAutofit fontScale="90000"/>
          </a:bodyPr>
          <a:lstStyle/>
          <a:p>
            <a:pPr algn="r"/>
            <a:r>
              <a:rPr kumimoji="1" lang="en-US" altLang="zh-CN" dirty="0"/>
              <a:t>	</a:t>
            </a:r>
            <a:r>
              <a:rPr lang="zh-CN" altLang="en-US" dirty="0"/>
              <a:t>变换的</a:t>
            </a:r>
            <a:r>
              <a:rPr kumimoji="1" lang="zh-CN" altLang="en-US" dirty="0"/>
              <a:t>本质是什么？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264164-023F-2C01-BE9C-10EAC23B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04" y="1988840"/>
            <a:ext cx="7772400" cy="36749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9A2E5A7-B295-53B4-7F26-3FA6421A8A0B}"/>
              </a:ext>
            </a:extLst>
          </p:cNvPr>
          <p:cNvSpPr txBox="1"/>
          <p:nvPr/>
        </p:nvSpPr>
        <p:spPr>
          <a:xfrm>
            <a:off x="1991544" y="939063"/>
            <a:ext cx="8280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10000"/>
                  </a:schemeClr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delta </a:t>
            </a:r>
            <a:r>
              <a:rPr lang="zh-CN" altLang="en-US" b="1" dirty="0">
                <a:solidFill>
                  <a:schemeClr val="accent2">
                    <a:lumMod val="10000"/>
                  </a:schemeClr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函数的“连续表示”本质：只是把</a:t>
            </a:r>
            <a:r>
              <a:rPr lang="zh-CN" altLang="en-US" b="1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离散的概率质量</a:t>
            </a:r>
            <a:r>
              <a:rPr lang="zh-CN" altLang="en-US" b="1" dirty="0">
                <a:solidFill>
                  <a:schemeClr val="accent2">
                    <a:lumMod val="10000"/>
                  </a:schemeClr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“搬”到了若干个</a:t>
            </a:r>
            <a:r>
              <a:rPr lang="zh-CN" altLang="en-US" b="1" dirty="0">
                <a:solidFill>
                  <a:srgbClr val="FF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尖峰</a:t>
            </a:r>
            <a:r>
              <a:rPr lang="zh-CN" altLang="en-US" b="1" dirty="0">
                <a:solidFill>
                  <a:schemeClr val="accent2">
                    <a:lumMod val="10000"/>
                  </a:schemeClr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上，从而能统一地使用积分符号处理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1C111C-1D40-11C7-94B9-04542011971D}"/>
              </a:ext>
            </a:extLst>
          </p:cNvPr>
          <p:cNvSpPr txBox="1"/>
          <p:nvPr/>
        </p:nvSpPr>
        <p:spPr>
          <a:xfrm>
            <a:off x="3071664" y="5689375"/>
            <a:ext cx="45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离散概率分布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080F41-91A2-A048-0A42-8A4CD967C13F}"/>
              </a:ext>
            </a:extLst>
          </p:cNvPr>
          <p:cNvSpPr txBox="1"/>
          <p:nvPr/>
        </p:nvSpPr>
        <p:spPr>
          <a:xfrm>
            <a:off x="6528048" y="5663790"/>
            <a:ext cx="45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dirty="0"/>
              <a:t>δ</a:t>
            </a:r>
            <a:r>
              <a:rPr lang="zh-CN" altLang="en-US" dirty="0"/>
              <a:t>函数得到“连续”表示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B70AEA3C-0236-4BAD-4F5C-BA2BCF874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434916"/>
              </p:ext>
            </p:extLst>
          </p:nvPr>
        </p:nvGraphicFramePr>
        <p:xfrm>
          <a:off x="1994891" y="-9811"/>
          <a:ext cx="29718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21300" imgH="9944100" progId="Equation.3">
                  <p:embed/>
                </p:oleObj>
              </mc:Choice>
              <mc:Fallback>
                <p:oleObj name="Equation" r:id="rId3" imgW="30721300" imgH="9944100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0C133F66-9907-D7BF-291A-0E99CD224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891" y="-9811"/>
                        <a:ext cx="2971800" cy="8588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220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7F701BC-9C58-B89B-2AC9-8052C16DA1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模拟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79BC444-3E39-DDC8-EE4A-F178F5A546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1371600"/>
          </a:xfrm>
        </p:spPr>
        <p:txBody>
          <a:bodyPr/>
          <a:lstStyle/>
          <a:p>
            <a:r>
              <a:rPr lang="zh-CN" altLang="en-US" b="1">
                <a:solidFill>
                  <a:srgbClr val="050507"/>
                </a:solidFill>
                <a:ea typeface="楷体_GB2312" pitchFamily="49" charset="-122"/>
              </a:rPr>
              <a:t>第三章 </a:t>
            </a:r>
            <a:br>
              <a:rPr lang="zh-CN" altLang="en-US" b="1">
                <a:solidFill>
                  <a:srgbClr val="050507"/>
                </a:solidFill>
                <a:ea typeface="楷体_GB2312" pitchFamily="49" charset="-122"/>
              </a:rPr>
            </a:br>
            <a:r>
              <a:rPr lang="zh-CN" altLang="en-US" b="1">
                <a:solidFill>
                  <a:srgbClr val="050507"/>
                </a:solidFill>
                <a:ea typeface="楷体_GB2312" pitchFamily="49" charset="-122"/>
              </a:rPr>
              <a:t>从概率分布函数的抽样</a:t>
            </a:r>
            <a:br>
              <a:rPr lang="zh-CN" altLang="en-US" b="1">
                <a:solidFill>
                  <a:srgbClr val="050507"/>
                </a:solidFill>
                <a:ea typeface="楷体_GB2312" pitchFamily="49" charset="-122"/>
              </a:rPr>
            </a:br>
            <a:r>
              <a:rPr lang="en-US" altLang="zh-CN" sz="2000" b="1">
                <a:solidFill>
                  <a:srgbClr val="050507"/>
                </a:solidFill>
                <a:ea typeface="楷体_GB2312" pitchFamily="49" charset="-122"/>
              </a:rPr>
              <a:t>(Sampling from Probability Distribution Functions)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4375D1E-F04C-BC58-F01D-9C5BD9218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14800"/>
            <a:ext cx="2838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50507"/>
                </a:solidFill>
                <a:latin typeface="Tahoma" panose="020B0604030504040204" pitchFamily="34" charset="0"/>
              </a:rPr>
              <a:t>3.2 </a:t>
            </a:r>
            <a:r>
              <a:rPr lang="en-US" altLang="zh-CN" sz="32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pdf</a:t>
            </a:r>
            <a:r>
              <a:rPr lang="zh-CN" altLang="en-US" sz="3200" b="1" dirty="0">
                <a:solidFill>
                  <a:srgbClr val="050507"/>
                </a:solidFill>
                <a:latin typeface="Tahoma" panose="020B0604030504040204" pitchFamily="34" charset="0"/>
                <a:ea typeface="楷体_GB2312" pitchFamily="49" charset="-122"/>
              </a:rPr>
              <a:t>的变换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89D4116-B9AC-4B8D-3BCD-3F07A6AF5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3.2 pdf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的变换</a:t>
            </a:r>
          </a:p>
        </p:txBody>
      </p:sp>
      <p:grpSp>
        <p:nvGrpSpPr>
          <p:cNvPr id="3075" name="Group 3">
            <a:extLst>
              <a:ext uri="{FF2B5EF4-FFF2-40B4-BE49-F238E27FC236}">
                <a16:creationId xmlns:a16="http://schemas.microsoft.com/office/drawing/2014/main" id="{19A6B240-FEA0-2EA9-4BF5-01697A96EE59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838201"/>
            <a:ext cx="6281738" cy="722313"/>
            <a:chOff x="336" y="528"/>
            <a:chExt cx="3957" cy="455"/>
          </a:xfrm>
        </p:grpSpPr>
        <p:sp>
          <p:nvSpPr>
            <p:cNvPr id="3076" name="Rectangle 4">
              <a:extLst>
                <a:ext uri="{FF2B5EF4-FFF2-40B4-BE49-F238E27FC236}">
                  <a16:creationId xmlns:a16="http://schemas.microsoft.com/office/drawing/2014/main" id="{017838C9-D6BD-7200-A069-52ED11F49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528"/>
              <a:ext cx="210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: 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连续型的随机变量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, PDF:  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f(x)</a:t>
              </a:r>
            </a:p>
          </p:txBody>
        </p:sp>
        <p:sp>
          <p:nvSpPr>
            <p:cNvPr id="3077" name="Rectangle 5">
              <a:extLst>
                <a:ext uri="{FF2B5EF4-FFF2-40B4-BE49-F238E27FC236}">
                  <a16:creationId xmlns:a16="http://schemas.microsoft.com/office/drawing/2014/main" id="{E920C569-9695-DCAD-CA04-0B7AD5B6E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768"/>
              <a:ext cx="3957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y = y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en-US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en-US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的函数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lang="zh-CN" altLang="en-US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也是随机变量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. </a:t>
              </a:r>
              <a:r>
                <a:rPr lang="zh-CN" altLang="en-US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y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en-US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的概率密度函数</a:t>
              </a: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b="1" i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b="1">
                  <a:solidFill>
                    <a:srgbClr val="020202"/>
                  </a:solidFill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3078" name="Rectangle 6">
            <a:extLst>
              <a:ext uri="{FF2B5EF4-FFF2-40B4-BE49-F238E27FC236}">
                <a16:creationId xmlns:a16="http://schemas.microsoft.com/office/drawing/2014/main" id="{A0C14C80-0268-9EFB-2723-F940F98AB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79375"/>
            <a:ext cx="5041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、若随机变量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和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是一一对应的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:</a:t>
            </a:r>
            <a:endParaRPr lang="en-US" altLang="zh-CN" b="1" dirty="0">
              <a:solidFill>
                <a:srgbClr val="0000FF"/>
              </a:solidFill>
              <a:ea typeface="楷体_GB2312" pitchFamily="49" charset="-122"/>
              <a:sym typeface="Wingdings" pitchFamily="2" charset="2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F274A4C-404B-E9E5-9482-4D947BFB9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46405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Wingdings" pitchFamily="2" charset="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若随机变量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和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不是一一对应的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:</a:t>
            </a:r>
            <a:endParaRPr lang="en-US" altLang="zh-CN" b="1" dirty="0">
              <a:solidFill>
                <a:srgbClr val="0000FF"/>
              </a:solidFill>
              <a:ea typeface="楷体_GB2312" pitchFamily="49" charset="-122"/>
              <a:sym typeface="Wingdings" pitchFamily="2" charset="2"/>
            </a:endParaRPr>
          </a:p>
        </p:txBody>
      </p:sp>
      <p:grpSp>
        <p:nvGrpSpPr>
          <p:cNvPr id="3080" name="Group 8">
            <a:extLst>
              <a:ext uri="{FF2B5EF4-FFF2-40B4-BE49-F238E27FC236}">
                <a16:creationId xmlns:a16="http://schemas.microsoft.com/office/drawing/2014/main" id="{FC0BFBB4-B31B-2ED9-F17C-89C24007C924}"/>
              </a:ext>
            </a:extLst>
          </p:cNvPr>
          <p:cNvGrpSpPr>
            <a:grpSpLocks/>
          </p:cNvGrpSpPr>
          <p:nvPr/>
        </p:nvGrpSpPr>
        <p:grpSpPr bwMode="auto">
          <a:xfrm>
            <a:off x="2209801" y="1905000"/>
            <a:ext cx="8105775" cy="2211388"/>
            <a:chOff x="432" y="1200"/>
            <a:chExt cx="5106" cy="1393"/>
          </a:xfrm>
        </p:grpSpPr>
        <p:sp>
          <p:nvSpPr>
            <p:cNvPr id="3081" name="Rectangle 9">
              <a:extLst>
                <a:ext uri="{FF2B5EF4-FFF2-40B4-BE49-F238E27FC236}">
                  <a16:creationId xmlns:a16="http://schemas.microsoft.com/office/drawing/2014/main" id="{0F51F5A9-E2C4-DD13-0D10-258E09D3F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200"/>
              <a:ext cx="14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[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x, 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</a:rPr>
                <a:t>x+dx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]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[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y, 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y+dy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]</a:t>
              </a:r>
            </a:p>
          </p:txBody>
        </p:sp>
        <p:sp>
          <p:nvSpPr>
            <p:cNvPr id="3082" name="Rectangle 10">
              <a:extLst>
                <a:ext uri="{FF2B5EF4-FFF2-40B4-BE49-F238E27FC236}">
                  <a16:creationId xmlns:a16="http://schemas.microsoft.com/office/drawing/2014/main" id="{5BCA3A4E-D05B-5AF5-71CE-95DEFF1D4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542"/>
              <a:ext cx="510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X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的取值在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[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x, 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</a:rPr>
                <a:t>x+dx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]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的概率 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==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 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Y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的取值在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[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y, 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</a:rPr>
                <a:t>y+dy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]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的概率：</a:t>
              </a:r>
              <a:endParaRPr lang="zh-CN" altLang="en-US" b="1" dirty="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endParaRPr>
            </a:p>
          </p:txBody>
        </p:sp>
        <p:graphicFrame>
          <p:nvGraphicFramePr>
            <p:cNvPr id="3083" name="Object 11">
              <a:extLst>
                <a:ext uri="{FF2B5EF4-FFF2-40B4-BE49-F238E27FC236}">
                  <a16:creationId xmlns:a16="http://schemas.microsoft.com/office/drawing/2014/main" id="{1C5DA403-729A-10B2-3515-A8248BB0C6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0195020"/>
                </p:ext>
              </p:extLst>
            </p:nvPr>
          </p:nvGraphicFramePr>
          <p:xfrm>
            <a:off x="1920" y="1872"/>
            <a:ext cx="1101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114000" imgH="10528300" progId="Equation.3">
                    <p:embed/>
                  </p:oleObj>
                </mc:Choice>
                <mc:Fallback>
                  <p:oleObj name="Equation" r:id="rId2" imgW="23114000" imgH="10528300" progId="Equation.3">
                    <p:embed/>
                    <p:pic>
                      <p:nvPicPr>
                        <p:cNvPr id="3083" name="Object 11">
                          <a:extLst>
                            <a:ext uri="{FF2B5EF4-FFF2-40B4-BE49-F238E27FC236}">
                              <a16:creationId xmlns:a16="http://schemas.microsoft.com/office/drawing/2014/main" id="{1C5DA403-729A-10B2-3515-A8248BB0C6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872"/>
                          <a:ext cx="1101" cy="489"/>
                        </a:xfrm>
                        <a:prstGeom prst="rect">
                          <a:avLst/>
                        </a:prstGeom>
                        <a:solidFill>
                          <a:srgbClr val="ACFC6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3DFFE4A1-FCE4-FA58-F6CF-7071BD4C3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360"/>
              <a:ext cx="22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取绝对值是为了保证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g(y)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是非负的</a:t>
              </a:r>
            </a:p>
          </p:txBody>
        </p:sp>
        <p:sp>
          <p:nvSpPr>
            <p:cNvPr id="3085" name="Rectangle 13">
              <a:extLst>
                <a:ext uri="{FF2B5EF4-FFF2-40B4-BE49-F238E27FC236}">
                  <a16:creationId xmlns:a16="http://schemas.microsoft.com/office/drawing/2014/main" id="{D041287B-F9BD-3A1F-5917-1E0C7FF34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920"/>
              <a:ext cx="12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f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(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x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)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dx=g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(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y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)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</a:rPr>
                <a:t>dy</a:t>
              </a:r>
              <a:r>
                <a:rPr lang="en-US" altLang="zh-CN" b="1" i="1" dirty="0">
                  <a:solidFill>
                    <a:srgbClr val="020202"/>
                  </a:solidFill>
                  <a:ea typeface="楷体_GB2312" pitchFamily="49" charset="-122"/>
                </a:rPr>
                <a:t> 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</a:t>
              </a:r>
            </a:p>
          </p:txBody>
        </p:sp>
      </p:grpSp>
      <p:grpSp>
        <p:nvGrpSpPr>
          <p:cNvPr id="3086" name="Group 14">
            <a:extLst>
              <a:ext uri="{FF2B5EF4-FFF2-40B4-BE49-F238E27FC236}">
                <a16:creationId xmlns:a16="http://schemas.microsoft.com/office/drawing/2014/main" id="{103F85AA-9118-85E8-479E-6C75B0AC3820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867277"/>
            <a:ext cx="4203700" cy="1770063"/>
            <a:chOff x="432" y="3066"/>
            <a:chExt cx="2648" cy="1115"/>
          </a:xfrm>
        </p:grpSpPr>
        <p:sp>
          <p:nvSpPr>
            <p:cNvPr id="3087" name="Rectangle 15">
              <a:extLst>
                <a:ext uri="{FF2B5EF4-FFF2-40B4-BE49-F238E27FC236}">
                  <a16:creationId xmlns:a16="http://schemas.microsoft.com/office/drawing/2014/main" id="{C559AC5D-3F5E-7A7C-BF53-2C89F89D5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066"/>
              <a:ext cx="2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即有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n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</a:rPr>
                <a:t>个区间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[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</a:rPr>
                <a:t>x,x+dx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</a:rPr>
                <a:t>]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[</a:t>
              </a:r>
              <a:r>
                <a:rPr lang="en-US" altLang="zh-CN" b="1" i="1" dirty="0" err="1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y,y+dy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] </a:t>
              </a:r>
            </a:p>
          </p:txBody>
        </p:sp>
        <p:graphicFrame>
          <p:nvGraphicFramePr>
            <p:cNvPr id="3088" name="Object 16">
              <a:extLst>
                <a:ext uri="{FF2B5EF4-FFF2-40B4-BE49-F238E27FC236}">
                  <a16:creationId xmlns:a16="http://schemas.microsoft.com/office/drawing/2014/main" id="{C549AD41-9770-A18F-7EC4-E27639AF34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8593563"/>
                </p:ext>
              </p:extLst>
            </p:nvPr>
          </p:nvGraphicFramePr>
          <p:xfrm>
            <a:off x="1880" y="3701"/>
            <a:ext cx="120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203400" imgH="10528300" progId="Equation.3">
                    <p:embed/>
                  </p:oleObj>
                </mc:Choice>
                <mc:Fallback>
                  <p:oleObj name="Equation" r:id="rId4" imgW="27203400" imgH="10528300" progId="Equation.3">
                    <p:embed/>
                    <p:pic>
                      <p:nvPicPr>
                        <p:cNvPr id="3088" name="Object 16">
                          <a:extLst>
                            <a:ext uri="{FF2B5EF4-FFF2-40B4-BE49-F238E27FC236}">
                              <a16:creationId xmlns:a16="http://schemas.microsoft.com/office/drawing/2014/main" id="{C549AD41-9770-A18F-7EC4-E27639AF34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" y="3701"/>
                          <a:ext cx="1200" cy="480"/>
                        </a:xfrm>
                        <a:prstGeom prst="rect">
                          <a:avLst/>
                        </a:prstGeom>
                        <a:solidFill>
                          <a:srgbClr val="ACFC6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9" name="Rectangle 17">
              <a:extLst>
                <a:ext uri="{FF2B5EF4-FFF2-40B4-BE49-F238E27FC236}">
                  <a16:creationId xmlns:a16="http://schemas.microsoft.com/office/drawing/2014/main" id="{92AADEC3-654F-A313-D7D3-2E5D6701A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334"/>
              <a:ext cx="151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需要对这</a:t>
              </a:r>
              <a:r>
                <a:rPr lang="en-US" altLang="zh-CN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n</a:t>
              </a:r>
              <a:r>
                <a:rPr lang="zh-CN" altLang="en-US" b="1" dirty="0">
                  <a:solidFill>
                    <a:srgbClr val="020202"/>
                  </a:solidFill>
                  <a:ea typeface="楷体_GB2312" pitchFamily="49" charset="-122"/>
                  <a:sym typeface="Wingdings" pitchFamily="2" charset="2"/>
                </a:rPr>
                <a:t>个区间求和</a:t>
              </a:r>
            </a:p>
          </p:txBody>
        </p:sp>
      </p:grpSp>
      <p:pic>
        <p:nvPicPr>
          <p:cNvPr id="3090" name="Picture 18">
            <a:extLst>
              <a:ext uri="{FF2B5EF4-FFF2-40B4-BE49-F238E27FC236}">
                <a16:creationId xmlns:a16="http://schemas.microsoft.com/office/drawing/2014/main" id="{81808179-A53B-848D-A26B-0E9F523E6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629" y="3048001"/>
            <a:ext cx="38100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autoUpdateAnimBg="0"/>
      <p:bldP spid="307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643FEBF-8791-880B-BE79-76ADA651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209" y="-98425"/>
            <a:ext cx="27174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3.2 pdf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的变换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FA9E76F-AE17-D8A5-2910-E0F5ABE1C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09600"/>
            <a:ext cx="32736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、推广到</a:t>
            </a:r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个随机变量的情况</a:t>
            </a:r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A5B972B-C3B8-8FD1-93E6-96D1CAF99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552" y="2807268"/>
            <a:ext cx="3544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 dirty="0">
                <a:solidFill>
                  <a:srgbClr val="020202"/>
                </a:solidFill>
                <a:ea typeface="楷体_GB2312" pitchFamily="49" charset="-122"/>
              </a:rPr>
              <a:t>雅可比（</a:t>
            </a:r>
            <a:r>
              <a:rPr lang="en-US" altLang="zh-CN" b="1" dirty="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 Jacobian </a:t>
            </a:r>
            <a:r>
              <a:rPr lang="zh-CN" altLang="en-US" b="1" dirty="0">
                <a:solidFill>
                  <a:srgbClr val="020202"/>
                </a:solidFill>
                <a:ea typeface="楷体_GB2312" pitchFamily="49" charset="-122"/>
              </a:rPr>
              <a:t>）</a:t>
            </a:r>
            <a:r>
              <a:rPr lang="zh-CN" altLang="en-US" b="1" dirty="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行列式</a:t>
            </a:r>
            <a:r>
              <a:rPr lang="en-US" altLang="zh-CN" b="1" dirty="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 </a:t>
            </a:r>
            <a:r>
              <a:rPr lang="en-US" altLang="zh-CN" b="1" i="1" dirty="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J </a:t>
            </a:r>
            <a:r>
              <a:rPr lang="zh-CN" altLang="en-US" b="1" dirty="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</a:t>
            </a:r>
          </a:p>
        </p:txBody>
      </p:sp>
      <p:graphicFrame>
        <p:nvGraphicFramePr>
          <p:cNvPr id="4101" name="Object 5">
            <a:extLst>
              <a:ext uri="{FF2B5EF4-FFF2-40B4-BE49-F238E27FC236}">
                <a16:creationId xmlns:a16="http://schemas.microsoft.com/office/drawing/2014/main" id="{3717528A-D12D-A1C7-2F52-41614C9A50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753036"/>
              </p:ext>
            </p:extLst>
          </p:nvPr>
        </p:nvGraphicFramePr>
        <p:xfrm>
          <a:off x="3334756" y="1313364"/>
          <a:ext cx="5522489" cy="1123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666900" imgH="10528300" progId="Equation.3">
                  <p:embed/>
                </p:oleObj>
              </mc:Choice>
              <mc:Fallback>
                <p:oleObj name="Equation" r:id="rId2" imgW="52666900" imgH="10528300" progId="Equation.3">
                  <p:embed/>
                  <p:pic>
                    <p:nvPicPr>
                      <p:cNvPr id="4101" name="Object 5">
                        <a:extLst>
                          <a:ext uri="{FF2B5EF4-FFF2-40B4-BE49-F238E27FC236}">
                            <a16:creationId xmlns:a16="http://schemas.microsoft.com/office/drawing/2014/main" id="{3717528A-D12D-A1C7-2F52-41614C9A50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756" y="1313364"/>
                        <a:ext cx="5522489" cy="112321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>
            <a:extLst>
              <a:ext uri="{FF2B5EF4-FFF2-40B4-BE49-F238E27FC236}">
                <a16:creationId xmlns:a16="http://schemas.microsoft.com/office/drawing/2014/main" id="{DE09EE32-936D-98E1-8468-8697EC5F8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603394"/>
              </p:ext>
            </p:extLst>
          </p:nvPr>
        </p:nvGraphicFramePr>
        <p:xfrm>
          <a:off x="3381853" y="3501008"/>
          <a:ext cx="5428295" cy="252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025300" imgH="24574500" progId="Equation.3">
                  <p:embed/>
                </p:oleObj>
              </mc:Choice>
              <mc:Fallback>
                <p:oleObj name="Equation" r:id="rId4" imgW="50025300" imgH="24574500" progId="Equation.3">
                  <p:embed/>
                  <p:pic>
                    <p:nvPicPr>
                      <p:cNvPr id="4102" name="Object 6">
                        <a:extLst>
                          <a:ext uri="{FF2B5EF4-FFF2-40B4-BE49-F238E27FC236}">
                            <a16:creationId xmlns:a16="http://schemas.microsoft.com/office/drawing/2014/main" id="{DE09EE32-936D-98E1-8468-8697EC5F82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853" y="3501008"/>
                        <a:ext cx="5428295" cy="252028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70DD-EAE4-2907-4104-06E29FD7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F31047C-7A76-BE06-1987-D190956AE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209" y="-98425"/>
            <a:ext cx="27174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3.2 pdf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的变换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20E7B1E-3E39-5D77-F8AB-B5342874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64704"/>
            <a:ext cx="4485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、特例：如果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y(x)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是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的累积分布函数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ea typeface="楷体_GB2312" pitchFamily="49" charset="-122"/>
              </a:rPr>
              <a:t>cdf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4104" name="Object 8">
            <a:extLst>
              <a:ext uri="{FF2B5EF4-FFF2-40B4-BE49-F238E27FC236}">
                <a16:creationId xmlns:a16="http://schemas.microsoft.com/office/drawing/2014/main" id="{F5E41694-0EF0-2CEE-EE4A-EFD83982D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001470"/>
              </p:ext>
            </p:extLst>
          </p:nvPr>
        </p:nvGraphicFramePr>
        <p:xfrm>
          <a:off x="3500875" y="1357603"/>
          <a:ext cx="5190250" cy="20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02200" imgH="19900900" progId="Equation.3">
                  <p:embed/>
                </p:oleObj>
              </mc:Choice>
              <mc:Fallback>
                <p:oleObj name="Equation" r:id="rId2" imgW="43002200" imgH="19900900" progId="Equation.3">
                  <p:embed/>
                  <p:pic>
                    <p:nvPicPr>
                      <p:cNvPr id="4104" name="Object 8">
                        <a:extLst>
                          <a:ext uri="{FF2B5EF4-FFF2-40B4-BE49-F238E27FC236}">
                            <a16:creationId xmlns:a16="http://schemas.microsoft.com/office/drawing/2014/main" id="{58EB5B88-A949-9BBE-BDA7-2D7EB5088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875" y="1357603"/>
                        <a:ext cx="5190250" cy="20588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A451F54D-6267-5113-379A-13ACD3D977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473709"/>
              </p:ext>
            </p:extLst>
          </p:nvPr>
        </p:nvGraphicFramePr>
        <p:xfrm>
          <a:off x="4229100" y="4005064"/>
          <a:ext cx="3733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02800" imgH="4978400" progId="Equation.3">
                  <p:embed/>
                </p:oleObj>
              </mc:Choice>
              <mc:Fallback>
                <p:oleObj name="Equation" r:id="rId4" imgW="35102800" imgH="4978400" progId="Equation.3">
                  <p:embed/>
                  <p:pic>
                    <p:nvPicPr>
                      <p:cNvPr id="4105" name="Object 9">
                        <a:extLst>
                          <a:ext uri="{FF2B5EF4-FFF2-40B4-BE49-F238E27FC236}">
                            <a16:creationId xmlns:a16="http://schemas.microsoft.com/office/drawing/2014/main" id="{402C3DAF-5502-3D15-79DA-5C04EBD536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4005064"/>
                        <a:ext cx="3733800" cy="5286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10">
            <a:extLst>
              <a:ext uri="{FF2B5EF4-FFF2-40B4-BE49-F238E27FC236}">
                <a16:creationId xmlns:a16="http://schemas.microsoft.com/office/drawing/2014/main" id="{F0F7B073-6BCE-E049-CCFA-A05402733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708302"/>
            <a:ext cx="86106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a typeface="楷体_GB2312" pitchFamily="49" charset="-122"/>
              </a:rPr>
              <a:t>即：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[0,1]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区间上均匀分布 </a:t>
            </a:r>
            <a:endParaRPr lang="en-US" altLang="zh-CN" b="1" dirty="0">
              <a:solidFill>
                <a:srgbClr val="FF0000"/>
              </a:solidFill>
              <a:ea typeface="楷体_GB2312" pitchFamily="49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	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 </a:t>
            </a: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不管</a:t>
            </a:r>
            <a:r>
              <a:rPr lang="en-US" altLang="zh-CN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f(x)</a:t>
            </a: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取何种形式</a:t>
            </a:r>
            <a:r>
              <a:rPr lang="en-US" altLang="zh-CN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, </a:t>
            </a: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累积分布函数总是在</a:t>
            </a:r>
            <a:r>
              <a:rPr lang="en-US" altLang="zh-CN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[0,1]</a:t>
            </a: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区间上均匀分布</a:t>
            </a:r>
          </a:p>
        </p:txBody>
      </p:sp>
    </p:spTree>
    <p:extLst>
      <p:ext uri="{BB962C8B-B14F-4D97-AF65-F5344CB8AC3E}">
        <p14:creationId xmlns:p14="http://schemas.microsoft.com/office/powerpoint/2010/main" val="154631586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 autoUpdateAnimBg="0"/>
      <p:bldP spid="410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25FAEBA-9298-4E9F-E670-4347938890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模拟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6C36E2B-1D90-9DFA-43B6-9807EC161B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09800" y="1828800"/>
            <a:ext cx="7696200" cy="838200"/>
          </a:xfrm>
        </p:spPr>
        <p:txBody>
          <a:bodyPr/>
          <a:lstStyle/>
          <a:p>
            <a:r>
              <a:rPr lang="zh-CN" altLang="en-US" sz="2400" b="1">
                <a:solidFill>
                  <a:schemeClr val="tx2"/>
                </a:solidFill>
                <a:latin typeface="Comic Sans MS" panose="030F0902030302020204" pitchFamily="66" charset="0"/>
                <a:ea typeface="楷体_GB2312" pitchFamily="49" charset="-122"/>
              </a:rPr>
              <a:t>第三章 从概率分布函数的抽样</a:t>
            </a:r>
            <a:br>
              <a:rPr lang="zh-CN" altLang="en-US" sz="2400" b="1">
                <a:solidFill>
                  <a:schemeClr val="tx2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en-US" altLang="zh-CN" sz="2400" b="1">
                <a:solidFill>
                  <a:schemeClr val="tx2"/>
                </a:solidFill>
                <a:latin typeface="Comic Sans MS" panose="030F0902030302020204" pitchFamily="66" charset="0"/>
                <a:ea typeface="楷体_GB2312" pitchFamily="49" charset="-122"/>
              </a:rPr>
              <a:t>(Sampling from Probability Distribution Functions)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BD5743C1-DBEB-CABE-8219-9600A0CA2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95600"/>
            <a:ext cx="67056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SzPct val="90000"/>
            </a:pPr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3.3 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直接抽样法（</a:t>
            </a:r>
            <a:r>
              <a:rPr lang="zh-CN" altLang="en-US" b="1" dirty="0">
                <a:solidFill>
                  <a:srgbClr val="7030A0"/>
                </a:solidFill>
                <a:latin typeface="Comic Sans MS" panose="030F0902030302020204" pitchFamily="66" charset="0"/>
                <a:ea typeface="楷体_GB2312" pitchFamily="49" charset="-122"/>
              </a:rPr>
              <a:t>反函数法、逆变换算法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）</a:t>
            </a:r>
          </a:p>
          <a:p>
            <a:pPr algn="ctr">
              <a:spcBef>
                <a:spcPct val="50000"/>
              </a:spcBef>
              <a:buSzPct val="90000"/>
            </a:pP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（</a:t>
            </a:r>
            <a:r>
              <a:rPr lang="en-US" altLang="zh-CN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Sampling via Inversion of the </a:t>
            </a:r>
            <a:r>
              <a:rPr lang="en-US" altLang="zh-CN" b="1" dirty="0" err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cdf</a:t>
            </a:r>
            <a:r>
              <a:rPr lang="zh-CN" altLang="en-US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）</a:t>
            </a:r>
            <a:endParaRPr lang="zh-CN" altLang="en-US" dirty="0">
              <a:solidFill>
                <a:srgbClr val="050507"/>
              </a:solidFill>
              <a:latin typeface="Comic Sans MS" panose="030F0902030302020204" pitchFamily="66" charset="0"/>
            </a:endParaRP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008577E3-7D01-DCB0-B080-D9CB6E5EA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165600"/>
            <a:ext cx="4021138" cy="1562100"/>
          </a:xfrm>
          <a:prstGeom prst="rect">
            <a:avLst/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基本原理</a:t>
            </a:r>
          </a:p>
          <a:p>
            <a:pPr>
              <a:buFontTx/>
              <a:buAutoNum type="arabicPeriod"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连续型的随机变量的抽样</a:t>
            </a:r>
            <a:endParaRPr lang="zh-CN" altLang="en-US" b="1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902030302020204" pitchFamily="66" charset="0"/>
              <a:ea typeface="楷体_GB2312" pitchFamily="49" charset="-122"/>
            </a:endParaRPr>
          </a:p>
          <a:p>
            <a:pPr>
              <a:buFontTx/>
              <a:buAutoNum type="arabicPeriod"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离散型的随机变量的抽样</a:t>
            </a:r>
          </a:p>
          <a:p>
            <a:pPr>
              <a:buFontTx/>
              <a:buAutoNum type="arabicPeriod"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273913F-A753-F5DD-3824-17B1C7585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1.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基本原理</a:t>
            </a:r>
          </a:p>
        </p:txBody>
      </p:sp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C34163B3-DD05-0E95-D5F0-71FC162D6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479048"/>
              </p:ext>
            </p:extLst>
          </p:nvPr>
        </p:nvGraphicFramePr>
        <p:xfrm>
          <a:off x="3195483" y="3416782"/>
          <a:ext cx="17367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75100" imgH="5270500" progId="Equation.3">
                  <p:embed/>
                </p:oleObj>
              </mc:Choice>
              <mc:Fallback>
                <p:oleObj name="Equation" r:id="rId2" imgW="16675100" imgH="5270500" progId="Equation.3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C34163B3-DD05-0E95-D5F0-71FC162D6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483" y="3416782"/>
                        <a:ext cx="1736725" cy="5492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Rectangle 4">
            <a:extLst>
              <a:ext uri="{FF2B5EF4-FFF2-40B4-BE49-F238E27FC236}">
                <a16:creationId xmlns:a16="http://schemas.microsoft.com/office/drawing/2014/main" id="{006DCAD8-2E09-3BF6-4874-E4AAE286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37312"/>
            <a:ext cx="32560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注意：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pdf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ea typeface="楷体_GB2312" pitchFamily="49" charset="-122"/>
              </a:rPr>
              <a:t>f(x)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必须是归一化的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1424006-EFBF-9AAC-5B7B-190D256F5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943" y="857838"/>
            <a:ext cx="819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设</a:t>
            </a:r>
            <a:r>
              <a:rPr lang="en-US" altLang="zh-CN" i="1">
                <a:solidFill>
                  <a:srgbClr val="08080A"/>
                </a:solidFill>
                <a:ea typeface="楷体_GB2312" pitchFamily="49" charset="-122"/>
              </a:rPr>
              <a:t>y=F(x)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为随机变量</a:t>
            </a:r>
            <a:r>
              <a:rPr lang="en-US" altLang="zh-CN" i="1">
                <a:solidFill>
                  <a:srgbClr val="08080A"/>
                </a:solidFill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的累积分布函数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 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x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和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y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是一一对应的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1CA0302-F621-56ED-FEA3-F25809CD2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943" y="2060949"/>
            <a:ext cx="8191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841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先随机抽取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y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，然后通过</a:t>
            </a:r>
            <a:r>
              <a:rPr lang="zh-CN" altLang="en-US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求</a:t>
            </a:r>
            <a:r>
              <a:rPr lang="en-US" altLang="zh-CN" b="1" i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F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(</a:t>
            </a:r>
            <a:r>
              <a:rPr lang="en-US" altLang="zh-CN" b="1" i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x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)</a:t>
            </a:r>
            <a:r>
              <a:rPr lang="zh-CN" altLang="en-US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的反函数</a:t>
            </a:r>
            <a:r>
              <a:rPr lang="en-US" altLang="zh-CN" b="1" i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F</a:t>
            </a:r>
            <a:r>
              <a:rPr lang="en-US" altLang="zh-CN" b="1" i="1" baseline="30000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-</a:t>
            </a:r>
            <a:r>
              <a:rPr lang="en-US" altLang="zh-CN" b="1" baseline="30000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(</a:t>
            </a:r>
            <a:r>
              <a:rPr lang="en-US" altLang="zh-CN" b="1" i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y</a:t>
            </a:r>
            <a:r>
              <a:rPr lang="en-US" altLang="zh-CN" b="1" dirty="0">
                <a:solidFill>
                  <a:srgbClr val="0C1CE8"/>
                </a:solidFill>
                <a:ea typeface="楷体_GB2312" pitchFamily="49" charset="-122"/>
                <a:sym typeface="Wingdings" pitchFamily="2" charset="2"/>
              </a:rPr>
              <a:t>)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得到随机变量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x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的值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FA5C4451-C3A2-74C3-7F90-0764CB451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687" y="4968772"/>
            <a:ext cx="80900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905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随机变量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y</a:t>
            </a:r>
            <a:r>
              <a:rPr lang="zh-CN" altLang="en-US" b="1" i="1" dirty="0">
                <a:solidFill>
                  <a:srgbClr val="08080A"/>
                </a:solidFill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pdf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g(y)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在区间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[0,1]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上均匀分布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 利用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[0,1]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区间上均匀分布随机数产生器抽取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y</a:t>
            </a:r>
            <a:endParaRPr lang="zh-CN" altLang="en-US" b="1" dirty="0">
              <a:solidFill>
                <a:srgbClr val="08080A"/>
              </a:solidFill>
              <a:ea typeface="楷体_GB2312" pitchFamily="49" charset="-122"/>
              <a:sym typeface="Wingdings" pitchFamily="2" charset="2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2F4DCC1-F88E-E901-1255-E45E3C2DF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6" b="11994"/>
          <a:stretch/>
        </p:blipFill>
        <p:spPr bwMode="auto">
          <a:xfrm>
            <a:off x="6127693" y="2484268"/>
            <a:ext cx="4114800" cy="2377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5E66405-BB2E-985B-FA9D-7C8B39A81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936" y="1335718"/>
            <a:ext cx="1516392" cy="725231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autoUpdateAnimBg="0"/>
      <p:bldP spid="3078" grpId="0" autoUpdateAnimBg="0"/>
      <p:bldP spid="307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43AB0E7-C8F6-8558-2878-6F8C7FCCD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连续型的随机变量的抽样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9B2C3BD-251F-7873-B3A2-DA1406A2D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83820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方法：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A8AE26A4-7B79-FA7D-CCC5-5A694D68C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1" y="2057400"/>
            <a:ext cx="7243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产生在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[0,1]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区间上均匀分布的随机数</a:t>
            </a:r>
            <a:r>
              <a:rPr lang="zh-CN" altLang="en-US" b="1" i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= 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(0,1)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；</a:t>
            </a:r>
          </a:p>
        </p:txBody>
      </p:sp>
      <p:graphicFrame>
        <p:nvGraphicFramePr>
          <p:cNvPr id="16390" name="Object 6">
            <a:extLst>
              <a:ext uri="{FF2B5EF4-FFF2-40B4-BE49-F238E27FC236}">
                <a16:creationId xmlns:a16="http://schemas.microsoft.com/office/drawing/2014/main" id="{2260D52D-A0A4-24A8-240F-AD57F849D9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3352801"/>
          <a:ext cx="15001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75100" imgH="5270500" progId="Equation.3">
                  <p:embed/>
                </p:oleObj>
              </mc:Choice>
              <mc:Fallback>
                <p:oleObj name="Equation" r:id="rId2" imgW="16675100" imgH="5270500" progId="Equation.3">
                  <p:embed/>
                  <p:pic>
                    <p:nvPicPr>
                      <p:cNvPr id="16390" name="Object 6">
                        <a:extLst>
                          <a:ext uri="{FF2B5EF4-FFF2-40B4-BE49-F238E27FC236}">
                            <a16:creationId xmlns:a16="http://schemas.microsoft.com/office/drawing/2014/main" id="{2260D52D-A0A4-24A8-240F-AD57F849D9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352801"/>
                        <a:ext cx="1500188" cy="4746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>
            <a:extLst>
              <a:ext uri="{FF2B5EF4-FFF2-40B4-BE49-F238E27FC236}">
                <a16:creationId xmlns:a16="http://schemas.microsoft.com/office/drawing/2014/main" id="{AD6324D9-17D4-59A5-6FFF-91A942572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267201"/>
            <a:ext cx="7467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71513" indent="-6715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620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525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C40230"/>
                </a:solidFill>
                <a:latin typeface="Comic Sans MS" panose="030F0902030302020204" pitchFamily="66" charset="0"/>
                <a:ea typeface="楷体_GB2312" pitchFamily="49" charset="-122"/>
              </a:rPr>
              <a:t>注：需要知道累积分布函数的解析表达式，且累积分布函数的反函数存在</a:t>
            </a:r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652DEE0B-9D9A-DC9F-9838-1562F79C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5562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(0,1):  [0,1]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区间上均匀分布的随机数</a:t>
            </a:r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702E4AB3-25B4-2E99-AED4-4FB10AEFB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1" y="2667000"/>
            <a:ext cx="389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 startAt="2"/>
            </a:pP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令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F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(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x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) = 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,  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解方程得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x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9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A2B8-AC17-84D4-4CCE-4CFA5E73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6EE1BA9-264E-D7EA-D88A-BCA3933A0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连续型的随机变量的抽样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AC2832-42D6-10F6-D3F8-F6836528B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38" r="25207"/>
          <a:stretch/>
        </p:blipFill>
        <p:spPr>
          <a:xfrm>
            <a:off x="2808796" y="1988840"/>
            <a:ext cx="6250373" cy="21602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CA87ECD-A01B-E765-FB15-A1FB361EFB0F}"/>
              </a:ext>
            </a:extLst>
          </p:cNvPr>
          <p:cNvSpPr txBox="1"/>
          <p:nvPr/>
        </p:nvSpPr>
        <p:spPr>
          <a:xfrm>
            <a:off x="1631504" y="869811"/>
            <a:ext cx="860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对于连续型随机变量，抽样流程可简单描述为：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B409E3-7D4F-3F70-440D-7B586ECAFBFE}"/>
              </a:ext>
            </a:extLst>
          </p:cNvPr>
          <p:cNvSpPr txBox="1"/>
          <p:nvPr/>
        </p:nvSpPr>
        <p:spPr>
          <a:xfrm>
            <a:off x="1847528" y="4509120"/>
            <a:ext cx="8134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注意：</a:t>
            </a:r>
            <a:r>
              <a:rPr lang="en-US" altLang="zh-CN" b="1" dirty="0">
                <a:solidFill>
                  <a:srgbClr val="7030A0"/>
                </a:solidFill>
              </a:rPr>
              <a:t>CDF </a:t>
            </a:r>
            <a:r>
              <a:rPr lang="zh-CN" altLang="en-US" b="1" dirty="0">
                <a:solidFill>
                  <a:srgbClr val="7030A0"/>
                </a:solidFill>
              </a:rPr>
              <a:t>是可解析的，其反函数是存在的：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180257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D7CF-79AF-4667-D03C-BE6E0023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09F0ECB-0F3F-89E9-5FDE-9FA6DBF61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连续型的随机变量的抽样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DAC59C-7663-E83F-22DC-9CBB49941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90" y="1052736"/>
            <a:ext cx="829162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2085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EE6B1197-E64C-523E-EE02-0423D292C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连续型的随机变量的抽样</a:t>
            </a:r>
          </a:p>
        </p:txBody>
      </p:sp>
      <p:sp>
        <p:nvSpPr>
          <p:cNvPr id="19467" name="Text Box 1035">
            <a:extLst>
              <a:ext uri="{FF2B5EF4-FFF2-40B4-BE49-F238E27FC236}">
                <a16:creationId xmlns:a16="http://schemas.microsoft.com/office/drawing/2014/main" id="{48C78892-12CD-71C9-BEC7-C66E7CC2B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724400"/>
            <a:ext cx="4800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因为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b="1" i="1" dirty="0">
                <a:solidFill>
                  <a:srgbClr val="08080A"/>
                </a:solidFill>
              </a:rPr>
              <a:t>F</a:t>
            </a:r>
            <a:r>
              <a:rPr lang="en-US" altLang="zh-CN" b="1" baseline="30000" dirty="0">
                <a:solidFill>
                  <a:srgbClr val="08080A"/>
                </a:solidFill>
              </a:rPr>
              <a:t>-1</a:t>
            </a:r>
            <a:r>
              <a:rPr lang="en-US" altLang="zh-CN" b="1" dirty="0">
                <a:solidFill>
                  <a:srgbClr val="08080A"/>
                </a:solidFill>
              </a:rPr>
              <a:t> (</a:t>
            </a:r>
            <a:r>
              <a:rPr lang="el-GR" altLang="zh-CN" b="1" i="1" dirty="0">
                <a:solidFill>
                  <a:srgbClr val="08080A"/>
                </a:solidFill>
              </a:rPr>
              <a:t>ξ</a:t>
            </a:r>
            <a:r>
              <a:rPr lang="en-US" altLang="zh-CN" b="1" dirty="0">
                <a:solidFill>
                  <a:srgbClr val="08080A"/>
                </a:solidFill>
              </a:rPr>
              <a:t>)=</a:t>
            </a:r>
            <a:r>
              <a:rPr lang="en-US" altLang="zh-CN" b="1" i="1" dirty="0">
                <a:solidFill>
                  <a:srgbClr val="08080A"/>
                </a:solidFill>
              </a:rPr>
              <a:t>x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, 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也就是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  </a:t>
            </a:r>
            <a:r>
              <a:rPr lang="el-GR" altLang="zh-CN" b="1" i="1" dirty="0">
                <a:solidFill>
                  <a:srgbClr val="08080A"/>
                </a:solidFill>
              </a:rPr>
              <a:t>ξ</a:t>
            </a:r>
            <a:r>
              <a:rPr lang="en-US" altLang="zh-CN" b="1" dirty="0">
                <a:solidFill>
                  <a:srgbClr val="08080A"/>
                </a:solidFill>
              </a:rPr>
              <a:t> =</a:t>
            </a:r>
            <a:r>
              <a:rPr lang="en-US" altLang="zh-CN" b="1" i="1" dirty="0">
                <a:solidFill>
                  <a:srgbClr val="08080A"/>
                </a:solidFill>
              </a:rPr>
              <a:t> F</a:t>
            </a:r>
            <a:r>
              <a:rPr lang="en-US" altLang="zh-CN" b="1" dirty="0">
                <a:solidFill>
                  <a:srgbClr val="08080A"/>
                </a:solidFill>
              </a:rPr>
              <a:t>(</a:t>
            </a:r>
            <a:r>
              <a:rPr lang="en-US" altLang="zh-CN" b="1" i="1" dirty="0">
                <a:solidFill>
                  <a:srgbClr val="08080A"/>
                </a:solidFill>
              </a:rPr>
              <a:t>x</a:t>
            </a:r>
            <a:r>
              <a:rPr lang="en-US" altLang="zh-CN" b="1" dirty="0">
                <a:solidFill>
                  <a:srgbClr val="08080A"/>
                </a:solidFill>
              </a:rPr>
              <a:t>)</a:t>
            </a:r>
          </a:p>
        </p:txBody>
      </p:sp>
      <p:sp>
        <p:nvSpPr>
          <p:cNvPr id="19468" name="Rectangle 1036">
            <a:extLst>
              <a:ext uri="{FF2B5EF4-FFF2-40B4-BE49-F238E27FC236}">
                <a16:creationId xmlns:a16="http://schemas.microsoft.com/office/drawing/2014/main" id="{3F303DAE-FDB1-26A6-476A-6BBC15FED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914400"/>
            <a:ext cx="31085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反函数方法证明：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9469" name="Rectangle 1037">
            <a:extLst>
              <a:ext uri="{FF2B5EF4-FFF2-40B4-BE49-F238E27FC236}">
                <a16:creationId xmlns:a16="http://schemas.microsoft.com/office/drawing/2014/main" id="{B739BAEC-AA9E-0E69-4A25-B187C33C6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1790701"/>
            <a:ext cx="59971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84175" indent="-384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46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90000"/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从随机变量 </a:t>
            </a:r>
            <a:r>
              <a:rPr lang="en-US" altLang="zh-CN" b="1" dirty="0">
                <a:solidFill>
                  <a:srgbClr val="7030A0"/>
                </a:solidFill>
                <a:latin typeface="Comic Sans MS" panose="030F0902030302020204" pitchFamily="66" charset="0"/>
              </a:rPr>
              <a:t>x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到 </a:t>
            </a:r>
            <a:r>
              <a:rPr lang="el-GR" altLang="zh-CN" b="1" dirty="0">
                <a:solidFill>
                  <a:srgbClr val="7030A0"/>
                </a:solidFill>
                <a:sym typeface="Symbol" pitchFamily="2" charset="2"/>
              </a:rPr>
              <a:t>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  <a:sym typeface="Symbol" pitchFamily="2" charset="2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的映射是一一对应的</a:t>
            </a:r>
            <a:endParaRPr lang="en-US" altLang="zh-CN" b="1" dirty="0">
              <a:solidFill>
                <a:srgbClr val="08080A"/>
              </a:solidFill>
              <a:latin typeface="Comic Sans MS" panose="030F0902030302020204" pitchFamily="66" charset="0"/>
            </a:endParaRPr>
          </a:p>
        </p:txBody>
      </p:sp>
      <p:sp>
        <p:nvSpPr>
          <p:cNvPr id="19470" name="Rectangle 1038">
            <a:extLst>
              <a:ext uri="{FF2B5EF4-FFF2-40B4-BE49-F238E27FC236}">
                <a16:creationId xmlns:a16="http://schemas.microsoft.com/office/drawing/2014/main" id="{7D62A787-C10A-27E6-62C4-A1D762C64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362201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46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90000"/>
              <a:buFontTx/>
              <a:buBlip>
                <a:blip r:embed="rId2"/>
              </a:buBlip>
            </a:pPr>
            <a:r>
              <a:rPr lang="el-GR" altLang="zh-CN" b="1" i="1" dirty="0">
                <a:solidFill>
                  <a:srgbClr val="C40230"/>
                </a:solidFill>
                <a:latin typeface="Symbol" pitchFamily="2" charset="2"/>
                <a:sym typeface="Symbol" pitchFamily="2" charset="2"/>
              </a:rPr>
              <a:t></a:t>
            </a:r>
            <a:r>
              <a:rPr lang="zh-CN" altLang="en-US" b="1" i="1" dirty="0">
                <a:solidFill>
                  <a:srgbClr val="C40230"/>
                </a:solidFill>
                <a:latin typeface="Symbol" pitchFamily="2" charset="2"/>
                <a:sym typeface="Symbol" pitchFamily="2" charset="2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在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[</a:t>
            </a:r>
            <a:r>
              <a:rPr lang="el-GR" altLang="zh-CN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</a:t>
            </a:r>
            <a:r>
              <a:rPr lang="en-US" altLang="zh-CN" b="1" dirty="0">
                <a:solidFill>
                  <a:srgbClr val="C40230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,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 </a:t>
            </a:r>
            <a:r>
              <a:rPr lang="el-GR" altLang="zh-CN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 </a:t>
            </a:r>
            <a:r>
              <a:rPr lang="en-US" altLang="zh-CN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+</a:t>
            </a:r>
            <a:r>
              <a:rPr lang="zh-CN" altLang="en-US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 </a:t>
            </a:r>
            <a:r>
              <a:rPr lang="en-US" altLang="zh-CN" b="1" dirty="0">
                <a:solidFill>
                  <a:srgbClr val="C40230"/>
                </a:solidFill>
                <a:latin typeface="Comic Sans MS" panose="030F0902030302020204" pitchFamily="66" charset="0"/>
              </a:rPr>
              <a:t>d</a:t>
            </a:r>
            <a:r>
              <a:rPr lang="el-GR" altLang="zh-CN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</a:t>
            </a:r>
            <a:r>
              <a:rPr lang="zh-CN" altLang="en-US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 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]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 之间的概率为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  </a:t>
            </a:r>
            <a:r>
              <a:rPr lang="en-US" altLang="zh-CN" b="1" dirty="0">
                <a:solidFill>
                  <a:srgbClr val="C40230"/>
                </a:solidFill>
                <a:latin typeface="Comic Sans MS" panose="030F0902030302020204" pitchFamily="66" charset="0"/>
              </a:rPr>
              <a:t>1</a:t>
            </a:r>
            <a:r>
              <a:rPr lang="el-GR" altLang="zh-CN" b="1" dirty="0">
                <a:solidFill>
                  <a:srgbClr val="C40230"/>
                </a:solidFill>
                <a:latin typeface="Comic Sans MS" panose="030F0902030302020204" pitchFamily="66" charset="0"/>
              </a:rPr>
              <a:t>·</a:t>
            </a:r>
            <a:r>
              <a:rPr lang="en-US" altLang="zh-CN" b="1" dirty="0">
                <a:solidFill>
                  <a:srgbClr val="C40230"/>
                </a:solidFill>
                <a:latin typeface="Comic Sans MS" panose="030F0902030302020204" pitchFamily="66" charset="0"/>
              </a:rPr>
              <a:t>d</a:t>
            </a:r>
            <a:r>
              <a:rPr lang="el-GR" altLang="zh-CN" b="1" i="1" dirty="0">
                <a:solidFill>
                  <a:srgbClr val="C40230"/>
                </a:solidFill>
                <a:latin typeface="Comic Sans MS" panose="030F0902030302020204" pitchFamily="66" charset="0"/>
                <a:sym typeface="Symbol" pitchFamily="2" charset="2"/>
              </a:rPr>
              <a:t></a:t>
            </a:r>
            <a:r>
              <a:rPr lang="en-US" altLang="zh-CN" b="1" i="1" dirty="0">
                <a:solidFill>
                  <a:srgbClr val="08080A"/>
                </a:solidFill>
                <a:latin typeface="Comic Sans MS" panose="030F0902030302020204" pitchFamily="66" charset="0"/>
                <a:sym typeface="Symbol" pitchFamily="2" charset="2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这与</a:t>
            </a:r>
            <a:r>
              <a:rPr lang="en-US" altLang="zh-CN" b="1" i="1" dirty="0">
                <a:solidFill>
                  <a:srgbClr val="C40230"/>
                </a:solidFill>
              </a:rPr>
              <a:t>x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在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[</a:t>
            </a:r>
            <a:r>
              <a:rPr lang="en-US" altLang="zh-CN" b="1" i="1" dirty="0">
                <a:solidFill>
                  <a:srgbClr val="C40230"/>
                </a:solidFill>
              </a:rPr>
              <a:t>x,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 x+ </a:t>
            </a:r>
            <a:r>
              <a:rPr lang="en-US" altLang="zh-CN" b="1" dirty="0">
                <a:solidFill>
                  <a:srgbClr val="C40230"/>
                </a:solidFill>
                <a:latin typeface="Comic Sans MS" panose="030F0902030302020204" pitchFamily="66" charset="0"/>
              </a:rPr>
              <a:t>d</a:t>
            </a:r>
            <a:r>
              <a:rPr lang="en-US" altLang="zh-CN" b="1" i="1" dirty="0">
                <a:solidFill>
                  <a:srgbClr val="C40230"/>
                </a:solidFill>
              </a:rPr>
              <a:t>x</a:t>
            </a:r>
            <a:r>
              <a:rPr lang="en-US" altLang="zh-CN" b="1" dirty="0">
                <a:solidFill>
                  <a:srgbClr val="08080A"/>
                </a:solidFill>
                <a:latin typeface="Comic Sans MS" panose="030F0902030302020204" pitchFamily="66" charset="0"/>
              </a:rPr>
              <a:t>]</a:t>
            </a:r>
            <a:r>
              <a:rPr lang="zh-CN" altLang="en-US" b="1" dirty="0">
                <a:solidFill>
                  <a:srgbClr val="08080A"/>
                </a:solidFill>
                <a:latin typeface="Comic Sans MS" panose="030F0902030302020204" pitchFamily="66" charset="0"/>
              </a:rPr>
              <a:t>之间的概率相同，因此</a:t>
            </a:r>
            <a:endParaRPr lang="en-US" altLang="zh-CN" b="1" dirty="0">
              <a:solidFill>
                <a:srgbClr val="08080A"/>
              </a:solidFill>
              <a:latin typeface="Comic Sans MS" panose="030F0902030302020204" pitchFamily="66" charset="0"/>
            </a:endParaRPr>
          </a:p>
        </p:txBody>
      </p:sp>
      <p:graphicFrame>
        <p:nvGraphicFramePr>
          <p:cNvPr id="19471" name="Object 1039">
            <a:extLst>
              <a:ext uri="{FF2B5EF4-FFF2-40B4-BE49-F238E27FC236}">
                <a16:creationId xmlns:a16="http://schemas.microsoft.com/office/drawing/2014/main" id="{B4BCAA28-663A-FAC4-07B9-9F3C070C0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810000"/>
          <a:ext cx="5715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351700" imgH="4686300" progId="Equation.3">
                  <p:embed/>
                </p:oleObj>
              </mc:Choice>
              <mc:Fallback>
                <p:oleObj name="Equation" r:id="rId3" imgW="45351700" imgH="4686300" progId="Equation.3">
                  <p:embed/>
                  <p:pic>
                    <p:nvPicPr>
                      <p:cNvPr id="19471" name="Object 1039">
                        <a:extLst>
                          <a:ext uri="{FF2B5EF4-FFF2-40B4-BE49-F238E27FC236}">
                            <a16:creationId xmlns:a16="http://schemas.microsoft.com/office/drawing/2014/main" id="{B4BCAA28-663A-FAC4-07B9-9F3C070C01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10000"/>
                        <a:ext cx="57150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76B55E7-D2D7-3CD1-A4AC-3267A0699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离散型的随机变量的抽样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E9C9D933-6F7E-0C11-A591-7CDD2319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6" y="706438"/>
            <a:ext cx="38779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直接抽样法适应于</a:t>
            </a:r>
            <a:r>
              <a:rPr lang="zh-CN" altLang="en-US" b="1" dirty="0">
                <a:solidFill>
                  <a:srgbClr val="7030A0"/>
                </a:solidFill>
                <a:latin typeface="楷体_GB2312" pitchFamily="49" charset="-122"/>
                <a:ea typeface="楷体_GB2312" pitchFamily="49" charset="-122"/>
              </a:rPr>
              <a:t>离散型的随机变量</a:t>
            </a:r>
          </a:p>
        </p:txBody>
      </p:sp>
      <p:sp>
        <p:nvSpPr>
          <p:cNvPr id="4117" name="Text Box 21">
            <a:extLst>
              <a:ext uri="{FF2B5EF4-FFF2-40B4-BE49-F238E27FC236}">
                <a16:creationId xmlns:a16="http://schemas.microsoft.com/office/drawing/2014/main" id="{2BE84BCA-42D8-A82E-2612-F4A2BDB57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412875"/>
            <a:ext cx="77787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设离散型随机变量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的可能取值为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x</a:t>
            </a:r>
            <a:r>
              <a:rPr lang="en-US" altLang="zh-CN" b="1" baseline="-25000">
                <a:solidFill>
                  <a:srgbClr val="08080A"/>
                </a:solidFill>
                <a:ea typeface="楷体_GB2312" pitchFamily="49" charset="-122"/>
              </a:rPr>
              <a:t>1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, 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x</a:t>
            </a:r>
            <a:r>
              <a:rPr lang="en-US" altLang="zh-CN" b="1" baseline="-25000">
                <a:solidFill>
                  <a:srgbClr val="08080A"/>
                </a:solidFill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, …, 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x</a:t>
            </a:r>
            <a:r>
              <a:rPr lang="en-US" altLang="zh-CN" b="1" baseline="-25000">
                <a:solidFill>
                  <a:srgbClr val="08080A"/>
                </a:solidFill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,</a:t>
            </a:r>
            <a:r>
              <a:rPr lang="en-US" altLang="zh-CN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其概率为</a:t>
            </a:r>
          </a:p>
        </p:txBody>
      </p:sp>
      <p:graphicFrame>
        <p:nvGraphicFramePr>
          <p:cNvPr id="4118" name="Object 22">
            <a:extLst>
              <a:ext uri="{FF2B5EF4-FFF2-40B4-BE49-F238E27FC236}">
                <a16:creationId xmlns:a16="http://schemas.microsoft.com/office/drawing/2014/main" id="{22C09FAD-6CEF-9B11-6BA8-B3B34A98A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2057400"/>
          <a:ext cx="41243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02200" imgH="5270500" progId="Equation.3">
                  <p:embed/>
                </p:oleObj>
              </mc:Choice>
              <mc:Fallback>
                <p:oleObj name="Equation" r:id="rId2" imgW="43002200" imgH="5270500" progId="Equation.3">
                  <p:embed/>
                  <p:pic>
                    <p:nvPicPr>
                      <p:cNvPr id="4118" name="Object 22">
                        <a:extLst>
                          <a:ext uri="{FF2B5EF4-FFF2-40B4-BE49-F238E27FC236}">
                            <a16:creationId xmlns:a16="http://schemas.microsoft.com/office/drawing/2014/main" id="{22C09FAD-6CEF-9B11-6BA8-B3B34A98A8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2057400"/>
                        <a:ext cx="4124325" cy="4206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Text Box 23">
            <a:extLst>
              <a:ext uri="{FF2B5EF4-FFF2-40B4-BE49-F238E27FC236}">
                <a16:creationId xmlns:a16="http://schemas.microsoft.com/office/drawing/2014/main" id="{E5FAD1C1-BB35-148F-A72D-94DF17660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687638"/>
            <a:ext cx="23891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累积分布函数：</a:t>
            </a:r>
          </a:p>
        </p:txBody>
      </p:sp>
      <p:graphicFrame>
        <p:nvGraphicFramePr>
          <p:cNvPr id="4120" name="Object 24">
            <a:extLst>
              <a:ext uri="{FF2B5EF4-FFF2-40B4-BE49-F238E27FC236}">
                <a16:creationId xmlns:a16="http://schemas.microsoft.com/office/drawing/2014/main" id="{AABAF564-BE2D-423E-C491-D9EBEB1039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276600"/>
          <a:ext cx="40608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36500" imgH="8483600" progId="Equation.3">
                  <p:embed/>
                </p:oleObj>
              </mc:Choice>
              <mc:Fallback>
                <p:oleObj name="Equation" r:id="rId4" imgW="38036500" imgH="8483600" progId="Equation.3">
                  <p:embed/>
                  <p:pic>
                    <p:nvPicPr>
                      <p:cNvPr id="4120" name="Object 24">
                        <a:extLst>
                          <a:ext uri="{FF2B5EF4-FFF2-40B4-BE49-F238E27FC236}">
                            <a16:creationId xmlns:a16="http://schemas.microsoft.com/office/drawing/2014/main" id="{AABAF564-BE2D-423E-C491-D9EBEB1039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276600"/>
                        <a:ext cx="4060825" cy="6413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24737B7D-2D21-F6DF-A3A0-FF9FA1987031}"/>
              </a:ext>
            </a:extLst>
          </p:cNvPr>
          <p:cNvGrpSpPr/>
          <p:nvPr/>
        </p:nvGrpSpPr>
        <p:grpSpPr>
          <a:xfrm>
            <a:off x="2895600" y="4191000"/>
            <a:ext cx="3200400" cy="2205494"/>
            <a:chOff x="1371600" y="4191000"/>
            <a:chExt cx="3200400" cy="2205494"/>
          </a:xfrm>
        </p:grpSpPr>
        <p:sp>
          <p:nvSpPr>
            <p:cNvPr id="4122" name="Line 26">
              <a:extLst>
                <a:ext uri="{FF2B5EF4-FFF2-40B4-BE49-F238E27FC236}">
                  <a16:creationId xmlns:a16="http://schemas.microsoft.com/office/drawing/2014/main" id="{175B7264-9769-627A-2B1D-441B3A809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475" y="5867400"/>
              <a:ext cx="2803525" cy="0"/>
            </a:xfrm>
            <a:prstGeom prst="line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3" name="Line 27">
              <a:extLst>
                <a:ext uri="{FF2B5EF4-FFF2-40B4-BE49-F238E27FC236}">
                  <a16:creationId xmlns:a16="http://schemas.microsoft.com/office/drawing/2014/main" id="{20FE86D9-CF7D-914F-5900-2CEAF942B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8475" y="4191000"/>
              <a:ext cx="0" cy="1676400"/>
            </a:xfrm>
            <a:prstGeom prst="line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4" name="Rectangle 28">
              <a:extLst>
                <a:ext uri="{FF2B5EF4-FFF2-40B4-BE49-F238E27FC236}">
                  <a16:creationId xmlns:a16="http://schemas.microsoft.com/office/drawing/2014/main" id="{FD47761D-2B50-0600-6A73-88055D40C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475" y="5334000"/>
              <a:ext cx="304800" cy="533400"/>
            </a:xfrm>
            <a:prstGeom prst="rect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Rectangle 29">
              <a:extLst>
                <a:ext uri="{FF2B5EF4-FFF2-40B4-BE49-F238E27FC236}">
                  <a16:creationId xmlns:a16="http://schemas.microsoft.com/office/drawing/2014/main" id="{39842FD7-FE39-F9CF-E37A-9D05BF8FC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275" y="4724400"/>
              <a:ext cx="304800" cy="1143000"/>
            </a:xfrm>
            <a:prstGeom prst="rect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Rectangle 30">
              <a:extLst>
                <a:ext uri="{FF2B5EF4-FFF2-40B4-BE49-F238E27FC236}">
                  <a16:creationId xmlns:a16="http://schemas.microsoft.com/office/drawing/2014/main" id="{3819115B-B4B7-E556-533A-246CEA105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105400"/>
              <a:ext cx="304800" cy="762000"/>
            </a:xfrm>
            <a:prstGeom prst="rect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Text Box 31">
              <a:extLst>
                <a:ext uri="{FF2B5EF4-FFF2-40B4-BE49-F238E27FC236}">
                  <a16:creationId xmlns:a16="http://schemas.microsoft.com/office/drawing/2014/main" id="{81CE59B3-4737-EF07-E2F0-3295D4CD1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3675" y="5638800"/>
              <a:ext cx="31931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0</a:t>
              </a:r>
            </a:p>
          </p:txBody>
        </p:sp>
        <p:sp>
          <p:nvSpPr>
            <p:cNvPr id="4128" name="Text Box 32">
              <a:extLst>
                <a:ext uri="{FF2B5EF4-FFF2-40B4-BE49-F238E27FC236}">
                  <a16:creationId xmlns:a16="http://schemas.microsoft.com/office/drawing/2014/main" id="{2D2651E3-D983-9AC6-147F-01B563926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5791200"/>
              <a:ext cx="38664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30" name="Text Box 34">
              <a:extLst>
                <a:ext uri="{FF2B5EF4-FFF2-40B4-BE49-F238E27FC236}">
                  <a16:creationId xmlns:a16="http://schemas.microsoft.com/office/drawing/2014/main" id="{C99B302D-3C36-113E-F9AB-683FBC8C0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5791200"/>
              <a:ext cx="5966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N-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31" name="Text Box 35">
              <a:extLst>
                <a:ext uri="{FF2B5EF4-FFF2-40B4-BE49-F238E27FC236}">
                  <a16:creationId xmlns:a16="http://schemas.microsoft.com/office/drawing/2014/main" id="{F33C7121-08E5-234C-F82C-7D943AFF0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5791200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N</a:t>
              </a:r>
            </a:p>
          </p:txBody>
        </p:sp>
        <p:sp>
          <p:nvSpPr>
            <p:cNvPr id="4133" name="Text Box 37">
              <a:extLst>
                <a:ext uri="{FF2B5EF4-FFF2-40B4-BE49-F238E27FC236}">
                  <a16:creationId xmlns:a16="http://schemas.microsoft.com/office/drawing/2014/main" id="{97E00C0C-E93A-CF05-4DA5-E90645F72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5119688"/>
              <a:ext cx="4219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34" name="Text Box 38">
              <a:extLst>
                <a:ext uri="{FF2B5EF4-FFF2-40B4-BE49-F238E27FC236}">
                  <a16:creationId xmlns:a16="http://schemas.microsoft.com/office/drawing/2014/main" id="{CE776BF0-4281-3F1B-7E3F-BBE7790AF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495800"/>
              <a:ext cx="42191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</a:p>
          </p:txBody>
        </p:sp>
        <p:sp>
          <p:nvSpPr>
            <p:cNvPr id="4135" name="Line 39">
              <a:extLst>
                <a:ext uri="{FF2B5EF4-FFF2-40B4-BE49-F238E27FC236}">
                  <a16:creationId xmlns:a16="http://schemas.microsoft.com/office/drawing/2014/main" id="{36A2B0EE-31F6-7E7F-E1AA-CA3C09C09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4724400"/>
              <a:ext cx="304800" cy="0"/>
            </a:xfrm>
            <a:prstGeom prst="line">
              <a:avLst/>
            </a:prstGeom>
            <a:noFill/>
            <a:ln w="9525">
              <a:solidFill>
                <a:srgbClr val="08080A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36" name="Line 40">
              <a:extLst>
                <a:ext uri="{FF2B5EF4-FFF2-40B4-BE49-F238E27FC236}">
                  <a16:creationId xmlns:a16="http://schemas.microsoft.com/office/drawing/2014/main" id="{96AA5769-C217-8552-8935-88980B4F0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475" y="5105400"/>
              <a:ext cx="1447800" cy="0"/>
            </a:xfrm>
            <a:prstGeom prst="line">
              <a:avLst/>
            </a:prstGeom>
            <a:noFill/>
            <a:ln w="9525">
              <a:solidFill>
                <a:srgbClr val="08080A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37" name="Text Box 41">
              <a:extLst>
                <a:ext uri="{FF2B5EF4-FFF2-40B4-BE49-F238E27FC236}">
                  <a16:creationId xmlns:a16="http://schemas.microsoft.com/office/drawing/2014/main" id="{1E5360B3-4973-1ED4-EE9D-0B55347F5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7475" y="4800600"/>
              <a:ext cx="45717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N</a:t>
              </a:r>
            </a:p>
          </p:txBody>
        </p:sp>
        <p:sp>
          <p:nvSpPr>
            <p:cNvPr id="4138" name="Text Box 42">
              <a:extLst>
                <a:ext uri="{FF2B5EF4-FFF2-40B4-BE49-F238E27FC236}">
                  <a16:creationId xmlns:a16="http://schemas.microsoft.com/office/drawing/2014/main" id="{3952148C-37B2-5461-D2D6-BFAFCA665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5791200"/>
              <a:ext cx="381000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</a:p>
          </p:txBody>
        </p:sp>
        <p:sp>
          <p:nvSpPr>
            <p:cNvPr id="4156" name="Rectangle 60">
              <a:extLst>
                <a:ext uri="{FF2B5EF4-FFF2-40B4-BE49-F238E27FC236}">
                  <a16:creationId xmlns:a16="http://schemas.microsoft.com/office/drawing/2014/main" id="{95C7B4C6-1CF1-1B53-3820-81277B3F0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4495800"/>
              <a:ext cx="304800" cy="1371600"/>
            </a:xfrm>
            <a:prstGeom prst="rect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rgbClr val="08080A"/>
                </a:solidFill>
              </a:endParaRPr>
            </a:p>
          </p:txBody>
        </p:sp>
        <p:sp>
          <p:nvSpPr>
            <p:cNvPr id="4157" name="Line 61">
              <a:extLst>
                <a:ext uri="{FF2B5EF4-FFF2-40B4-BE49-F238E27FC236}">
                  <a16:creationId xmlns:a16="http://schemas.microsoft.com/office/drawing/2014/main" id="{046BD9DB-71D0-CB69-4916-BA5688632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4495800"/>
              <a:ext cx="1295400" cy="0"/>
            </a:xfrm>
            <a:prstGeom prst="line">
              <a:avLst/>
            </a:prstGeom>
            <a:noFill/>
            <a:ln w="9525">
              <a:solidFill>
                <a:srgbClr val="08080A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8" name="Text Box 62">
              <a:extLst>
                <a:ext uri="{FF2B5EF4-FFF2-40B4-BE49-F238E27FC236}">
                  <a16:creationId xmlns:a16="http://schemas.microsoft.com/office/drawing/2014/main" id="{0965B4C8-8A22-7B08-E746-F8A5C667F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240213"/>
              <a:ext cx="41229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k</a:t>
              </a:r>
            </a:p>
          </p:txBody>
        </p:sp>
        <p:sp>
          <p:nvSpPr>
            <p:cNvPr id="4159" name="Text Box 63">
              <a:extLst>
                <a:ext uri="{FF2B5EF4-FFF2-40B4-BE49-F238E27FC236}">
                  <a16:creationId xmlns:a16="http://schemas.microsoft.com/office/drawing/2014/main" id="{F7C18501-63C5-6FDA-9AC5-F94FE3C21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5791200"/>
              <a:ext cx="55175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k-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60" name="Text Box 64">
              <a:extLst>
                <a:ext uri="{FF2B5EF4-FFF2-40B4-BE49-F238E27FC236}">
                  <a16:creationId xmlns:a16="http://schemas.microsoft.com/office/drawing/2014/main" id="{72C4F02F-3CB3-F4B1-C01D-65099A17B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5791200"/>
              <a:ext cx="37702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k</a:t>
              </a:r>
              <a:endParaRPr lang="en-US" altLang="zh-CN" sz="2000" baseline="-25000">
                <a:solidFill>
                  <a:srgbClr val="08080A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74248D5-DC12-5115-D72D-C8F2E596BE32}"/>
              </a:ext>
            </a:extLst>
          </p:cNvPr>
          <p:cNvGrpSpPr/>
          <p:nvPr/>
        </p:nvGrpSpPr>
        <p:grpSpPr>
          <a:xfrm>
            <a:off x="6618289" y="3961606"/>
            <a:ext cx="3124200" cy="2496006"/>
            <a:chOff x="5486400" y="3900488"/>
            <a:chExt cx="3124200" cy="2496006"/>
          </a:xfrm>
        </p:grpSpPr>
        <p:sp>
          <p:nvSpPr>
            <p:cNvPr id="4161" name="Line 65">
              <a:extLst>
                <a:ext uri="{FF2B5EF4-FFF2-40B4-BE49-F238E27FC236}">
                  <a16:creationId xmlns:a16="http://schemas.microsoft.com/office/drawing/2014/main" id="{7F04F910-4340-5648-F344-3FE8AD6E0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7075" y="5867400"/>
              <a:ext cx="2803525" cy="0"/>
            </a:xfrm>
            <a:prstGeom prst="line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66" name="Text Box 70">
              <a:extLst>
                <a:ext uri="{FF2B5EF4-FFF2-40B4-BE49-F238E27FC236}">
                  <a16:creationId xmlns:a16="http://schemas.microsoft.com/office/drawing/2014/main" id="{E0385B2C-5341-E69A-6EFF-BF23EE378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2275" y="5638800"/>
              <a:ext cx="31931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0</a:t>
              </a:r>
            </a:p>
          </p:txBody>
        </p:sp>
        <p:sp>
          <p:nvSpPr>
            <p:cNvPr id="4167" name="Text Box 71">
              <a:extLst>
                <a:ext uri="{FF2B5EF4-FFF2-40B4-BE49-F238E27FC236}">
                  <a16:creationId xmlns:a16="http://schemas.microsoft.com/office/drawing/2014/main" id="{91D39BEF-22BF-703A-B961-ED489AC6F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791200"/>
              <a:ext cx="38664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68" name="Text Box 72">
              <a:extLst>
                <a:ext uri="{FF2B5EF4-FFF2-40B4-BE49-F238E27FC236}">
                  <a16:creationId xmlns:a16="http://schemas.microsoft.com/office/drawing/2014/main" id="{BA35EFFE-EF82-E01B-282B-96956165E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5791200"/>
              <a:ext cx="5966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N-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69" name="Text Box 73">
              <a:extLst>
                <a:ext uri="{FF2B5EF4-FFF2-40B4-BE49-F238E27FC236}">
                  <a16:creationId xmlns:a16="http://schemas.microsoft.com/office/drawing/2014/main" id="{D57C5ECA-EF41-8FC7-A297-CD31AA5B2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5791200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N</a:t>
              </a:r>
            </a:p>
          </p:txBody>
        </p:sp>
        <p:sp>
          <p:nvSpPr>
            <p:cNvPr id="4175" name="Text Box 79">
              <a:extLst>
                <a:ext uri="{FF2B5EF4-FFF2-40B4-BE49-F238E27FC236}">
                  <a16:creationId xmlns:a16="http://schemas.microsoft.com/office/drawing/2014/main" id="{C3274F0E-F209-79CA-32AA-FEE5A7484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5791200"/>
              <a:ext cx="381000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</a:p>
          </p:txBody>
        </p:sp>
        <p:sp>
          <p:nvSpPr>
            <p:cNvPr id="4179" name="Text Box 83">
              <a:extLst>
                <a:ext uri="{FF2B5EF4-FFF2-40B4-BE49-F238E27FC236}">
                  <a16:creationId xmlns:a16="http://schemas.microsoft.com/office/drawing/2014/main" id="{7BED56B4-4CAA-CFAB-75AB-B678031F7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5791200"/>
              <a:ext cx="55175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k-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80" name="Text Box 84">
              <a:extLst>
                <a:ext uri="{FF2B5EF4-FFF2-40B4-BE49-F238E27FC236}">
                  <a16:creationId xmlns:a16="http://schemas.microsoft.com/office/drawing/2014/main" id="{7BE8E75A-2297-38A1-3166-8C0F42E53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5791200"/>
              <a:ext cx="37702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k</a:t>
              </a:r>
              <a:endParaRPr lang="en-US" altLang="zh-CN" sz="2000" baseline="-25000">
                <a:solidFill>
                  <a:srgbClr val="08080A"/>
                </a:solidFill>
              </a:endParaRPr>
            </a:p>
          </p:txBody>
        </p:sp>
        <p:sp>
          <p:nvSpPr>
            <p:cNvPr id="4181" name="Line 85">
              <a:extLst>
                <a:ext uri="{FF2B5EF4-FFF2-40B4-BE49-F238E27FC236}">
                  <a16:creationId xmlns:a16="http://schemas.microsoft.com/office/drawing/2014/main" id="{C15A1D59-362D-CD0F-97F1-008E15405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5486400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2" name="Line 86">
              <a:extLst>
                <a:ext uri="{FF2B5EF4-FFF2-40B4-BE49-F238E27FC236}">
                  <a16:creationId xmlns:a16="http://schemas.microsoft.com/office/drawing/2014/main" id="{281CB434-9134-0518-C3BC-E019E58674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0" y="5257800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3" name="Line 87">
              <a:extLst>
                <a:ext uri="{FF2B5EF4-FFF2-40B4-BE49-F238E27FC236}">
                  <a16:creationId xmlns:a16="http://schemas.microsoft.com/office/drawing/2014/main" id="{4E03985E-292E-7B22-8D4F-76705A9CC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257800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4" name="Line 88">
              <a:extLst>
                <a:ext uri="{FF2B5EF4-FFF2-40B4-BE49-F238E27FC236}">
                  <a16:creationId xmlns:a16="http://schemas.microsoft.com/office/drawing/2014/main" id="{111A46CE-6645-2AC3-D12E-CB715B1FBF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86600" y="4953000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5" name="Line 89">
              <a:extLst>
                <a:ext uri="{FF2B5EF4-FFF2-40B4-BE49-F238E27FC236}">
                  <a16:creationId xmlns:a16="http://schemas.microsoft.com/office/drawing/2014/main" id="{07B9EDCB-A95E-AEC6-FC35-CD6697E20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6600" y="4953000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6" name="Line 90">
              <a:extLst>
                <a:ext uri="{FF2B5EF4-FFF2-40B4-BE49-F238E27FC236}">
                  <a16:creationId xmlns:a16="http://schemas.microsoft.com/office/drawing/2014/main" id="{142B6A9E-81A4-3B43-9108-7A120A3E7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400" y="4724400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7" name="Line 91">
              <a:extLst>
                <a:ext uri="{FF2B5EF4-FFF2-40B4-BE49-F238E27FC236}">
                  <a16:creationId xmlns:a16="http://schemas.microsoft.com/office/drawing/2014/main" id="{D36F095A-E44B-2180-D163-897E0C352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8600" y="4495800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8" name="Line 92">
              <a:extLst>
                <a:ext uri="{FF2B5EF4-FFF2-40B4-BE49-F238E27FC236}">
                  <a16:creationId xmlns:a16="http://schemas.microsoft.com/office/drawing/2014/main" id="{7D7E4B3E-3761-7530-33F3-6BE77572C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4495800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89" name="Line 93">
              <a:extLst>
                <a:ext uri="{FF2B5EF4-FFF2-40B4-BE49-F238E27FC236}">
                  <a16:creationId xmlns:a16="http://schemas.microsoft.com/office/drawing/2014/main" id="{1352C70B-4E33-197A-9CF6-FF880B0AE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3200" y="5181600"/>
              <a:ext cx="3810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90" name="Line 94">
              <a:extLst>
                <a:ext uri="{FF2B5EF4-FFF2-40B4-BE49-F238E27FC236}">
                  <a16:creationId xmlns:a16="http://schemas.microsoft.com/office/drawing/2014/main" id="{483627C9-6CB7-EDCE-829F-E6B595656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4724400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91" name="Line 95">
              <a:extLst>
                <a:ext uri="{FF2B5EF4-FFF2-40B4-BE49-F238E27FC236}">
                  <a16:creationId xmlns:a16="http://schemas.microsoft.com/office/drawing/2014/main" id="{F069F657-6E3E-72D6-BE9B-8863CBDBB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3962400"/>
              <a:ext cx="0" cy="1905000"/>
            </a:xfrm>
            <a:prstGeom prst="line">
              <a:avLst/>
            </a:prstGeom>
            <a:noFill/>
            <a:ln w="28575">
              <a:solidFill>
                <a:srgbClr val="08080A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92" name="Line 96">
              <a:extLst>
                <a:ext uri="{FF2B5EF4-FFF2-40B4-BE49-F238E27FC236}">
                  <a16:creationId xmlns:a16="http://schemas.microsoft.com/office/drawing/2014/main" id="{2755059A-C8F3-02C5-F420-98B3CB3FA7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1200" y="4495800"/>
              <a:ext cx="2057400" cy="0"/>
            </a:xfrm>
            <a:prstGeom prst="line">
              <a:avLst/>
            </a:prstGeom>
            <a:noFill/>
            <a:ln w="28575">
              <a:solidFill>
                <a:srgbClr val="08080A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93" name="Text Box 97">
              <a:extLst>
                <a:ext uri="{FF2B5EF4-FFF2-40B4-BE49-F238E27FC236}">
                  <a16:creationId xmlns:a16="http://schemas.microsoft.com/office/drawing/2014/main" id="{7122C015-2C54-8A41-5949-D5D120884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4316413"/>
              <a:ext cx="31931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4194" name="Text Box 98">
              <a:extLst>
                <a:ext uri="{FF2B5EF4-FFF2-40B4-BE49-F238E27FC236}">
                  <a16:creationId xmlns:a16="http://schemas.microsoft.com/office/drawing/2014/main" id="{D9E9BF06-E874-CAD7-2630-DEFF6FA2F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1525" y="3900488"/>
              <a:ext cx="61106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solidFill>
                    <a:srgbClr val="08080A"/>
                  </a:solidFill>
                </a:rPr>
                <a:t>F(x)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C09AD0E-1279-78DE-9E5B-999C1D4BA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离散型的随机变量的抽样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3A30592-202B-2C0D-A2E7-4000A958B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1440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方法：</a:t>
            </a: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6C67B2F9-989E-EDF2-B8AC-604E3BAA6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524000"/>
            <a:ext cx="7300396" cy="182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12395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7165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41935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306705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5242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814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4386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958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arabicPeriod"/>
            </a:pP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计算 </a:t>
            </a:r>
            <a:r>
              <a:rPr lang="en-US" altLang="zh-CN" b="1" i="1" dirty="0" err="1">
                <a:solidFill>
                  <a:srgbClr val="08080A"/>
                </a:solidFill>
                <a:ea typeface="楷体_GB2312" pitchFamily="49" charset="-122"/>
              </a:rPr>
              <a:t>y</a:t>
            </a:r>
            <a:r>
              <a:rPr lang="en-US" altLang="zh-CN" b="1" i="1" baseline="-25000" dirty="0" err="1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 = 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y</a:t>
            </a:r>
            <a:r>
              <a:rPr lang="en-US" altLang="zh-CN" b="1" i="1" baseline="-25000" dirty="0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en-US" altLang="zh-CN" b="1" baseline="-25000" dirty="0">
                <a:solidFill>
                  <a:srgbClr val="08080A"/>
                </a:solidFill>
                <a:ea typeface="楷体_GB2312" pitchFamily="49" charset="-122"/>
              </a:rPr>
              <a:t>-1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 + 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 dirty="0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，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 = 2,3,…,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, 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y</a:t>
            </a:r>
            <a:r>
              <a:rPr lang="en-US" altLang="zh-CN" b="1" baseline="-25000" dirty="0">
                <a:solidFill>
                  <a:srgbClr val="08080A"/>
                </a:solidFill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 = 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baseline="-25000" dirty="0">
                <a:solidFill>
                  <a:srgbClr val="08080A"/>
                </a:solidFill>
                <a:ea typeface="楷体_GB2312" pitchFamily="49" charset="-122"/>
              </a:rPr>
              <a:t>1</a:t>
            </a:r>
          </a:p>
          <a:p>
            <a:pPr>
              <a:lnSpc>
                <a:spcPct val="120000"/>
              </a:lnSpc>
              <a:buFontTx/>
              <a:buAutoNum type="arabicPeriod"/>
            </a:pP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产生在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[0,1]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区间上均匀分布的随机数</a:t>
            </a:r>
            <a:r>
              <a:rPr lang="zh-CN" altLang="en-US" b="1" i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= 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(0,1)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；</a:t>
            </a:r>
            <a:endParaRPr lang="zh-CN" altLang="en-US" b="1" dirty="0">
              <a:solidFill>
                <a:srgbClr val="08080A"/>
              </a:solidFill>
              <a:latin typeface="楷体_GB2312" pitchFamily="49" charset="-122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120000"/>
              </a:lnSpc>
              <a:buFontTx/>
              <a:buAutoNum type="arabicPeriod" startAt="3"/>
            </a:pPr>
            <a:r>
              <a:rPr lang="zh-CN" altLang="en-US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求满足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y</a:t>
            </a:r>
            <a:r>
              <a:rPr lang="en-US" altLang="zh-CN" b="1" i="1" baseline="-25000" dirty="0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en-US" altLang="zh-CN" b="1" baseline="-25000" dirty="0">
                <a:solidFill>
                  <a:srgbClr val="08080A"/>
                </a:solidFill>
                <a:ea typeface="楷体_GB2312" pitchFamily="49" charset="-122"/>
              </a:rPr>
              <a:t>-1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&lt;  &lt; </a:t>
            </a:r>
            <a:r>
              <a:rPr lang="en-US" altLang="zh-CN" b="1" i="1" dirty="0" err="1">
                <a:solidFill>
                  <a:srgbClr val="08080A"/>
                </a:solidFill>
                <a:ea typeface="楷体_GB2312" pitchFamily="49" charset="-122"/>
              </a:rPr>
              <a:t>y</a:t>
            </a:r>
            <a:r>
              <a:rPr lang="en-US" altLang="zh-CN" b="1" i="1" baseline="-25000" dirty="0" err="1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en-US" altLang="zh-CN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k</a:t>
            </a:r>
            <a:r>
              <a:rPr lang="zh-CN" altLang="en-US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值</a:t>
            </a:r>
            <a:r>
              <a:rPr lang="en-US" altLang="zh-CN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;</a:t>
            </a:r>
          </a:p>
          <a:p>
            <a:pPr>
              <a:lnSpc>
                <a:spcPct val="120000"/>
              </a:lnSpc>
              <a:buFontTx/>
              <a:buAutoNum type="arabicPeriod" startAt="4"/>
            </a:pPr>
            <a:r>
              <a:rPr lang="zh-CN" altLang="en-US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随机变量的第</a:t>
            </a:r>
            <a:r>
              <a:rPr lang="en-US" altLang="zh-CN" b="1" i="1" dirty="0">
                <a:solidFill>
                  <a:srgbClr val="08080A"/>
                </a:solidFill>
                <a:ea typeface="楷体_GB2312" pitchFamily="49" charset="-122"/>
              </a:rPr>
              <a:t>k</a:t>
            </a:r>
            <a:r>
              <a:rPr lang="zh-CN" altLang="en-US" b="1" dirty="0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个取值即为欲抽取的值。 </a:t>
            </a:r>
          </a:p>
        </p:txBody>
      </p:sp>
      <p:sp>
        <p:nvSpPr>
          <p:cNvPr id="17445" name="Line 37">
            <a:extLst>
              <a:ext uri="{FF2B5EF4-FFF2-40B4-BE49-F238E27FC236}">
                <a16:creationId xmlns:a16="http://schemas.microsoft.com/office/drawing/2014/main" id="{FAF8EC39-5B6D-4568-835F-D26DCCC8A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6" y="5867400"/>
            <a:ext cx="2803525" cy="0"/>
          </a:xfrm>
          <a:prstGeom prst="line">
            <a:avLst/>
          </a:prstGeom>
          <a:noFill/>
          <a:ln w="19050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46" name="Text Box 38">
            <a:extLst>
              <a:ext uri="{FF2B5EF4-FFF2-40B4-BE49-F238E27FC236}">
                <a16:creationId xmlns:a16="http://schemas.microsoft.com/office/drawing/2014/main" id="{7643710A-94AD-EB22-4CC1-3DD929C70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275" y="5638800"/>
            <a:ext cx="3193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0</a:t>
            </a:r>
          </a:p>
        </p:txBody>
      </p:sp>
      <p:sp>
        <p:nvSpPr>
          <p:cNvPr id="17447" name="Text Box 39">
            <a:extLst>
              <a:ext uri="{FF2B5EF4-FFF2-40B4-BE49-F238E27FC236}">
                <a16:creationId xmlns:a16="http://schemas.microsoft.com/office/drawing/2014/main" id="{49BCE93A-DBB6-EBA0-2C00-3DA4E4699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791200"/>
            <a:ext cx="3866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48" name="Text Box 40">
            <a:extLst>
              <a:ext uri="{FF2B5EF4-FFF2-40B4-BE49-F238E27FC236}">
                <a16:creationId xmlns:a16="http://schemas.microsoft.com/office/drawing/2014/main" id="{5A4A7EB1-585B-9E9E-EFCF-A15F5CED0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5791200"/>
            <a:ext cx="5966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49" name="Text Box 41">
            <a:extLst>
              <a:ext uri="{FF2B5EF4-FFF2-40B4-BE49-F238E27FC236}">
                <a16:creationId xmlns:a16="http://schemas.microsoft.com/office/drawing/2014/main" id="{96047BC5-9A4A-AB4A-0282-36A28FD0A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57912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</a:t>
            </a:r>
          </a:p>
        </p:txBody>
      </p:sp>
      <p:sp>
        <p:nvSpPr>
          <p:cNvPr id="17450" name="Text Box 42">
            <a:extLst>
              <a:ext uri="{FF2B5EF4-FFF2-40B4-BE49-F238E27FC236}">
                <a16:creationId xmlns:a16="http://schemas.microsoft.com/office/drawing/2014/main" id="{6C01A56C-047D-FC07-911F-9C471F481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791200"/>
            <a:ext cx="38100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2</a:t>
            </a:r>
          </a:p>
        </p:txBody>
      </p:sp>
      <p:sp>
        <p:nvSpPr>
          <p:cNvPr id="17451" name="Text Box 43">
            <a:extLst>
              <a:ext uri="{FF2B5EF4-FFF2-40B4-BE49-F238E27FC236}">
                <a16:creationId xmlns:a16="http://schemas.microsoft.com/office/drawing/2014/main" id="{DDBF22E8-9BC4-8B34-6EDD-2A5EEE65A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5791200"/>
            <a:ext cx="5517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52" name="Text Box 44">
            <a:extLst>
              <a:ext uri="{FF2B5EF4-FFF2-40B4-BE49-F238E27FC236}">
                <a16:creationId xmlns:a16="http://schemas.microsoft.com/office/drawing/2014/main" id="{62CEF873-C986-FC0D-0663-9520E47EE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5791200"/>
            <a:ext cx="377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</a:t>
            </a:r>
            <a:endParaRPr lang="en-US" altLang="zh-CN" sz="2000" baseline="-25000">
              <a:solidFill>
                <a:srgbClr val="08080A"/>
              </a:solidFill>
            </a:endParaRPr>
          </a:p>
        </p:txBody>
      </p:sp>
      <p:sp>
        <p:nvSpPr>
          <p:cNvPr id="17453" name="Line 45">
            <a:extLst>
              <a:ext uri="{FF2B5EF4-FFF2-40B4-BE49-F238E27FC236}">
                <a16:creationId xmlns:a16="http://schemas.microsoft.com/office/drawing/2014/main" id="{CF8C1946-E41C-3A3F-03CE-DBE586D1E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4864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54" name="Line 46">
            <a:extLst>
              <a:ext uri="{FF2B5EF4-FFF2-40B4-BE49-F238E27FC236}">
                <a16:creationId xmlns:a16="http://schemas.microsoft.com/office/drawing/2014/main" id="{332C97A1-6765-8CC1-D7BE-B04AF52CA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52578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55" name="Line 47">
            <a:extLst>
              <a:ext uri="{FF2B5EF4-FFF2-40B4-BE49-F238E27FC236}">
                <a16:creationId xmlns:a16="http://schemas.microsoft.com/office/drawing/2014/main" id="{86BD4373-7EBB-36D9-74CF-6F17CF011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2578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56" name="Line 48">
            <a:extLst>
              <a:ext uri="{FF2B5EF4-FFF2-40B4-BE49-F238E27FC236}">
                <a16:creationId xmlns:a16="http://schemas.microsoft.com/office/drawing/2014/main" id="{231CA352-D349-D54A-8D13-A2DC3F0EB9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0600" y="49530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57" name="Line 49">
            <a:extLst>
              <a:ext uri="{FF2B5EF4-FFF2-40B4-BE49-F238E27FC236}">
                <a16:creationId xmlns:a16="http://schemas.microsoft.com/office/drawing/2014/main" id="{1AE2C000-9B7C-1A31-2ECC-F9BFDDFA87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9530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58" name="Line 50">
            <a:extLst>
              <a:ext uri="{FF2B5EF4-FFF2-40B4-BE49-F238E27FC236}">
                <a16:creationId xmlns:a16="http://schemas.microsoft.com/office/drawing/2014/main" id="{0EEC73F4-38C1-501B-D1D8-967AD111A7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5400" y="47244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59" name="Line 51">
            <a:extLst>
              <a:ext uri="{FF2B5EF4-FFF2-40B4-BE49-F238E27FC236}">
                <a16:creationId xmlns:a16="http://schemas.microsoft.com/office/drawing/2014/main" id="{9CA39138-2087-FE2A-ABAD-E5B7B2A104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72600" y="44958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0" name="Line 52">
            <a:extLst>
              <a:ext uri="{FF2B5EF4-FFF2-40B4-BE49-F238E27FC236}">
                <a16:creationId xmlns:a16="http://schemas.microsoft.com/office/drawing/2014/main" id="{E803A138-616C-5C6E-767A-98EB8711E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600" y="44958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1" name="Line 53">
            <a:extLst>
              <a:ext uri="{FF2B5EF4-FFF2-40B4-BE49-F238E27FC236}">
                <a16:creationId xmlns:a16="http://schemas.microsoft.com/office/drawing/2014/main" id="{F4C9CD3E-DCBD-D760-4A40-BF729BD02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5181600"/>
            <a:ext cx="381000" cy="0"/>
          </a:xfrm>
          <a:prstGeom prst="line">
            <a:avLst/>
          </a:prstGeom>
          <a:noFill/>
          <a:ln w="28575">
            <a:solidFill>
              <a:srgbClr val="C4023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2" name="Line 54">
            <a:extLst>
              <a:ext uri="{FF2B5EF4-FFF2-40B4-BE49-F238E27FC236}">
                <a16:creationId xmlns:a16="http://schemas.microsoft.com/office/drawing/2014/main" id="{E8C214C2-FD3B-6C9F-3256-B31B9ABFC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47244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3" name="Line 55">
            <a:extLst>
              <a:ext uri="{FF2B5EF4-FFF2-40B4-BE49-F238E27FC236}">
                <a16:creationId xmlns:a16="http://schemas.microsoft.com/office/drawing/2014/main" id="{5750312C-43D7-A475-BDD3-9D0346EEAD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962400"/>
            <a:ext cx="0" cy="1905000"/>
          </a:xfrm>
          <a:prstGeom prst="line">
            <a:avLst/>
          </a:prstGeom>
          <a:noFill/>
          <a:ln w="28575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4" name="Line 56">
            <a:extLst>
              <a:ext uri="{FF2B5EF4-FFF2-40B4-BE49-F238E27FC236}">
                <a16:creationId xmlns:a16="http://schemas.microsoft.com/office/drawing/2014/main" id="{D4EB4303-1A9C-EB9D-33F5-65BB1E970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4495800"/>
            <a:ext cx="2057400" cy="0"/>
          </a:xfrm>
          <a:prstGeom prst="line">
            <a:avLst/>
          </a:prstGeom>
          <a:noFill/>
          <a:ln w="28575">
            <a:solidFill>
              <a:srgbClr val="08080A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5" name="Text Box 57">
            <a:extLst>
              <a:ext uri="{FF2B5EF4-FFF2-40B4-BE49-F238E27FC236}">
                <a16:creationId xmlns:a16="http://schemas.microsoft.com/office/drawing/2014/main" id="{1D97B2FD-3D7C-D022-A934-42440050A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191000"/>
            <a:ext cx="3193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66" name="Text Box 58">
            <a:extLst>
              <a:ext uri="{FF2B5EF4-FFF2-40B4-BE49-F238E27FC236}">
                <a16:creationId xmlns:a16="http://schemas.microsoft.com/office/drawing/2014/main" id="{890406CE-1E22-26CD-38DB-6B58BA2DA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6" y="3900488"/>
            <a:ext cx="6110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08080A"/>
                </a:solidFill>
              </a:rPr>
              <a:t>F(x)</a:t>
            </a:r>
          </a:p>
        </p:txBody>
      </p:sp>
      <p:sp>
        <p:nvSpPr>
          <p:cNvPr id="17467" name="Line 59">
            <a:extLst>
              <a:ext uri="{FF2B5EF4-FFF2-40B4-BE49-F238E27FC236}">
                <a16:creationId xmlns:a16="http://schemas.microsoft.com/office/drawing/2014/main" id="{CB46E77E-622D-529F-CFFA-755972219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800600"/>
            <a:ext cx="1600200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68" name="Text Box 60">
            <a:extLst>
              <a:ext uri="{FF2B5EF4-FFF2-40B4-BE49-F238E27FC236}">
                <a16:creationId xmlns:a16="http://schemas.microsoft.com/office/drawing/2014/main" id="{43D58F02-8911-2AC8-584D-41C17AD06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572001"/>
            <a:ext cx="309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  <a:sym typeface="Symbol" pitchFamily="2" charset="2"/>
              </a:rPr>
              <a:t></a:t>
            </a:r>
            <a:endParaRPr lang="en-US" altLang="zh-CN" sz="2000" i="1">
              <a:solidFill>
                <a:srgbClr val="08080A"/>
              </a:solidFill>
            </a:endParaRPr>
          </a:p>
        </p:txBody>
      </p:sp>
      <p:sp>
        <p:nvSpPr>
          <p:cNvPr id="17469" name="Line 61">
            <a:extLst>
              <a:ext uri="{FF2B5EF4-FFF2-40B4-BE49-F238E27FC236}">
                <a16:creationId xmlns:a16="http://schemas.microsoft.com/office/drawing/2014/main" id="{ECC91E1F-2DAF-C00E-2EB5-03C48B9CA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4800600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70" name="Text Box 62">
            <a:extLst>
              <a:ext uri="{FF2B5EF4-FFF2-40B4-BE49-F238E27FC236}">
                <a16:creationId xmlns:a16="http://schemas.microsoft.com/office/drawing/2014/main" id="{1F63EDFF-35AF-7329-40DD-C4E0AEA3C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4800600"/>
            <a:ext cx="412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k</a:t>
            </a:r>
          </a:p>
        </p:txBody>
      </p:sp>
      <p:sp>
        <p:nvSpPr>
          <p:cNvPr id="17471" name="Line 63">
            <a:extLst>
              <a:ext uri="{FF2B5EF4-FFF2-40B4-BE49-F238E27FC236}">
                <a16:creationId xmlns:a16="http://schemas.microsoft.com/office/drawing/2014/main" id="{34BCFD34-1609-0030-DD32-BA53FF88C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6" y="5867400"/>
            <a:ext cx="2803525" cy="0"/>
          </a:xfrm>
          <a:prstGeom prst="line">
            <a:avLst/>
          </a:prstGeom>
          <a:noFill/>
          <a:ln w="19050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72" name="Line 64">
            <a:extLst>
              <a:ext uri="{FF2B5EF4-FFF2-40B4-BE49-F238E27FC236}">
                <a16:creationId xmlns:a16="http://schemas.microsoft.com/office/drawing/2014/main" id="{E8A9741C-3C14-3C5B-F2A4-5786DE9324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2475" y="4191000"/>
            <a:ext cx="0" cy="1676400"/>
          </a:xfrm>
          <a:prstGeom prst="line">
            <a:avLst/>
          </a:prstGeom>
          <a:noFill/>
          <a:ln w="19050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73" name="Rectangle 65">
            <a:extLst>
              <a:ext uri="{FF2B5EF4-FFF2-40B4-BE49-F238E27FC236}">
                <a16:creationId xmlns:a16="http://schemas.microsoft.com/office/drawing/2014/main" id="{4B300F8C-9830-53EE-9540-25383F474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475" y="5334000"/>
            <a:ext cx="304800" cy="5334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4" name="Rectangle 66">
            <a:extLst>
              <a:ext uri="{FF2B5EF4-FFF2-40B4-BE49-F238E27FC236}">
                <a16:creationId xmlns:a16="http://schemas.microsoft.com/office/drawing/2014/main" id="{563293EE-50A0-C5D6-8AF1-42913543B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4724400"/>
            <a:ext cx="304800" cy="11430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5" name="Rectangle 67">
            <a:extLst>
              <a:ext uri="{FF2B5EF4-FFF2-40B4-BE49-F238E27FC236}">
                <a16:creationId xmlns:a16="http://schemas.microsoft.com/office/drawing/2014/main" id="{75D5F963-18D6-8014-30DE-4BA307902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304800" cy="7620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76" name="Text Box 68">
            <a:extLst>
              <a:ext uri="{FF2B5EF4-FFF2-40B4-BE49-F238E27FC236}">
                <a16:creationId xmlns:a16="http://schemas.microsoft.com/office/drawing/2014/main" id="{4E9A19E8-F2C2-959E-F5EF-631BFA8AC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638800"/>
            <a:ext cx="3193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0</a:t>
            </a:r>
          </a:p>
        </p:txBody>
      </p:sp>
      <p:sp>
        <p:nvSpPr>
          <p:cNvPr id="17477" name="Text Box 69">
            <a:extLst>
              <a:ext uri="{FF2B5EF4-FFF2-40B4-BE49-F238E27FC236}">
                <a16:creationId xmlns:a16="http://schemas.microsoft.com/office/drawing/2014/main" id="{914671E8-98B6-C0F6-047C-15E3DE522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91200"/>
            <a:ext cx="3866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78" name="Text Box 70">
            <a:extLst>
              <a:ext uri="{FF2B5EF4-FFF2-40B4-BE49-F238E27FC236}">
                <a16:creationId xmlns:a16="http://schemas.microsoft.com/office/drawing/2014/main" id="{629E3876-EA0E-3CE0-DA43-CDE119B27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791200"/>
            <a:ext cx="5966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79" name="Text Box 71">
            <a:extLst>
              <a:ext uri="{FF2B5EF4-FFF2-40B4-BE49-F238E27FC236}">
                <a16:creationId xmlns:a16="http://schemas.microsoft.com/office/drawing/2014/main" id="{27701242-A8F7-22F3-5CB5-6455EE384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7912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</a:t>
            </a:r>
          </a:p>
        </p:txBody>
      </p:sp>
      <p:sp>
        <p:nvSpPr>
          <p:cNvPr id="17480" name="Text Box 72">
            <a:extLst>
              <a:ext uri="{FF2B5EF4-FFF2-40B4-BE49-F238E27FC236}">
                <a16:creationId xmlns:a16="http://schemas.microsoft.com/office/drawing/2014/main" id="{EF7F1D27-EB34-5604-03C2-B2E28A775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119688"/>
            <a:ext cx="421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81" name="Text Box 73">
            <a:extLst>
              <a:ext uri="{FF2B5EF4-FFF2-40B4-BE49-F238E27FC236}">
                <a16:creationId xmlns:a16="http://schemas.microsoft.com/office/drawing/2014/main" id="{DBA77349-2AFC-CA07-72F7-3E7005AE6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21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2</a:t>
            </a:r>
          </a:p>
        </p:txBody>
      </p:sp>
      <p:sp>
        <p:nvSpPr>
          <p:cNvPr id="17482" name="Line 74">
            <a:extLst>
              <a:ext uri="{FF2B5EF4-FFF2-40B4-BE49-F238E27FC236}">
                <a16:creationId xmlns:a16="http://schemas.microsoft.com/office/drawing/2014/main" id="{7CF487A5-3EB2-39AB-A0BF-603415926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724400"/>
            <a:ext cx="304800" cy="0"/>
          </a:xfrm>
          <a:prstGeom prst="line">
            <a:avLst/>
          </a:prstGeom>
          <a:noFill/>
          <a:ln w="9525">
            <a:solidFill>
              <a:srgbClr val="08080A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83" name="Line 75">
            <a:extLst>
              <a:ext uri="{FF2B5EF4-FFF2-40B4-BE49-F238E27FC236}">
                <a16:creationId xmlns:a16="http://schemas.microsoft.com/office/drawing/2014/main" id="{7846160A-086F-749A-4E58-A9359BBB2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5105400"/>
            <a:ext cx="1447800" cy="0"/>
          </a:xfrm>
          <a:prstGeom prst="line">
            <a:avLst/>
          </a:prstGeom>
          <a:noFill/>
          <a:ln w="9525">
            <a:solidFill>
              <a:srgbClr val="08080A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84" name="Text Box 76">
            <a:extLst>
              <a:ext uri="{FF2B5EF4-FFF2-40B4-BE49-F238E27FC236}">
                <a16:creationId xmlns:a16="http://schemas.microsoft.com/office/drawing/2014/main" id="{7766644C-62C0-CCE5-5120-FAC83B3E9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1475" y="4800600"/>
            <a:ext cx="4571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N</a:t>
            </a:r>
          </a:p>
        </p:txBody>
      </p:sp>
      <p:sp>
        <p:nvSpPr>
          <p:cNvPr id="17485" name="Text Box 77">
            <a:extLst>
              <a:ext uri="{FF2B5EF4-FFF2-40B4-BE49-F238E27FC236}">
                <a16:creationId xmlns:a16="http://schemas.microsoft.com/office/drawing/2014/main" id="{32679EE7-02A0-A0CB-E416-074D42B5C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791200"/>
            <a:ext cx="38100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2</a:t>
            </a:r>
          </a:p>
        </p:txBody>
      </p:sp>
      <p:sp>
        <p:nvSpPr>
          <p:cNvPr id="17486" name="Rectangle 78">
            <a:extLst>
              <a:ext uri="{FF2B5EF4-FFF2-40B4-BE49-F238E27FC236}">
                <a16:creationId xmlns:a16="http://schemas.microsoft.com/office/drawing/2014/main" id="{386FFA01-8844-1A06-9B49-E3727DA21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304800" cy="13716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8080A"/>
              </a:solidFill>
            </a:endParaRPr>
          </a:p>
        </p:txBody>
      </p:sp>
      <p:sp>
        <p:nvSpPr>
          <p:cNvPr id="17487" name="Line 79">
            <a:extLst>
              <a:ext uri="{FF2B5EF4-FFF2-40B4-BE49-F238E27FC236}">
                <a16:creationId xmlns:a16="http://schemas.microsoft.com/office/drawing/2014/main" id="{6E539579-A0F0-05C1-3EC1-917B53DAE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495800"/>
            <a:ext cx="1295400" cy="0"/>
          </a:xfrm>
          <a:prstGeom prst="line">
            <a:avLst/>
          </a:prstGeom>
          <a:noFill/>
          <a:ln w="9525">
            <a:solidFill>
              <a:srgbClr val="08080A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88" name="Text Box 80">
            <a:extLst>
              <a:ext uri="{FF2B5EF4-FFF2-40B4-BE49-F238E27FC236}">
                <a16:creationId xmlns:a16="http://schemas.microsoft.com/office/drawing/2014/main" id="{2CF87FF7-4F15-E123-DCC1-2146629A2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240213"/>
            <a:ext cx="412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k</a:t>
            </a:r>
          </a:p>
        </p:txBody>
      </p:sp>
      <p:sp>
        <p:nvSpPr>
          <p:cNvPr id="17489" name="Text Box 81">
            <a:extLst>
              <a:ext uri="{FF2B5EF4-FFF2-40B4-BE49-F238E27FC236}">
                <a16:creationId xmlns:a16="http://schemas.microsoft.com/office/drawing/2014/main" id="{F2DD2DD3-08C2-8898-A6CD-559882648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791200"/>
            <a:ext cx="5517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7490" name="Text Box 82">
            <a:extLst>
              <a:ext uri="{FF2B5EF4-FFF2-40B4-BE49-F238E27FC236}">
                <a16:creationId xmlns:a16="http://schemas.microsoft.com/office/drawing/2014/main" id="{068F0185-8E71-149F-C201-C689966D1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791200"/>
            <a:ext cx="377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</a:t>
            </a:r>
            <a:endParaRPr lang="en-US" altLang="zh-CN" sz="2000" baseline="-25000">
              <a:solidFill>
                <a:srgbClr val="08080A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35EB0-A15C-C210-77C1-5824E478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2B19DE-EDF3-AD0C-26CB-DA80F3A42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9144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方法总结：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2DF6DE-6239-D5EE-D88E-D8F0A8EF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7366"/>
            <a:ext cx="7772400" cy="27240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4BBA6A7-DF06-DD03-30BF-635C061AE48C}"/>
              </a:ext>
            </a:extLst>
          </p:cNvPr>
          <p:cNvSpPr txBox="1"/>
          <p:nvPr/>
        </p:nvSpPr>
        <p:spPr>
          <a:xfrm>
            <a:off x="2160712" y="4603225"/>
            <a:ext cx="4392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换言之，我们把离散概率做“阶梯累加”，看 </a:t>
            </a:r>
            <a:r>
              <a:rPr lang="en-US" altLang="zh-CN" b="1" dirty="0">
                <a:solidFill>
                  <a:srgbClr val="7030A0"/>
                </a:solidFill>
              </a:rPr>
              <a:t>u</a:t>
            </a:r>
            <a:r>
              <a:rPr lang="zh-CN" altLang="en-US" b="1" dirty="0">
                <a:solidFill>
                  <a:srgbClr val="7030A0"/>
                </a:solidFill>
              </a:rPr>
              <a:t>落在哪一段阶梯，就返回该段对应的  </a:t>
            </a:r>
            <a:r>
              <a:rPr lang="en-US" altLang="zh-CN" b="1" dirty="0">
                <a:solidFill>
                  <a:srgbClr val="7030A0"/>
                </a:solidFill>
              </a:rPr>
              <a:t>xi​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29" name="Text Box 58">
            <a:extLst>
              <a:ext uri="{FF2B5EF4-FFF2-40B4-BE49-F238E27FC236}">
                <a16:creationId xmlns:a16="http://schemas.microsoft.com/office/drawing/2014/main" id="{9FF927AD-B7D2-EE72-9006-01A44B3F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6" y="4309765"/>
            <a:ext cx="6110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08080A"/>
                </a:solidFill>
              </a:rPr>
              <a:t>F(x)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6609459-D5EC-980E-85A8-366903490386}"/>
              </a:ext>
            </a:extLst>
          </p:cNvPr>
          <p:cNvGrpSpPr/>
          <p:nvPr/>
        </p:nvGrpSpPr>
        <p:grpSpPr>
          <a:xfrm>
            <a:off x="7010400" y="4371677"/>
            <a:ext cx="3124200" cy="2434094"/>
            <a:chOff x="5486400" y="4371677"/>
            <a:chExt cx="3124200" cy="2434094"/>
          </a:xfrm>
        </p:grpSpPr>
        <p:sp>
          <p:nvSpPr>
            <p:cNvPr id="8" name="Line 37">
              <a:extLst>
                <a:ext uri="{FF2B5EF4-FFF2-40B4-BE49-F238E27FC236}">
                  <a16:creationId xmlns:a16="http://schemas.microsoft.com/office/drawing/2014/main" id="{6A374B3B-846A-BB6F-092E-02651758B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7075" y="6276677"/>
              <a:ext cx="2803525" cy="0"/>
            </a:xfrm>
            <a:prstGeom prst="line">
              <a:avLst/>
            </a:prstGeom>
            <a:noFill/>
            <a:ln w="19050">
              <a:solidFill>
                <a:srgbClr val="08080A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Text Box 38">
              <a:extLst>
                <a:ext uri="{FF2B5EF4-FFF2-40B4-BE49-F238E27FC236}">
                  <a16:creationId xmlns:a16="http://schemas.microsoft.com/office/drawing/2014/main" id="{C7FC8D40-21F6-D423-9019-4FD246304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2275" y="6048077"/>
              <a:ext cx="31931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0</a:t>
              </a:r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8E3F766A-1876-25FF-01B7-4BC6D8D28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6200477"/>
              <a:ext cx="38664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11" name="Text Box 40">
              <a:extLst>
                <a:ext uri="{FF2B5EF4-FFF2-40B4-BE49-F238E27FC236}">
                  <a16:creationId xmlns:a16="http://schemas.microsoft.com/office/drawing/2014/main" id="{9E49DCCB-4506-509E-A531-3E9C7A80A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6200477"/>
              <a:ext cx="59663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N-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12" name="Text Box 41">
              <a:extLst>
                <a:ext uri="{FF2B5EF4-FFF2-40B4-BE49-F238E27FC236}">
                  <a16:creationId xmlns:a16="http://schemas.microsoft.com/office/drawing/2014/main" id="{87CC6E34-63EF-67AA-0369-3004E6701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4800" y="6200477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N</a:t>
              </a:r>
            </a:p>
          </p:txBody>
        </p:sp>
        <p:sp>
          <p:nvSpPr>
            <p:cNvPr id="13" name="Text Box 42">
              <a:extLst>
                <a:ext uri="{FF2B5EF4-FFF2-40B4-BE49-F238E27FC236}">
                  <a16:creationId xmlns:a16="http://schemas.microsoft.com/office/drawing/2014/main" id="{6B64CA74-FD37-C157-FD4C-C2C2D2795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6200477"/>
              <a:ext cx="381000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</a:p>
          </p:txBody>
        </p:sp>
        <p:sp>
          <p:nvSpPr>
            <p:cNvPr id="14" name="Text Box 43">
              <a:extLst>
                <a:ext uri="{FF2B5EF4-FFF2-40B4-BE49-F238E27FC236}">
                  <a16:creationId xmlns:a16="http://schemas.microsoft.com/office/drawing/2014/main" id="{10A9414F-C591-6344-5CE7-96D554CE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6200477"/>
              <a:ext cx="55175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k-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15" name="Text Box 44">
              <a:extLst>
                <a:ext uri="{FF2B5EF4-FFF2-40B4-BE49-F238E27FC236}">
                  <a16:creationId xmlns:a16="http://schemas.microsoft.com/office/drawing/2014/main" id="{F2C3351F-A63F-1F05-972A-C6B8BE70F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6200477"/>
              <a:ext cx="37702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</a:rPr>
                <a:t>x</a:t>
              </a:r>
              <a:r>
                <a:rPr lang="en-US" altLang="zh-CN" sz="2000" i="1" baseline="-25000">
                  <a:solidFill>
                    <a:srgbClr val="08080A"/>
                  </a:solidFill>
                </a:rPr>
                <a:t>k</a:t>
              </a:r>
              <a:endParaRPr lang="en-US" altLang="zh-CN" sz="2000" baseline="-25000">
                <a:solidFill>
                  <a:srgbClr val="08080A"/>
                </a:solidFill>
              </a:endParaRPr>
            </a:p>
          </p:txBody>
        </p:sp>
        <p:sp>
          <p:nvSpPr>
            <p:cNvPr id="16" name="Line 45">
              <a:extLst>
                <a:ext uri="{FF2B5EF4-FFF2-40B4-BE49-F238E27FC236}">
                  <a16:creationId xmlns:a16="http://schemas.microsoft.com/office/drawing/2014/main" id="{B84238F4-1BCC-0057-2FA7-65FC42804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5895677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46">
              <a:extLst>
                <a:ext uri="{FF2B5EF4-FFF2-40B4-BE49-F238E27FC236}">
                  <a16:creationId xmlns:a16="http://schemas.microsoft.com/office/drawing/2014/main" id="{81F69608-89E3-B616-1D0B-4152A2B2F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0" y="5667077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47">
              <a:extLst>
                <a:ext uri="{FF2B5EF4-FFF2-40B4-BE49-F238E27FC236}">
                  <a16:creationId xmlns:a16="http://schemas.microsoft.com/office/drawing/2014/main" id="{31C500C0-F84A-AC07-0D6C-FF5A85244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667077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48">
              <a:extLst>
                <a:ext uri="{FF2B5EF4-FFF2-40B4-BE49-F238E27FC236}">
                  <a16:creationId xmlns:a16="http://schemas.microsoft.com/office/drawing/2014/main" id="{D591AF5B-9D19-D3A2-C5D1-34F4B80C22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86600" y="5362277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49">
              <a:extLst>
                <a:ext uri="{FF2B5EF4-FFF2-40B4-BE49-F238E27FC236}">
                  <a16:creationId xmlns:a16="http://schemas.microsoft.com/office/drawing/2014/main" id="{7CDBCE6A-AF9E-BBB9-5334-AD126B0B9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6600" y="5362277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50">
              <a:extLst>
                <a:ext uri="{FF2B5EF4-FFF2-40B4-BE49-F238E27FC236}">
                  <a16:creationId xmlns:a16="http://schemas.microsoft.com/office/drawing/2014/main" id="{731F6EB5-BB6B-B9CC-CF2B-EF5CFF505E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400" y="5133677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51">
              <a:extLst>
                <a:ext uri="{FF2B5EF4-FFF2-40B4-BE49-F238E27FC236}">
                  <a16:creationId xmlns:a16="http://schemas.microsoft.com/office/drawing/2014/main" id="{4B7220EC-533D-6A49-003B-A6217E06CF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8600" y="4905077"/>
              <a:ext cx="0" cy="22860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52">
              <a:extLst>
                <a:ext uri="{FF2B5EF4-FFF2-40B4-BE49-F238E27FC236}">
                  <a16:creationId xmlns:a16="http://schemas.microsoft.com/office/drawing/2014/main" id="{819B1A1D-230D-37B2-EE26-94AFDCBA9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4905077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53">
              <a:extLst>
                <a:ext uri="{FF2B5EF4-FFF2-40B4-BE49-F238E27FC236}">
                  <a16:creationId xmlns:a16="http://schemas.microsoft.com/office/drawing/2014/main" id="{FF465725-6BF1-2594-4EAA-CAECAB04D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3200" y="5590877"/>
              <a:ext cx="3810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54">
              <a:extLst>
                <a:ext uri="{FF2B5EF4-FFF2-40B4-BE49-F238E27FC236}">
                  <a16:creationId xmlns:a16="http://schemas.microsoft.com/office/drawing/2014/main" id="{4F23FFE9-47F3-3915-2C74-479448A9E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5133677"/>
              <a:ext cx="304800" cy="0"/>
            </a:xfrm>
            <a:prstGeom prst="line">
              <a:avLst/>
            </a:prstGeom>
            <a:noFill/>
            <a:ln w="28575">
              <a:solidFill>
                <a:srgbClr val="C4023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55">
              <a:extLst>
                <a:ext uri="{FF2B5EF4-FFF2-40B4-BE49-F238E27FC236}">
                  <a16:creationId xmlns:a16="http://schemas.microsoft.com/office/drawing/2014/main" id="{279F035D-FFD7-6F2A-618F-21153E918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4371677"/>
              <a:ext cx="0" cy="1905000"/>
            </a:xfrm>
            <a:prstGeom prst="line">
              <a:avLst/>
            </a:prstGeom>
            <a:noFill/>
            <a:ln w="28575">
              <a:solidFill>
                <a:srgbClr val="08080A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56">
              <a:extLst>
                <a:ext uri="{FF2B5EF4-FFF2-40B4-BE49-F238E27FC236}">
                  <a16:creationId xmlns:a16="http://schemas.microsoft.com/office/drawing/2014/main" id="{AF305C3B-7CC8-75D9-84D2-8CE69C588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1200" y="4905077"/>
              <a:ext cx="2057400" cy="0"/>
            </a:xfrm>
            <a:prstGeom prst="line">
              <a:avLst/>
            </a:prstGeom>
            <a:noFill/>
            <a:ln w="28575">
              <a:solidFill>
                <a:srgbClr val="08080A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Text Box 57">
              <a:extLst>
                <a:ext uri="{FF2B5EF4-FFF2-40B4-BE49-F238E27FC236}">
                  <a16:creationId xmlns:a16="http://schemas.microsoft.com/office/drawing/2014/main" id="{CF546701-5489-026A-06D9-C3EC2111B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4600277"/>
              <a:ext cx="31931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30" name="Line 59">
              <a:extLst>
                <a:ext uri="{FF2B5EF4-FFF2-40B4-BE49-F238E27FC236}">
                  <a16:creationId xmlns:a16="http://schemas.microsoft.com/office/drawing/2014/main" id="{BF8F4671-D895-AAEB-4758-68CBBA277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5209877"/>
              <a:ext cx="160020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Text Box 60">
              <a:extLst>
                <a:ext uri="{FF2B5EF4-FFF2-40B4-BE49-F238E27FC236}">
                  <a16:creationId xmlns:a16="http://schemas.microsoft.com/office/drawing/2014/main" id="{7D9FFC06-74F4-D542-BD42-4E098C1C9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4981277"/>
              <a:ext cx="3095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8080A"/>
                  </a:solidFill>
                  <a:sym typeface="Symbol" pitchFamily="2" charset="2"/>
                </a:rPr>
                <a:t></a:t>
              </a:r>
              <a:endParaRPr lang="en-US" altLang="zh-CN" sz="2000" i="1">
                <a:solidFill>
                  <a:srgbClr val="08080A"/>
                </a:solidFill>
              </a:endParaRPr>
            </a:p>
          </p:txBody>
        </p:sp>
        <p:sp>
          <p:nvSpPr>
            <p:cNvPr id="32" name="Line 61">
              <a:extLst>
                <a:ext uri="{FF2B5EF4-FFF2-40B4-BE49-F238E27FC236}">
                  <a16:creationId xmlns:a16="http://schemas.microsoft.com/office/drawing/2014/main" id="{2FE515DF-2A35-8F8D-CDE8-366F9FC5F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5209877"/>
              <a:ext cx="4572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Text Box 62">
              <a:extLst>
                <a:ext uri="{FF2B5EF4-FFF2-40B4-BE49-F238E27FC236}">
                  <a16:creationId xmlns:a16="http://schemas.microsoft.com/office/drawing/2014/main" id="{7FD74F0D-1F33-0101-B803-834059E48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5209877"/>
              <a:ext cx="41229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7238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CD474220-222B-AA08-1169-432FF5038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 marL="838200" indent="-838200"/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离散型的随机变量的抽样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674C7E2B-B4B0-EFE9-A9E7-D181341F0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1440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证明：</a:t>
            </a:r>
          </a:p>
        </p:txBody>
      </p:sp>
      <p:sp>
        <p:nvSpPr>
          <p:cNvPr id="18437" name="Line 1029">
            <a:extLst>
              <a:ext uri="{FF2B5EF4-FFF2-40B4-BE49-F238E27FC236}">
                <a16:creationId xmlns:a16="http://schemas.microsoft.com/office/drawing/2014/main" id="{325F06C0-B9E1-8C4D-AE69-17D84C6B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6" y="5867400"/>
            <a:ext cx="2803525" cy="0"/>
          </a:xfrm>
          <a:prstGeom prst="line">
            <a:avLst/>
          </a:prstGeom>
          <a:noFill/>
          <a:ln w="19050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38" name="Text Box 1030">
            <a:extLst>
              <a:ext uri="{FF2B5EF4-FFF2-40B4-BE49-F238E27FC236}">
                <a16:creationId xmlns:a16="http://schemas.microsoft.com/office/drawing/2014/main" id="{CF553CE9-0158-6A56-D791-7D431E961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275" y="5638800"/>
            <a:ext cx="3193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0</a:t>
            </a:r>
          </a:p>
        </p:txBody>
      </p:sp>
      <p:sp>
        <p:nvSpPr>
          <p:cNvPr id="18439" name="Text Box 1031">
            <a:extLst>
              <a:ext uri="{FF2B5EF4-FFF2-40B4-BE49-F238E27FC236}">
                <a16:creationId xmlns:a16="http://schemas.microsoft.com/office/drawing/2014/main" id="{7254E134-CFB2-B2A3-E2D1-EF9314CEF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791200"/>
            <a:ext cx="3866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40" name="Text Box 1032">
            <a:extLst>
              <a:ext uri="{FF2B5EF4-FFF2-40B4-BE49-F238E27FC236}">
                <a16:creationId xmlns:a16="http://schemas.microsoft.com/office/drawing/2014/main" id="{669ECDE0-B569-277B-E8C4-75FC891D5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5791200"/>
            <a:ext cx="5966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41" name="Text Box 1033">
            <a:extLst>
              <a:ext uri="{FF2B5EF4-FFF2-40B4-BE49-F238E27FC236}">
                <a16:creationId xmlns:a16="http://schemas.microsoft.com/office/drawing/2014/main" id="{906CB1D9-BAFD-30C2-0DA7-8049F3B24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57912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</a:t>
            </a:r>
          </a:p>
        </p:txBody>
      </p:sp>
      <p:sp>
        <p:nvSpPr>
          <p:cNvPr id="18442" name="Text Box 1034">
            <a:extLst>
              <a:ext uri="{FF2B5EF4-FFF2-40B4-BE49-F238E27FC236}">
                <a16:creationId xmlns:a16="http://schemas.microsoft.com/office/drawing/2014/main" id="{30657620-1980-1E5C-CCA6-ECE26222F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791200"/>
            <a:ext cx="38100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2</a:t>
            </a:r>
          </a:p>
        </p:txBody>
      </p:sp>
      <p:sp>
        <p:nvSpPr>
          <p:cNvPr id="18443" name="Text Box 1035">
            <a:extLst>
              <a:ext uri="{FF2B5EF4-FFF2-40B4-BE49-F238E27FC236}">
                <a16:creationId xmlns:a16="http://schemas.microsoft.com/office/drawing/2014/main" id="{87AC3689-656E-09AA-65FF-10B5DEC87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5791200"/>
            <a:ext cx="5517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44" name="Text Box 1036">
            <a:extLst>
              <a:ext uri="{FF2B5EF4-FFF2-40B4-BE49-F238E27FC236}">
                <a16:creationId xmlns:a16="http://schemas.microsoft.com/office/drawing/2014/main" id="{EECE8D2B-ABE4-C27B-BE9E-5C860F961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5791200"/>
            <a:ext cx="377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</a:t>
            </a:r>
            <a:endParaRPr lang="en-US" altLang="zh-CN" sz="2000" baseline="-25000">
              <a:solidFill>
                <a:srgbClr val="08080A"/>
              </a:solidFill>
            </a:endParaRPr>
          </a:p>
        </p:txBody>
      </p:sp>
      <p:sp>
        <p:nvSpPr>
          <p:cNvPr id="18445" name="Line 1037">
            <a:extLst>
              <a:ext uri="{FF2B5EF4-FFF2-40B4-BE49-F238E27FC236}">
                <a16:creationId xmlns:a16="http://schemas.microsoft.com/office/drawing/2014/main" id="{5F3D1AE8-F1D1-D7D1-811F-6289A9D12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4864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6" name="Line 1038">
            <a:extLst>
              <a:ext uri="{FF2B5EF4-FFF2-40B4-BE49-F238E27FC236}">
                <a16:creationId xmlns:a16="http://schemas.microsoft.com/office/drawing/2014/main" id="{1A3C28EC-81BB-6034-EDEC-0395E6C6E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52578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7" name="Line 1039">
            <a:extLst>
              <a:ext uri="{FF2B5EF4-FFF2-40B4-BE49-F238E27FC236}">
                <a16:creationId xmlns:a16="http://schemas.microsoft.com/office/drawing/2014/main" id="{61491345-E5ED-EB12-D6F1-BE6D6DB44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2578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8" name="Line 1040">
            <a:extLst>
              <a:ext uri="{FF2B5EF4-FFF2-40B4-BE49-F238E27FC236}">
                <a16:creationId xmlns:a16="http://schemas.microsoft.com/office/drawing/2014/main" id="{7A3473D7-C031-F3D0-427F-8D9590BC65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0600" y="49530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9" name="Line 1041">
            <a:extLst>
              <a:ext uri="{FF2B5EF4-FFF2-40B4-BE49-F238E27FC236}">
                <a16:creationId xmlns:a16="http://schemas.microsoft.com/office/drawing/2014/main" id="{59EA2CB3-D894-06D2-3EE5-ECAFDEBD6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9530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0" name="Line 1042">
            <a:extLst>
              <a:ext uri="{FF2B5EF4-FFF2-40B4-BE49-F238E27FC236}">
                <a16:creationId xmlns:a16="http://schemas.microsoft.com/office/drawing/2014/main" id="{B4C79ABD-47D5-AAB5-3C86-C306FD2322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5400" y="47244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1" name="Line 1043">
            <a:extLst>
              <a:ext uri="{FF2B5EF4-FFF2-40B4-BE49-F238E27FC236}">
                <a16:creationId xmlns:a16="http://schemas.microsoft.com/office/drawing/2014/main" id="{DE23C501-3E14-3CBA-7717-5FCA66AF83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72600" y="4495800"/>
            <a:ext cx="0" cy="22860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2" name="Line 1044">
            <a:extLst>
              <a:ext uri="{FF2B5EF4-FFF2-40B4-BE49-F238E27FC236}">
                <a16:creationId xmlns:a16="http://schemas.microsoft.com/office/drawing/2014/main" id="{F627A75D-9F90-540D-D5FA-A91915245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600" y="44958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3" name="Line 1045">
            <a:extLst>
              <a:ext uri="{FF2B5EF4-FFF2-40B4-BE49-F238E27FC236}">
                <a16:creationId xmlns:a16="http://schemas.microsoft.com/office/drawing/2014/main" id="{52257961-E5EE-FD63-9125-C2A505E4A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5181600"/>
            <a:ext cx="381000" cy="0"/>
          </a:xfrm>
          <a:prstGeom prst="line">
            <a:avLst/>
          </a:prstGeom>
          <a:noFill/>
          <a:ln w="28575">
            <a:solidFill>
              <a:srgbClr val="C4023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4" name="Line 1046">
            <a:extLst>
              <a:ext uri="{FF2B5EF4-FFF2-40B4-BE49-F238E27FC236}">
                <a16:creationId xmlns:a16="http://schemas.microsoft.com/office/drawing/2014/main" id="{116C5D87-A068-312D-527B-9827C7514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4724400"/>
            <a:ext cx="304800" cy="0"/>
          </a:xfrm>
          <a:prstGeom prst="line">
            <a:avLst/>
          </a:prstGeom>
          <a:noFill/>
          <a:ln w="28575">
            <a:solidFill>
              <a:srgbClr val="C4023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5" name="Line 1047">
            <a:extLst>
              <a:ext uri="{FF2B5EF4-FFF2-40B4-BE49-F238E27FC236}">
                <a16:creationId xmlns:a16="http://schemas.microsoft.com/office/drawing/2014/main" id="{6FFCF858-01AD-1663-62BF-CE34A62DF8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962400"/>
            <a:ext cx="0" cy="1905000"/>
          </a:xfrm>
          <a:prstGeom prst="line">
            <a:avLst/>
          </a:prstGeom>
          <a:noFill/>
          <a:ln w="28575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6" name="Line 1048">
            <a:extLst>
              <a:ext uri="{FF2B5EF4-FFF2-40B4-BE49-F238E27FC236}">
                <a16:creationId xmlns:a16="http://schemas.microsoft.com/office/drawing/2014/main" id="{A203E4BB-D656-334E-C143-8BD7F6A81D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4495800"/>
            <a:ext cx="2057400" cy="0"/>
          </a:xfrm>
          <a:prstGeom prst="line">
            <a:avLst/>
          </a:prstGeom>
          <a:noFill/>
          <a:ln w="28575">
            <a:solidFill>
              <a:srgbClr val="08080A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7" name="Text Box 1049">
            <a:extLst>
              <a:ext uri="{FF2B5EF4-FFF2-40B4-BE49-F238E27FC236}">
                <a16:creationId xmlns:a16="http://schemas.microsoft.com/office/drawing/2014/main" id="{184D75BD-06A1-821E-A608-B7D01ECB6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191000"/>
            <a:ext cx="3193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58" name="Text Box 1050">
            <a:extLst>
              <a:ext uri="{FF2B5EF4-FFF2-40B4-BE49-F238E27FC236}">
                <a16:creationId xmlns:a16="http://schemas.microsoft.com/office/drawing/2014/main" id="{6832CAAC-B5D3-DDAE-1C6E-855A2E87A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6" y="3900488"/>
            <a:ext cx="6110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08080A"/>
                </a:solidFill>
              </a:rPr>
              <a:t>F(x)</a:t>
            </a:r>
          </a:p>
        </p:txBody>
      </p:sp>
      <p:sp>
        <p:nvSpPr>
          <p:cNvPr id="18459" name="Line 1051">
            <a:extLst>
              <a:ext uri="{FF2B5EF4-FFF2-40B4-BE49-F238E27FC236}">
                <a16:creationId xmlns:a16="http://schemas.microsoft.com/office/drawing/2014/main" id="{7E43FF6E-A5CA-A151-7489-516CB48D2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800600"/>
            <a:ext cx="1600200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60" name="Text Box 1052">
            <a:extLst>
              <a:ext uri="{FF2B5EF4-FFF2-40B4-BE49-F238E27FC236}">
                <a16:creationId xmlns:a16="http://schemas.microsoft.com/office/drawing/2014/main" id="{AE917013-AD9A-B51E-FE25-A3D1C8FCF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1" y="4572001"/>
            <a:ext cx="309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  <a:sym typeface="Symbol" pitchFamily="2" charset="2"/>
              </a:rPr>
              <a:t></a:t>
            </a:r>
            <a:endParaRPr lang="en-US" altLang="zh-CN" sz="2000" i="1">
              <a:solidFill>
                <a:srgbClr val="08080A"/>
              </a:solidFill>
            </a:endParaRPr>
          </a:p>
        </p:txBody>
      </p:sp>
      <p:sp>
        <p:nvSpPr>
          <p:cNvPr id="18461" name="Line 1053">
            <a:extLst>
              <a:ext uri="{FF2B5EF4-FFF2-40B4-BE49-F238E27FC236}">
                <a16:creationId xmlns:a16="http://schemas.microsoft.com/office/drawing/2014/main" id="{1D3BB1B9-62D0-9D09-D1E6-63F99683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4800600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62" name="Text Box 1054">
            <a:extLst>
              <a:ext uri="{FF2B5EF4-FFF2-40B4-BE49-F238E27FC236}">
                <a16:creationId xmlns:a16="http://schemas.microsoft.com/office/drawing/2014/main" id="{3D0C7809-69D4-1968-267A-843F4F2E6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4800600"/>
            <a:ext cx="412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k</a:t>
            </a:r>
          </a:p>
        </p:txBody>
      </p:sp>
      <p:sp>
        <p:nvSpPr>
          <p:cNvPr id="18463" name="Line 1055">
            <a:extLst>
              <a:ext uri="{FF2B5EF4-FFF2-40B4-BE49-F238E27FC236}">
                <a16:creationId xmlns:a16="http://schemas.microsoft.com/office/drawing/2014/main" id="{CE701ED9-A38F-E99A-4C7F-2D612185B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6" y="5867400"/>
            <a:ext cx="2803525" cy="0"/>
          </a:xfrm>
          <a:prstGeom prst="line">
            <a:avLst/>
          </a:prstGeom>
          <a:noFill/>
          <a:ln w="19050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64" name="Line 1056">
            <a:extLst>
              <a:ext uri="{FF2B5EF4-FFF2-40B4-BE49-F238E27FC236}">
                <a16:creationId xmlns:a16="http://schemas.microsoft.com/office/drawing/2014/main" id="{F48E311D-997D-4F94-264A-FB59C3730B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2475" y="4191000"/>
            <a:ext cx="0" cy="1676400"/>
          </a:xfrm>
          <a:prstGeom prst="line">
            <a:avLst/>
          </a:prstGeom>
          <a:noFill/>
          <a:ln w="19050">
            <a:solidFill>
              <a:srgbClr val="08080A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65" name="Rectangle 1057">
            <a:extLst>
              <a:ext uri="{FF2B5EF4-FFF2-40B4-BE49-F238E27FC236}">
                <a16:creationId xmlns:a16="http://schemas.microsoft.com/office/drawing/2014/main" id="{13A250E2-6ABA-8E12-3C26-EB4E844D6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475" y="5334000"/>
            <a:ext cx="304800" cy="5334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6" name="Rectangle 1058">
            <a:extLst>
              <a:ext uri="{FF2B5EF4-FFF2-40B4-BE49-F238E27FC236}">
                <a16:creationId xmlns:a16="http://schemas.microsoft.com/office/drawing/2014/main" id="{EF9C9532-6100-C649-81AD-E852C819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4724400"/>
            <a:ext cx="304800" cy="11430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7" name="Rectangle 1059">
            <a:extLst>
              <a:ext uri="{FF2B5EF4-FFF2-40B4-BE49-F238E27FC236}">
                <a16:creationId xmlns:a16="http://schemas.microsoft.com/office/drawing/2014/main" id="{1B336749-E248-F449-F617-37783FD2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304800" cy="7620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8" name="Text Box 1060">
            <a:extLst>
              <a:ext uri="{FF2B5EF4-FFF2-40B4-BE49-F238E27FC236}">
                <a16:creationId xmlns:a16="http://schemas.microsoft.com/office/drawing/2014/main" id="{0D5B486F-A235-D8F3-4067-CD6C9FFBC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638800"/>
            <a:ext cx="3193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0</a:t>
            </a:r>
          </a:p>
        </p:txBody>
      </p:sp>
      <p:sp>
        <p:nvSpPr>
          <p:cNvPr id="18469" name="Text Box 1061">
            <a:extLst>
              <a:ext uri="{FF2B5EF4-FFF2-40B4-BE49-F238E27FC236}">
                <a16:creationId xmlns:a16="http://schemas.microsoft.com/office/drawing/2014/main" id="{4AE7BE1F-103A-9885-CFB8-264667B23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91200"/>
            <a:ext cx="3866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70" name="Text Box 1062">
            <a:extLst>
              <a:ext uri="{FF2B5EF4-FFF2-40B4-BE49-F238E27FC236}">
                <a16:creationId xmlns:a16="http://schemas.microsoft.com/office/drawing/2014/main" id="{F6497E14-B21C-8CA1-ACFD-E3515388D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791200"/>
            <a:ext cx="5966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71" name="Text Box 1063">
            <a:extLst>
              <a:ext uri="{FF2B5EF4-FFF2-40B4-BE49-F238E27FC236}">
                <a16:creationId xmlns:a16="http://schemas.microsoft.com/office/drawing/2014/main" id="{B1154CC5-CCFD-BD0E-8A13-A7DB806B9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791201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N</a:t>
            </a:r>
          </a:p>
        </p:txBody>
      </p:sp>
      <p:sp>
        <p:nvSpPr>
          <p:cNvPr id="18472" name="Text Box 1064">
            <a:extLst>
              <a:ext uri="{FF2B5EF4-FFF2-40B4-BE49-F238E27FC236}">
                <a16:creationId xmlns:a16="http://schemas.microsoft.com/office/drawing/2014/main" id="{9228035D-90C8-174A-9BB4-7A7600B81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119688"/>
            <a:ext cx="421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73" name="Text Box 1065">
            <a:extLst>
              <a:ext uri="{FF2B5EF4-FFF2-40B4-BE49-F238E27FC236}">
                <a16:creationId xmlns:a16="http://schemas.microsoft.com/office/drawing/2014/main" id="{F3056FAB-32B9-0E0D-DC51-6C04392D8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21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2</a:t>
            </a:r>
          </a:p>
        </p:txBody>
      </p:sp>
      <p:sp>
        <p:nvSpPr>
          <p:cNvPr id="18474" name="Line 1066">
            <a:extLst>
              <a:ext uri="{FF2B5EF4-FFF2-40B4-BE49-F238E27FC236}">
                <a16:creationId xmlns:a16="http://schemas.microsoft.com/office/drawing/2014/main" id="{54AFB227-DD35-1C96-8F6B-F65630BBA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724400"/>
            <a:ext cx="304800" cy="0"/>
          </a:xfrm>
          <a:prstGeom prst="line">
            <a:avLst/>
          </a:prstGeom>
          <a:noFill/>
          <a:ln w="9525">
            <a:solidFill>
              <a:srgbClr val="08080A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75" name="Line 1067">
            <a:extLst>
              <a:ext uri="{FF2B5EF4-FFF2-40B4-BE49-F238E27FC236}">
                <a16:creationId xmlns:a16="http://schemas.microsoft.com/office/drawing/2014/main" id="{99996BC2-10EA-95FC-A48F-A1E22606A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5105400"/>
            <a:ext cx="1447800" cy="0"/>
          </a:xfrm>
          <a:prstGeom prst="line">
            <a:avLst/>
          </a:prstGeom>
          <a:noFill/>
          <a:ln w="9525">
            <a:solidFill>
              <a:srgbClr val="08080A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76" name="Text Box 1068">
            <a:extLst>
              <a:ext uri="{FF2B5EF4-FFF2-40B4-BE49-F238E27FC236}">
                <a16:creationId xmlns:a16="http://schemas.microsoft.com/office/drawing/2014/main" id="{AB88D3D9-728D-1B1D-5FC9-9D4355E84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1475" y="4800600"/>
            <a:ext cx="4571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N</a:t>
            </a:r>
          </a:p>
        </p:txBody>
      </p:sp>
      <p:sp>
        <p:nvSpPr>
          <p:cNvPr id="18477" name="Text Box 1069">
            <a:extLst>
              <a:ext uri="{FF2B5EF4-FFF2-40B4-BE49-F238E27FC236}">
                <a16:creationId xmlns:a16="http://schemas.microsoft.com/office/drawing/2014/main" id="{A011FFD1-2709-9206-A195-DAD0CCD1F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791200"/>
            <a:ext cx="38100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baseline="-25000">
                <a:solidFill>
                  <a:srgbClr val="08080A"/>
                </a:solidFill>
              </a:rPr>
              <a:t>2</a:t>
            </a:r>
          </a:p>
        </p:txBody>
      </p:sp>
      <p:sp>
        <p:nvSpPr>
          <p:cNvPr id="18478" name="Rectangle 1070">
            <a:extLst>
              <a:ext uri="{FF2B5EF4-FFF2-40B4-BE49-F238E27FC236}">
                <a16:creationId xmlns:a16="http://schemas.microsoft.com/office/drawing/2014/main" id="{D83B82E6-A127-7398-DBF9-DAA3D9BC4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304800" cy="1371600"/>
          </a:xfrm>
          <a:prstGeom prst="rect">
            <a:avLst/>
          </a:prstGeom>
          <a:noFill/>
          <a:ln w="19050">
            <a:solidFill>
              <a:srgbClr val="08080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08080A"/>
              </a:solidFill>
            </a:endParaRPr>
          </a:p>
        </p:txBody>
      </p:sp>
      <p:sp>
        <p:nvSpPr>
          <p:cNvPr id="18479" name="Line 1071">
            <a:extLst>
              <a:ext uri="{FF2B5EF4-FFF2-40B4-BE49-F238E27FC236}">
                <a16:creationId xmlns:a16="http://schemas.microsoft.com/office/drawing/2014/main" id="{C3C852B4-4479-9DE4-3343-C57105905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495800"/>
            <a:ext cx="1295400" cy="0"/>
          </a:xfrm>
          <a:prstGeom prst="line">
            <a:avLst/>
          </a:prstGeom>
          <a:noFill/>
          <a:ln w="9525">
            <a:solidFill>
              <a:srgbClr val="08080A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80" name="Text Box 1072">
            <a:extLst>
              <a:ext uri="{FF2B5EF4-FFF2-40B4-BE49-F238E27FC236}">
                <a16:creationId xmlns:a16="http://schemas.microsoft.com/office/drawing/2014/main" id="{1477AB9C-3520-16D3-E868-0842B4084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240213"/>
            <a:ext cx="4122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8080A"/>
                </a:solidFill>
              </a:rPr>
              <a:t>p</a:t>
            </a:r>
            <a:r>
              <a:rPr lang="en-US" altLang="zh-CN" sz="2000" baseline="-25000">
                <a:solidFill>
                  <a:srgbClr val="08080A"/>
                </a:solidFill>
              </a:rPr>
              <a:t>k</a:t>
            </a:r>
          </a:p>
        </p:txBody>
      </p:sp>
      <p:sp>
        <p:nvSpPr>
          <p:cNvPr id="18481" name="Text Box 1073">
            <a:extLst>
              <a:ext uri="{FF2B5EF4-FFF2-40B4-BE49-F238E27FC236}">
                <a16:creationId xmlns:a16="http://schemas.microsoft.com/office/drawing/2014/main" id="{E9EABCFC-5F69-1199-A14F-3BC068D49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791200"/>
            <a:ext cx="5517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k-</a:t>
            </a:r>
            <a:r>
              <a:rPr lang="en-US" altLang="zh-CN" sz="2000" baseline="-25000">
                <a:solidFill>
                  <a:srgbClr val="08080A"/>
                </a:solidFill>
              </a:rPr>
              <a:t>1</a:t>
            </a:r>
          </a:p>
        </p:txBody>
      </p:sp>
      <p:sp>
        <p:nvSpPr>
          <p:cNvPr id="18482" name="Text Box 1074">
            <a:extLst>
              <a:ext uri="{FF2B5EF4-FFF2-40B4-BE49-F238E27FC236}">
                <a16:creationId xmlns:a16="http://schemas.microsoft.com/office/drawing/2014/main" id="{551209A4-B4CE-5CEF-A5D6-19FD351BF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791200"/>
            <a:ext cx="3770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8080A"/>
                </a:solidFill>
              </a:rPr>
              <a:t>x</a:t>
            </a:r>
            <a:r>
              <a:rPr lang="en-US" altLang="zh-CN" sz="2000" i="1" baseline="-25000">
                <a:solidFill>
                  <a:srgbClr val="08080A"/>
                </a:solidFill>
              </a:rPr>
              <a:t>k</a:t>
            </a:r>
            <a:endParaRPr lang="en-US" altLang="zh-CN" sz="2000" baseline="-25000">
              <a:solidFill>
                <a:srgbClr val="08080A"/>
              </a:solidFill>
            </a:endParaRPr>
          </a:p>
        </p:txBody>
      </p:sp>
      <p:graphicFrame>
        <p:nvGraphicFramePr>
          <p:cNvPr id="18483" name="Object 1075">
            <a:extLst>
              <a:ext uri="{FF2B5EF4-FFF2-40B4-BE49-F238E27FC236}">
                <a16:creationId xmlns:a16="http://schemas.microsoft.com/office/drawing/2014/main" id="{677D839E-869B-A9D4-E789-D5CD44D9D9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1" y="1600200"/>
          <a:ext cx="559117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374800" imgH="15798800" progId="Equation.3">
                  <p:embed/>
                </p:oleObj>
              </mc:Choice>
              <mc:Fallback>
                <p:oleObj name="Equation" r:id="rId2" imgW="52374800" imgH="15798800" progId="Equation.3">
                  <p:embed/>
                  <p:pic>
                    <p:nvPicPr>
                      <p:cNvPr id="18483" name="Object 1075">
                        <a:extLst>
                          <a:ext uri="{FF2B5EF4-FFF2-40B4-BE49-F238E27FC236}">
                            <a16:creationId xmlns:a16="http://schemas.microsoft.com/office/drawing/2014/main" id="{677D839E-869B-A9D4-E789-D5CD44D9D9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1600200"/>
                        <a:ext cx="5591175" cy="11938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4" name="Text Box 1076">
            <a:extLst>
              <a:ext uri="{FF2B5EF4-FFF2-40B4-BE49-F238E27FC236}">
                <a16:creationId xmlns:a16="http://schemas.microsoft.com/office/drawing/2014/main" id="{6C8C2081-3841-4BCA-7C2B-CD0BE86B9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6" y="3089275"/>
            <a:ext cx="31373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lang="en-US" altLang="zh-CN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所产生的随机数的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pdf</a:t>
            </a:r>
            <a:r>
              <a:rPr lang="zh-CN" altLang="en-US" b="1">
                <a:solidFill>
                  <a:srgbClr val="08080A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>
                <a:solidFill>
                  <a:srgbClr val="08080A"/>
                </a:solidFill>
                <a:ea typeface="楷体_GB2312" pitchFamily="49" charset="-122"/>
              </a:rPr>
              <a:t>k</a:t>
            </a: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0BBBD-BF62-EAE8-56E3-A5D1F213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举例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8E0503-4633-7DB1-57B4-38FA970E4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758826"/>
            <a:ext cx="7772400" cy="25094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5D73A8-E67F-60D4-D9EB-03E650D0A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3268257"/>
            <a:ext cx="5544616" cy="252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4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914C4CA-DAB7-8468-FD13-D82AF0B99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4.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  <p:grpSp>
        <p:nvGrpSpPr>
          <p:cNvPr id="6147" name="Group 3">
            <a:extLst>
              <a:ext uri="{FF2B5EF4-FFF2-40B4-BE49-F238E27FC236}">
                <a16:creationId xmlns:a16="http://schemas.microsoft.com/office/drawing/2014/main" id="{1663036C-AEF2-F564-82A7-A657AB48D1CE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057400"/>
            <a:ext cx="2971800" cy="1385888"/>
            <a:chOff x="1584" y="1296"/>
            <a:chExt cx="1872" cy="873"/>
          </a:xfrm>
        </p:grpSpPr>
        <p:sp>
          <p:nvSpPr>
            <p:cNvPr id="6148" name="Rectangle 4">
              <a:extLst>
                <a:ext uri="{FF2B5EF4-FFF2-40B4-BE49-F238E27FC236}">
                  <a16:creationId xmlns:a16="http://schemas.microsoft.com/office/drawing/2014/main" id="{33D8D82E-20EE-2177-839F-976499E91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7" y="1920"/>
              <a:ext cx="709" cy="2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3</a:t>
              </a:r>
              <a:r>
                <a:rPr lang="en-US" altLang="zh-CN" sz="2000">
                  <a:solidFill>
                    <a:srgbClr val="08080A"/>
                  </a:solidFill>
                </a:rPr>
                <a:t>=0.2</a:t>
              </a:r>
            </a:p>
          </p:txBody>
        </p:sp>
        <p:sp>
          <p:nvSpPr>
            <p:cNvPr id="6149" name="Rectangle 5">
              <a:extLst>
                <a:ext uri="{FF2B5EF4-FFF2-40B4-BE49-F238E27FC236}">
                  <a16:creationId xmlns:a16="http://schemas.microsoft.com/office/drawing/2014/main" id="{141E6193-3C4E-3017-301B-2382B0A32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920"/>
              <a:ext cx="731" cy="2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b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3</a:t>
              </a:r>
              <a:r>
                <a:rPr lang="en-US" altLang="zh-CN" sz="2000">
                  <a:solidFill>
                    <a:srgbClr val="08080A"/>
                  </a:solidFill>
                </a:rPr>
                <a:t>+c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3</a:t>
              </a:r>
            </a:p>
          </p:txBody>
        </p:sp>
        <p:sp>
          <p:nvSpPr>
            <p:cNvPr id="6150" name="Rectangle 6">
              <a:extLst>
                <a:ext uri="{FF2B5EF4-FFF2-40B4-BE49-F238E27FC236}">
                  <a16:creationId xmlns:a16="http://schemas.microsoft.com/office/drawing/2014/main" id="{61B623D1-65A7-3588-14FE-EC91C1451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7" y="1584"/>
              <a:ext cx="709" cy="33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  <a:r>
                <a:rPr lang="en-US" altLang="zh-CN" sz="2000">
                  <a:solidFill>
                    <a:srgbClr val="08080A"/>
                  </a:solidFill>
                </a:rPr>
                <a:t>=0.3</a:t>
              </a:r>
            </a:p>
          </p:txBody>
        </p:sp>
        <p:sp>
          <p:nvSpPr>
            <p:cNvPr id="6151" name="Rectangle 7">
              <a:extLst>
                <a:ext uri="{FF2B5EF4-FFF2-40B4-BE49-F238E27FC236}">
                  <a16:creationId xmlns:a16="http://schemas.microsoft.com/office/drawing/2014/main" id="{4244C2F9-C591-371D-D5E6-F1725FF3D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731" cy="33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b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  <a:r>
                <a:rPr lang="en-US" altLang="zh-CN" sz="2000">
                  <a:solidFill>
                    <a:srgbClr val="08080A"/>
                  </a:solidFill>
                </a:rPr>
                <a:t>+c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2</a:t>
              </a:r>
            </a:p>
          </p:txBody>
        </p:sp>
        <p:sp>
          <p:nvSpPr>
            <p:cNvPr id="6152" name="Rectangle 8">
              <a:extLst>
                <a:ext uri="{FF2B5EF4-FFF2-40B4-BE49-F238E27FC236}">
                  <a16:creationId xmlns:a16="http://schemas.microsoft.com/office/drawing/2014/main" id="{D7BF1095-5FAD-72DA-3605-AE28E21D3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7" y="1296"/>
              <a:ext cx="709" cy="28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p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  <a:r>
                <a:rPr lang="en-US" altLang="zh-CN" sz="2000">
                  <a:solidFill>
                    <a:srgbClr val="08080A"/>
                  </a:solidFill>
                </a:rPr>
                <a:t>=0.5</a:t>
              </a:r>
            </a:p>
          </p:txBody>
        </p:sp>
        <p:sp>
          <p:nvSpPr>
            <p:cNvPr id="6153" name="Rectangle 9">
              <a:extLst>
                <a:ext uri="{FF2B5EF4-FFF2-40B4-BE49-F238E27FC236}">
                  <a16:creationId xmlns:a16="http://schemas.microsoft.com/office/drawing/2014/main" id="{D026C742-210A-32C9-8933-188ECBA2B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296"/>
              <a:ext cx="731" cy="28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b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  <a:r>
                <a:rPr lang="en-US" altLang="zh-CN" sz="2000">
                  <a:solidFill>
                    <a:srgbClr val="08080A"/>
                  </a:solidFill>
                </a:rPr>
                <a:t>+c</a:t>
              </a:r>
              <a:r>
                <a:rPr lang="en-US" altLang="zh-CN" sz="2000" baseline="-25000">
                  <a:solidFill>
                    <a:srgbClr val="08080A"/>
                  </a:solidFill>
                </a:rPr>
                <a:t>1</a:t>
              </a:r>
            </a:p>
          </p:txBody>
        </p:sp>
        <p:sp>
          <p:nvSpPr>
            <p:cNvPr id="6154" name="Rectangle 10">
              <a:extLst>
                <a:ext uri="{FF2B5EF4-FFF2-40B4-BE49-F238E27FC236}">
                  <a16:creationId xmlns:a16="http://schemas.microsoft.com/office/drawing/2014/main" id="{0CC96D72-035E-3309-4F10-CBA01A331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296"/>
              <a:ext cx="432" cy="87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altLang="zh-CN" sz="2000">
                  <a:solidFill>
                    <a:srgbClr val="08080A"/>
                  </a:solidFill>
                </a:rPr>
                <a:t>a</a:t>
              </a:r>
              <a:r>
                <a:rPr lang="en-US" altLang="zh-CN" sz="2000">
                  <a:solidFill>
                    <a:srgbClr val="08080A"/>
                  </a:solidFill>
                  <a:sym typeface="Wingdings" pitchFamily="2" charset="2"/>
                </a:rPr>
                <a:t></a:t>
              </a:r>
              <a:endParaRPr lang="en-US" altLang="zh-CN" sz="2000">
                <a:solidFill>
                  <a:srgbClr val="08080A"/>
                </a:solidFill>
              </a:endParaRPr>
            </a:p>
          </p:txBody>
        </p:sp>
        <p:sp>
          <p:nvSpPr>
            <p:cNvPr id="6155" name="Line 11">
              <a:extLst>
                <a:ext uri="{FF2B5EF4-FFF2-40B4-BE49-F238E27FC236}">
                  <a16:creationId xmlns:a16="http://schemas.microsoft.com/office/drawing/2014/main" id="{CCBB8EA6-8ECC-EB67-C5D4-931C73DB1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296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6" name="Line 12">
              <a:extLst>
                <a:ext uri="{FF2B5EF4-FFF2-40B4-BE49-F238E27FC236}">
                  <a16:creationId xmlns:a16="http://schemas.microsoft.com/office/drawing/2014/main" id="{08C03397-D073-2B67-2A3A-B42B60299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169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7" name="Line 13">
              <a:extLst>
                <a:ext uri="{FF2B5EF4-FFF2-40B4-BE49-F238E27FC236}">
                  <a16:creationId xmlns:a16="http://schemas.microsoft.com/office/drawing/2014/main" id="{21B8AFDE-8614-E045-8BA7-FC3D5A63A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296"/>
              <a:ext cx="0" cy="87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Line 14">
              <a:extLst>
                <a:ext uri="{FF2B5EF4-FFF2-40B4-BE49-F238E27FC236}">
                  <a16:creationId xmlns:a16="http://schemas.microsoft.com/office/drawing/2014/main" id="{E095C1FB-FBCF-23F0-2E57-B307B0F5D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296"/>
              <a:ext cx="0" cy="8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9" name="Line 15">
              <a:extLst>
                <a:ext uri="{FF2B5EF4-FFF2-40B4-BE49-F238E27FC236}">
                  <a16:creationId xmlns:a16="http://schemas.microsoft.com/office/drawing/2014/main" id="{7CFBA572-252D-BED5-6CB8-D2F7BC929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7" y="1296"/>
              <a:ext cx="0" cy="8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0" name="Line 16">
              <a:extLst>
                <a:ext uri="{FF2B5EF4-FFF2-40B4-BE49-F238E27FC236}">
                  <a16:creationId xmlns:a16="http://schemas.microsoft.com/office/drawing/2014/main" id="{2FAD3912-4E9D-FEEB-36A3-02468DA4C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296"/>
              <a:ext cx="0" cy="87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7">
              <a:extLst>
                <a:ext uri="{FF2B5EF4-FFF2-40B4-BE49-F238E27FC236}">
                  <a16:creationId xmlns:a16="http://schemas.microsoft.com/office/drawing/2014/main" id="{961785D1-5421-62A6-5B5D-A5430C1D0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584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18">
              <a:extLst>
                <a:ext uri="{FF2B5EF4-FFF2-40B4-BE49-F238E27FC236}">
                  <a16:creationId xmlns:a16="http://schemas.microsoft.com/office/drawing/2014/main" id="{E84AB9DA-206D-2A12-4BFF-6D3A59BC8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20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63" name="Group 19">
            <a:extLst>
              <a:ext uri="{FF2B5EF4-FFF2-40B4-BE49-F238E27FC236}">
                <a16:creationId xmlns:a16="http://schemas.microsoft.com/office/drawing/2014/main" id="{E59E8182-40FE-160B-12F4-A5A100CDE35F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343400"/>
            <a:ext cx="6096000" cy="1981200"/>
            <a:chOff x="912" y="2880"/>
            <a:chExt cx="3840" cy="1248"/>
          </a:xfrm>
        </p:grpSpPr>
        <p:sp>
          <p:nvSpPr>
            <p:cNvPr id="6164" name="Rectangle 20">
              <a:extLst>
                <a:ext uri="{FF2B5EF4-FFF2-40B4-BE49-F238E27FC236}">
                  <a16:creationId xmlns:a16="http://schemas.microsoft.com/office/drawing/2014/main" id="{60E911DA-0BF3-D520-94C9-D14C78612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880"/>
              <a:ext cx="1920" cy="124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8080A"/>
                </a:solidFill>
              </a:endParaRPr>
            </a:p>
          </p:txBody>
        </p:sp>
        <p:sp>
          <p:nvSpPr>
            <p:cNvPr id="6165" name="Rectangle 21">
              <a:extLst>
                <a:ext uri="{FF2B5EF4-FFF2-40B4-BE49-F238E27FC236}">
                  <a16:creationId xmlns:a16="http://schemas.microsoft.com/office/drawing/2014/main" id="{4B051378-4D46-04AC-4A8E-82E32DCC4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880"/>
              <a:ext cx="1920" cy="124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>
                <a:solidFill>
                  <a:srgbClr val="08080A"/>
                </a:solidFill>
              </a:endParaRPr>
            </a:p>
          </p:txBody>
        </p:sp>
        <p:sp>
          <p:nvSpPr>
            <p:cNvPr id="6166" name="Line 22">
              <a:extLst>
                <a:ext uri="{FF2B5EF4-FFF2-40B4-BE49-F238E27FC236}">
                  <a16:creationId xmlns:a16="http://schemas.microsoft.com/office/drawing/2014/main" id="{1A12E1BD-E69E-BCC9-6159-541528F22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80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23">
              <a:extLst>
                <a:ext uri="{FF2B5EF4-FFF2-40B4-BE49-F238E27FC236}">
                  <a16:creationId xmlns:a16="http://schemas.microsoft.com/office/drawing/2014/main" id="{BE5D0347-B620-1D6E-5010-677218415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4128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8" name="Line 24">
              <a:extLst>
                <a:ext uri="{FF2B5EF4-FFF2-40B4-BE49-F238E27FC236}">
                  <a16:creationId xmlns:a16="http://schemas.microsoft.com/office/drawing/2014/main" id="{A2869A82-A7C7-C6BD-5B76-9F4F63480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880"/>
              <a:ext cx="0" cy="12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9" name="Line 25">
              <a:extLst>
                <a:ext uri="{FF2B5EF4-FFF2-40B4-BE49-F238E27FC236}">
                  <a16:creationId xmlns:a16="http://schemas.microsoft.com/office/drawing/2014/main" id="{0FCD2135-46B1-AD81-6E8C-66065D6F5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880"/>
              <a:ext cx="0" cy="1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0" name="Line 26">
              <a:extLst>
                <a:ext uri="{FF2B5EF4-FFF2-40B4-BE49-F238E27FC236}">
                  <a16:creationId xmlns:a16="http://schemas.microsoft.com/office/drawing/2014/main" id="{E7839C57-6F68-FBD2-5988-142CAA4B2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880"/>
              <a:ext cx="0" cy="12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1" name="Object 27">
              <a:extLst>
                <a:ext uri="{FF2B5EF4-FFF2-40B4-BE49-F238E27FC236}">
                  <a16:creationId xmlns:a16="http://schemas.microsoft.com/office/drawing/2014/main" id="{14C523A0-50C9-5683-F1EF-3D8E28591D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024"/>
            <a:ext cx="1872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3350200" imgH="15214600" progId="Equation.3">
                    <p:embed/>
                  </p:oleObj>
                </mc:Choice>
                <mc:Fallback>
                  <p:oleObj name="Equation" r:id="rId2" imgW="33350200" imgH="15214600" progId="Equation.3">
                    <p:embed/>
                    <p:pic>
                      <p:nvPicPr>
                        <p:cNvPr id="6171" name="Object 27">
                          <a:extLst>
                            <a:ext uri="{FF2B5EF4-FFF2-40B4-BE49-F238E27FC236}">
                              <a16:creationId xmlns:a16="http://schemas.microsoft.com/office/drawing/2014/main" id="{14C523A0-50C9-5683-F1EF-3D8E28591D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024"/>
                          <a:ext cx="1872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2" name="Object 28">
              <a:extLst>
                <a:ext uri="{FF2B5EF4-FFF2-40B4-BE49-F238E27FC236}">
                  <a16:creationId xmlns:a16="http://schemas.microsoft.com/office/drawing/2014/main" id="{65AD1E14-F7D3-DBBF-7915-441060A8BE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2976"/>
            <a:ext cx="902" cy="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236200" imgH="15798800" progId="Equation.3">
                    <p:embed/>
                  </p:oleObj>
                </mc:Choice>
                <mc:Fallback>
                  <p:oleObj name="Equation" r:id="rId4" imgW="10236200" imgH="15798800" progId="Equation.3">
                    <p:embed/>
                    <p:pic>
                      <p:nvPicPr>
                        <p:cNvPr id="6172" name="Object 28">
                          <a:extLst>
                            <a:ext uri="{FF2B5EF4-FFF2-40B4-BE49-F238E27FC236}">
                              <a16:creationId xmlns:a16="http://schemas.microsoft.com/office/drawing/2014/main" id="{65AD1E14-F7D3-DBBF-7915-441060A8BE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976"/>
                          <a:ext cx="902" cy="10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73" name="Rectangle 29">
            <a:extLst>
              <a:ext uri="{FF2B5EF4-FFF2-40B4-BE49-F238E27FC236}">
                <a16:creationId xmlns:a16="http://schemas.microsoft.com/office/drawing/2014/main" id="{F47220D3-3C80-2041-D069-F4785D82D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838200"/>
            <a:ext cx="33137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、粒子衰变末态的随机抽样</a:t>
            </a:r>
          </a:p>
        </p:txBody>
      </p:sp>
      <p:sp>
        <p:nvSpPr>
          <p:cNvPr id="6174" name="Rectangle 30">
            <a:extLst>
              <a:ext uri="{FF2B5EF4-FFF2-40B4-BE49-F238E27FC236}">
                <a16:creationId xmlns:a16="http://schemas.microsoft.com/office/drawing/2014/main" id="{0426996E-EF89-8ED0-0344-6FE18E6F9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1371600"/>
            <a:ext cx="42290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设粒子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a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有三种衰变方式，其分支比如下</a:t>
            </a:r>
          </a:p>
        </p:txBody>
      </p:sp>
      <p:sp>
        <p:nvSpPr>
          <p:cNvPr id="6175" name="Rectangle 31">
            <a:extLst>
              <a:ext uri="{FF2B5EF4-FFF2-40B4-BE49-F238E27FC236}">
                <a16:creationId xmlns:a16="http://schemas.microsoft.com/office/drawing/2014/main" id="{79B173AB-12BA-4337-6D9F-15DCEFA54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05200"/>
            <a:ext cx="57454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随机选取每次衰变的衰变方式（衰变道）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直接抽样法</a:t>
            </a:r>
          </a:p>
        </p:txBody>
      </p:sp>
      <p:sp>
        <p:nvSpPr>
          <p:cNvPr id="6178" name="Rectangle 34">
            <a:extLst>
              <a:ext uri="{FF2B5EF4-FFF2-40B4-BE49-F238E27FC236}">
                <a16:creationId xmlns:a16="http://schemas.microsoft.com/office/drawing/2014/main" id="{BE42E224-FA18-17CC-B9B4-B1DF4D5E7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181600"/>
            <a:ext cx="12715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= </a:t>
            </a:r>
            <a:r>
              <a:rPr lang="en-US" altLang="zh-CN" b="1" i="1">
                <a:solidFill>
                  <a:srgbClr val="08080A"/>
                </a:solidFill>
                <a:ea typeface="楷体_GB2312" pitchFamily="49" charset="-122"/>
              </a:rPr>
              <a:t>P</a:t>
            </a:r>
            <a:r>
              <a:rPr lang="en-US" altLang="zh-CN" b="1" i="1" baseline="-2500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(0,1)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3" grpId="0" autoUpdateAnimBg="0"/>
      <p:bldP spid="6174" grpId="0" autoUpdateAnimBg="0"/>
      <p:bldP spid="617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E3932-2EAF-A039-1A63-2E193C15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31741F-0A3A-0366-8458-CFA467DD4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4704"/>
            <a:ext cx="9162938" cy="261540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D2E77FD-B234-1FEC-7670-2624972AC3BB}"/>
              </a:ext>
            </a:extLst>
          </p:cNvPr>
          <p:cNvSpPr txBox="1"/>
          <p:nvPr/>
        </p:nvSpPr>
        <p:spPr>
          <a:xfrm>
            <a:off x="1681966" y="3637270"/>
            <a:ext cx="8847007" cy="2215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C1CE8"/>
                </a:solidFill>
              </a:rPr>
              <a:t>直接抽样法</a:t>
            </a:r>
            <a:r>
              <a:rPr lang="zh-CN" altLang="en-US" dirty="0">
                <a:solidFill>
                  <a:srgbClr val="0C1CE8"/>
                </a:solidFill>
              </a:rPr>
              <a:t>利用“均匀随机数 </a:t>
            </a:r>
            <a:r>
              <a:rPr lang="en-US" altLang="zh-CN" dirty="0">
                <a:solidFill>
                  <a:srgbClr val="0C1CE8"/>
                </a:solidFill>
              </a:rPr>
              <a:t>+ </a:t>
            </a:r>
            <a:r>
              <a:rPr lang="zh-CN" altLang="en-US" dirty="0">
                <a:solidFill>
                  <a:srgbClr val="0C1CE8"/>
                </a:solidFill>
              </a:rPr>
              <a:t>反函数映射”，只要能写出 </a:t>
            </a:r>
            <a:r>
              <a:rPr lang="en-US" altLang="zh-CN" dirty="0">
                <a:solidFill>
                  <a:srgbClr val="0C1CE8"/>
                </a:solidFill>
              </a:rPr>
              <a:t>CDF </a:t>
            </a:r>
            <a:r>
              <a:rPr lang="zh-CN" altLang="en-US" dirty="0">
                <a:solidFill>
                  <a:srgbClr val="0C1CE8"/>
                </a:solidFill>
              </a:rPr>
              <a:t>的反函数，就可以高效采样；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C1CE8"/>
                </a:solidFill>
              </a:rPr>
              <a:t>对于</a:t>
            </a:r>
            <a:r>
              <a:rPr lang="zh-CN" altLang="en-US" b="1" dirty="0">
                <a:solidFill>
                  <a:srgbClr val="0C1CE8"/>
                </a:solidFill>
              </a:rPr>
              <a:t>连续分布</a:t>
            </a:r>
            <a:r>
              <a:rPr lang="zh-CN" altLang="en-US" dirty="0">
                <a:solidFill>
                  <a:srgbClr val="0C1CE8"/>
                </a:solidFill>
              </a:rPr>
              <a:t>，要求 </a:t>
            </a:r>
            <a:r>
              <a:rPr lang="en-US" altLang="zh-CN" dirty="0">
                <a:solidFill>
                  <a:srgbClr val="0C1CE8"/>
                </a:solidFill>
              </a:rPr>
              <a:t>F(x) </a:t>
            </a:r>
            <a:r>
              <a:rPr lang="zh-CN" altLang="en-US" dirty="0">
                <a:solidFill>
                  <a:srgbClr val="0C1CE8"/>
                </a:solidFill>
              </a:rPr>
              <a:t>可逆；</a:t>
            </a:r>
            <a:endParaRPr lang="en-US" altLang="zh-CN" dirty="0">
              <a:solidFill>
                <a:srgbClr val="0C1CE8"/>
              </a:solidFill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C1CE8"/>
                </a:solidFill>
              </a:rPr>
              <a:t>对于</a:t>
            </a:r>
            <a:r>
              <a:rPr lang="zh-CN" altLang="en-US" b="1" dirty="0">
                <a:solidFill>
                  <a:srgbClr val="0C1CE8"/>
                </a:solidFill>
              </a:rPr>
              <a:t>离散分布</a:t>
            </a:r>
            <a:r>
              <a:rPr lang="zh-CN" altLang="en-US" dirty="0">
                <a:solidFill>
                  <a:srgbClr val="0C1CE8"/>
                </a:solidFill>
              </a:rPr>
              <a:t>，将其 </a:t>
            </a:r>
            <a:r>
              <a:rPr lang="en-US" altLang="zh-CN" dirty="0">
                <a:solidFill>
                  <a:srgbClr val="0C1CE8"/>
                </a:solidFill>
              </a:rPr>
              <a:t>CDF </a:t>
            </a:r>
            <a:r>
              <a:rPr lang="zh-CN" altLang="en-US" dirty="0">
                <a:solidFill>
                  <a:srgbClr val="0C1CE8"/>
                </a:solidFill>
              </a:rPr>
              <a:t>序列视作阶梯函数，然后做“二分”或顺序查找；</a:t>
            </a:r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rgbClr val="7300FF"/>
                </a:solidFill>
              </a:rPr>
              <a:t>在实际模拟（如 </a:t>
            </a:r>
            <a:r>
              <a:rPr lang="en-US" altLang="zh-CN" dirty="0">
                <a:solidFill>
                  <a:srgbClr val="7300FF"/>
                </a:solidFill>
              </a:rPr>
              <a:t>Geant4</a:t>
            </a:r>
            <a:r>
              <a:rPr lang="zh-CN" altLang="en-US" dirty="0">
                <a:solidFill>
                  <a:srgbClr val="7300FF"/>
                </a:solidFill>
              </a:rPr>
              <a:t>）中，许多物理过程（衰变时间、自由程、散射角度等）都可以用此法直接抽样。</a:t>
            </a:r>
          </a:p>
        </p:txBody>
      </p:sp>
    </p:spTree>
    <p:extLst>
      <p:ext uri="{BB962C8B-B14F-4D97-AF65-F5344CB8AC3E}">
        <p14:creationId xmlns:p14="http://schemas.microsoft.com/office/powerpoint/2010/main" val="3866279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392434-59D2-F73C-26A4-6D919E5AC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4.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0BDBCE33-70A9-C0B2-AC33-C675CAF1A5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447801"/>
          <a:ext cx="4267200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508900" imgH="21653500" progId="Equation.3">
                  <p:embed/>
                </p:oleObj>
              </mc:Choice>
              <mc:Fallback>
                <p:oleObj name="Equation" r:id="rId2" imgW="58508900" imgH="21653500" progId="Equation.3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0BDBCE33-70A9-C0B2-AC33-C675CAF1A5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7801"/>
                        <a:ext cx="4267200" cy="15795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4">
            <a:extLst>
              <a:ext uri="{FF2B5EF4-FFF2-40B4-BE49-F238E27FC236}">
                <a16:creationId xmlns:a16="http://schemas.microsoft.com/office/drawing/2014/main" id="{58375C72-2E51-9E8D-BB74-CF8C46AF0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838200"/>
            <a:ext cx="2621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、二项式分布的抽样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9F6826DA-C95E-2498-5802-DE32407C9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1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36650" indent="-11366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93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2184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74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565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022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479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937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394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</a:rPr>
              <a:t>方法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</a:rPr>
              <a:t>：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利用上面介绍的直接抽样法，需计算</a:t>
            </a:r>
            <a:r>
              <a:rPr lang="zh-CN" altLang="en-US" b="1" dirty="0">
                <a:solidFill>
                  <a:srgbClr val="08080A"/>
                </a:solidFill>
                <a:highlight>
                  <a:srgbClr val="FFFF00"/>
                </a:highlight>
                <a:ea typeface="楷体_GB2312" pitchFamily="49" charset="-122"/>
              </a:rPr>
              <a:t>累积分布函数，当</a:t>
            </a:r>
            <a:r>
              <a:rPr lang="en-US" altLang="zh-CN" b="1" dirty="0">
                <a:solidFill>
                  <a:srgbClr val="08080A"/>
                </a:solidFill>
                <a:highlight>
                  <a:srgbClr val="FFFF00"/>
                </a:highlight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srgbClr val="08080A"/>
                </a:solidFill>
                <a:highlight>
                  <a:srgbClr val="FFFF00"/>
                </a:highlight>
                <a:ea typeface="楷体_GB2312" pitchFamily="49" charset="-122"/>
              </a:rPr>
              <a:t>很大时，求和计算困难</a:t>
            </a:r>
            <a:r>
              <a:rPr lang="en-US" altLang="zh-CN" b="1" dirty="0">
                <a:solidFill>
                  <a:srgbClr val="08080A"/>
                </a:solidFill>
                <a:highlight>
                  <a:srgbClr val="FFFF00"/>
                </a:highlight>
                <a:ea typeface="楷体_GB2312" pitchFamily="49" charset="-122"/>
              </a:rPr>
              <a:t>;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6C1896E7-59C5-4640-D78E-3EA8C888A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3137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方法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利用二项式分布的定义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46780D95-8C20-DA7D-6DEE-507E63AAF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648200"/>
            <a:ext cx="7543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产生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</a:rPr>
              <a:t>个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 </a:t>
            </a:r>
            <a:r>
              <a:rPr lang="en-US" altLang="zh-CN" b="1" baseline="-25000" dirty="0" err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i</a:t>
            </a:r>
            <a:r>
              <a:rPr lang="en-US" altLang="zh-CN" b="1" dirty="0" err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U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[0,1];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统计满足条件 </a:t>
            </a:r>
            <a:r>
              <a:rPr lang="en-US" altLang="zh-CN" b="1" baseline="-25000" dirty="0" err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i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&lt;p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（表示成功）的 </a:t>
            </a:r>
            <a:r>
              <a:rPr lang="en-US" altLang="zh-CN" b="1" baseline="-25000" dirty="0" err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i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的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Symbol" pitchFamily="2" charset="2"/>
              </a:rPr>
              <a:t>数目</a:t>
            </a:r>
            <a:r>
              <a:rPr lang="en-US" altLang="zh-CN" b="1" dirty="0">
                <a:solidFill>
                  <a:srgbClr val="7030A0"/>
                </a:solidFill>
                <a:ea typeface="楷体_GB2312" pitchFamily="49" charset="-122"/>
                <a:sym typeface="Symbol" pitchFamily="2" charset="2"/>
              </a:rPr>
              <a:t>r</a:t>
            </a:r>
            <a:r>
              <a:rPr lang="zh-CN" altLang="en-US" b="1" dirty="0">
                <a:solidFill>
                  <a:srgbClr val="7030A0"/>
                </a:solidFill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则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r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表示在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n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次实验中成功的次数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</a:t>
            </a:r>
            <a:r>
              <a:rPr lang="en-US" altLang="zh-CN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r</a:t>
            </a:r>
            <a:r>
              <a:rPr lang="zh-CN" altLang="en-US" b="1" dirty="0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即为二项式分布的抽样值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  <p:bldP spid="7173" grpId="0" autoUpdateAnimBg="0"/>
      <p:bldP spid="7174" grpId="0" autoUpdateAnimBg="0"/>
      <p:bldP spid="717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E656AE6-5686-E5CB-9DA9-A3BCC40BB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4.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9B4A8BB8-2554-386C-A988-BBE7DC630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8889" y="1371600"/>
          <a:ext cx="34496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8000" imgH="9067800" progId="Equation.3">
                  <p:embed/>
                </p:oleObj>
              </mc:Choice>
              <mc:Fallback>
                <p:oleObj name="Equation" r:id="rId2" imgW="42418000" imgH="9067800" progId="Equation.3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9B4A8BB8-2554-386C-A988-BBE7DC6305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9" y="1371600"/>
                        <a:ext cx="3449637" cy="736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DAD70CC7-BDC5-4857-3ED7-57FB2012D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3124201"/>
          <a:ext cx="30480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05500" imgH="4686300" progId="Equation.3">
                  <p:embed/>
                </p:oleObj>
              </mc:Choice>
              <mc:Fallback>
                <p:oleObj name="Equation" r:id="rId4" imgW="31305500" imgH="468630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DAD70CC7-BDC5-4857-3ED7-57FB2012D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124201"/>
                        <a:ext cx="3048000" cy="4556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5">
            <a:extLst>
              <a:ext uri="{FF2B5EF4-FFF2-40B4-BE49-F238E27FC236}">
                <a16:creationId xmlns:a16="http://schemas.microsoft.com/office/drawing/2014/main" id="{975F1767-26EF-7824-979D-021B90AC7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838200"/>
            <a:ext cx="23903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、泊松分布的抽样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B9D3C90-3ECB-ABAE-1464-6A30D33EA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133600"/>
            <a:ext cx="60837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方法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利用直接抽样法，但计算累积分布函数时非常复杂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64B884AC-DC78-C14D-92D1-979010992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590800"/>
            <a:ext cx="5622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方法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利用泊松分布的定义：二项式分布的极限形式</a:t>
            </a: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7F7996D3-5D61-EDD0-A90D-31E789385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17925"/>
            <a:ext cx="7620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选取足够大的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，使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p=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/n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相当小，例如，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p=0.1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产生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个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 </a:t>
            </a:r>
            <a:r>
              <a:rPr lang="en-US" altLang="zh-CN" b="1" baseline="-2500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i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U[0,1];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统计满足条件 </a:t>
            </a:r>
            <a:r>
              <a:rPr lang="en-US" altLang="zh-CN" b="1" baseline="-2500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i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 &lt;p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（表示成功）的 </a:t>
            </a:r>
            <a:r>
              <a:rPr lang="en-US" altLang="zh-CN" b="1" baseline="-25000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i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的数目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r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，则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r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表示在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n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次实验中成功的次数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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r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即为泊松分布的抽样值的近似值， 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n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Wingdings" pitchFamily="2" charset="2"/>
              </a:rPr>
              <a:t>越大，近似程度越好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utoUpdateAnimBg="0"/>
      <p:bldP spid="8198" grpId="0" autoUpdateAnimBg="0"/>
      <p:bldP spid="8199" grpId="0" autoUpdateAnimBg="0"/>
      <p:bldP spid="820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2992E6C-C62A-DFF2-5D3B-5F1011DB8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4.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BEC445D0-16B6-A6E1-4EF4-54887B478F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057400"/>
          <a:ext cx="21336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26500" imgH="15214600" progId="Equation.3">
                  <p:embed/>
                </p:oleObj>
              </mc:Choice>
              <mc:Fallback>
                <p:oleObj name="Equation" r:id="rId2" imgW="34226500" imgH="15214600" progId="Equation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BEC445D0-16B6-A6E1-4EF4-54887B478F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0"/>
                        <a:ext cx="2133600" cy="9477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78235C19-AB08-9BD3-21A9-86F0F19F9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733800"/>
          <a:ext cx="2819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092400" imgH="5270500" progId="Equation.3">
                  <p:embed/>
                </p:oleObj>
              </mc:Choice>
              <mc:Fallback>
                <p:oleObj name="Equation" r:id="rId4" imgW="28092400" imgH="5270500" progId="Equation.3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78235C19-AB08-9BD3-21A9-86F0F19F9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33800"/>
                        <a:ext cx="2819400" cy="5286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5">
            <a:extLst>
              <a:ext uri="{FF2B5EF4-FFF2-40B4-BE49-F238E27FC236}">
                <a16:creationId xmlns:a16="http://schemas.microsoft.com/office/drawing/2014/main" id="{38ED8CE8-5B24-CAE1-A8C9-058AEFCAD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838200"/>
            <a:ext cx="3544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、连续型随机变量的直接抽样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846ECB79-36D9-D12D-2E2F-CB85A0C59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295400"/>
            <a:ext cx="38443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1. 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求区间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[a,b]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</a:rPr>
              <a:t>上均匀分布的随机数</a:t>
            </a:r>
            <a:r>
              <a:rPr lang="en-US" altLang="zh-CN" b="1">
                <a:solidFill>
                  <a:srgbClr val="08080A"/>
                </a:solidFill>
                <a:ea typeface="楷体_GB2312" pitchFamily="49" charset="-122"/>
              </a:rPr>
              <a:t>x:</a:t>
            </a:r>
          </a:p>
        </p:txBody>
      </p:sp>
      <p:grpSp>
        <p:nvGrpSpPr>
          <p:cNvPr id="9223" name="Group 7">
            <a:extLst>
              <a:ext uri="{FF2B5EF4-FFF2-40B4-BE49-F238E27FC236}">
                <a16:creationId xmlns:a16="http://schemas.microsoft.com/office/drawing/2014/main" id="{B632399A-60B4-2950-C127-09F82FD740AA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752601"/>
            <a:ext cx="2743200" cy="1370013"/>
            <a:chOff x="768" y="1104"/>
            <a:chExt cx="1728" cy="863"/>
          </a:xfrm>
        </p:grpSpPr>
        <p:graphicFrame>
          <p:nvGraphicFramePr>
            <p:cNvPr id="9224" name="Object 8">
              <a:extLst>
                <a:ext uri="{FF2B5EF4-FFF2-40B4-BE49-F238E27FC236}">
                  <a16:creationId xmlns:a16="http://schemas.microsoft.com/office/drawing/2014/main" id="{C92597DC-EF72-22A9-77F6-1379B02A24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344"/>
            <a:ext cx="1200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2473900" imgH="9067800" progId="Equation.3">
                    <p:embed/>
                  </p:oleObj>
                </mc:Choice>
                <mc:Fallback>
                  <p:oleObj name="Equation" r:id="rId6" imgW="32473900" imgH="9067800" progId="Equation.3">
                    <p:embed/>
                    <p:pic>
                      <p:nvPicPr>
                        <p:cNvPr id="9224" name="Object 8">
                          <a:extLst>
                            <a:ext uri="{FF2B5EF4-FFF2-40B4-BE49-F238E27FC236}">
                              <a16:creationId xmlns:a16="http://schemas.microsoft.com/office/drawing/2014/main" id="{C92597DC-EF72-22A9-77F6-1379B02A24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344"/>
                          <a:ext cx="1200" cy="33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9">
              <a:extLst>
                <a:ext uri="{FF2B5EF4-FFF2-40B4-BE49-F238E27FC236}">
                  <a16:creationId xmlns:a16="http://schemas.microsoft.com/office/drawing/2014/main" id="{1F9EBA0C-E668-DD35-827D-4092A8ED1E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728"/>
            <a:ext cx="115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529800" imgH="4686300" progId="Equation.3">
                    <p:embed/>
                  </p:oleObj>
                </mc:Choice>
                <mc:Fallback>
                  <p:oleObj name="Equation" r:id="rId8" imgW="22529800" imgH="4686300" progId="Equation.3">
                    <p:embed/>
                    <p:pic>
                      <p:nvPicPr>
                        <p:cNvPr id="9225" name="Object 9">
                          <a:extLst>
                            <a:ext uri="{FF2B5EF4-FFF2-40B4-BE49-F238E27FC236}">
                              <a16:creationId xmlns:a16="http://schemas.microsoft.com/office/drawing/2014/main" id="{1F9EBA0C-E668-DD35-827D-4092A8ED1E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728"/>
                          <a:ext cx="1152" cy="239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6" name="Rectangle 10">
              <a:extLst>
                <a:ext uri="{FF2B5EF4-FFF2-40B4-BE49-F238E27FC236}">
                  <a16:creationId xmlns:a16="http://schemas.microsoft.com/office/drawing/2014/main" id="{D4F42FC8-5969-32C2-9FE9-17E4DB944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104"/>
              <a:ext cx="1728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zh-CN" altLang="en-US" sz="2000" b="1">
                  <a:solidFill>
                    <a:srgbClr val="08080A"/>
                  </a:solidFill>
                  <a:ea typeface="楷体_GB2312" pitchFamily="49" charset="-122"/>
                </a:rPr>
                <a:t>产生</a:t>
              </a:r>
              <a:r>
                <a:rPr lang="zh-CN" altLang="en-US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 </a:t>
              </a: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U[0,1];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 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 </a:t>
              </a:r>
            </a:p>
          </p:txBody>
        </p:sp>
      </p:grpSp>
      <p:sp>
        <p:nvSpPr>
          <p:cNvPr id="9227" name="Rectangle 11">
            <a:extLst>
              <a:ext uri="{FF2B5EF4-FFF2-40B4-BE49-F238E27FC236}">
                <a16:creationId xmlns:a16="http://schemas.microsoft.com/office/drawing/2014/main" id="{9C06BC38-5326-5687-0560-FA6CAC3A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251200"/>
            <a:ext cx="1356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2. </a:t>
            </a:r>
            <a:r>
              <a:rPr lang="zh-CN" altLang="en-US" b="1">
                <a:solidFill>
                  <a:srgbClr val="08080A"/>
                </a:solidFill>
                <a:ea typeface="楷体_GB2312" pitchFamily="49" charset="-122"/>
                <a:sym typeface="Symbol" pitchFamily="2" charset="2"/>
              </a:rPr>
              <a:t>指数分布</a:t>
            </a:r>
          </a:p>
        </p:txBody>
      </p:sp>
      <p:grpSp>
        <p:nvGrpSpPr>
          <p:cNvPr id="9228" name="Group 12">
            <a:extLst>
              <a:ext uri="{FF2B5EF4-FFF2-40B4-BE49-F238E27FC236}">
                <a16:creationId xmlns:a16="http://schemas.microsoft.com/office/drawing/2014/main" id="{D29B311A-B200-3EAF-D96C-943C692A478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572001"/>
            <a:ext cx="5715000" cy="1482725"/>
            <a:chOff x="1680" y="2928"/>
            <a:chExt cx="3600" cy="934"/>
          </a:xfrm>
        </p:grpSpPr>
        <p:graphicFrame>
          <p:nvGraphicFramePr>
            <p:cNvPr id="9229" name="Object 13">
              <a:extLst>
                <a:ext uri="{FF2B5EF4-FFF2-40B4-BE49-F238E27FC236}">
                  <a16:creationId xmlns:a16="http://schemas.microsoft.com/office/drawing/2014/main" id="{BB6CC7FE-B950-2C27-A2BA-E8FFD1DF1C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3168"/>
            <a:ext cx="144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4226500" imgH="7607300" progId="Equation.3">
                    <p:embed/>
                  </p:oleObj>
                </mc:Choice>
                <mc:Fallback>
                  <p:oleObj name="Equation" r:id="rId10" imgW="34226500" imgH="7607300" progId="Equation.3">
                    <p:embed/>
                    <p:pic>
                      <p:nvPicPr>
                        <p:cNvPr id="9229" name="Object 13">
                          <a:extLst>
                            <a:ext uri="{FF2B5EF4-FFF2-40B4-BE49-F238E27FC236}">
                              <a16:creationId xmlns:a16="http://schemas.microsoft.com/office/drawing/2014/main" id="{BB6CC7FE-B950-2C27-A2BA-E8FFD1DF1C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168"/>
                          <a:ext cx="1440" cy="32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14">
              <a:extLst>
                <a:ext uri="{FF2B5EF4-FFF2-40B4-BE49-F238E27FC236}">
                  <a16:creationId xmlns:a16="http://schemas.microsoft.com/office/drawing/2014/main" id="{1FECA5F9-5429-FB97-50E2-F3910BB25D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3504"/>
            <a:ext cx="153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8912800" imgH="9067800" progId="Equation.3">
                    <p:embed/>
                  </p:oleObj>
                </mc:Choice>
                <mc:Fallback>
                  <p:oleObj name="Equation" r:id="rId12" imgW="38912800" imgH="9067800" progId="Equation.3">
                    <p:embed/>
                    <p:pic>
                      <p:nvPicPr>
                        <p:cNvPr id="9230" name="Object 14">
                          <a:extLst>
                            <a:ext uri="{FF2B5EF4-FFF2-40B4-BE49-F238E27FC236}">
                              <a16:creationId xmlns:a16="http://schemas.microsoft.com/office/drawing/2014/main" id="{1FECA5F9-5429-FB97-50E2-F3910BB25D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504"/>
                          <a:ext cx="1536" cy="35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1" name="Rectangle 15">
              <a:extLst>
                <a:ext uri="{FF2B5EF4-FFF2-40B4-BE49-F238E27FC236}">
                  <a16:creationId xmlns:a16="http://schemas.microsoft.com/office/drawing/2014/main" id="{56D32AB1-052A-DFD1-AC7B-A29B9E1D7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3600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zh-CN" altLang="en-US" sz="2000" b="1">
                  <a:solidFill>
                    <a:srgbClr val="08080A"/>
                  </a:solidFill>
                  <a:ea typeface="楷体_GB2312" pitchFamily="49" charset="-122"/>
                </a:rPr>
                <a:t>产生</a:t>
              </a:r>
              <a:r>
                <a:rPr lang="zh-CN" altLang="en-US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 </a:t>
              </a: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U[0,1];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 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                                         </a:t>
              </a:r>
              <a:r>
                <a:rPr lang="zh-CN" altLang="en-US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和（</a:t>
              </a: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1-</a:t>
              </a:r>
              <a:r>
                <a:rPr lang="zh-CN" altLang="en-US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）都是 </a:t>
              </a:r>
              <a:r>
                <a:rPr lang="en-US" altLang="zh-CN" sz="2000" b="1">
                  <a:solidFill>
                    <a:srgbClr val="08080A"/>
                  </a:solidFill>
                  <a:ea typeface="楷体_GB2312" pitchFamily="49" charset="-122"/>
                  <a:sym typeface="Symbol" pitchFamily="2" charset="2"/>
                </a:rPr>
                <a:t>U[0,1]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  <p:bldP spid="9222" grpId="0" autoUpdateAnimBg="0"/>
      <p:bldP spid="922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03EA-868D-49A6-AC66-3B0DA523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09800-782D-E2AF-E3FF-3BE2158A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25EDD5-45D2-EA38-6646-F1F1FC5FA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所要模拟的物理系统的一些</a:t>
            </a:r>
            <a:r>
              <a:rPr lang="zh-CN" altLang="en-US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概率密度函数（</a:t>
            </a:r>
            <a:r>
              <a:rPr lang="en-US" altLang="zh-CN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</a:rPr>
              <a:t>PDF)</a:t>
            </a:r>
            <a:r>
              <a:rPr lang="en-US" altLang="zh-CN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 </a:t>
            </a: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描述整个系统在空间、能量、时间或多维相空间中的发展和演化；</a:t>
            </a:r>
          </a:p>
          <a:p>
            <a:pPr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</a:rPr>
              <a:t>物理过程的描述 </a:t>
            </a:r>
            <a:r>
              <a:rPr lang="zh-CN" altLang="en-US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 从描述物理系统的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pdf</a:t>
            </a:r>
            <a:r>
              <a:rPr lang="zh-CN" altLang="en-US" sz="2400" b="1" dirty="0">
                <a:solidFill>
                  <a:srgbClr val="FF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出发，随机抽取系统的可能状态，再输入物理模型中，实现仿真模拟。</a:t>
            </a:r>
            <a:endParaRPr lang="en-US" altLang="zh-CN" sz="2400" b="1" dirty="0">
              <a:solidFill>
                <a:srgbClr val="FF0000"/>
              </a:solidFill>
              <a:latin typeface="Comic Sans MS" panose="030F0902030302020204" pitchFamily="66" charset="0"/>
              <a:ea typeface="楷体_GB2312" pitchFamily="49" charset="-122"/>
              <a:sym typeface="Wingdings" pitchFamily="2" charset="2"/>
            </a:endParaRPr>
          </a:p>
          <a:p>
            <a:pPr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函数（狄拉克</a:t>
            </a:r>
            <a:r>
              <a:rPr lang="en-US" altLang="zh-CN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delta</a:t>
            </a:r>
            <a:r>
              <a:rPr lang="zh-CN" altLang="en-US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）</a:t>
            </a:r>
            <a:r>
              <a:rPr lang="zh-CN" altLang="en-US" sz="2400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将分离型</a:t>
            </a:r>
            <a:r>
              <a:rPr lang="en-US" altLang="zh-CN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pdf</a:t>
            </a:r>
            <a:r>
              <a:rPr lang="zh-CN" altLang="en-US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400" b="1" u="sng" dirty="0">
                <a:solidFill>
                  <a:schemeClr val="accent5">
                    <a:lumMod val="10000"/>
                  </a:schemeClr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用</a:t>
            </a:r>
            <a:r>
              <a:rPr lang="zh-CN" altLang="en-US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 连续型</a:t>
            </a:r>
            <a:r>
              <a:rPr lang="en-US" altLang="zh-CN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pdf </a:t>
            </a:r>
            <a:r>
              <a:rPr lang="zh-CN" altLang="en-US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Symbol" pitchFamily="2" charset="2"/>
              </a:rPr>
              <a:t>描述 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zh-CN" altLang="en-US" sz="2400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  用</a:t>
            </a:r>
            <a:r>
              <a:rPr lang="zh-CN" altLang="en-US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同样的方式</a:t>
            </a:r>
            <a:r>
              <a:rPr lang="zh-CN" altLang="en-US" sz="2400" b="1" dirty="0">
                <a:solidFill>
                  <a:srgbClr val="040000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来讨论 </a:t>
            </a:r>
            <a:r>
              <a:rPr lang="zh-CN" altLang="en-US" sz="2400" b="1" u="sng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分离型和连续型 </a:t>
            </a:r>
            <a:r>
              <a:rPr lang="zh-CN" altLang="en-US" sz="2400" b="1" dirty="0">
                <a:solidFill>
                  <a:srgbClr val="0C1CE8"/>
                </a:solidFill>
                <a:latin typeface="Comic Sans MS" panose="030F0902030302020204" pitchFamily="66" charset="0"/>
                <a:ea typeface="楷体_GB2312" pitchFamily="49" charset="-122"/>
                <a:sym typeface="Wingdings" pitchFamily="2" charset="2"/>
              </a:rPr>
              <a:t>随机变量的抽样方法</a:t>
            </a:r>
          </a:p>
          <a:p>
            <a:pPr>
              <a:buFont typeface="Wingdings" pitchFamily="2" charset="2"/>
              <a:buChar char="ü"/>
            </a:pPr>
            <a:endParaRPr kumimoji="1"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395168-9FB8-AE61-0DD6-2BB3FA9F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818" y="3522513"/>
            <a:ext cx="5362364" cy="253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8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225C6-8BC9-FA42-DB2A-1A1BFDB6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193CE-39CF-ADFB-F8B9-2DC283893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28" y="692697"/>
            <a:ext cx="8496944" cy="2899469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pdf</a:t>
            </a:r>
            <a:r>
              <a:rPr lang="zh-CN" altLang="en-US" sz="28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变换：</a:t>
            </a:r>
            <a:endParaRPr lang="en-US" altLang="zh-CN" sz="2800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x/y(x)</a:t>
            </a: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随机变量一一对应</a:t>
            </a:r>
            <a:endParaRPr lang="en-US" altLang="zh-CN" sz="2400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区间对应</a:t>
            </a:r>
            <a:endParaRPr lang="en-US" altLang="zh-CN" sz="2400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个</a:t>
            </a:r>
            <a:r>
              <a:rPr lang="en-US" altLang="zh-CN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x/y(x)</a:t>
            </a:r>
            <a:r>
              <a:rPr lang="zh-CN" altLang="en-US" sz="24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随机变量情况</a:t>
            </a:r>
            <a:endParaRPr lang="en-US" altLang="zh-CN" sz="2400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y(x)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是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的累积分布函数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ea typeface="楷体_GB2312" pitchFamily="49" charset="-122"/>
              </a:rPr>
              <a:t>cdf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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 </a:t>
            </a:r>
            <a:r>
              <a:rPr lang="zh-CN" altLang="en-US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不管</a:t>
            </a:r>
            <a:r>
              <a:rPr lang="en-US" altLang="zh-CN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f(x)</a:t>
            </a:r>
            <a:r>
              <a:rPr lang="zh-CN" altLang="en-US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取何种形式</a:t>
            </a:r>
            <a:r>
              <a:rPr lang="en-US" altLang="zh-CN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, y(x)</a:t>
            </a:r>
            <a:r>
              <a:rPr lang="zh-CN" altLang="en-US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总是在</a:t>
            </a:r>
            <a:r>
              <a:rPr lang="en-US" altLang="zh-CN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[0,1]</a:t>
            </a:r>
            <a:r>
              <a:rPr lang="zh-CN" altLang="en-US" sz="2400" b="1" u="sng" dirty="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区间上均匀分布</a:t>
            </a:r>
          </a:p>
          <a:p>
            <a:pPr lvl="1">
              <a:buFont typeface="Wingdings" pitchFamily="2" charset="2"/>
              <a:buChar char="ü"/>
            </a:pPr>
            <a:endParaRPr kumimoji="1" lang="zh-CN" alt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77929DC-8DCE-DBAD-AAB9-7294C51C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38" r="25207"/>
          <a:stretch/>
        </p:blipFill>
        <p:spPr>
          <a:xfrm>
            <a:off x="2970814" y="4293816"/>
            <a:ext cx="6250373" cy="216024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F91B111-9B43-6A89-089A-4E6629D7ACA2}"/>
              </a:ext>
            </a:extLst>
          </p:cNvPr>
          <p:cNvSpPr txBox="1"/>
          <p:nvPr/>
        </p:nvSpPr>
        <p:spPr>
          <a:xfrm>
            <a:off x="1896554" y="3664274"/>
            <a:ext cx="4588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 直接抽样法：</a:t>
            </a:r>
            <a:endParaRPr lang="en-US" altLang="zh-CN" sz="2800" b="1" dirty="0">
              <a:solidFill>
                <a:srgbClr val="050507"/>
              </a:solidFill>
              <a:latin typeface="Comic Sans MS" panose="030F0902030302020204" pitchFamily="66" charset="0"/>
              <a:ea typeface="楷体_GB2312" pitchFamily="49" charset="-122"/>
            </a:endParaRPr>
          </a:p>
        </p:txBody>
      </p:sp>
      <p:sp>
        <p:nvSpPr>
          <p:cNvPr id="13" name="同心圆 12">
            <a:extLst>
              <a:ext uri="{FF2B5EF4-FFF2-40B4-BE49-F238E27FC236}">
                <a16:creationId xmlns:a16="http://schemas.microsoft.com/office/drawing/2014/main" id="{828FD7C9-F1E0-2BD3-31F6-3ABF247DAACD}"/>
              </a:ext>
            </a:extLst>
          </p:cNvPr>
          <p:cNvSpPr/>
          <p:nvPr/>
        </p:nvSpPr>
        <p:spPr bwMode="auto">
          <a:xfrm>
            <a:off x="4151784" y="4725144"/>
            <a:ext cx="2664296" cy="576064"/>
          </a:xfrm>
          <a:prstGeom prst="donut">
            <a:avLst>
              <a:gd name="adj" fmla="val 574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54463D-162F-4215-1ACD-5B4C3A088CFB}"/>
              </a:ext>
            </a:extLst>
          </p:cNvPr>
          <p:cNvSpPr txBox="1"/>
          <p:nvPr/>
        </p:nvSpPr>
        <p:spPr>
          <a:xfrm>
            <a:off x="6910638" y="4760979"/>
            <a:ext cx="87716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定义？</a:t>
            </a:r>
          </a:p>
        </p:txBody>
      </p:sp>
    </p:spTree>
    <p:extLst>
      <p:ext uri="{BB962C8B-B14F-4D97-AF65-F5344CB8AC3E}">
        <p14:creationId xmlns:p14="http://schemas.microsoft.com/office/powerpoint/2010/main" val="238485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78AC6C-B746-7F66-11AA-4745C2C5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5FCAF-1D4B-BA35-95B4-94740181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latin typeface="Comic Sans MS" panose="030F0902030302020204" pitchFamily="66" charset="0"/>
                <a:ea typeface="楷体_GB2312" pitchFamily="49" charset="-122"/>
              </a:rPr>
              <a:t>从概率分布函数的抽样：问题总结</a:t>
            </a:r>
            <a:endParaRPr kumimoji="1"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8A300-F46C-020E-A45B-F7737B34F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不同类型的概率密度函数怎么处理？比如离散型 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-&gt; </a:t>
            </a: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连续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pdf</a:t>
            </a: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的？</a:t>
            </a:r>
            <a:endParaRPr kumimoji="1" lang="en-US" altLang="zh-C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函数的加入改不改变离散型的概率属性？</a:t>
            </a:r>
            <a:endParaRPr lang="en-US" altLang="zh-C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  <a:sym typeface="Symbol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在</a:t>
            </a:r>
            <a:r>
              <a:rPr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 p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df </a:t>
            </a: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  <a:sym typeface="Symbol" pitchFamily="2" charset="2"/>
              </a:rPr>
              <a:t>变换：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若随机变量</a:t>
            </a:r>
            <a:r>
              <a:rPr lang="en-US" altLang="zh-CN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是一一对应的</a:t>
            </a:r>
            <a:r>
              <a:rPr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pdf 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分别为</a:t>
            </a:r>
            <a:r>
              <a:rPr lang="en-US" altLang="zh-CN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f(x) g(y)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，二者关系式？</a:t>
            </a:r>
            <a:endParaRPr kumimoji="1" lang="en-US" altLang="zh-C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目前学习到有几种抽样方法？</a:t>
            </a:r>
            <a:endParaRPr kumimoji="1" lang="en-US" altLang="zh-C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变换抽样法：</a:t>
            </a:r>
            <a:endParaRPr kumimoji="1" lang="en-US" altLang="zh-CN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77FA2CA5-DBAA-5A2A-6453-1DD508CF7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875" y="3562159"/>
            <a:ext cx="2771800" cy="2399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18BA848-0C46-24FE-D22A-9CFFE8EE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24" y="4762116"/>
            <a:ext cx="4648200" cy="36830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775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A63EB5E-54CB-991A-667B-F69844D16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4.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  <p:sp>
        <p:nvSpPr>
          <p:cNvPr id="20496" name="Text Box 16">
            <a:extLst>
              <a:ext uri="{FF2B5EF4-FFF2-40B4-BE49-F238E27FC236}">
                <a16:creationId xmlns:a16="http://schemas.microsoft.com/office/drawing/2014/main" id="{73301B3C-D6E0-F902-2A03-E0C4537F7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1036638"/>
            <a:ext cx="26340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</a:rPr>
              <a:t>Particle decay in flight</a:t>
            </a:r>
          </a:p>
        </p:txBody>
      </p:sp>
      <p:sp>
        <p:nvSpPr>
          <p:cNvPr id="20497" name="Text Box 17">
            <a:extLst>
              <a:ext uri="{FF2B5EF4-FFF2-40B4-BE49-F238E27FC236}">
                <a16:creationId xmlns:a16="http://schemas.microsoft.com/office/drawing/2014/main" id="{DEDC9C6B-3492-D188-5CDB-EF05F50A5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1604963"/>
            <a:ext cx="505138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</a:rPr>
              <a:t>p: momentum of the particle</a:t>
            </a:r>
          </a:p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</a:rPr>
              <a:t>m: mass of the particle</a:t>
            </a:r>
          </a:p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  <a:sym typeface="Symbol" pitchFamily="2" charset="2"/>
              </a:rPr>
              <a:t>0: Life time of the particle in its rest frame</a:t>
            </a:r>
            <a:endParaRPr lang="en-US" altLang="zh-CN">
              <a:solidFill>
                <a:srgbClr val="08080A"/>
              </a:solidFill>
              <a:latin typeface="Comic Sans MS" panose="030F0902030302020204" pitchFamily="66" charset="0"/>
            </a:endParaRPr>
          </a:p>
        </p:txBody>
      </p:sp>
      <p:sp>
        <p:nvSpPr>
          <p:cNvPr id="20498" name="Text Box 18">
            <a:extLst>
              <a:ext uri="{FF2B5EF4-FFF2-40B4-BE49-F238E27FC236}">
                <a16:creationId xmlns:a16="http://schemas.microsoft.com/office/drawing/2014/main" id="{89C44445-8B1C-53EC-51E3-4E1FD21C5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5" y="3246438"/>
            <a:ext cx="61269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</a:rPr>
              <a:t>The proper decay length of the particle in LAB system:</a:t>
            </a:r>
          </a:p>
        </p:txBody>
      </p:sp>
      <p:graphicFrame>
        <p:nvGraphicFramePr>
          <p:cNvPr id="20499" name="Object 19">
            <a:extLst>
              <a:ext uri="{FF2B5EF4-FFF2-40B4-BE49-F238E27FC236}">
                <a16:creationId xmlns:a16="http://schemas.microsoft.com/office/drawing/2014/main" id="{A8779189-66F1-8A82-CBFF-A221C60E1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3733801"/>
          <a:ext cx="20574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00300" imgH="9067800" progId="Equation.3">
                  <p:embed/>
                </p:oleObj>
              </mc:Choice>
              <mc:Fallback>
                <p:oleObj name="Equation" r:id="rId2" imgW="27800300" imgH="9067800" progId="Equation.3">
                  <p:embed/>
                  <p:pic>
                    <p:nvPicPr>
                      <p:cNvPr id="20499" name="Object 19">
                        <a:extLst>
                          <a:ext uri="{FF2B5EF4-FFF2-40B4-BE49-F238E27FC236}">
                            <a16:creationId xmlns:a16="http://schemas.microsoft.com/office/drawing/2014/main" id="{A8779189-66F1-8A82-CBFF-A221C60E1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733801"/>
                        <a:ext cx="20574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Text Box 20">
            <a:extLst>
              <a:ext uri="{FF2B5EF4-FFF2-40B4-BE49-F238E27FC236}">
                <a16:creationId xmlns:a16="http://schemas.microsoft.com/office/drawing/2014/main" id="{C7EBF125-1C47-598C-1A88-C364B85A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6" y="4454526"/>
            <a:ext cx="83216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</a:rPr>
              <a:t>p(x,</a:t>
            </a:r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  <a:sym typeface="Symbol" pitchFamily="2" charset="2"/>
              </a:rPr>
              <a:t>d): the probability density function for a particle to decay after flying distance x in space</a:t>
            </a:r>
            <a:endParaRPr lang="en-US" altLang="zh-CN">
              <a:solidFill>
                <a:srgbClr val="08080A"/>
              </a:solidFill>
              <a:latin typeface="Comic Sans MS" panose="030F0902030302020204" pitchFamily="66" charset="0"/>
            </a:endParaRPr>
          </a:p>
        </p:txBody>
      </p:sp>
      <p:graphicFrame>
        <p:nvGraphicFramePr>
          <p:cNvPr id="20501" name="Object 21">
            <a:extLst>
              <a:ext uri="{FF2B5EF4-FFF2-40B4-BE49-F238E27FC236}">
                <a16:creationId xmlns:a16="http://schemas.microsoft.com/office/drawing/2014/main" id="{CB1FA0AB-A08F-F3F0-4890-70C0A7AFD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302250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00300" imgH="9944100" progId="Equation.3">
                  <p:embed/>
                </p:oleObj>
              </mc:Choice>
              <mc:Fallback>
                <p:oleObj name="Equation" r:id="rId4" imgW="27800300" imgH="9944100" progId="Equation.3">
                  <p:embed/>
                  <p:pic>
                    <p:nvPicPr>
                      <p:cNvPr id="20501" name="Object 21">
                        <a:extLst>
                          <a:ext uri="{FF2B5EF4-FFF2-40B4-BE49-F238E27FC236}">
                            <a16:creationId xmlns:a16="http://schemas.microsoft.com/office/drawing/2014/main" id="{CB1FA0AB-A08F-F3F0-4890-70C0A7AFD6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302250"/>
                        <a:ext cx="2057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82AC3F3-6E32-98AB-0EA9-91324BDB0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4.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几个典型的例子</a:t>
            </a:r>
          </a:p>
        </p:txBody>
      </p:sp>
      <p:sp>
        <p:nvSpPr>
          <p:cNvPr id="21513" name="Text Box 9">
            <a:extLst>
              <a:ext uri="{FF2B5EF4-FFF2-40B4-BE49-F238E27FC236}">
                <a16:creationId xmlns:a16="http://schemas.microsoft.com/office/drawing/2014/main" id="{0733ACB3-F235-D22E-E742-FB8138D82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265238"/>
            <a:ext cx="27959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</a:rPr>
              <a:t>Direct sampling method:</a:t>
            </a:r>
          </a:p>
        </p:txBody>
      </p:sp>
      <p:graphicFrame>
        <p:nvGraphicFramePr>
          <p:cNvPr id="21514" name="Object 10">
            <a:extLst>
              <a:ext uri="{FF2B5EF4-FFF2-40B4-BE49-F238E27FC236}">
                <a16:creationId xmlns:a16="http://schemas.microsoft.com/office/drawing/2014/main" id="{3E41F2AD-7EF5-E0E8-1869-D1CFCC7A1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1828800"/>
          <a:ext cx="51546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634100" imgH="9944100" progId="Equation.3">
                  <p:embed/>
                </p:oleObj>
              </mc:Choice>
              <mc:Fallback>
                <p:oleObj name="Equation" r:id="rId2" imgW="69634100" imgH="9944100" progId="Equation.3">
                  <p:embed/>
                  <p:pic>
                    <p:nvPicPr>
                      <p:cNvPr id="21514" name="Object 10">
                        <a:extLst>
                          <a:ext uri="{FF2B5EF4-FFF2-40B4-BE49-F238E27FC236}">
                            <a16:creationId xmlns:a16="http://schemas.microsoft.com/office/drawing/2014/main" id="{3E41F2AD-7EF5-E0E8-1869-D1CFCC7A1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1828800"/>
                        <a:ext cx="51546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11">
            <a:extLst>
              <a:ext uri="{FF2B5EF4-FFF2-40B4-BE49-F238E27FC236}">
                <a16:creationId xmlns:a16="http://schemas.microsoft.com/office/drawing/2014/main" id="{F46C5541-C3D1-4841-4BE6-98B763C46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2484438"/>
            <a:ext cx="52661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8080A"/>
                </a:solidFill>
                <a:latin typeface="Comic Sans MS" panose="030F0902030302020204" pitchFamily="66" charset="0"/>
                <a:sym typeface="Symbol" pitchFamily="2" charset="2"/>
              </a:rPr>
              <a:t>: random number uniformly distributed in (0,1)</a:t>
            </a:r>
            <a:endParaRPr lang="en-US" altLang="zh-CN">
              <a:solidFill>
                <a:srgbClr val="08080A"/>
              </a:solidFill>
              <a:latin typeface="Comic Sans MS" panose="030F0902030302020204" pitchFamily="66" charset="0"/>
            </a:endParaRPr>
          </a:p>
        </p:txBody>
      </p:sp>
      <p:graphicFrame>
        <p:nvGraphicFramePr>
          <p:cNvPr id="21516" name="Object 12">
            <a:extLst>
              <a:ext uri="{FF2B5EF4-FFF2-40B4-BE49-F238E27FC236}">
                <a16:creationId xmlns:a16="http://schemas.microsoft.com/office/drawing/2014/main" id="{7C923291-8D45-632D-0B17-3BD331D94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3200401"/>
          <a:ext cx="32004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810700" imgH="10528300" progId="Equation.3">
                  <p:embed/>
                </p:oleObj>
              </mc:Choice>
              <mc:Fallback>
                <p:oleObj name="Equation" r:id="rId4" imgW="34810700" imgH="10528300" progId="Equation.3">
                  <p:embed/>
                  <p:pic>
                    <p:nvPicPr>
                      <p:cNvPr id="21516" name="Object 12">
                        <a:extLst>
                          <a:ext uri="{FF2B5EF4-FFF2-40B4-BE49-F238E27FC236}">
                            <a16:creationId xmlns:a16="http://schemas.microsoft.com/office/drawing/2014/main" id="{7C923291-8D45-632D-0B17-3BD331D94A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200401"/>
                        <a:ext cx="32004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5287261-C701-5FFF-5E80-EE12A0D6DE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1C3AEBE-D7F7-FB90-FFD3-153B805287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38400" y="1981200"/>
            <a:ext cx="7620000" cy="9906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76C912D-676B-33AA-4EF2-63C9C51C0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124201"/>
            <a:ext cx="56092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3.4 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变换抽样法 </a:t>
            </a:r>
            <a:endParaRPr lang="en-US" altLang="zh-CN" b="1" dirty="0">
              <a:solidFill>
                <a:srgbClr val="050507"/>
              </a:solidFill>
              <a:latin typeface="Comic Sans MS" charset="0"/>
              <a:ea typeface="楷体_GB2312" charset="0"/>
              <a:cs typeface="楷体_GB2312" charset="0"/>
              <a:sym typeface="Wingdings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  <a:sym typeface="Wingdings" charset="0"/>
              </a:rPr>
              <a:t>			—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  <a:sym typeface="Wingdings" charset="0"/>
              </a:rPr>
              <a:t>  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直接抽样法的一般形式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76C00B40-E56F-24D1-04B0-5B9652F89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769" y="4293096"/>
            <a:ext cx="2723823" cy="923330"/>
          </a:xfrm>
          <a:prstGeom prst="rect">
            <a:avLst/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基本思路</a:t>
            </a:r>
            <a:endParaRPr lang="en-US" altLang="zh-CN" b="1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  <a:ea typeface="楷体_GB2312" charset="0"/>
              <a:cs typeface="楷体_GB2312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  <a:ea typeface="楷体_GB2312" charset="0"/>
              <a:cs typeface="楷体_GB2312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EF15409-38BB-3B35-EE17-76B63952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1.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基本思路</a:t>
            </a:r>
          </a:p>
        </p:txBody>
      </p:sp>
      <p:graphicFrame>
        <p:nvGraphicFramePr>
          <p:cNvPr id="4098" name="Object 5">
            <a:extLst>
              <a:ext uri="{FF2B5EF4-FFF2-40B4-BE49-F238E27FC236}">
                <a16:creationId xmlns:a16="http://schemas.microsoft.com/office/drawing/2014/main" id="{C06AEBAE-F3CD-66C3-4762-66257839A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451016"/>
              </p:ext>
            </p:extLst>
          </p:nvPr>
        </p:nvGraphicFramePr>
        <p:xfrm>
          <a:off x="4727848" y="3488309"/>
          <a:ext cx="21336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4000" imgH="10528300" progId="Equation.3">
                  <p:embed/>
                </p:oleObj>
              </mc:Choice>
              <mc:Fallback>
                <p:oleObj name="Equation" r:id="rId2" imgW="23114000" imgH="10528300" progId="Equation.3">
                  <p:embed/>
                  <p:pic>
                    <p:nvPicPr>
                      <p:cNvPr id="4098" name="Object 5">
                        <a:extLst>
                          <a:ext uri="{FF2B5EF4-FFF2-40B4-BE49-F238E27FC236}">
                            <a16:creationId xmlns:a16="http://schemas.microsoft.com/office/drawing/2014/main" id="{C06AEBAE-F3CD-66C3-4762-66257839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488309"/>
                        <a:ext cx="2133600" cy="9175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>
            <a:extLst>
              <a:ext uri="{FF2B5EF4-FFF2-40B4-BE49-F238E27FC236}">
                <a16:creationId xmlns:a16="http://schemas.microsoft.com/office/drawing/2014/main" id="{07C8F3A7-6682-F89A-10F9-954925C9E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990600"/>
            <a:ext cx="8077200" cy="170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8925" indent="-288925">
              <a:lnSpc>
                <a:spcPct val="150000"/>
              </a:lnSpc>
              <a:buFontTx/>
              <a:buChar char="•"/>
              <a:defRPr/>
            </a:pP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</a:rPr>
              <a:t>随机变量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</a:rPr>
              <a:t>：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</a:rPr>
              <a:t>pdf:  g(y)  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 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不易进行抽样</a:t>
            </a:r>
            <a:endParaRPr lang="en-US" altLang="zh-CN" b="1" dirty="0">
              <a:solidFill>
                <a:srgbClr val="08080A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  <a:p>
            <a:pPr marL="288925" indent="-288925">
              <a:lnSpc>
                <a:spcPct val="150000"/>
              </a:lnSpc>
              <a:buFontTx/>
              <a:buChar char="•"/>
              <a:defRPr/>
            </a:pP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随机变量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：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 pdf: f(x)    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容易进行抽样</a:t>
            </a:r>
            <a:endParaRPr lang="en-US" altLang="zh-CN" b="1" dirty="0">
              <a:solidFill>
                <a:srgbClr val="08080A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  <a:p>
            <a:pPr marL="288925" indent="-288925">
              <a:lnSpc>
                <a:spcPct val="150000"/>
              </a:lnSpc>
              <a:buFontTx/>
              <a:buChar char="•"/>
              <a:defRPr/>
            </a:pP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如果能够找到两个随机变量 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 和 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 之间的一个一一对应的变换关系，</a:t>
            </a:r>
            <a:r>
              <a:rPr lang="en-US" altLang="zh-CN" b="1" dirty="0">
                <a:solidFill>
                  <a:srgbClr val="0C1CE8"/>
                </a:solidFill>
                <a:highlight>
                  <a:srgbClr val="FFFF00"/>
                </a:highlight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y=y(x)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,  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使得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g(y)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和</a:t>
            </a:r>
            <a:r>
              <a:rPr lang="en-US" altLang="zh-CN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f(x)</a:t>
            </a:r>
            <a:r>
              <a:rPr lang="zh-CN" altLang="en-US" b="1" dirty="0">
                <a:solidFill>
                  <a:srgbClr val="08080A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满足关系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F232D5D-91D0-DCE6-74DE-B998E9F77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567" y="4655596"/>
            <a:ext cx="82149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</a:rPr>
              <a:t>则可先由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</a:rPr>
              <a:t>f(x)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</a:rPr>
              <a:t>分布抽取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</a:rPr>
              <a:t>的值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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，再由变换关系（</a:t>
            </a:r>
            <a:r>
              <a:rPr lang="en-US" altLang="zh-CN" b="1" dirty="0">
                <a:solidFill>
                  <a:srgbClr val="0C1CE8"/>
                </a:solidFill>
                <a:highlight>
                  <a:srgbClr val="FFFF00"/>
                </a:highlight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y=y(x)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）得到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y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的值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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满足分布</a:t>
            </a:r>
            <a:r>
              <a:rPr lang="en-US" altLang="zh-CN" b="1" dirty="0">
                <a:solidFill>
                  <a:srgbClr val="0C1CE8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g(y)</a:t>
            </a: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4DAFC463-AE49-6E3D-C739-F5F484485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832" y="5638800"/>
            <a:ext cx="1585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FF3300"/>
                </a:solidFill>
                <a:latin typeface="Times New Roman" charset="0"/>
                <a:ea typeface="宋体" charset="0"/>
                <a:sym typeface="Wingdings" charset="0"/>
              </a:rPr>
              <a:t></a:t>
            </a:r>
            <a:r>
              <a:rPr lang="zh-CN" altLang="en-US" b="1" dirty="0">
                <a:solidFill>
                  <a:srgbClr val="FF33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变换抽样法</a:t>
            </a:r>
            <a:endParaRPr lang="zh-CN" altLang="en-US" b="1" dirty="0">
              <a:solidFill>
                <a:srgbClr val="FF33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  <p:bldP spid="308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B13CB34-9718-878B-FC83-092E3F6C01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059BDCF-642D-AFB0-08C5-683AE19B27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38400" y="1981200"/>
            <a:ext cx="7620000" cy="9906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50EB3FF3-01AF-58C9-770D-5A172BB6B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3124200"/>
            <a:ext cx="44598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3.4 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变换抽样法 </a:t>
            </a: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  <a:sym typeface="Wingdings" charset="0"/>
              </a:rPr>
              <a:t> 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直接抽样法的一般形式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A109C04B-037E-F657-D3BE-665265F2A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1" y="4038600"/>
            <a:ext cx="2723823" cy="923330"/>
          </a:xfrm>
          <a:prstGeom prst="rect">
            <a:avLst/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基本思路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  <a:ea typeface="楷体_GB2312" charset="0"/>
              <a:cs typeface="楷体_GB2312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  <a:endParaRPr lang="en-US" altLang="zh-CN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  <a:ea typeface="楷体_GB2312" charset="0"/>
              <a:cs typeface="楷体_GB2312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C4995C-B935-F900-8870-32627E2A9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2.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2EBE25C-F683-C738-6864-D7321306A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798513"/>
            <a:ext cx="14045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FF"/>
                </a:solidFill>
                <a:latin typeface="楷体_GB2312" charset="0"/>
                <a:ea typeface="楷体_GB2312" charset="0"/>
                <a:cs typeface="楷体_GB2312" charset="0"/>
              </a:rPr>
              <a:t>变换抽样法</a:t>
            </a:r>
            <a:r>
              <a:rPr lang="en-US" altLang="zh-CN" b="1">
                <a:solidFill>
                  <a:srgbClr val="0000FF"/>
                </a:solidFill>
                <a:latin typeface="楷体_GB2312" charset="0"/>
                <a:ea typeface="楷体_GB2312" charset="0"/>
                <a:cs typeface="楷体_GB2312" charset="0"/>
              </a:rPr>
              <a:t>:</a:t>
            </a:r>
          </a:p>
        </p:txBody>
      </p:sp>
      <p:grpSp>
        <p:nvGrpSpPr>
          <p:cNvPr id="4100" name="Group 4">
            <a:extLst>
              <a:ext uri="{FF2B5EF4-FFF2-40B4-BE49-F238E27FC236}">
                <a16:creationId xmlns:a16="http://schemas.microsoft.com/office/drawing/2014/main" id="{A35ECB20-5AA3-07FA-13EF-69896A38B742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1340768"/>
            <a:ext cx="8151813" cy="4708528"/>
            <a:chOff x="385" y="768"/>
            <a:chExt cx="5135" cy="2966"/>
          </a:xfrm>
        </p:grpSpPr>
        <p:sp>
          <p:nvSpPr>
            <p:cNvPr id="4101" name="Rectangle 5">
              <a:extLst>
                <a:ext uri="{FF2B5EF4-FFF2-40B4-BE49-F238E27FC236}">
                  <a16:creationId xmlns:a16="http://schemas.microsoft.com/office/drawing/2014/main" id="{8B959493-3140-9470-2986-C93D03A52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768"/>
              <a:ext cx="513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 假设已找出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y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与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x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间的变换关系，</a:t>
              </a:r>
              <a:r>
                <a:rPr lang="en-US" altLang="zh-CN" b="1" dirty="0">
                  <a:solidFill>
                    <a:srgbClr val="070709"/>
                  </a:solidFill>
                  <a:highlight>
                    <a:srgbClr val="FFFF00"/>
                  </a:highlight>
                  <a:ea typeface="楷体_GB2312" pitchFamily="49" charset="-122"/>
                  <a:sym typeface="Wingdings" pitchFamily="2" charset="2"/>
                </a:rPr>
                <a:t>y=y(x)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,  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且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f(x)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与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g(y)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满                足关系：</a:t>
              </a: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Wingdings" pitchFamily="2" charset="2"/>
              </a:endParaRPr>
            </a:p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Wingdings" pitchFamily="2" charset="2"/>
              </a:endParaRPr>
            </a:p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 由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f(x)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分布中抽取一个样本 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x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Wingdings" pitchFamily="2" charset="2"/>
                </a:rPr>
                <a:t> 的值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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；</a:t>
              </a: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endParaRPr>
            </a:p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endParaRPr>
            </a:p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 带入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y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与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x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之间的变换关系式，得随机变量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y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  <a:sym typeface="Symbol" pitchFamily="2" charset="2"/>
                </a:rPr>
                <a:t>的取值：</a:t>
              </a: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endParaRPr>
            </a:p>
            <a:p>
              <a:pPr>
                <a:spcBef>
                  <a:spcPct val="50000"/>
                </a:spcBef>
                <a:buFont typeface="Wingdings" pitchFamily="2" charset="2"/>
                <a:buChar char="Ø"/>
              </a:pP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endParaRPr>
            </a:p>
            <a:p>
              <a:pPr>
                <a:spcBef>
                  <a:spcPct val="50000"/>
                </a:spcBef>
              </a:pPr>
              <a:endParaRPr lang="en-US" altLang="zh-CN" b="1" dirty="0">
                <a:solidFill>
                  <a:srgbClr val="070709"/>
                </a:solidFill>
                <a:ea typeface="楷体_GB2312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</a:rPr>
                <a:t>这样 </a:t>
              </a:r>
              <a:r>
                <a:rPr lang="el-GR" altLang="zh-CN" b="1" dirty="0">
                  <a:solidFill>
                    <a:srgbClr val="070709"/>
                  </a:solidFill>
                  <a:ea typeface="楷体_GB2312" pitchFamily="49" charset="-122"/>
                </a:rPr>
                <a:t>ξ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</a:rPr>
                <a:t> 就是落在 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</a:rPr>
                <a:t>y 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</a:rPr>
                <a:t>空间、服从概率密度 </a:t>
              </a:r>
              <a:r>
                <a:rPr lang="en-US" altLang="zh-CN" b="1" dirty="0">
                  <a:solidFill>
                    <a:srgbClr val="070709"/>
                  </a:solidFill>
                  <a:ea typeface="楷体_GB2312" pitchFamily="49" charset="-122"/>
                </a:rPr>
                <a:t>g(y) </a:t>
              </a:r>
              <a:r>
                <a:rPr lang="zh-CN" altLang="en-US" b="1" dirty="0">
                  <a:solidFill>
                    <a:srgbClr val="070709"/>
                  </a:solidFill>
                  <a:ea typeface="楷体_GB2312" pitchFamily="49" charset="-122"/>
                </a:rPr>
                <a:t>的一个随机样本</a:t>
              </a:r>
              <a:endParaRPr lang="en-US" altLang="zh-CN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endParaRPr>
            </a:p>
          </p:txBody>
        </p:sp>
        <p:graphicFrame>
          <p:nvGraphicFramePr>
            <p:cNvPr id="6152" name="Object 6">
              <a:extLst>
                <a:ext uri="{FF2B5EF4-FFF2-40B4-BE49-F238E27FC236}">
                  <a16:creationId xmlns:a16="http://schemas.microsoft.com/office/drawing/2014/main" id="{ECA364E4-A606-1F5A-A34E-AE330FF1DD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0057302"/>
                </p:ext>
              </p:extLst>
            </p:nvPr>
          </p:nvGraphicFramePr>
          <p:xfrm>
            <a:off x="2677" y="1225"/>
            <a:ext cx="1150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114000" imgH="10528300" progId="Equation.3">
                    <p:embed/>
                  </p:oleObj>
                </mc:Choice>
                <mc:Fallback>
                  <p:oleObj name="Equation" r:id="rId2" imgW="23114000" imgH="10528300" progId="Equation.3">
                    <p:embed/>
                    <p:pic>
                      <p:nvPicPr>
                        <p:cNvPr id="6152" name="Object 6">
                          <a:extLst>
                            <a:ext uri="{FF2B5EF4-FFF2-40B4-BE49-F238E27FC236}">
                              <a16:creationId xmlns:a16="http://schemas.microsoft.com/office/drawing/2014/main" id="{ECA364E4-A606-1F5A-A34E-AE330FF1DD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7" y="1225"/>
                          <a:ext cx="1150" cy="41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9A269DF-A564-C3AA-CED3-97EBC6D2A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398" y="3284984"/>
            <a:ext cx="1480885" cy="66167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5C0149-684A-F4C3-6351-9D720605D562}"/>
              </a:ext>
            </a:extLst>
          </p:cNvPr>
          <p:cNvSpPr txBox="1"/>
          <p:nvPr/>
        </p:nvSpPr>
        <p:spPr>
          <a:xfrm>
            <a:off x="5946398" y="4444985"/>
            <a:ext cx="148088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</a:t>
            </a:r>
            <a:r>
              <a:rPr lang="zh-CN" altLang="en-US" sz="2800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 </a:t>
            </a:r>
            <a:r>
              <a:rPr lang="en-US" altLang="zh-CN" sz="2800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=</a:t>
            </a:r>
            <a:r>
              <a:rPr lang="zh-CN" altLang="en-US" sz="2800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 </a:t>
            </a:r>
            <a:r>
              <a:rPr lang="en-US" altLang="zh-CN" sz="2800" b="1" dirty="0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y()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B7CD42-756A-D5BC-2B84-B5AC9250B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450" y="6330695"/>
            <a:ext cx="4648200" cy="36830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B976A7-A842-8635-F777-9273EEA60101}"/>
              </a:ext>
            </a:extLst>
          </p:cNvPr>
          <p:cNvSpPr txBox="1"/>
          <p:nvPr/>
        </p:nvSpPr>
        <p:spPr>
          <a:xfrm>
            <a:off x="2425913" y="6242599"/>
            <a:ext cx="156966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一句话总结：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utoUpdateAnimBg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1449-07ED-633F-F15E-B120DCB7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8DFE1C4-7F58-3748-2433-EE4624099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2.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B019C01-11D8-F7D2-B69B-1D7DBC502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798513"/>
            <a:ext cx="14045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FF"/>
                </a:solidFill>
                <a:latin typeface="楷体_GB2312" charset="0"/>
                <a:ea typeface="楷体_GB2312" charset="0"/>
                <a:cs typeface="楷体_GB2312" charset="0"/>
              </a:rPr>
              <a:t>变换抽样法</a:t>
            </a:r>
            <a:r>
              <a:rPr lang="en-US" altLang="zh-CN" b="1">
                <a:solidFill>
                  <a:srgbClr val="0000FF"/>
                </a:solidFill>
                <a:latin typeface="楷体_GB2312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C689E22-B519-E864-272C-B0BFA3ECF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281" y="1239043"/>
            <a:ext cx="44775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u="sng" dirty="0">
                <a:solidFill>
                  <a:srgbClr val="FF0000"/>
                </a:solidFill>
                <a:latin typeface="楷体_GB2312" charset="0"/>
                <a:ea typeface="楷体_GB2312" charset="0"/>
                <a:cs typeface="楷体_GB2312" charset="0"/>
              </a:rPr>
              <a:t>直接抽样法 </a:t>
            </a:r>
            <a:r>
              <a:rPr lang="zh-CN" altLang="en-US" b="1" u="sng" dirty="0">
                <a:solidFill>
                  <a:schemeClr val="tx1">
                    <a:lumMod val="50000"/>
                  </a:schemeClr>
                </a:solidFill>
                <a:latin typeface="楷体_GB2312" charset="0"/>
                <a:ea typeface="楷体_GB2312" charset="0"/>
                <a:cs typeface="楷体_GB2312" charset="0"/>
              </a:rPr>
              <a:t>是</a:t>
            </a:r>
            <a:r>
              <a:rPr lang="zh-CN" altLang="en-US" b="1" u="sng" dirty="0">
                <a:solidFill>
                  <a:srgbClr val="FF0000"/>
                </a:solidFill>
                <a:latin typeface="楷体_GB2312" charset="0"/>
                <a:ea typeface="楷体_GB2312" charset="0"/>
                <a:cs typeface="楷体_GB2312" charset="0"/>
              </a:rPr>
              <a:t> 变换抽样法的一个特殊形式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23C29182-BBFA-121D-057F-B5C61907C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564" y="1905507"/>
            <a:ext cx="83439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Font typeface="Wingdings" charset="0"/>
              <a:buChar char="ü"/>
              <a:defRPr/>
            </a:pP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假设：</a:t>
            </a:r>
            <a:r>
              <a:rPr lang="zh-CN" altLang="en-US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原先我们先从 </a:t>
            </a: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f(x) </a:t>
            </a:r>
            <a:r>
              <a:rPr lang="zh-CN" altLang="en-US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抽 </a:t>
            </a: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。 但如果我们把这个“先抽 </a:t>
            </a: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x”</a:t>
            </a:r>
            <a:r>
              <a:rPr lang="zh-CN" altLang="en-US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    </a:t>
            </a: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	</a:t>
            </a:r>
            <a:r>
              <a:rPr lang="zh-CN" altLang="en-US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  的分布本身选成最简单的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均匀分布</a:t>
            </a:r>
            <a:r>
              <a:rPr lang="zh-CN" altLang="en-US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，即</a:t>
            </a:r>
            <a:endParaRPr lang="en-US" altLang="zh-CN" dirty="0">
              <a:solidFill>
                <a:srgbClr val="070709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		</a:t>
            </a:r>
            <a:r>
              <a:rPr lang="en-US" altLang="zh-CN" b="1" dirty="0">
                <a:solidFill>
                  <a:srgbClr val="070709"/>
                </a:solidFill>
                <a:highlight>
                  <a:srgbClr val="FFFF00"/>
                </a:highlight>
                <a:latin typeface="Times New Roman" charset="0"/>
                <a:ea typeface="楷体_GB2312" charset="0"/>
                <a:cs typeface="楷体_GB2312" charset="0"/>
              </a:rPr>
              <a:t>x ~ U[0,1];      f(x)=1 (0≤x≤1)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楷体_GB2312" charset="0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随机数生成器产生一个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x∈[0,1]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楷体_GB2312" charset="0"/>
            </a:endParaRPr>
          </a:p>
          <a:p>
            <a:pPr marL="288925" indent="-288925">
              <a:spcBef>
                <a:spcPct val="50000"/>
              </a:spcBef>
              <a:buFont typeface="Wingdings" charset="0"/>
              <a:buChar char="ü"/>
              <a:defRPr/>
            </a:pP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与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间的变换关系选为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y=G</a:t>
            </a:r>
            <a:r>
              <a:rPr lang="en-US" altLang="zh-CN" b="1" baseline="30000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-1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(x)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　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G(y)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为随机变量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的累积分布函数，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G</a:t>
            </a:r>
            <a:r>
              <a:rPr lang="en-US" altLang="zh-CN" b="1" baseline="30000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-1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为反函数</a:t>
            </a:r>
            <a:endParaRPr lang="en-US" altLang="zh-CN" b="1" dirty="0">
              <a:solidFill>
                <a:srgbClr val="070709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     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其中，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的累积分布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G(y)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为</a:t>
            </a:r>
            <a:endParaRPr lang="zh-CN" altLang="en-US" b="1" dirty="0">
              <a:solidFill>
                <a:srgbClr val="070709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</p:txBody>
      </p:sp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D491E1A5-DF39-C320-0EDF-B6DBEF233E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922236"/>
              </p:ext>
            </p:extLst>
          </p:nvPr>
        </p:nvGraphicFramePr>
        <p:xfrm>
          <a:off x="6522974" y="4789234"/>
          <a:ext cx="3208862" cy="737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58100" imgH="7607300" progId="Equation.3">
                  <p:embed/>
                </p:oleObj>
              </mc:Choice>
              <mc:Fallback>
                <p:oleObj name="Equation" r:id="rId2" imgW="33058100" imgH="7607300" progId="Equation.3">
                  <p:embed/>
                  <p:pic>
                    <p:nvPicPr>
                      <p:cNvPr id="4105" name="Object 9">
                        <a:extLst>
                          <a:ext uri="{FF2B5EF4-FFF2-40B4-BE49-F238E27FC236}">
                            <a16:creationId xmlns:a16="http://schemas.microsoft.com/office/drawing/2014/main" id="{A30111D6-C25D-862B-5C8C-79105D93C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2974" y="4789234"/>
                        <a:ext cx="3208862" cy="73739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0E5C189-44F1-F7B0-6194-F4DDA2D0C8CE}"/>
              </a:ext>
            </a:extLst>
          </p:cNvPr>
          <p:cNvSpPr txBox="1"/>
          <p:nvPr/>
        </p:nvSpPr>
        <p:spPr>
          <a:xfrm>
            <a:off x="1940854" y="5618957"/>
            <a:ext cx="8103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zh-CN" altLang="en-US" b="1" dirty="0">
                <a:solidFill>
                  <a:srgbClr val="070709"/>
                </a:solidFill>
                <a:latin typeface="Times New Roman" charset="0"/>
              </a:rPr>
              <a:t>最终，得到的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</a:rPr>
              <a:t>y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</a:rPr>
              <a:t>就是服从目标分布 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</a:rPr>
              <a:t>g(y) 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</a:rPr>
              <a:t>的一个样本</a:t>
            </a:r>
          </a:p>
        </p:txBody>
      </p:sp>
    </p:spTree>
    <p:extLst>
      <p:ext uri="{BB962C8B-B14F-4D97-AF65-F5344CB8AC3E}">
        <p14:creationId xmlns:p14="http://schemas.microsoft.com/office/powerpoint/2010/main" val="224764626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utoUpdateAnimBg="0"/>
      <p:bldP spid="4103" grpId="0" autoUpdateAnimBg="0"/>
      <p:bldP spid="4104" grpId="1" uiExpand="1" build="p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2F26A-3511-9330-680E-5E70B8BF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56995DE-BEC5-DA71-176B-369B00749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3035" y="1825625"/>
            <a:ext cx="6965930" cy="4351338"/>
          </a:xfrm>
          <a:prstGeom prst="rect">
            <a:avLst/>
          </a:prstGeom>
        </p:spPr>
      </p:pic>
      <p:sp>
        <p:nvSpPr>
          <p:cNvPr id="7" name="框架 6">
            <a:extLst>
              <a:ext uri="{FF2B5EF4-FFF2-40B4-BE49-F238E27FC236}">
                <a16:creationId xmlns:a16="http://schemas.microsoft.com/office/drawing/2014/main" id="{7C94B71D-A865-A9D2-9AEB-BE1EE25E4898}"/>
              </a:ext>
            </a:extLst>
          </p:cNvPr>
          <p:cNvSpPr/>
          <p:nvPr/>
        </p:nvSpPr>
        <p:spPr bwMode="auto">
          <a:xfrm>
            <a:off x="3143672" y="980728"/>
            <a:ext cx="3456384" cy="2808312"/>
          </a:xfrm>
          <a:prstGeom prst="frame">
            <a:avLst>
              <a:gd name="adj1" fmla="val 167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框架 7">
            <a:extLst>
              <a:ext uri="{FF2B5EF4-FFF2-40B4-BE49-F238E27FC236}">
                <a16:creationId xmlns:a16="http://schemas.microsoft.com/office/drawing/2014/main" id="{9CDC3208-7D1E-5D93-98E2-A77D166E6F9B}"/>
              </a:ext>
            </a:extLst>
          </p:cNvPr>
          <p:cNvSpPr/>
          <p:nvPr/>
        </p:nvSpPr>
        <p:spPr bwMode="auto">
          <a:xfrm>
            <a:off x="6744072" y="862576"/>
            <a:ext cx="3816424" cy="2926464"/>
          </a:xfrm>
          <a:prstGeom prst="frame">
            <a:avLst>
              <a:gd name="adj1" fmla="val 1677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BCB7C0F-A317-CDFF-7EF3-A7B20D36FC71}"/>
              </a:ext>
            </a:extLst>
          </p:cNvPr>
          <p:cNvCxnSpPr>
            <a:cxnSpLocks/>
          </p:cNvCxnSpPr>
          <p:nvPr/>
        </p:nvCxnSpPr>
        <p:spPr bwMode="auto">
          <a:xfrm>
            <a:off x="5447928" y="1772816"/>
            <a:ext cx="93610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619C34F-9339-637C-DC41-53E16F24EBC7}"/>
              </a:ext>
            </a:extLst>
          </p:cNvPr>
          <p:cNvCxnSpPr>
            <a:cxnSpLocks/>
          </p:cNvCxnSpPr>
          <p:nvPr/>
        </p:nvCxnSpPr>
        <p:spPr bwMode="auto">
          <a:xfrm>
            <a:off x="3575720" y="2492896"/>
            <a:ext cx="129614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49E04579-7123-FB73-D94E-ED9445C11B7A}"/>
              </a:ext>
            </a:extLst>
          </p:cNvPr>
          <p:cNvCxnSpPr>
            <a:cxnSpLocks/>
          </p:cNvCxnSpPr>
          <p:nvPr/>
        </p:nvCxnSpPr>
        <p:spPr bwMode="auto">
          <a:xfrm>
            <a:off x="3287688" y="3284984"/>
            <a:ext cx="129614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245BF014-D3DB-8DCB-4FB0-33FD2E721738}"/>
              </a:ext>
            </a:extLst>
          </p:cNvPr>
          <p:cNvCxnSpPr>
            <a:cxnSpLocks/>
          </p:cNvCxnSpPr>
          <p:nvPr/>
        </p:nvCxnSpPr>
        <p:spPr bwMode="auto">
          <a:xfrm>
            <a:off x="3287688" y="3573016"/>
            <a:ext cx="280831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02ED4011-66B0-7860-2727-A0B4676C370F}"/>
              </a:ext>
            </a:extLst>
          </p:cNvPr>
          <p:cNvCxnSpPr>
            <a:cxnSpLocks/>
          </p:cNvCxnSpPr>
          <p:nvPr/>
        </p:nvCxnSpPr>
        <p:spPr bwMode="auto">
          <a:xfrm>
            <a:off x="8076220" y="1772816"/>
            <a:ext cx="111612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8632B7FA-19BD-DE4E-3909-C77FF652F5CA}"/>
              </a:ext>
            </a:extLst>
          </p:cNvPr>
          <p:cNvCxnSpPr>
            <a:cxnSpLocks/>
          </p:cNvCxnSpPr>
          <p:nvPr/>
        </p:nvCxnSpPr>
        <p:spPr bwMode="auto">
          <a:xfrm>
            <a:off x="8076220" y="2492896"/>
            <a:ext cx="2052228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4107503C-0D91-42F9-6E97-29C47B885CBC}"/>
              </a:ext>
            </a:extLst>
          </p:cNvPr>
          <p:cNvCxnSpPr>
            <a:cxnSpLocks/>
          </p:cNvCxnSpPr>
          <p:nvPr/>
        </p:nvCxnSpPr>
        <p:spPr bwMode="auto">
          <a:xfrm>
            <a:off x="6960096" y="3290989"/>
            <a:ext cx="129614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FA291906-1937-B1BB-EB35-A42136B4358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0096" y="3573017"/>
            <a:ext cx="3384376" cy="600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B83B225-D7B4-4AAE-BC98-02A975A04849}"/>
              </a:ext>
            </a:extLst>
          </p:cNvPr>
          <p:cNvSpPr txBox="1"/>
          <p:nvPr/>
        </p:nvSpPr>
        <p:spPr>
          <a:xfrm>
            <a:off x="2341800" y="6276826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2"/>
                </a:solidFill>
              </a:rPr>
              <a:t>从任一给定的</a:t>
            </a:r>
            <a:r>
              <a:rPr kumimoji="1" lang="en-US" altLang="zh-CN" dirty="0">
                <a:solidFill>
                  <a:schemeClr val="tx2"/>
                </a:solidFill>
              </a:rPr>
              <a:t>pdf</a:t>
            </a:r>
            <a:r>
              <a:rPr kumimoji="1" lang="zh-CN" altLang="en-US" dirty="0">
                <a:solidFill>
                  <a:schemeClr val="tx2"/>
                </a:solidFill>
              </a:rPr>
              <a:t>中生成样本的方法</a:t>
            </a:r>
          </a:p>
        </p:txBody>
      </p:sp>
    </p:spTree>
    <p:extLst>
      <p:ext uri="{BB962C8B-B14F-4D97-AF65-F5344CB8AC3E}">
        <p14:creationId xmlns:p14="http://schemas.microsoft.com/office/powerpoint/2010/main" val="227555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1B20C8E-A98B-7157-FF29-F6F774C70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2.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graphicFrame>
        <p:nvGraphicFramePr>
          <p:cNvPr id="7170" name="Object 3">
            <a:extLst>
              <a:ext uri="{FF2B5EF4-FFF2-40B4-BE49-F238E27FC236}">
                <a16:creationId xmlns:a16="http://schemas.microsoft.com/office/drawing/2014/main" id="{16A43186-0ACB-794C-19B9-AA0476427B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1905000"/>
          <a:ext cx="3962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666900" imgH="10528300" progId="Equation.3">
                  <p:embed/>
                </p:oleObj>
              </mc:Choice>
              <mc:Fallback>
                <p:oleObj name="Equation" r:id="rId2" imgW="52666900" imgH="10528300" progId="Equation.3">
                  <p:embed/>
                  <p:pic>
                    <p:nvPicPr>
                      <p:cNvPr id="7170" name="Object 3">
                        <a:extLst>
                          <a:ext uri="{FF2B5EF4-FFF2-40B4-BE49-F238E27FC236}">
                            <a16:creationId xmlns:a16="http://schemas.microsoft.com/office/drawing/2014/main" id="{16A43186-0ACB-794C-19B9-AA0476427B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3962400" cy="9144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4">
            <a:extLst>
              <a:ext uri="{FF2B5EF4-FFF2-40B4-BE49-F238E27FC236}">
                <a16:creationId xmlns:a16="http://schemas.microsoft.com/office/drawing/2014/main" id="{BCA5D0B9-C009-5378-952F-7D914A947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1447800"/>
          <a:ext cx="42672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025300" imgH="24574500" progId="Equation.3">
                  <p:embed/>
                </p:oleObj>
              </mc:Choice>
              <mc:Fallback>
                <p:oleObj name="Equation" r:id="rId4" imgW="50025300" imgH="24574500" progId="Equation.3">
                  <p:embed/>
                  <p:pic>
                    <p:nvPicPr>
                      <p:cNvPr id="7171" name="Object 4">
                        <a:extLst>
                          <a:ext uri="{FF2B5EF4-FFF2-40B4-BE49-F238E27FC236}">
                            <a16:creationId xmlns:a16="http://schemas.microsoft.com/office/drawing/2014/main" id="{BCA5D0B9-C009-5378-952F-7D914A9472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47800"/>
                        <a:ext cx="4267200" cy="19812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5">
            <a:extLst>
              <a:ext uri="{FF2B5EF4-FFF2-40B4-BE49-F238E27FC236}">
                <a16:creationId xmlns:a16="http://schemas.microsoft.com/office/drawing/2014/main" id="{C6D08E82-0BBD-63A3-7676-72272A7F6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990600"/>
            <a:ext cx="30828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推广到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维随机向量的情况：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C014C49-25BF-76EC-9634-9448B0C619F0}"/>
              </a:ext>
            </a:extLst>
          </p:cNvPr>
          <p:cNvGrpSpPr/>
          <p:nvPr/>
        </p:nvGrpSpPr>
        <p:grpSpPr>
          <a:xfrm>
            <a:off x="2209800" y="3981834"/>
            <a:ext cx="7772400" cy="2133600"/>
            <a:chOff x="685800" y="3981834"/>
            <a:chExt cx="7772400" cy="2133600"/>
          </a:xfrm>
        </p:grpSpPr>
        <p:graphicFrame>
          <p:nvGraphicFramePr>
            <p:cNvPr id="7174" name="Object 7">
              <a:extLst>
                <a:ext uri="{FF2B5EF4-FFF2-40B4-BE49-F238E27FC236}">
                  <a16:creationId xmlns:a16="http://schemas.microsoft.com/office/drawing/2014/main" id="{E6168EE5-463E-7CEF-CC9F-4D3216EF69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2682992"/>
                </p:ext>
              </p:extLst>
            </p:nvPr>
          </p:nvGraphicFramePr>
          <p:xfrm>
            <a:off x="6225956" y="4050617"/>
            <a:ext cx="60960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899400" imgH="4686300" progId="Equation.3">
                    <p:embed/>
                  </p:oleObj>
                </mc:Choice>
                <mc:Fallback>
                  <p:oleObj name="Equation" r:id="rId6" imgW="7899400" imgH="4686300" progId="Equation.3">
                    <p:embed/>
                    <p:pic>
                      <p:nvPicPr>
                        <p:cNvPr id="7174" name="Object 7">
                          <a:extLst>
                            <a:ext uri="{FF2B5EF4-FFF2-40B4-BE49-F238E27FC236}">
                              <a16:creationId xmlns:a16="http://schemas.microsoft.com/office/drawing/2014/main" id="{E6168EE5-463E-7CEF-CC9F-4D3216EF69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5956" y="4050617"/>
                          <a:ext cx="609600" cy="36195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5" name="Object 8">
              <a:extLst>
                <a:ext uri="{FF2B5EF4-FFF2-40B4-BE49-F238E27FC236}">
                  <a16:creationId xmlns:a16="http://schemas.microsoft.com/office/drawing/2014/main" id="{1CB67B33-8A44-0496-8712-F895B3A049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515369"/>
                </p:ext>
              </p:extLst>
            </p:nvPr>
          </p:nvGraphicFramePr>
          <p:xfrm>
            <a:off x="1403648" y="4437112"/>
            <a:ext cx="23495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921000" imgH="3797300" progId="Equation.3">
                    <p:embed/>
                  </p:oleObj>
                </mc:Choice>
                <mc:Fallback>
                  <p:oleObj name="Equation" r:id="rId8" imgW="2921000" imgH="3797300" progId="Equation.3">
                    <p:embed/>
                    <p:pic>
                      <p:nvPicPr>
                        <p:cNvPr id="7175" name="Object 8">
                          <a:extLst>
                            <a:ext uri="{FF2B5EF4-FFF2-40B4-BE49-F238E27FC236}">
                              <a16:creationId xmlns:a16="http://schemas.microsoft.com/office/drawing/2014/main" id="{1CB67B33-8A44-0496-8712-F895B3A049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4437112"/>
                          <a:ext cx="23495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9">
              <a:extLst>
                <a:ext uri="{FF2B5EF4-FFF2-40B4-BE49-F238E27FC236}">
                  <a16:creationId xmlns:a16="http://schemas.microsoft.com/office/drawing/2014/main" id="{4015214D-9CC9-417B-4633-F7BB6396CF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9705697"/>
                </p:ext>
              </p:extLst>
            </p:nvPr>
          </p:nvGraphicFramePr>
          <p:xfrm>
            <a:off x="3924704" y="4782585"/>
            <a:ext cx="2183451" cy="446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742900" imgH="5270500" progId="Equation.3">
                    <p:embed/>
                  </p:oleObj>
                </mc:Choice>
                <mc:Fallback>
                  <p:oleObj name="Equation" r:id="rId10" imgW="25742900" imgH="5270500" progId="Equation.3">
                    <p:embed/>
                    <p:pic>
                      <p:nvPicPr>
                        <p:cNvPr id="7176" name="Object 9">
                          <a:extLst>
                            <a:ext uri="{FF2B5EF4-FFF2-40B4-BE49-F238E27FC236}">
                              <a16:creationId xmlns:a16="http://schemas.microsoft.com/office/drawing/2014/main" id="{4015214D-9CC9-417B-4633-F7BB6396CF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704" y="4782585"/>
                          <a:ext cx="2183451" cy="44661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10">
              <a:extLst>
                <a:ext uri="{FF2B5EF4-FFF2-40B4-BE49-F238E27FC236}">
                  <a16:creationId xmlns:a16="http://schemas.microsoft.com/office/drawing/2014/main" id="{F7D7DC77-8ABF-CE21-E7AB-155DFF3F4F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0779261"/>
                </p:ext>
              </p:extLst>
            </p:nvPr>
          </p:nvGraphicFramePr>
          <p:xfrm>
            <a:off x="2051720" y="5677284"/>
            <a:ext cx="1219200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4630400" imgH="5270500" progId="Equation.3">
                    <p:embed/>
                  </p:oleObj>
                </mc:Choice>
                <mc:Fallback>
                  <p:oleObj name="Equation" r:id="rId12" imgW="14630400" imgH="5270500" progId="Equation.3">
                    <p:embed/>
                    <p:pic>
                      <p:nvPicPr>
                        <p:cNvPr id="7177" name="Object 10">
                          <a:extLst>
                            <a:ext uri="{FF2B5EF4-FFF2-40B4-BE49-F238E27FC236}">
                              <a16:creationId xmlns:a16="http://schemas.microsoft.com/office/drawing/2014/main" id="{F7D7DC77-8ABF-CE21-E7AB-155DFF3F4F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5677284"/>
                          <a:ext cx="1219200" cy="43815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AFB02120-820B-77B6-2182-2986B13B1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981834"/>
              <a:ext cx="7772400" cy="161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–"/>
                <a:defRPr/>
              </a:pP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使用变换抽样法，由联合概率密度函数　　  抽取随机向量　的值：</a:t>
              </a:r>
              <a:endPara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endParaRPr lang="en-US" altLang="zh-CN" sz="9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endParaRPr lang="en-US" altLang="zh-CN" sz="9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endParaRPr lang="en-US" altLang="zh-CN" sz="9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endParaRPr lang="en-US" altLang="zh-CN" sz="9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buFontTx/>
                <a:buChar char="–"/>
                <a:defRPr/>
              </a:pPr>
              <a:r>
                <a:rPr lang="en-US" altLang="zh-CN" b="1" dirty="0" err="1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y</a:t>
              </a:r>
              <a:r>
                <a:rPr lang="en-US" altLang="zh-CN" b="1" baseline="-25000" dirty="0" err="1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i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的值</a:t>
              </a: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: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2D76D38-6F04-F393-A099-9437E0C237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1221D23-3415-1CBE-5E68-32F2DC5918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38400" y="1981200"/>
            <a:ext cx="7620000" cy="9906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28929724-FC65-6E56-CB70-79B5CBD23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3124200"/>
            <a:ext cx="43220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3.4 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变换抽样法</a:t>
            </a: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直接抽样法的一般形式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C983CB42-8780-B205-504D-ABCC68C02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3962400"/>
            <a:ext cx="2723823" cy="923330"/>
          </a:xfrm>
          <a:prstGeom prst="rect">
            <a:avLst/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基本思路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  <a:ea typeface="楷体_GB2312" charset="0"/>
              <a:cs typeface="楷体_GB2312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  <a:ea typeface="楷体_GB2312" charset="0"/>
              <a:cs typeface="楷体_GB2312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E15D805-D1B0-70DC-099E-7D1FF5746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graphicFrame>
        <p:nvGraphicFramePr>
          <p:cNvPr id="6147" name="Object 3">
            <a:extLst>
              <a:ext uri="{FF2B5EF4-FFF2-40B4-BE49-F238E27FC236}">
                <a16:creationId xmlns:a16="http://schemas.microsoft.com/office/drawing/2014/main" id="{4A382EA4-A139-31C4-18DD-A3663E25CD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295401"/>
          <a:ext cx="2667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99700" imgH="11112500" progId="Equation.3">
                  <p:embed/>
                </p:oleObj>
              </mc:Choice>
              <mc:Fallback>
                <p:oleObj name="Equation" r:id="rId2" imgW="35699700" imgH="11112500" progId="Equation.3">
                  <p:embed/>
                  <p:pic>
                    <p:nvPicPr>
                      <p:cNvPr id="6147" name="Object 3">
                        <a:extLst>
                          <a:ext uri="{FF2B5EF4-FFF2-40B4-BE49-F238E27FC236}">
                            <a16:creationId xmlns:a16="http://schemas.microsoft.com/office/drawing/2014/main" id="{4A382EA4-A139-31C4-18DD-A3663E25C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295401"/>
                        <a:ext cx="2667000" cy="8302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0AC7029A-DF61-93D6-0FEC-B2BCD337E1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2819401"/>
          <a:ext cx="838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38300" imgH="9067800" progId="Equation.3">
                  <p:embed/>
                </p:oleObj>
              </mc:Choice>
              <mc:Fallback>
                <p:oleObj name="Equation" r:id="rId4" imgW="14338300" imgH="9067800" progId="Equation.3">
                  <p:embed/>
                  <p:pic>
                    <p:nvPicPr>
                      <p:cNvPr id="6148" name="Object 4">
                        <a:extLst>
                          <a:ext uri="{FF2B5EF4-FFF2-40B4-BE49-F238E27FC236}">
                            <a16:creationId xmlns:a16="http://schemas.microsoft.com/office/drawing/2014/main" id="{0AC7029A-DF61-93D6-0FEC-B2BCD337E1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19401"/>
                        <a:ext cx="838200" cy="5302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>
            <a:extLst>
              <a:ext uri="{FF2B5EF4-FFF2-40B4-BE49-F238E27FC236}">
                <a16:creationId xmlns:a16="http://schemas.microsoft.com/office/drawing/2014/main" id="{378E3D90-2A9C-2B1A-BD66-7074A17EE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777424"/>
              </p:ext>
            </p:extLst>
          </p:nvPr>
        </p:nvGraphicFramePr>
        <p:xfrm>
          <a:off x="4394812" y="4362153"/>
          <a:ext cx="1896616" cy="500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506700" imgH="4102100" progId="Equation.3">
                  <p:embed/>
                </p:oleObj>
              </mc:Choice>
              <mc:Fallback>
                <p:oleObj name="Equation" r:id="rId6" imgW="15506700" imgH="4102100" progId="Equation.3">
                  <p:embed/>
                  <p:pic>
                    <p:nvPicPr>
                      <p:cNvPr id="6149" name="Object 5">
                        <a:extLst>
                          <a:ext uri="{FF2B5EF4-FFF2-40B4-BE49-F238E27FC236}">
                            <a16:creationId xmlns:a16="http://schemas.microsoft.com/office/drawing/2014/main" id="{378E3D90-2A9C-2B1A-BD66-7074A17EE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812" y="4362153"/>
                        <a:ext cx="1896616" cy="5004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Rectangle 6">
            <a:extLst>
              <a:ext uri="{FF2B5EF4-FFF2-40B4-BE49-F238E27FC236}">
                <a16:creationId xmlns:a16="http://schemas.microsoft.com/office/drawing/2014/main" id="{415FED08-8447-29AB-AEE5-3FD441FB2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838200"/>
            <a:ext cx="2723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例：一般形式的高斯分布</a:t>
            </a: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9D881F97-3F00-A8D7-89BE-9E4DCF392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2306638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进行变量变换：</a:t>
            </a:r>
          </a:p>
        </p:txBody>
      </p:sp>
      <p:grpSp>
        <p:nvGrpSpPr>
          <p:cNvPr id="6152" name="Group 8">
            <a:extLst>
              <a:ext uri="{FF2B5EF4-FFF2-40B4-BE49-F238E27FC236}">
                <a16:creationId xmlns:a16="http://schemas.microsoft.com/office/drawing/2014/main" id="{C9774173-58E4-E23A-F2F5-E7C899706A29}"/>
              </a:ext>
            </a:extLst>
          </p:cNvPr>
          <p:cNvGrpSpPr>
            <a:grpSpLocks/>
          </p:cNvGrpSpPr>
          <p:nvPr/>
        </p:nvGrpSpPr>
        <p:grpSpPr bwMode="auto">
          <a:xfrm>
            <a:off x="4098925" y="2859092"/>
            <a:ext cx="4656138" cy="447675"/>
            <a:chOff x="1622" y="1801"/>
            <a:chExt cx="2933" cy="282"/>
          </a:xfrm>
        </p:grpSpPr>
        <p:graphicFrame>
          <p:nvGraphicFramePr>
            <p:cNvPr id="9226" name="Object 9">
              <a:extLst>
                <a:ext uri="{FF2B5EF4-FFF2-40B4-BE49-F238E27FC236}">
                  <a16:creationId xmlns:a16="http://schemas.microsoft.com/office/drawing/2014/main" id="{509FC2FB-C77E-5F9A-829E-3C7D221B1A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872"/>
            <a:ext cx="120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6619200" imgH="4686300" progId="Equation.3">
                    <p:embed/>
                  </p:oleObj>
                </mc:Choice>
                <mc:Fallback>
                  <p:oleObj name="Equation" r:id="rId8" imgW="26619200" imgH="4686300" progId="Equation.3">
                    <p:embed/>
                    <p:pic>
                      <p:nvPicPr>
                        <p:cNvPr id="9226" name="Object 9">
                          <a:extLst>
                            <a:ext uri="{FF2B5EF4-FFF2-40B4-BE49-F238E27FC236}">
                              <a16:creationId xmlns:a16="http://schemas.microsoft.com/office/drawing/2014/main" id="{509FC2FB-C77E-5F9A-829E-3C7D221B1A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872"/>
                          <a:ext cx="120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4" name="Text Box 10">
              <a:extLst>
                <a:ext uri="{FF2B5EF4-FFF2-40B4-BE49-F238E27FC236}">
                  <a16:creationId xmlns:a16="http://schemas.microsoft.com/office/drawing/2014/main" id="{C1E608EC-A9AC-27A1-47CE-ABDE6847C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1801"/>
              <a:ext cx="2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70709"/>
                  </a:solidFill>
                  <a:latin typeface="Times New Roman" charset="0"/>
                  <a:ea typeface="宋体" charset="0"/>
                  <a:sym typeface="Wingdings" charset="0"/>
                </a:rPr>
                <a:t></a:t>
              </a:r>
              <a:endParaRPr lang="en-US" altLang="zh-CN">
                <a:solidFill>
                  <a:srgbClr val="070709"/>
                </a:solidFill>
                <a:latin typeface="Times New Roman" charset="0"/>
                <a:ea typeface="宋体" charset="0"/>
              </a:endParaRPr>
            </a:p>
          </p:txBody>
        </p:sp>
        <p:sp>
          <p:nvSpPr>
            <p:cNvPr id="6155" name="Rectangle 11">
              <a:extLst>
                <a:ext uri="{FF2B5EF4-FFF2-40B4-BE49-F238E27FC236}">
                  <a16:creationId xmlns:a16="http://schemas.microsoft.com/office/drawing/2014/main" id="{CBA3B563-02D6-C85E-27F2-3CF7DD8E5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845"/>
              <a:ext cx="1147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Wingdings" charset="0"/>
                </a:rPr>
                <a:t>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Wingdings" charset="0"/>
                </a:rPr>
                <a:t>标准正态分布</a:t>
              </a:r>
            </a:p>
          </p:txBody>
        </p:sp>
      </p:grpSp>
      <p:sp>
        <p:nvSpPr>
          <p:cNvPr id="6156" name="Rectangle 12">
            <a:extLst>
              <a:ext uri="{FF2B5EF4-FFF2-40B4-BE49-F238E27FC236}">
                <a16:creationId xmlns:a16="http://schemas.microsoft.com/office/drawing/2014/main" id="{BBCCEA48-A770-DD61-8727-B53B939B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608388"/>
            <a:ext cx="5513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由</a:t>
            </a:r>
            <a:r>
              <a:rPr lang="en-US" altLang="zh-CN" b="1" dirty="0">
                <a:solidFill>
                  <a:schemeClr val="tx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～</a:t>
            </a:r>
            <a:r>
              <a:rPr lang="en-US" altLang="zh-CN" b="1" dirty="0">
                <a:solidFill>
                  <a:schemeClr val="tx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N(0,1)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分布抽样得到 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y,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  经反变换得到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的样本值</a:t>
            </a:r>
            <a:endParaRPr lang="en-US" altLang="zh-CN" b="1" dirty="0">
              <a:solidFill>
                <a:srgbClr val="070709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</p:txBody>
      </p:sp>
      <p:sp>
        <p:nvSpPr>
          <p:cNvPr id="6157" name="Text Box 13">
            <a:extLst>
              <a:ext uri="{FF2B5EF4-FFF2-40B4-BE49-F238E27FC236}">
                <a16:creationId xmlns:a16="http://schemas.microsoft.com/office/drawing/2014/main" id="{30D124F7-BFD3-D073-10C4-E0D1A009F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82" y="5902977"/>
            <a:ext cx="6768162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214E4"/>
                </a:solidFill>
                <a:latin typeface="Times New Roman" charset="0"/>
                <a:ea typeface="楷体_GB2312" charset="0"/>
                <a:cs typeface="楷体_GB2312" charset="0"/>
              </a:rPr>
              <a:t>问题：如何从最基础的</a:t>
            </a:r>
            <a:r>
              <a:rPr lang="en-US" altLang="zh-CN" b="1" dirty="0">
                <a:solidFill>
                  <a:srgbClr val="0214E4"/>
                </a:solidFill>
                <a:latin typeface="Times New Roman" charset="0"/>
                <a:ea typeface="楷体_GB2312" charset="0"/>
                <a:cs typeface="楷体_GB2312" charset="0"/>
              </a:rPr>
              <a:t>U[0,1]</a:t>
            </a:r>
            <a:r>
              <a:rPr lang="zh-CN" altLang="en-US" b="1" dirty="0">
                <a:solidFill>
                  <a:srgbClr val="0214E4"/>
                </a:solidFill>
                <a:latin typeface="Times New Roman" charset="0"/>
                <a:ea typeface="楷体_GB2312" charset="0"/>
                <a:cs typeface="楷体_GB2312" charset="0"/>
              </a:rPr>
              <a:t>均匀随机数生成器中，得到服从正态分布</a:t>
            </a:r>
            <a:r>
              <a:rPr lang="en-US" altLang="zh-CN" b="1" dirty="0">
                <a:solidFill>
                  <a:srgbClr val="0214E4"/>
                </a:solidFill>
                <a:latin typeface="Times New Roman" charset="0"/>
                <a:ea typeface="楷体_GB2312" charset="0"/>
                <a:cs typeface="楷体_GB2312" charset="0"/>
              </a:rPr>
              <a:t>N(0,1)</a:t>
            </a:r>
            <a:r>
              <a:rPr lang="zh-CN" altLang="en-US" b="1" dirty="0">
                <a:solidFill>
                  <a:srgbClr val="0214E4"/>
                </a:solidFill>
                <a:latin typeface="Times New Roman" charset="0"/>
                <a:ea typeface="楷体_GB2312" charset="0"/>
                <a:cs typeface="楷体_GB2312" charset="0"/>
              </a:rPr>
              <a:t>的随机变量？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10B2D1-3B54-302B-7E26-87F213EB85AE}"/>
              </a:ext>
            </a:extLst>
          </p:cNvPr>
          <p:cNvSpPr/>
          <p:nvPr/>
        </p:nvSpPr>
        <p:spPr bwMode="auto">
          <a:xfrm>
            <a:off x="2470904" y="5127301"/>
            <a:ext cx="2286000" cy="54942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抽取 </a:t>
            </a:r>
            <a:r>
              <a:rPr lang="en-US" altLang="zh-CN" b="1" dirty="0" err="1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y∼N</a:t>
            </a:r>
            <a:r>
              <a:rPr lang="en-US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(0,1)</a:t>
            </a:r>
            <a:endParaRPr kumimoji="1" lang="zh-CN" altLang="en-US" sz="2400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871EEF54-553C-81EB-95FE-7CDCEAA9BD02}"/>
              </a:ext>
            </a:extLst>
          </p:cNvPr>
          <p:cNvSpPr/>
          <p:nvPr/>
        </p:nvSpPr>
        <p:spPr bwMode="auto">
          <a:xfrm>
            <a:off x="4953000" y="5185989"/>
            <a:ext cx="1295400" cy="4320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E49EE4-4D81-C639-583E-FD04F35304CC}"/>
              </a:ext>
            </a:extLst>
          </p:cNvPr>
          <p:cNvSpPr/>
          <p:nvPr/>
        </p:nvSpPr>
        <p:spPr bwMode="auto">
          <a:xfrm>
            <a:off x="6449219" y="5127301"/>
            <a:ext cx="2527101" cy="54942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反变换得</a:t>
            </a:r>
            <a:r>
              <a:rPr lang="en-US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的样本</a:t>
            </a:r>
            <a:endParaRPr kumimoji="1" lang="zh-CN" altLang="en-US" sz="2400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EA4869-7F98-3F9F-EC8E-5BBFE535DA1C}"/>
                  </a:ext>
                </a:extLst>
              </p:cNvPr>
              <p:cNvSpPr txBox="1"/>
              <p:nvPr/>
            </p:nvSpPr>
            <p:spPr>
              <a:xfrm>
                <a:off x="7806555" y="1288574"/>
                <a:ext cx="1759904" cy="6085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EA4869-7F98-3F9F-EC8E-5BBFE535D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555" y="1288574"/>
                <a:ext cx="1759904" cy="608500"/>
              </a:xfrm>
              <a:prstGeom prst="rect">
                <a:avLst/>
              </a:prstGeom>
              <a:blipFill>
                <a:blip r:embed="rId10"/>
                <a:stretch>
                  <a:fillRect l="-2143"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609728F4-2985-ED46-60EE-54DBE8B2C962}"/>
              </a:ext>
            </a:extLst>
          </p:cNvPr>
          <p:cNvSpPr txBox="1"/>
          <p:nvPr/>
        </p:nvSpPr>
        <p:spPr>
          <a:xfrm>
            <a:off x="7856568" y="82690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Times New Roman" charset="0"/>
              </a:rPr>
              <a:t>标准正态分布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utoUpdateAnimBg="0"/>
      <p:bldP spid="6151" grpId="0" autoUpdateAnimBg="0"/>
      <p:bldP spid="6156" grpId="0" autoUpdateAnimBg="0"/>
      <p:bldP spid="6157" grpId="0" animBg="1" autoUpdateAnimBg="0"/>
      <p:bldP spid="2" grpId="0" animBg="1"/>
      <p:bldP spid="3" grpId="0" animBg="1"/>
      <p:bldP spid="4" grpId="0" animBg="1"/>
      <p:bldP spid="5" grpId="0" animBg="1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3F44-B374-5E6D-2CE5-393F8C611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E6EAAE8-F3E9-8A28-7EC4-188F95A0A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408F8BCD-EE51-1C2B-D872-476B78C1E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712788"/>
            <a:ext cx="2723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方法</a:t>
            </a:r>
            <a:r>
              <a:rPr lang="en-US" altLang="zh-CN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1. </a:t>
            </a: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利用中心极限定理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52F3184-7BEC-474A-A6D0-233FDAEC9900}"/>
                  </a:ext>
                </a:extLst>
              </p:cNvPr>
              <p:cNvSpPr txBox="1"/>
              <p:nvPr/>
            </p:nvSpPr>
            <p:spPr>
              <a:xfrm>
                <a:off x="1755442" y="1285039"/>
                <a:ext cx="8863835" cy="734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b="1">
                    <a:solidFill>
                      <a:srgbClr val="070709"/>
                    </a:solidFill>
                    <a:ea typeface="楷体_GB2312" pitchFamily="49" charset="-122"/>
                  </a:defRPr>
                </a:lvl1pPr>
                <a:lvl2pPr marL="742950" indent="-285750"/>
                <a:lvl3pPr marL="1143000" indent="-228600"/>
                <a:lvl4pPr marL="1600200" indent="-228600"/>
                <a:lvl5pPr marL="2057400" indent="-228600"/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</a:lvl9pPr>
              </a:lstStyle>
              <a:p>
                <a:r>
                  <a:rPr lang="zh-CN" altLang="en-US" dirty="0">
                    <a:solidFill>
                      <a:srgbClr val="0214E4"/>
                    </a:solidFill>
                  </a:rPr>
                  <a:t>当我们取大量独立同分布的随机变量（它们的期望和方差有限）相加后，经过适当标准化，结果趋近于服从标准正态分布 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214E4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sepChr m:val=","/>
                        <m:ctrlPr>
                          <a:rPr lang="ar-AE" altLang="zh-CN" i="1">
                            <a:solidFill>
                              <a:srgbClr val="0214E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>
                            <a:solidFill>
                              <a:srgbClr val="0214E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altLang="zh-CN">
                            <a:solidFill>
                              <a:srgbClr val="0214E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dirty="0">
                  <a:solidFill>
                    <a:srgbClr val="0214E4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52F3184-7BEC-474A-A6D0-233FDAEC9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442" y="1285039"/>
                <a:ext cx="8863835" cy="734175"/>
              </a:xfrm>
              <a:prstGeom prst="rect">
                <a:avLst/>
              </a:prstGeom>
              <a:blipFill>
                <a:blip r:embed="rId2"/>
                <a:stretch>
                  <a:fillRect l="-572" b="-120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8E8F336-4EF9-562A-BAD5-929DC8043D04}"/>
                  </a:ext>
                </a:extLst>
              </p:cNvPr>
              <p:cNvSpPr txBox="1"/>
              <p:nvPr/>
            </p:nvSpPr>
            <p:spPr>
              <a:xfrm>
                <a:off x="1907198" y="2670606"/>
                <a:ext cx="8437274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从均匀分布 </a:t>
                </a:r>
                <a:r>
                  <a:rPr lang="en" altLang="zh-CN" b="1" dirty="0" err="1">
                    <a:solidFill>
                      <a:srgbClr val="000000"/>
                    </a:solidFill>
                  </a:rPr>
                  <a:t>u</a:t>
                </a:r>
                <a:r>
                  <a:rPr lang="en" altLang="zh-CN" b="1" baseline="-25000" dirty="0" err="1">
                    <a:solidFill>
                      <a:srgbClr val="000000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a:rPr lang="zh-CN" altLang="en-US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～</m:t>
                    </m:r>
                    <m:r>
                      <a:rPr lang="zh-CN" alt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sepChr m:val=","/>
                        <m:ctrlPr>
                          <a:rPr lang="ar-AE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e>
                        <m:r>
                          <a:rPr lang="ar-AE" altLang="zh-CN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出发，构造一组独立的随机数：</a:t>
                </a:r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经推导可得，期望值</a:t>
                </a:r>
                <a:r>
                  <a:rPr lang="en-US" altLang="zh-CN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E[</a:t>
                </a:r>
                <a:r>
                  <a:rPr lang="en" altLang="zh-CN" b="1" dirty="0" err="1">
                    <a:solidFill>
                      <a:srgbClr val="000000"/>
                    </a:solidFill>
                  </a:rPr>
                  <a:t>u</a:t>
                </a:r>
                <a:r>
                  <a:rPr lang="en" altLang="zh-CN" b="1" baseline="-25000" dirty="0" err="1">
                    <a:solidFill>
                      <a:srgbClr val="000000"/>
                    </a:solidFill>
                  </a:rPr>
                  <a:t>i</a:t>
                </a:r>
                <a:r>
                  <a:rPr lang="zh-CN" altLang="en-US" b="1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]=0.5;  Var[</a:t>
                </a:r>
                <a:r>
                  <a:rPr lang="en" altLang="zh-CN" b="1" i="1" dirty="0" err="1">
                    <a:solidFill>
                      <a:srgbClr val="000000"/>
                    </a:solidFill>
                  </a:rPr>
                  <a:t>u</a:t>
                </a:r>
                <a:r>
                  <a:rPr lang="en" altLang="zh-CN" b="1" i="1" baseline="-25000" dirty="0" err="1">
                    <a:solidFill>
                      <a:srgbClr val="000000"/>
                    </a:solidFill>
                  </a:rPr>
                  <a:t>i</a:t>
                </a:r>
                <a:r>
                  <a:rPr lang="zh-CN" altLang="en-US" b="1" i="1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]=1/12</a:t>
                </a:r>
              </a:p>
              <a:p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因为中心极限定理，</a:t>
                </a:r>
                <a:r>
                  <a:rPr lang="zh-CN" altLang="en-US" b="1" dirty="0">
                    <a:solidFill>
                      <a:srgbClr val="0C1CE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随机变量 </a:t>
                </a:r>
                <a:r>
                  <a:rPr lang="en" altLang="zh-CN" b="1" i="1" dirty="0" err="1">
                    <a:solidFill>
                      <a:srgbClr val="0C1CE8"/>
                    </a:solidFill>
                  </a:rPr>
                  <a:t>u</a:t>
                </a:r>
                <a:r>
                  <a:rPr lang="en" altLang="zh-CN" b="1" i="1" baseline="-25000" dirty="0" err="1">
                    <a:solidFill>
                      <a:srgbClr val="0C1CE8"/>
                    </a:solidFill>
                  </a:rPr>
                  <a:t>i</a:t>
                </a:r>
                <a:r>
                  <a:rPr lang="zh-CN" altLang="en-US" b="1" i="1" baseline="-25000" dirty="0">
                    <a:solidFill>
                      <a:srgbClr val="0C1CE8"/>
                    </a:solidFill>
                  </a:rPr>
                  <a:t> </a:t>
                </a:r>
                <a:r>
                  <a:rPr lang="zh-CN" altLang="en-US" b="1" i="1" dirty="0">
                    <a:solidFill>
                      <a:srgbClr val="0C1CE8"/>
                    </a:solidFill>
                  </a:rPr>
                  <a:t> </a:t>
                </a:r>
                <a:r>
                  <a:rPr lang="zh-CN" altLang="en-US" b="1" dirty="0">
                    <a:solidFill>
                      <a:srgbClr val="0C1CE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相互独立、同分布且</a:t>
                </a:r>
                <a:r>
                  <a:rPr lang="en-US" altLang="zh-CN" b="1" dirty="0">
                    <a:solidFill>
                      <a:srgbClr val="0C1CE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</a:t>
                </a:r>
                <a:r>
                  <a:rPr lang="zh-CN" altLang="en-US" b="1" dirty="0">
                    <a:solidFill>
                      <a:srgbClr val="0C1CE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b="1" dirty="0">
                    <a:solidFill>
                      <a:srgbClr val="0C1CE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Var</a:t>
                </a:r>
                <a:r>
                  <a:rPr lang="zh-CN" altLang="en-US" b="1" dirty="0">
                    <a:solidFill>
                      <a:srgbClr val="0C1CE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有限</a:t>
                </a:r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</a:t>
                </a:r>
                <a:r>
                  <a:rPr lang="zh-CN" altLang="en-US" b="1" dirty="0">
                    <a:solidFill>
                      <a:srgbClr val="000000"/>
                    </a:solidFill>
                    <a:ea typeface="楷体_GB2312" pitchFamily="49" charset="-122"/>
                  </a:rPr>
                  <a:t>当</a:t>
                </a:r>
                <a:r>
                  <a:rPr lang="en-US" altLang="zh-CN" b="1" dirty="0">
                    <a:solidFill>
                      <a:srgbClr val="000000"/>
                    </a:solidFill>
                    <a:ea typeface="楷体_GB2312" pitchFamily="49" charset="-122"/>
                  </a:rPr>
                  <a:t>n→∞</a:t>
                </a:r>
                <a:r>
                  <a:rPr lang="zh-CN" altLang="en-US" b="1" dirty="0">
                    <a:solidFill>
                      <a:srgbClr val="000000"/>
                    </a:solidFill>
                    <a:ea typeface="楷体_GB2312" pitchFamily="49" charset="-122"/>
                  </a:rPr>
                  <a:t>时，独立样本的</a:t>
                </a:r>
                <a:r>
                  <a:rPr lang="zh-CN" altLang="en-US" b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和会趋近于正态分布</a:t>
                </a:r>
                <a:endParaRPr lang="en-US" altLang="zh-CN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8E8F336-4EF9-562A-BAD5-929DC8043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198" y="2670606"/>
                <a:ext cx="8437274" cy="2862322"/>
              </a:xfrm>
              <a:prstGeom prst="rect">
                <a:avLst/>
              </a:prstGeom>
              <a:blipFill>
                <a:blip r:embed="rId3"/>
                <a:stretch>
                  <a:fillRect l="-752" t="-885" b="-2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F35A03A-338D-C82E-26EA-1DE378E3C3B5}"/>
              </a:ext>
            </a:extLst>
          </p:cNvPr>
          <p:cNvSpPr txBox="1"/>
          <p:nvPr/>
        </p:nvSpPr>
        <p:spPr>
          <a:xfrm>
            <a:off x="4871864" y="3346043"/>
            <a:ext cx="45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i="1" dirty="0"/>
              <a:t>u1​,</a:t>
            </a:r>
            <a:r>
              <a:rPr lang="zh-CN" altLang="en-US" b="1" i="1" dirty="0"/>
              <a:t>  </a:t>
            </a:r>
            <a:r>
              <a:rPr lang="en" altLang="zh-CN" b="1" i="1" dirty="0"/>
              <a:t>u2​,</a:t>
            </a:r>
            <a:r>
              <a:rPr lang="zh-CN" altLang="en-US" b="1" i="1" dirty="0"/>
              <a:t>  </a:t>
            </a:r>
            <a:r>
              <a:rPr lang="en" altLang="zh-CN" b="1" i="1" dirty="0"/>
              <a:t>…,</a:t>
            </a:r>
            <a:r>
              <a:rPr lang="zh-CN" altLang="en-US" b="1" i="1" dirty="0"/>
              <a:t>  </a:t>
            </a:r>
            <a:r>
              <a:rPr lang="en" altLang="zh-CN" b="1" i="1" dirty="0"/>
              <a:t>u</a:t>
            </a:r>
            <a:r>
              <a:rPr lang="en" altLang="zh-CN" b="1" i="1" baseline="-25000" dirty="0"/>
              <a:t>n</a:t>
            </a:r>
            <a:r>
              <a:rPr lang="zh-CN" altLang="en-US" b="1" i="1" baseline="-25000" dirty="0"/>
              <a:t>  </a:t>
            </a:r>
            <a:r>
              <a:rPr lang="en" altLang="zh-CN" b="1" i="1" dirty="0"/>
              <a:t>​∼</a:t>
            </a:r>
            <a:r>
              <a:rPr lang="zh-CN" altLang="en-US" b="1" i="1" dirty="0"/>
              <a:t> </a:t>
            </a:r>
            <a:r>
              <a:rPr lang="en" altLang="zh-CN" b="1" i="1" dirty="0"/>
              <a:t>U(0,1)</a:t>
            </a:r>
            <a:endParaRPr lang="zh-CN" altLang="en-US" b="1" i="1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36C8913-130F-3986-E0AB-D7BD8A02E8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955862"/>
              </p:ext>
            </p:extLst>
          </p:nvPr>
        </p:nvGraphicFramePr>
        <p:xfrm>
          <a:off x="3605880" y="4735506"/>
          <a:ext cx="5162957" cy="792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294300" imgH="5562600" progId="Equation.3">
                  <p:embed/>
                </p:oleObj>
              </mc:Choice>
              <mc:Fallback>
                <p:oleObj name="Equation" r:id="rId4" imgW="43294300" imgH="5562600" progId="Equation.3">
                  <p:embed/>
                  <p:pic>
                    <p:nvPicPr>
                      <p:cNvPr id="7176" name="Object 8">
                        <a:extLst>
                          <a:ext uri="{FF2B5EF4-FFF2-40B4-BE49-F238E27FC236}">
                            <a16:creationId xmlns:a16="http://schemas.microsoft.com/office/drawing/2014/main" id="{7E45A444-D7DF-0609-D258-55DF16A11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880" y="4735506"/>
                        <a:ext cx="5162957" cy="79295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36561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  <p:bldP spid="3" grpId="0"/>
      <p:bldP spid="4" grpId="0" uiExpand="1" build="p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5C83A8-4534-D27A-D353-5C8B7AA9B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172809E8-0268-E4B1-AE17-DBC42E226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712788"/>
            <a:ext cx="2723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方法</a:t>
            </a:r>
            <a:r>
              <a:rPr lang="en-US" altLang="zh-CN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1. </a:t>
            </a: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利用中心极限定理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61C0F960-8AE8-7E14-49BB-EFB9CE168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905" y="4548068"/>
            <a:ext cx="4245073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Z</a:t>
            </a:r>
            <a:r>
              <a:rPr lang="zh-CN" altLang="en-US" sz="28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服从标准正态分布</a:t>
            </a:r>
            <a:r>
              <a:rPr lang="en-US" altLang="zh-CN" sz="2800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N(0,1)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652AC2-F941-B84A-63EA-A84AB2324E81}"/>
              </a:ext>
            </a:extLst>
          </p:cNvPr>
          <p:cNvSpPr txBox="1"/>
          <p:nvPr/>
        </p:nvSpPr>
        <p:spPr>
          <a:xfrm>
            <a:off x="2222933" y="2204864"/>
            <a:ext cx="458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因此，构造公式：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2C9E70C-3EB4-CBB1-E20C-EE0C53213911}"/>
              </a:ext>
            </a:extLst>
          </p:cNvPr>
          <p:cNvGrpSpPr/>
          <p:nvPr/>
        </p:nvGrpSpPr>
        <p:grpSpPr>
          <a:xfrm>
            <a:off x="2325759" y="2751465"/>
            <a:ext cx="7772400" cy="1432342"/>
            <a:chOff x="755576" y="1837861"/>
            <a:chExt cx="7772400" cy="143234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FF8CAD0-908E-FB6F-972F-51CE48C6C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576" y="1837861"/>
              <a:ext cx="7772400" cy="1432342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97396ED-A815-0016-2F2A-ED9EA3D5102F}"/>
                </a:ext>
              </a:extLst>
            </p:cNvPr>
            <p:cNvSpPr txBox="1"/>
            <p:nvPr/>
          </p:nvSpPr>
          <p:spPr>
            <a:xfrm>
              <a:off x="2944258" y="1949977"/>
              <a:ext cx="62430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" altLang="zh-CN" sz="3200" b="1" i="1" dirty="0" err="1">
                  <a:solidFill>
                    <a:srgbClr val="0214E4"/>
                  </a:solidFill>
                </a:rPr>
                <a:t>u</a:t>
              </a:r>
              <a:r>
                <a:rPr lang="en" altLang="zh-CN" sz="3200" b="1" i="1" baseline="-25000" dirty="0" err="1">
                  <a:solidFill>
                    <a:srgbClr val="0214E4"/>
                  </a:solidFill>
                </a:rPr>
                <a:t>i</a:t>
              </a:r>
              <a:r>
                <a:rPr lang="zh-CN" altLang="en-US" sz="3200" b="1" i="1" baseline="-25000" dirty="0">
                  <a:solidFill>
                    <a:srgbClr val="0214E4"/>
                  </a:solidFill>
                </a:rPr>
                <a:t> </a:t>
              </a:r>
              <a:endParaRPr lang="zh-CN" altLang="en-US" sz="3200" dirty="0">
                <a:solidFill>
                  <a:srgbClr val="0214E4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004CAD7-3B9C-BC2C-35DD-66CF5D473401}"/>
                </a:ext>
              </a:extLst>
            </p:cNvPr>
            <p:cNvSpPr txBox="1"/>
            <p:nvPr/>
          </p:nvSpPr>
          <p:spPr>
            <a:xfrm>
              <a:off x="4995620" y="1911722"/>
              <a:ext cx="512484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" altLang="zh-CN" sz="3200" b="1" i="1" dirty="0" err="1">
                  <a:solidFill>
                    <a:srgbClr val="0214E4"/>
                  </a:solidFill>
                </a:rPr>
                <a:t>u</a:t>
              </a:r>
              <a:r>
                <a:rPr lang="en" altLang="zh-CN" sz="3200" b="1" i="1" baseline="-25000" dirty="0" err="1">
                  <a:solidFill>
                    <a:srgbClr val="0214E4"/>
                  </a:solidFill>
                </a:rPr>
                <a:t>i</a:t>
              </a:r>
              <a:r>
                <a:rPr lang="zh-CN" altLang="en-US" sz="3200" b="1" i="1" baseline="-25000" dirty="0">
                  <a:solidFill>
                    <a:srgbClr val="0214E4"/>
                  </a:solidFill>
                </a:rPr>
                <a:t> </a:t>
              </a:r>
              <a:endParaRPr lang="zh-CN" altLang="en-US" sz="3200" dirty="0">
                <a:solidFill>
                  <a:srgbClr val="0214E4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D3910A5-D6A0-1242-B73B-7F396267199E}"/>
                </a:ext>
              </a:extLst>
            </p:cNvPr>
            <p:cNvSpPr txBox="1"/>
            <p:nvPr/>
          </p:nvSpPr>
          <p:spPr>
            <a:xfrm>
              <a:off x="4238725" y="2683840"/>
              <a:ext cx="512484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" altLang="zh-CN" sz="3200" b="1" i="1" dirty="0" err="1">
                  <a:solidFill>
                    <a:srgbClr val="0214E4"/>
                  </a:solidFill>
                </a:rPr>
                <a:t>u</a:t>
              </a:r>
              <a:r>
                <a:rPr lang="en" altLang="zh-CN" sz="3200" b="1" i="1" baseline="-25000" dirty="0" err="1">
                  <a:solidFill>
                    <a:srgbClr val="0214E4"/>
                  </a:solidFill>
                </a:rPr>
                <a:t>i</a:t>
              </a:r>
              <a:r>
                <a:rPr lang="zh-CN" altLang="en-US" sz="3200" b="1" i="1" baseline="-25000" dirty="0">
                  <a:solidFill>
                    <a:srgbClr val="0214E4"/>
                  </a:solidFill>
                </a:rPr>
                <a:t> </a:t>
              </a:r>
              <a:endParaRPr lang="zh-CN" altLang="en-US" sz="3200" dirty="0">
                <a:solidFill>
                  <a:srgbClr val="0214E4"/>
                </a:solidFill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2D191DC-7D86-C017-1E55-AD0711401A30}"/>
              </a:ext>
            </a:extLst>
          </p:cNvPr>
          <p:cNvSpPr txBox="1"/>
          <p:nvPr/>
        </p:nvSpPr>
        <p:spPr>
          <a:xfrm>
            <a:off x="2178948" y="1239164"/>
            <a:ext cx="823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即：无论原始分布是什么形状，大量独立样本</a:t>
            </a:r>
            <a:r>
              <a:rPr lang="en-US" altLang="zh-CN" b="1" dirty="0">
                <a:solidFill>
                  <a:srgbClr val="000000"/>
                </a:solidFill>
                <a:ea typeface="楷体_GB2312" pitchFamily="49" charset="-122"/>
              </a:rPr>
              <a:t>n→∞</a:t>
            </a:r>
            <a:r>
              <a: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相加后，都会趋向正态分布！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146751B-9A8F-4D48-B0FE-6561F5C726FB}"/>
                  </a:ext>
                </a:extLst>
              </p:cNvPr>
              <p:cNvSpPr txBox="1"/>
              <p:nvPr/>
            </p:nvSpPr>
            <p:spPr>
              <a:xfrm>
                <a:off x="3886426" y="5229200"/>
                <a:ext cx="3844965" cy="100226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b="1" i="1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146751B-9A8F-4D48-B0FE-6561F5C72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426" y="5229200"/>
                <a:ext cx="3844965" cy="1002262"/>
              </a:xfrm>
              <a:prstGeom prst="rect">
                <a:avLst/>
              </a:prstGeom>
              <a:blipFill>
                <a:blip r:embed="rId3"/>
                <a:stretch>
                  <a:fillRect t="-40000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  <p:bldP spid="7174" grpId="0" autoUpdateAnimBg="0"/>
      <p:bldP spid="7" grpId="0"/>
      <p:bldP spid="15" grpId="0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90CA-9EBF-2722-FA48-4EDE2116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08174BA-86AD-B8FC-ED7F-EDF82E4D4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999F23EB-7E29-02F8-08B7-3103B27DB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530" y="2576471"/>
            <a:ext cx="8090941" cy="92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FF0000"/>
                </a:solidFill>
              </a:rPr>
              <a:t>根据中心极限定理，对上式进行</a:t>
            </a:r>
            <a:r>
              <a:rPr lang="zh-CN" altLang="en-US" b="1" dirty="0">
                <a:solidFill>
                  <a:srgbClr val="FF0000"/>
                </a:solidFill>
              </a:rPr>
              <a:t>标准化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在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n→∞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时，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z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服从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N(0,1)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，在实际应用时，可取</a:t>
            </a:r>
            <a:r>
              <a:rPr lang="en-US" altLang="zh-CN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n=12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51DE845-390B-5154-6390-50A2879DA061}"/>
              </a:ext>
            </a:extLst>
          </p:cNvPr>
          <p:cNvGrpSpPr/>
          <p:nvPr/>
        </p:nvGrpSpPr>
        <p:grpSpPr>
          <a:xfrm>
            <a:off x="2220816" y="4161589"/>
            <a:ext cx="4248964" cy="1312942"/>
            <a:chOff x="685800" y="4716683"/>
            <a:chExt cx="4248964" cy="131294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79" name="Rectangle 11">
              <a:extLst>
                <a:ext uri="{FF2B5EF4-FFF2-40B4-BE49-F238E27FC236}">
                  <a16:creationId xmlns:a16="http://schemas.microsoft.com/office/drawing/2014/main" id="{0424621C-D849-89FC-255C-0DEF1FBFC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716683"/>
              <a:ext cx="1338828" cy="341632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srgbClr val="0C1CE8"/>
                  </a:solidFill>
                  <a:latin typeface="楷体_GB2312" charset="0"/>
                  <a:ea typeface="楷体_GB2312" charset="0"/>
                  <a:cs typeface="楷体_GB2312" charset="0"/>
                </a:rPr>
                <a:t>抽样方法：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80" name="Rectangle 12">
                  <a:extLst>
                    <a:ext uri="{FF2B5EF4-FFF2-40B4-BE49-F238E27FC236}">
                      <a16:creationId xmlns:a16="http://schemas.microsoft.com/office/drawing/2014/main" id="{E3D752DA-6524-65ED-7C67-316ED8D4D3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8589" y="5169914"/>
                  <a:ext cx="3586175" cy="369332"/>
                </a:xfrm>
                <a:prstGeom prst="rect">
                  <a:avLst/>
                </a:prstGeom>
                <a:grpFill/>
                <a:ln>
                  <a:solidFill>
                    <a:schemeClr val="accent1"/>
                  </a:solidFill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</a:rPr>
                    <a:t>1</a:t>
                  </a:r>
                  <a:r>
                    <a:rPr lang="zh-CN" altLang="en-US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</a:rPr>
                    <a:t>、产生</a:t>
                  </a:r>
                  <a:r>
                    <a:rPr lang="en-US" altLang="zh-CN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</a:rPr>
                    <a:t>12</a:t>
                  </a:r>
                  <a:r>
                    <a:rPr lang="zh-CN" altLang="en-US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</a:rPr>
                    <a:t>个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C1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0C1CE8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0C1CE8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0C1CE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solidFill>
                            <a:srgbClr val="0C1CE8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altLang="zh-CN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</a:rPr>
                    <a:t>U[0,1]</a:t>
                  </a:r>
                  <a:r>
                    <a:rPr lang="zh-CN" altLang="en-US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</a:rPr>
                    <a:t>的随机数</a:t>
                  </a:r>
                  <a:r>
                    <a:rPr lang="en-US" altLang="zh-CN" b="1" dirty="0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  <a:sym typeface="Symbol" charset="0"/>
                    </a:rPr>
                    <a:t></a:t>
                  </a:r>
                  <a:r>
                    <a:rPr lang="en-US" altLang="zh-CN" b="1" baseline="-25000" dirty="0" err="1">
                      <a:solidFill>
                        <a:srgbClr val="0C1CE8"/>
                      </a:solidFill>
                      <a:latin typeface="Times New Roman" charset="0"/>
                      <a:ea typeface="楷体_GB2312" charset="0"/>
                      <a:cs typeface="楷体_GB2312" charset="0"/>
                      <a:sym typeface="Symbol" charset="0"/>
                    </a:rPr>
                    <a:t>i</a:t>
                  </a:r>
                  <a:endParaRPr lang="en-US" altLang="zh-CN" b="1" baseline="-25000" dirty="0">
                    <a:solidFill>
                      <a:srgbClr val="0C1CE8"/>
                    </a:solidFill>
                    <a:latin typeface="Times New Roman" charset="0"/>
                    <a:ea typeface="楷体_GB2312" charset="0"/>
                    <a:cs typeface="楷体_GB2312" charset="0"/>
                    <a:sym typeface="Symbol" charset="0"/>
                  </a:endParaRPr>
                </a:p>
              </p:txBody>
            </p:sp>
          </mc:Choice>
          <mc:Fallback>
            <p:sp>
              <p:nvSpPr>
                <p:cNvPr id="7180" name="Rectangle 12">
                  <a:extLst>
                    <a:ext uri="{FF2B5EF4-FFF2-40B4-BE49-F238E27FC236}">
                      <a16:creationId xmlns:a16="http://schemas.microsoft.com/office/drawing/2014/main" id="{E3D752DA-6524-65ED-7C67-316ED8D4D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8589" y="5169914"/>
                  <a:ext cx="358617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056" t="-6250" b="-18750"/>
                  </a:stretch>
                </a:blipFill>
                <a:ln>
                  <a:solidFill>
                    <a:schemeClr val="accent1"/>
                  </a:solidFill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83" name="Text Box 15">
              <a:extLst>
                <a:ext uri="{FF2B5EF4-FFF2-40B4-BE49-F238E27FC236}">
                  <a16:creationId xmlns:a16="http://schemas.microsoft.com/office/drawing/2014/main" id="{36D3087E-DCC8-0DC9-2F01-D20F10525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893" y="5660293"/>
              <a:ext cx="3534942" cy="369332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rgbClr val="0C1CE8"/>
                  </a:solidFill>
                  <a:latin typeface="Times New Roman" charset="0"/>
                  <a:ea typeface="宋体" charset="0"/>
                </a:rPr>
                <a:t>2</a:t>
              </a:r>
              <a:r>
                <a:rPr lang="zh-CN" altLang="en-US" dirty="0">
                  <a:solidFill>
                    <a:srgbClr val="0C1CE8"/>
                  </a:solidFill>
                  <a:latin typeface="Times New Roman" charset="0"/>
                  <a:ea typeface="宋体" charset="0"/>
                </a:rPr>
                <a:t>、</a:t>
              </a:r>
              <a:r>
                <a:rPr lang="en-US" altLang="zh-CN" dirty="0">
                  <a:solidFill>
                    <a:srgbClr val="0C1CE8"/>
                  </a:solidFill>
                  <a:latin typeface="Times New Roman" charset="0"/>
                  <a:ea typeface="宋体" charset="0"/>
                </a:rPr>
                <a:t>n=12</a:t>
              </a:r>
              <a:r>
                <a:rPr lang="zh-CN" altLang="en-US" dirty="0">
                  <a:solidFill>
                    <a:srgbClr val="0C1CE8"/>
                  </a:solidFill>
                  <a:latin typeface="Times New Roman" charset="0"/>
                  <a:ea typeface="宋体" charset="0"/>
                </a:rPr>
                <a:t>时，将抽取的</a:t>
              </a:r>
              <a:r>
                <a:rPr lang="en-US" altLang="zh-CN" b="1" dirty="0">
                  <a:solidFill>
                    <a:srgbClr val="0C1CE8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</a:t>
              </a:r>
              <a:r>
                <a:rPr lang="en-US" altLang="zh-CN" b="1" baseline="-25000" dirty="0" err="1">
                  <a:solidFill>
                    <a:srgbClr val="0C1CE8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i</a:t>
              </a:r>
              <a:r>
                <a:rPr lang="zh-CN" altLang="en-US" b="1" dirty="0">
                  <a:solidFill>
                    <a:srgbClr val="0C1CE8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 </a:t>
              </a:r>
              <a:r>
                <a:rPr lang="zh-CN" altLang="en-US" dirty="0">
                  <a:solidFill>
                    <a:srgbClr val="0C1CE8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带入公式</a:t>
              </a:r>
              <a:endParaRPr lang="zh-CN" altLang="en-US" dirty="0">
                <a:solidFill>
                  <a:srgbClr val="0C1CE8"/>
                </a:solidFill>
                <a:latin typeface="Times New Roman" charset="0"/>
                <a:ea typeface="宋体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88AED2A-BA75-F3E8-232B-BBEBF483E075}"/>
              </a:ext>
            </a:extLst>
          </p:cNvPr>
          <p:cNvSpPr txBox="1"/>
          <p:nvPr/>
        </p:nvSpPr>
        <p:spPr>
          <a:xfrm>
            <a:off x="2050529" y="6309320"/>
            <a:ext cx="7249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注意：此法只是近似，误差来源于 </a:t>
            </a:r>
            <a:r>
              <a:rPr lang="en-US" altLang="zh-CN" sz="20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n</a:t>
            </a:r>
            <a:r>
              <a:rPr lang="zh-CN" altLang="en-US" sz="20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不够大时高阶矩偏差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067FFEE-781B-2615-C977-7E32B15C1CCE}"/>
                  </a:ext>
                </a:extLst>
              </p:cNvPr>
              <p:cNvSpPr txBox="1"/>
              <p:nvPr/>
            </p:nvSpPr>
            <p:spPr>
              <a:xfrm>
                <a:off x="4079777" y="991761"/>
                <a:ext cx="3844965" cy="100226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f>
                                <m:f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r>
                                    <a:rPr kumimoji="1" lang="en-US" altLang="zh-CN" b="1" i="1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b="1" i="1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067FFEE-781B-2615-C977-7E32B15C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777" y="991761"/>
                <a:ext cx="3844965" cy="1002262"/>
              </a:xfrm>
              <a:prstGeom prst="rect">
                <a:avLst/>
              </a:prstGeom>
              <a:blipFill>
                <a:blip r:embed="rId3"/>
                <a:stretch>
                  <a:fillRect t="-40506"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79E783-5CA1-D268-896B-25D8EEF9B590}"/>
                  </a:ext>
                </a:extLst>
              </p:cNvPr>
              <p:cNvSpPr txBox="1"/>
              <p:nvPr/>
            </p:nvSpPr>
            <p:spPr>
              <a:xfrm>
                <a:off x="7686688" y="4845652"/>
                <a:ext cx="2320541" cy="847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b="1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kumimoji="1"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b>
                              <m:r>
                                <a:rPr kumimoji="1"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  <m:t> − 6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79E783-5CA1-D268-896B-25D8EEF9B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688" y="4845652"/>
                <a:ext cx="2320541" cy="847220"/>
              </a:xfrm>
              <a:prstGeom prst="rect">
                <a:avLst/>
              </a:prstGeom>
              <a:blipFill>
                <a:blip r:embed="rId4"/>
                <a:stretch>
                  <a:fillRect l="-543" t="-100000" b="-1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57069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" grpId="0" autoUpdateAnimBg="0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96213-15AA-06CF-DF4F-D6A2D203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CB61F5C-08AD-BFAB-8B31-54503C82B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972" y="2132856"/>
            <a:ext cx="8445500" cy="2044700"/>
          </a:xfrm>
          <a:prstGeom prst="rect">
            <a:avLst/>
          </a:prstGeom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303D40DD-9BDD-9ABF-5C31-6B7186F2EBBB}"/>
              </a:ext>
            </a:extLst>
          </p:cNvPr>
          <p:cNvCxnSpPr>
            <a:cxnSpLocks/>
          </p:cNvCxnSpPr>
          <p:nvPr/>
        </p:nvCxnSpPr>
        <p:spPr bwMode="auto">
          <a:xfrm>
            <a:off x="2567608" y="3645024"/>
            <a:ext cx="633670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8BC2ED1-D694-9EDC-6FE2-2E2B751584D2}"/>
              </a:ext>
            </a:extLst>
          </p:cNvPr>
          <p:cNvSpPr txBox="1"/>
          <p:nvPr/>
        </p:nvSpPr>
        <p:spPr>
          <a:xfrm>
            <a:off x="1874878" y="4407644"/>
            <a:ext cx="8445500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 err="1">
                <a:ea typeface="Microsoft YaHei" panose="020B0503020204020204" pitchFamily="34" charset="-122"/>
                <a:cs typeface="Times New Roman" panose="02020603050405020304" pitchFamily="18" charset="0"/>
              </a:rPr>
              <a:t>rng.uniform</a:t>
            </a:r>
            <a:r>
              <a:rPr lang="en" altLang="zh-CN" dirty="0">
                <a:ea typeface="Microsoft YaHei" panose="020B0503020204020204" pitchFamily="34" charset="-122"/>
                <a:cs typeface="Times New Roman" panose="02020603050405020304" pitchFamily="18" charset="0"/>
              </a:rPr>
              <a:t>(a, b) </a:t>
            </a:r>
            <a:r>
              <a:rPr lang="zh-CN" altLang="en-US" dirty="0">
                <a:ea typeface="Microsoft YaHei" panose="020B0503020204020204" pitchFamily="34" charset="-122"/>
                <a:cs typeface="Times New Roman" panose="02020603050405020304" pitchFamily="18" charset="0"/>
              </a:rPr>
              <a:t>会返回一个在区间 </a:t>
            </a:r>
            <a:r>
              <a:rPr lang="en-US" altLang="zh-CN" dirty="0">
                <a:ea typeface="Microsoft YaHei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" altLang="zh-CN" dirty="0">
                <a:ea typeface="Microsoft YaHei" panose="020B0503020204020204" pitchFamily="34" charset="-122"/>
                <a:cs typeface="Times New Roman" panose="02020603050405020304" pitchFamily="18" charset="0"/>
              </a:rPr>
              <a:t>a, b) </a:t>
            </a:r>
            <a:r>
              <a:rPr lang="zh-CN" altLang="en-US" b="1" dirty="0">
                <a:ea typeface="Microsoft YaHei" panose="020B0503020204020204" pitchFamily="34" charset="-122"/>
                <a:cs typeface="Times New Roman" panose="02020603050405020304" pitchFamily="18" charset="0"/>
              </a:rPr>
              <a:t>均匀分布</a:t>
            </a:r>
            <a:r>
              <a:rPr lang="zh-CN" altLang="en-US" dirty="0">
                <a:ea typeface="Microsoft YaHei" panose="020B0503020204020204" pitchFamily="34" charset="-122"/>
                <a:cs typeface="Times New Roman" panose="02020603050405020304" pitchFamily="18" charset="0"/>
              </a:rPr>
              <a:t>的随机数</a:t>
            </a:r>
            <a:endParaRPr lang="en-US" altLang="zh-CN" dirty="0"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ea typeface="Microsoft YaHei" panose="020B0503020204020204" pitchFamily="34" charset="-122"/>
                <a:cs typeface="Times New Roman" panose="02020603050405020304" pitchFamily="18" charset="0"/>
              </a:rPr>
              <a:t>sum=u1​+u2​+⋯+u12​</a:t>
            </a:r>
            <a:endParaRPr lang="zh-CN" altLang="en-US" dirty="0"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FD785B-555A-D5A9-5318-28E63B64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5213474"/>
            <a:ext cx="2095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C1E68D0-D73B-3221-806E-749C1CF3C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2BFD28A5-5BBF-0EA5-F352-EA3746B44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523210"/>
              </p:ext>
            </p:extLst>
          </p:nvPr>
        </p:nvGraphicFramePr>
        <p:xfrm>
          <a:off x="3503713" y="4070201"/>
          <a:ext cx="4897437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634100" imgH="9652000" progId="Equation.3">
                  <p:embed/>
                </p:oleObj>
              </mc:Choice>
              <mc:Fallback>
                <p:oleObj name="Equation" r:id="rId2" imgW="69634100" imgH="9652000" progId="Equation.3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2BFD28A5-5BBF-0EA5-F352-EA3746B44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3" y="4070201"/>
                        <a:ext cx="4897437" cy="6810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18A23E91-CAB0-7539-6A5D-EECA5DD95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165912"/>
              </p:ext>
            </p:extLst>
          </p:nvPr>
        </p:nvGraphicFramePr>
        <p:xfrm>
          <a:off x="3971230" y="5193387"/>
          <a:ext cx="3962400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251100" imgH="17843500" progId="Equation.3">
                  <p:embed/>
                </p:oleObj>
              </mc:Choice>
              <mc:Fallback>
                <p:oleObj name="Equation" r:id="rId4" imgW="53251100" imgH="1784350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18A23E91-CAB0-7539-6A5D-EECA5DD95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230" y="5193387"/>
                        <a:ext cx="3962400" cy="13287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>
            <a:extLst>
              <a:ext uri="{FF2B5EF4-FFF2-40B4-BE49-F238E27FC236}">
                <a16:creationId xmlns:a16="http://schemas.microsoft.com/office/drawing/2014/main" id="{713E979E-A9E9-A586-F959-DD36D3FDA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838200"/>
            <a:ext cx="4806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方法</a:t>
            </a:r>
            <a:r>
              <a:rPr lang="en-US" altLang="zh-CN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利用变换抽样法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_GB2312" charset="0"/>
              </a:rPr>
              <a:t>（</a:t>
            </a:r>
            <a:r>
              <a:rPr lang="en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Box–Muller 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_GB2312" charset="0"/>
              </a:rPr>
              <a:t>）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53C728F2-40F7-6DDA-474F-07C30FC94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553" y="3429000"/>
            <a:ext cx="64347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en-US" altLang="zh-CN" b="1" baseline="-25000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1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和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en-US" altLang="zh-CN" b="1" baseline="-25000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是两个相互独立的、服从标准正态分布的随机数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~N(0,1)</a:t>
            </a:r>
            <a:endParaRPr lang="zh-CN" altLang="en-US" b="1" dirty="0">
              <a:solidFill>
                <a:srgbClr val="070709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DE9B5860-8F68-5F65-A285-E29880C6B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93524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构造公式：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FC698A-4419-11A9-BDA4-8CA3866493C2}"/>
              </a:ext>
            </a:extLst>
          </p:cNvPr>
          <p:cNvSpPr txBox="1"/>
          <p:nvPr/>
        </p:nvSpPr>
        <p:spPr>
          <a:xfrm>
            <a:off x="1939894" y="1346770"/>
            <a:ext cx="8312212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核心思路是：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214E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用两个独立的均匀分布随机数，</a:t>
            </a:r>
            <a:r>
              <a:rPr lang="en-US" altLang="zh-CN" b="1" dirty="0">
                <a:solidFill>
                  <a:srgbClr val="0214E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x1, x2 ~ U(0, 1)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214E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通过一个数学变换，得到两个独立的标准正态分布随机数。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utoUpdateAnimBg="0"/>
      <p:bldP spid="8199" grpId="0" autoUpdateAnimBg="0"/>
      <p:bldP spid="8200" grpId="0" autoUpdateAnimBg="0"/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1D6D4-254F-AF0C-73F2-674976CA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ACFACC-C41F-E058-5361-F9FB468EF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A72783BE-DCFC-A1E4-03A5-BBFA80C2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838200"/>
            <a:ext cx="48063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方法</a:t>
            </a:r>
            <a:r>
              <a:rPr lang="en-US" altLang="zh-CN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利用变换抽样法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_GB2312" charset="0"/>
              </a:rPr>
              <a:t>（</a:t>
            </a:r>
            <a:r>
              <a:rPr lang="en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Box–Muller 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_GB2312" charset="0"/>
              </a:rPr>
              <a:t>）</a:t>
            </a:r>
            <a:endParaRPr lang="zh-CN" altLang="en-US" b="1" dirty="0">
              <a:solidFill>
                <a:srgbClr val="FF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EB62EC2D-CC3E-76E9-2CE1-28E603D25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064" y="1963688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</a:p>
        </p:txBody>
      </p:sp>
      <p:grpSp>
        <p:nvGrpSpPr>
          <p:cNvPr id="8203" name="Group 11">
            <a:extLst>
              <a:ext uri="{FF2B5EF4-FFF2-40B4-BE49-F238E27FC236}">
                <a16:creationId xmlns:a16="http://schemas.microsoft.com/office/drawing/2014/main" id="{EA052D59-9D04-3AD4-2F95-25F0EE6B5AB6}"/>
              </a:ext>
            </a:extLst>
          </p:cNvPr>
          <p:cNvGrpSpPr>
            <a:grpSpLocks/>
          </p:cNvGrpSpPr>
          <p:nvPr/>
        </p:nvGrpSpPr>
        <p:grpSpPr bwMode="auto">
          <a:xfrm>
            <a:off x="3071664" y="2420888"/>
            <a:ext cx="6553200" cy="1524000"/>
            <a:chOff x="960" y="3120"/>
            <a:chExt cx="4128" cy="960"/>
          </a:xfrm>
        </p:grpSpPr>
        <p:graphicFrame>
          <p:nvGraphicFramePr>
            <p:cNvPr id="11275" name="Object 12">
              <a:extLst>
                <a:ext uri="{FF2B5EF4-FFF2-40B4-BE49-F238E27FC236}">
                  <a16:creationId xmlns:a16="http://schemas.microsoft.com/office/drawing/2014/main" id="{872A3EF6-E5E8-762B-787B-6F6FF0FAC0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3504"/>
            <a:ext cx="2057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3891200" imgH="12293600" progId="Equation.3">
                    <p:embed/>
                  </p:oleObj>
                </mc:Choice>
                <mc:Fallback>
                  <p:oleObj name="Equation" r:id="rId2" imgW="43891200" imgH="12293600" progId="Equation.3">
                    <p:embed/>
                    <p:pic>
                      <p:nvPicPr>
                        <p:cNvPr id="11275" name="Object 12">
                          <a:extLst>
                            <a:ext uri="{FF2B5EF4-FFF2-40B4-BE49-F238E27FC236}">
                              <a16:creationId xmlns:a16="http://schemas.microsoft.com/office/drawing/2014/main" id="{73639442-3C58-4598-AA57-F85179F39D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504"/>
                          <a:ext cx="2057" cy="576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hlink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5" name="Rectangle 13">
              <a:extLst>
                <a:ext uri="{FF2B5EF4-FFF2-40B4-BE49-F238E27FC236}">
                  <a16:creationId xmlns:a16="http://schemas.microsoft.com/office/drawing/2014/main" id="{FB17F496-50BF-93F4-8A59-3395207F2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120"/>
              <a:ext cx="4128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1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）产生一对</a:t>
              </a: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[0,1]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区间均匀分布的随机数</a:t>
              </a: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</a:t>
              </a:r>
              <a:r>
                <a:rPr lang="en-US" altLang="zh-CN" b="1" baseline="-25000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1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和</a:t>
              </a: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</a:t>
              </a:r>
              <a:r>
                <a:rPr lang="en-US" altLang="zh-CN" b="1" baseline="-25000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2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；</a:t>
              </a:r>
              <a:endPara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2</a:t>
              </a:r>
              <a:r>
                <a:rPr lang="zh-CN" altLang="en-US" b="1" dirty="0">
                  <a:solidFill>
                    <a:srgbClr val="070709"/>
                  </a:solidFill>
                  <a:latin typeface="Times New Roman" charset="0"/>
                  <a:ea typeface="楷体_GB2312" charset="0"/>
                  <a:cs typeface="楷体_GB2312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31138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utoUpdateAnimBg="0"/>
      <p:bldP spid="8202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EEEC7-F167-9D8D-3BA7-7555A29D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_GB2312" charset="0"/>
              </a:rPr>
              <a:t>（</a:t>
            </a:r>
            <a:r>
              <a:rPr lang="en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Box–Muller 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_GB2312" charset="0"/>
              </a:rPr>
              <a:t>）推导思路</a:t>
            </a:r>
            <a:endParaRPr kumimoji="1"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56DA8C4-1E6F-2DD9-FD18-E27CA6E93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561" y="760124"/>
            <a:ext cx="5086297" cy="589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90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7B35B6A-920D-9434-3F73-30DFE4DF3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ACE7C1EA-C4AC-73E8-CEC5-CE4C4314BC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9514" y="1676401"/>
          <a:ext cx="8218487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870300" imgH="43294300" progId="Equation.3">
                  <p:embed/>
                </p:oleObj>
              </mc:Choice>
              <mc:Fallback>
                <p:oleObj name="Equation" r:id="rId2" imgW="79870300" imgH="43294300" progId="Equation.3">
                  <p:embed/>
                  <p:pic>
                    <p:nvPicPr>
                      <p:cNvPr id="9219" name="Object 3">
                        <a:extLst>
                          <a:ext uri="{FF2B5EF4-FFF2-40B4-BE49-F238E27FC236}">
                            <a16:creationId xmlns:a16="http://schemas.microsoft.com/office/drawing/2014/main" id="{ACE7C1EA-C4AC-73E8-CEC5-CE4C4314BC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4" y="1676401"/>
                        <a:ext cx="8218487" cy="35274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>
            <a:extLst>
              <a:ext uri="{FF2B5EF4-FFF2-40B4-BE49-F238E27FC236}">
                <a16:creationId xmlns:a16="http://schemas.microsoft.com/office/drawing/2014/main" id="{B57F8863-3726-C7B8-F08A-B8D117D9A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685800"/>
            <a:ext cx="7086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证明用此方法抽取的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en-US" altLang="zh-CN" b="1" baseline="-2500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1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,y</a:t>
            </a:r>
            <a:r>
              <a:rPr lang="en-US" altLang="zh-CN" b="1" baseline="-2500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满足上面的联合概率分布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178F51F-0029-00F3-D861-686E88FC3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1219200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雅可比行列式：</a:t>
            </a:r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2DC66A22-BEFD-B400-868F-698D2CD2CB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5486400"/>
          <a:ext cx="48355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33800" imgH="5854700" progId="Equation.3">
                  <p:embed/>
                </p:oleObj>
              </mc:Choice>
              <mc:Fallback>
                <p:oleObj name="Equation" r:id="rId4" imgW="41833800" imgH="5854700" progId="Equation.3">
                  <p:embed/>
                  <p:pic>
                    <p:nvPicPr>
                      <p:cNvPr id="9222" name="Object 6">
                        <a:extLst>
                          <a:ext uri="{FF2B5EF4-FFF2-40B4-BE49-F238E27FC236}">
                            <a16:creationId xmlns:a16="http://schemas.microsoft.com/office/drawing/2014/main" id="{2DC66A22-BEFD-B400-868F-698D2CD2CB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5486400"/>
                        <a:ext cx="4835525" cy="4762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  <p:bldP spid="922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6F2A9-5D72-C2EE-A163-A653304A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0491C14-1581-8AEB-281A-208E8BAAA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0" y="2483644"/>
            <a:ext cx="8293100" cy="3035300"/>
          </a:xfrm>
          <a:prstGeom prst="rect">
            <a:avLst/>
          </a:prstGeom>
        </p:spPr>
      </p:pic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B6BD3A2-8195-50F4-466E-31453B6A8AC4}"/>
              </a:ext>
            </a:extLst>
          </p:cNvPr>
          <p:cNvCxnSpPr>
            <a:cxnSpLocks/>
          </p:cNvCxnSpPr>
          <p:nvPr/>
        </p:nvCxnSpPr>
        <p:spPr bwMode="auto">
          <a:xfrm>
            <a:off x="2423592" y="3861048"/>
            <a:ext cx="468052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CD8075C-5CEB-A4FD-118A-07854CAEEB63}"/>
              </a:ext>
            </a:extLst>
          </p:cNvPr>
          <p:cNvCxnSpPr>
            <a:cxnSpLocks/>
          </p:cNvCxnSpPr>
          <p:nvPr/>
        </p:nvCxnSpPr>
        <p:spPr bwMode="auto">
          <a:xfrm>
            <a:off x="2423592" y="4149080"/>
            <a:ext cx="468052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FDFFFD2E-2B41-B063-6840-B6653126C46D}"/>
              </a:ext>
            </a:extLst>
          </p:cNvPr>
          <p:cNvCxnSpPr>
            <a:cxnSpLocks/>
          </p:cNvCxnSpPr>
          <p:nvPr/>
        </p:nvCxnSpPr>
        <p:spPr bwMode="auto">
          <a:xfrm>
            <a:off x="3359696" y="3573016"/>
            <a:ext cx="352839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02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7713B06-22F0-E668-804D-14BCB36B9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graphicFrame>
        <p:nvGraphicFramePr>
          <p:cNvPr id="10243" name="Object 3">
            <a:extLst>
              <a:ext uri="{FF2B5EF4-FFF2-40B4-BE49-F238E27FC236}">
                <a16:creationId xmlns:a16="http://schemas.microsoft.com/office/drawing/2014/main" id="{D8422251-3252-5A37-3490-2D1F29642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1524001"/>
          <a:ext cx="48752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0162400" imgH="10820400" progId="Equation.3">
                  <p:embed/>
                </p:oleObj>
              </mc:Choice>
              <mc:Fallback>
                <p:oleObj name="Equation" r:id="rId2" imgW="80162400" imgH="10820400" progId="Equation.3">
                  <p:embed/>
                  <p:pic>
                    <p:nvPicPr>
                      <p:cNvPr id="10243" name="Object 3">
                        <a:extLst>
                          <a:ext uri="{FF2B5EF4-FFF2-40B4-BE49-F238E27FC236}">
                            <a16:creationId xmlns:a16="http://schemas.microsoft.com/office/drawing/2014/main" id="{D8422251-3252-5A37-3490-2D1F29642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524001"/>
                        <a:ext cx="4875213" cy="6588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0EB90A15-72A0-2034-BFEA-119BE9B14B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8914" y="2667000"/>
          <a:ext cx="1474787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66600" imgH="18719800" progId="Equation.3">
                  <p:embed/>
                </p:oleObj>
              </mc:Choice>
              <mc:Fallback>
                <p:oleObj name="Equation" r:id="rId4" imgW="24866600" imgH="18719800" progId="Equation.3">
                  <p:embed/>
                  <p:pic>
                    <p:nvPicPr>
                      <p:cNvPr id="10244" name="Object 4">
                        <a:extLst>
                          <a:ext uri="{FF2B5EF4-FFF2-40B4-BE49-F238E27FC236}">
                            <a16:creationId xmlns:a16="http://schemas.microsoft.com/office/drawing/2014/main" id="{0EB90A15-72A0-2034-BFEA-119BE9B14B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4" y="2667000"/>
                        <a:ext cx="1474787" cy="11112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2BC22961-6443-4F2B-F8A6-BAF6C12634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743200"/>
          <a:ext cx="18288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77200" imgH="12293600" progId="Equation.3">
                  <p:embed/>
                </p:oleObj>
              </mc:Choice>
              <mc:Fallback>
                <p:oleObj name="Equation" r:id="rId6" imgW="20777200" imgH="12293600" progId="Equation.3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2BC22961-6443-4F2B-F8A6-BAF6C12634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743200"/>
                        <a:ext cx="1828800" cy="1081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AB3C0AE4-B133-F722-C027-A56205B4CF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4495800"/>
          <a:ext cx="739140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31100" imgH="21653500" progId="Equation.3">
                  <p:embed/>
                </p:oleObj>
              </mc:Choice>
              <mc:Fallback>
                <p:oleObj name="Equation" r:id="rId8" imgW="109131100" imgH="21653500" progId="Equation.3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AB3C0AE4-B133-F722-C027-A56205B4CF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7391400" cy="14668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571901FC-E1C4-FF20-1867-CFF63B87D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612775"/>
            <a:ext cx="2492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方法</a:t>
            </a:r>
            <a:r>
              <a:rPr lang="en-US" altLang="zh-CN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b="1" dirty="0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采用极坐标变换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CB5FC6C3-598D-18B6-BE23-AE59A5032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066800"/>
            <a:ext cx="7239000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和</a:t>
            </a:r>
            <a:r>
              <a:rPr lang="en-US" altLang="zh-CN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是两个相互独立的、服从</a:t>
            </a:r>
            <a:r>
              <a:rPr lang="zh-CN" altLang="en-US" b="1" dirty="0">
                <a:solidFill>
                  <a:schemeClr val="tx2"/>
                </a:solidFill>
                <a:latin typeface="Times New Roman" charset="0"/>
                <a:ea typeface="楷体_GB2312" charset="0"/>
                <a:cs typeface="楷体_GB2312" charset="0"/>
              </a:rPr>
              <a:t>标准正态分布</a:t>
            </a:r>
            <a:r>
              <a:rPr lang="zh-CN" altLang="en-US" b="1" dirty="0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的随机数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E2B9B5FF-48BB-8284-49EF-DCECF9C6D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20980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变换：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3F9761A7-7DE5-1BE2-91CF-F167E886F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208213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反变换：</a:t>
            </a:r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E99311FD-EEF1-EDEB-0A6A-E031ABF49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962400"/>
            <a:ext cx="3672800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则变量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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和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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的联合概率密度函数为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F7B7A93F-4ED9-A998-2CF6-D28FC1593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6096000"/>
            <a:ext cx="54938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</a:rPr>
              <a:t>即</a:t>
            </a:r>
            <a:r>
              <a:rPr lang="en-US" altLang="zh-CN" b="1">
                <a:solidFill>
                  <a:srgbClr val="070709"/>
                </a:solidFill>
                <a:latin typeface="Helvetica" charset="0"/>
                <a:ea typeface="宋体" charset="0"/>
                <a:sym typeface="Symbol" charset="0"/>
              </a:rPr>
              <a:t></a:t>
            </a:r>
            <a:r>
              <a:rPr lang="zh-CN" altLang="en-US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在</a:t>
            </a:r>
            <a:r>
              <a:rPr lang="en-US" altLang="zh-CN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</a:rPr>
              <a:t>[0,2</a:t>
            </a:r>
            <a:r>
              <a:rPr lang="en-US" altLang="zh-CN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  <a:sym typeface="Symbol" charset="0"/>
              </a:rPr>
              <a:t></a:t>
            </a:r>
            <a:r>
              <a:rPr lang="en-US" altLang="zh-CN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</a:rPr>
              <a:t>] </a:t>
            </a:r>
            <a:r>
              <a:rPr lang="zh-CN" altLang="en-US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</a:rPr>
              <a:t>区间上均匀分布</a:t>
            </a:r>
            <a:r>
              <a:rPr lang="en-US" altLang="zh-CN" b="1">
                <a:solidFill>
                  <a:srgbClr val="070709"/>
                </a:solidFill>
                <a:latin typeface="楷体_GB2312" charset="0"/>
                <a:ea typeface="楷体_GB2312" charset="0"/>
                <a:cs typeface="楷体_GB2312" charset="0"/>
              </a:rPr>
              <a:t>, 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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服从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</a:t>
            </a:r>
            <a:r>
              <a:rPr lang="en-US" altLang="zh-CN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 = 1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的</a:t>
            </a: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指数分布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autoUpdateAnimBg="0"/>
      <p:bldP spid="10248" grpId="0" autoUpdateAnimBg="0"/>
      <p:bldP spid="10249" grpId="0" autoUpdateAnimBg="0"/>
      <p:bldP spid="10250" grpId="0" autoUpdateAnimBg="0"/>
      <p:bldP spid="10251" grpId="0" autoUpdateAnimBg="0"/>
      <p:bldP spid="1025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8D4F03A-653C-5D95-03B4-5FA4F63AA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5334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1E2FC01-3115-1047-AB60-0A23637DAA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3276600"/>
            <a:ext cx="8991600" cy="6096000"/>
          </a:xfrm>
        </p:spPr>
        <p:txBody>
          <a:bodyPr/>
          <a:lstStyle/>
          <a:p>
            <a:pPr>
              <a:buFontTx/>
              <a:buNone/>
            </a:pPr>
            <a:endParaRPr lang="en-US" altLang="zh-CN" sz="2400" b="1" dirty="0">
              <a:ea typeface="楷体_GB2312" pitchFamily="49" charset="-122"/>
            </a:endParaRPr>
          </a:p>
          <a:p>
            <a:endParaRPr lang="en-US" altLang="zh-CN" sz="3600" dirty="0"/>
          </a:p>
          <a:p>
            <a:pPr>
              <a:buFontTx/>
              <a:buNone/>
            </a:pPr>
            <a:r>
              <a:rPr lang="en-US" altLang="zh-CN" sz="2000" b="1" dirty="0">
                <a:ea typeface="楷体_GB2312" pitchFamily="49" charset="-122"/>
              </a:rPr>
              <a:t> 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8F27F634-CC11-197E-D4F3-A146B165F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7874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70709"/>
                </a:solidFill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13FBEA1E-D607-916B-5E67-783391FAD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1308100"/>
            <a:ext cx="59309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81000" indent="-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50000"/>
              </a:spcBef>
              <a:buFontTx/>
              <a:buChar char="–"/>
            </a:pPr>
            <a:r>
              <a:rPr lang="zh-CN" altLang="en-US" b="1">
                <a:solidFill>
                  <a:srgbClr val="070709"/>
                </a:solidFill>
                <a:ea typeface="楷体_GB2312" pitchFamily="49" charset="-122"/>
              </a:rPr>
              <a:t>产生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70709"/>
                </a:solidFill>
                <a:ea typeface="楷体_GB2312" pitchFamily="49" charset="-122"/>
              </a:rPr>
              <a:t>：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= 2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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r</a:t>
            </a:r>
            <a:r>
              <a:rPr lang="zh-CN" altLang="en-US" b="1">
                <a:solidFill>
                  <a:srgbClr val="070709"/>
                </a:solidFill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U[0,1]</a:t>
            </a:r>
            <a:endParaRPr lang="en-US" altLang="zh-CN" b="1">
              <a:solidFill>
                <a:srgbClr val="070709"/>
              </a:solidFill>
              <a:ea typeface="楷体_GB2312" pitchFamily="49" charset="-122"/>
            </a:endParaRP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zh-CN" altLang="en-US" b="1">
                <a:solidFill>
                  <a:srgbClr val="070709"/>
                </a:solidFill>
                <a:ea typeface="楷体_GB2312" pitchFamily="49" charset="-122"/>
              </a:rPr>
              <a:t>产生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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70709"/>
                </a:solidFill>
                <a:ea typeface="楷体_GB2312" pitchFamily="49" charset="-122"/>
              </a:rPr>
              <a:t>：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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= -ln r</a:t>
            </a:r>
            <a:r>
              <a:rPr lang="zh-CN" altLang="en-US" b="1">
                <a:solidFill>
                  <a:srgbClr val="070709"/>
                </a:solidFill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</a:rPr>
              <a:t> r</a:t>
            </a:r>
            <a:r>
              <a:rPr lang="en-US" altLang="zh-CN" b="1">
                <a:solidFill>
                  <a:srgbClr val="070709"/>
                </a:solidFill>
                <a:ea typeface="楷体_GB2312" pitchFamily="49" charset="-122"/>
                <a:sym typeface="Symbol" pitchFamily="2" charset="2"/>
              </a:rPr>
              <a:t>U[0,1]</a:t>
            </a:r>
            <a:endParaRPr lang="en-US" altLang="zh-CN" b="1">
              <a:solidFill>
                <a:srgbClr val="070709"/>
              </a:solidFill>
              <a:ea typeface="楷体_GB2312" pitchFamily="49" charset="-122"/>
            </a:endParaRP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1"/>
              <a:t> </a:t>
            </a:r>
            <a:r>
              <a:rPr lang="en-US" altLang="zh-CN" b="1">
                <a:solidFill>
                  <a:srgbClr val="FF0000"/>
                </a:solidFill>
              </a:rPr>
              <a:t>x= (2</a:t>
            </a:r>
            <a:r>
              <a:rPr lang="en-US" altLang="zh-CN" b="1">
                <a:solidFill>
                  <a:srgbClr val="FF0000"/>
                </a:solidFill>
                <a:sym typeface="Symbol" pitchFamily="2" charset="2"/>
              </a:rPr>
              <a:t>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r>
              <a:rPr lang="en-US" altLang="zh-CN" b="1" baseline="30000">
                <a:solidFill>
                  <a:srgbClr val="FF0000"/>
                </a:solidFill>
              </a:rPr>
              <a:t>1/2</a:t>
            </a:r>
            <a:r>
              <a:rPr lang="en-US" altLang="zh-CN" b="1">
                <a:solidFill>
                  <a:srgbClr val="FF0000"/>
                </a:solidFill>
              </a:rPr>
              <a:t> cos</a:t>
            </a:r>
            <a:r>
              <a:rPr lang="en-US" altLang="zh-CN" b="1">
                <a:solidFill>
                  <a:srgbClr val="FF0000"/>
                </a:solidFill>
                <a:sym typeface="Symbol" pitchFamily="2" charset="2"/>
              </a:rPr>
              <a:t></a:t>
            </a:r>
            <a:r>
              <a:rPr lang="en-US" altLang="zh-CN" b="1"/>
              <a:t> </a:t>
            </a:r>
            <a:r>
              <a:rPr lang="zh-CN" altLang="en-US" b="1"/>
              <a:t>，</a:t>
            </a:r>
            <a:r>
              <a:rPr lang="en-US" altLang="zh-CN" b="1"/>
              <a:t> </a:t>
            </a:r>
            <a:r>
              <a:rPr lang="en-US" altLang="zh-CN" b="1">
                <a:solidFill>
                  <a:srgbClr val="FF0000"/>
                </a:solidFill>
              </a:rPr>
              <a:t>y=(2</a:t>
            </a:r>
            <a:r>
              <a:rPr lang="en-US" altLang="zh-CN" b="1">
                <a:solidFill>
                  <a:srgbClr val="FF0000"/>
                </a:solidFill>
                <a:sym typeface="Symbol" pitchFamily="2" charset="2"/>
              </a:rPr>
              <a:t>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r>
              <a:rPr lang="en-US" altLang="zh-CN" b="1" baseline="30000">
                <a:solidFill>
                  <a:srgbClr val="FF0000"/>
                </a:solidFill>
              </a:rPr>
              <a:t>1/2</a:t>
            </a:r>
            <a:r>
              <a:rPr lang="en-US" altLang="zh-CN" b="1">
                <a:solidFill>
                  <a:srgbClr val="FF0000"/>
                </a:solidFill>
              </a:rPr>
              <a:t> sin</a:t>
            </a:r>
            <a:r>
              <a:rPr lang="en-US" altLang="zh-CN" b="1">
                <a:solidFill>
                  <a:srgbClr val="FF0000"/>
                </a:solidFill>
                <a:sym typeface="Symbol" pitchFamily="2" charset="2"/>
              </a:rPr>
              <a:t>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C4AC65-FE17-9849-3325-E917D838F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63102"/>
            <a:ext cx="7772400" cy="29509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971ED96-86D1-CBD2-2B29-19D2F1E6F50D}"/>
              </a:ext>
            </a:extLst>
          </p:cNvPr>
          <p:cNvSpPr txBox="1"/>
          <p:nvPr/>
        </p:nvSpPr>
        <p:spPr>
          <a:xfrm>
            <a:off x="7248128" y="1253391"/>
            <a:ext cx="3310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此法等价于 </a:t>
            </a:r>
            <a:r>
              <a:rPr lang="en-US" altLang="zh-CN" dirty="0">
                <a:solidFill>
                  <a:schemeClr val="tx2"/>
                </a:solidFill>
              </a:rPr>
              <a:t>Box–Muller</a:t>
            </a:r>
            <a:r>
              <a:rPr lang="zh-CN" altLang="en-US" dirty="0">
                <a:solidFill>
                  <a:schemeClr val="tx2"/>
                </a:solidFill>
              </a:rPr>
              <a:t>，但计算量更少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21432006-252E-E1D1-AECC-F025EDD4E335}"/>
              </a:ext>
            </a:extLst>
          </p:cNvPr>
          <p:cNvCxnSpPr>
            <a:cxnSpLocks/>
          </p:cNvCxnSpPr>
          <p:nvPr/>
        </p:nvCxnSpPr>
        <p:spPr bwMode="auto">
          <a:xfrm>
            <a:off x="2711624" y="5301208"/>
            <a:ext cx="468052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BBDB3271-FAE5-E3F5-4D5F-E3915FC2B4D0}"/>
              </a:ext>
            </a:extLst>
          </p:cNvPr>
          <p:cNvCxnSpPr>
            <a:cxnSpLocks/>
          </p:cNvCxnSpPr>
          <p:nvPr/>
        </p:nvCxnSpPr>
        <p:spPr bwMode="auto">
          <a:xfrm>
            <a:off x="2711624" y="5589240"/>
            <a:ext cx="468052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80744CC3-CB9C-781D-9FF6-E4D472C0BF13}"/>
              </a:ext>
            </a:extLst>
          </p:cNvPr>
          <p:cNvCxnSpPr>
            <a:cxnSpLocks/>
          </p:cNvCxnSpPr>
          <p:nvPr/>
        </p:nvCxnSpPr>
        <p:spPr bwMode="auto">
          <a:xfrm>
            <a:off x="3647728" y="5013176"/>
            <a:ext cx="2592288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7CDA3FB-8E18-9529-0F03-AB9947E6BA9D}"/>
              </a:ext>
            </a:extLst>
          </p:cNvPr>
          <p:cNvCxnSpPr>
            <a:cxnSpLocks/>
          </p:cNvCxnSpPr>
          <p:nvPr/>
        </p:nvCxnSpPr>
        <p:spPr bwMode="auto">
          <a:xfrm>
            <a:off x="3575720" y="4797152"/>
            <a:ext cx="252028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  <p:bldP spid="11269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85C4915-6DD8-215E-0323-7118E48EA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533400"/>
          </a:xfrm>
        </p:spPr>
        <p:txBody>
          <a:bodyPr/>
          <a:lstStyle/>
          <a:p>
            <a:pPr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50BFE5B-8AA3-1E9B-E91A-B2245CA26D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3276600"/>
            <a:ext cx="8991600" cy="6096000"/>
          </a:xfrm>
        </p:spPr>
        <p:txBody>
          <a:bodyPr/>
          <a:lstStyle/>
          <a:p>
            <a:pPr>
              <a:buFontTx/>
              <a:buNone/>
            </a:pPr>
            <a:endParaRPr lang="en-US" altLang="zh-CN" sz="2400" b="1">
              <a:ea typeface="楷体_GB2312" pitchFamily="49" charset="-122"/>
            </a:endParaRPr>
          </a:p>
          <a:p>
            <a:endParaRPr lang="en-US" altLang="zh-CN" sz="3600"/>
          </a:p>
          <a:p>
            <a:pPr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 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B0ABBDC-1418-AC82-0CEC-FCB4C8D7A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685800"/>
            <a:ext cx="7620000" cy="226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void test()  {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c1 = new </a:t>
            </a:r>
            <a:r>
              <a:rPr lang="en-US" altLang="zh-CN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TCanvas</a:t>
            </a: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("c1","Histogram Drawing Options",200,10,700,900);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c1-&gt;Divide(1,2);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TH1F * h1 = new TH1F("h1","h1",100,-5.0,5.0);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TH1F * h2 = new TH1F("h2","h2",100,-5.0,5.0);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 </a:t>
            </a:r>
            <a:r>
              <a:rPr lang="en-US" altLang="zh-CN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SetSeed</a:t>
            </a:r>
            <a:r>
              <a:rPr lang="en-US" altLang="zh-CN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(9, 11)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1ED24A6-3AB7-6010-04AA-A48AF6447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6781800" cy="3345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Const Pi = 3.1415926;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en-US" altLang="zh-CN" sz="2000" dirty="0">
              <a:solidFill>
                <a:srgbClr val="070709"/>
              </a:solidFill>
              <a:latin typeface="Times New Roman" charset="0"/>
              <a:ea typeface="宋体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for(int </a:t>
            </a:r>
            <a:r>
              <a:rPr lang="en-US" altLang="zh-CN" sz="2000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i</a:t>
            </a: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=0; </a:t>
            </a:r>
            <a:r>
              <a:rPr lang="en-US" altLang="zh-CN" sz="2000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i</a:t>
            </a: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&lt; 50000; </a:t>
            </a:r>
            <a:r>
              <a:rPr lang="en-US" altLang="zh-CN" sz="2000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i</a:t>
            </a: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++) {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  double x = </a:t>
            </a:r>
            <a:r>
              <a:rPr lang="en-US" altLang="zh-CN" sz="2000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randac</a:t>
            </a: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();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  double y = </a:t>
            </a:r>
            <a:r>
              <a:rPr lang="en-US" altLang="zh-CN" sz="2000" dirty="0" err="1">
                <a:solidFill>
                  <a:srgbClr val="070709"/>
                </a:solidFill>
                <a:latin typeface="Times New Roman" charset="0"/>
                <a:ea typeface="宋体" charset="0"/>
              </a:rPr>
              <a:t>randac</a:t>
            </a: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();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  float y1 = sqrt(-2.0*log(x))*cos(2.0*Pi*y);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  float y2 = sqrt(-2.0*log(x))*sin(2.0*Pi*y);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  h1-&gt;Fill(y1); h2-&gt;Fill(y2);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}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  c1-&gt;cd(1);h1-&gt;Draw();  c1-&gt;cd(2);h2-&gt;Draw();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70709"/>
                </a:solidFill>
                <a:latin typeface="Times New Roman" charset="0"/>
                <a:ea typeface="宋体" charset="0"/>
              </a:rPr>
              <a:t>}</a:t>
            </a:r>
          </a:p>
        </p:txBody>
      </p:sp>
    </p:spTree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7A2766A-BFF9-EAAD-ADE7-E574F636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</a:p>
        </p:txBody>
      </p:sp>
      <p:pic>
        <p:nvPicPr>
          <p:cNvPr id="16386" name="Picture 3" descr="D:\c1.gif">
            <a:extLst>
              <a:ext uri="{FF2B5EF4-FFF2-40B4-BE49-F238E27FC236}">
                <a16:creationId xmlns:a16="http://schemas.microsoft.com/office/drawing/2014/main" id="{C70D4AC2-7B39-6330-C2C1-29759BCCF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692697"/>
            <a:ext cx="5591175" cy="574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矩形 1">
            <a:extLst>
              <a:ext uri="{FF2B5EF4-FFF2-40B4-BE49-F238E27FC236}">
                <a16:creationId xmlns:a16="http://schemas.microsoft.com/office/drawing/2014/main" id="{5B723EA5-7BC1-D084-CD7A-7D8E03223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013075"/>
            <a:ext cx="4572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http://maths.gzhu.edu.cn/pslearn/res3.asp</a:t>
            </a: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C5759-B163-D7DF-0712-DF85E450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3.</a:t>
            </a:r>
            <a:r>
              <a:rPr lang="zh-CN" altLang="en-US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高斯分布的抽样方法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D2D45-3FAC-C1AB-CC1D-6F1FF8682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28" y="908721"/>
            <a:ext cx="8496944" cy="5563765"/>
          </a:xfrm>
          <a:solidFill>
            <a:schemeClr val="tx2"/>
          </a:solidFill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1600" dirty="0">
                <a:solidFill>
                  <a:srgbClr val="6FF0FF"/>
                </a:solidFill>
                <a:latin typeface="Menlo" panose="020B0609030804020204" pitchFamily="49" charset="0"/>
              </a:rPr>
              <a:t>#include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"</a:t>
            </a:r>
            <a:r>
              <a:rPr lang="en-US" altLang="zh-CN" sz="1600" dirty="0" err="1">
                <a:solidFill>
                  <a:srgbClr val="FC46FF"/>
                </a:solidFill>
                <a:latin typeface="Menlo" panose="020B0609030804020204" pitchFamily="49" charset="0"/>
              </a:rPr>
              <a:t>TCanvas.h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"</a:t>
            </a:r>
          </a:p>
          <a:p>
            <a:pPr>
              <a:buNone/>
            </a:pPr>
            <a:r>
              <a:rPr lang="en-US" altLang="zh-CN" sz="1600" u="sng" dirty="0">
                <a:solidFill>
                  <a:srgbClr val="6FF0FF"/>
                </a:solidFill>
                <a:latin typeface="Menlo" panose="020B0609030804020204" pitchFamily="49" charset="0"/>
              </a:rPr>
              <a:t>#include </a:t>
            </a:r>
            <a:r>
              <a:rPr lang="en-US" altLang="zh-CN" sz="1600" u="sng" dirty="0">
                <a:solidFill>
                  <a:srgbClr val="FC46FF"/>
                </a:solidFill>
                <a:latin typeface="Menlo" panose="020B0609030804020204" pitchFamily="49" charset="0"/>
              </a:rPr>
              <a:t>"TH1F.h"</a:t>
            </a:r>
            <a:r>
              <a:rPr lang="en-US" altLang="zh-CN" sz="1600" u="sng" dirty="0">
                <a:solidFill>
                  <a:srgbClr val="CDBE97"/>
                </a:solidFill>
                <a:latin typeface="Menlo" panose="020B0609030804020204" pitchFamily="49" charset="0"/>
              </a:rPr>
              <a:t> </a:t>
            </a:r>
            <a:endParaRPr lang="en-US" altLang="zh-CN" sz="1600" dirty="0">
              <a:solidFill>
                <a:srgbClr val="CDBE97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6FF0FF"/>
                </a:solidFill>
                <a:latin typeface="Menlo" panose="020B0609030804020204" pitchFamily="49" charset="0"/>
              </a:rPr>
              <a:t>#include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"TRandom3.h"</a:t>
            </a:r>
            <a:endParaRPr lang="en-US" altLang="zh-CN" sz="1600" dirty="0">
              <a:solidFill>
                <a:srgbClr val="CDBE97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85FFAC"/>
                </a:solidFill>
                <a:latin typeface="Menlo" panose="020B0609030804020204" pitchFamily="49" charset="0"/>
              </a:rPr>
              <a:t>void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compareGaussian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() {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>
                <a:solidFill>
                  <a:srgbClr val="85FFAC"/>
                </a:solidFill>
                <a:latin typeface="Menlo" panose="020B0609030804020204" pitchFamily="49" charset="0"/>
              </a:rPr>
              <a:t>const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Int_t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N =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50000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;       </a:t>
            </a:r>
            <a:r>
              <a:rPr lang="en-US" altLang="zh-CN" sz="1600" dirty="0">
                <a:solidFill>
                  <a:srgbClr val="3FFFFD"/>
                </a:solidFill>
                <a:latin typeface="Menlo" panose="020B0609030804020204" pitchFamily="49" charset="0"/>
              </a:rPr>
              <a:t>// </a:t>
            </a:r>
            <a:r>
              <a:rPr lang="zh-CN" altLang="en-US" sz="1600" dirty="0">
                <a:solidFill>
                  <a:srgbClr val="3FFFFD"/>
                </a:solidFill>
                <a:latin typeface="Menlo" panose="020B0609030804020204" pitchFamily="49" charset="0"/>
              </a:rPr>
              <a:t>每种方法生成样本数</a:t>
            </a:r>
            <a:endParaRPr lang="zh-CN" altLang="en-US" sz="1600" dirty="0">
              <a:solidFill>
                <a:srgbClr val="CDBE97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zh-CN" altLang="en-US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TRandom3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rng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2025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);          </a:t>
            </a:r>
            <a:r>
              <a:rPr lang="en-US" altLang="zh-CN" sz="1600" dirty="0">
                <a:solidFill>
                  <a:srgbClr val="3FFFFD"/>
                </a:solidFill>
                <a:latin typeface="Menlo" panose="020B0609030804020204" pitchFamily="49" charset="0"/>
              </a:rPr>
              <a:t>// </a:t>
            </a:r>
            <a:r>
              <a:rPr lang="zh-CN" altLang="en-US" sz="1600" dirty="0">
                <a:solidFill>
                  <a:srgbClr val="3FFFFD"/>
                </a:solidFill>
                <a:latin typeface="Menlo" panose="020B0609030804020204" pitchFamily="49" charset="0"/>
              </a:rPr>
              <a:t>随机数引擎，固定种子以便可复现</a:t>
            </a:r>
            <a:br>
              <a:rPr lang="zh-CN" altLang="en-US" sz="1600" dirty="0">
                <a:solidFill>
                  <a:srgbClr val="CDBE97"/>
                </a:solidFill>
                <a:latin typeface="Menlo" panose="020B0609030804020204" pitchFamily="49" charset="0"/>
              </a:rPr>
            </a:br>
            <a:endParaRPr lang="zh-CN" altLang="en-US" sz="1600" dirty="0">
              <a:solidFill>
                <a:srgbClr val="CDBE97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zh-CN" altLang="en-US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>
                <a:solidFill>
                  <a:srgbClr val="3FFFFD"/>
                </a:solidFill>
                <a:latin typeface="Menlo" panose="020B0609030804020204" pitchFamily="49" charset="0"/>
              </a:rPr>
              <a:t>// </a:t>
            </a:r>
            <a:r>
              <a:rPr lang="zh-CN" altLang="en-US" sz="1600" dirty="0">
                <a:solidFill>
                  <a:srgbClr val="3FFFFD"/>
                </a:solidFill>
                <a:latin typeface="Menlo" panose="020B0609030804020204" pitchFamily="49" charset="0"/>
              </a:rPr>
              <a:t>创建画布，分 </a:t>
            </a:r>
            <a:r>
              <a:rPr lang="en-US" altLang="zh-CN" sz="1600" dirty="0">
                <a:solidFill>
                  <a:srgbClr val="3FFFFD"/>
                </a:solidFill>
                <a:latin typeface="Menlo" panose="020B0609030804020204" pitchFamily="49" charset="0"/>
              </a:rPr>
              <a:t>3 </a:t>
            </a:r>
            <a:r>
              <a:rPr lang="zh-CN" altLang="en-US" sz="1600" dirty="0">
                <a:solidFill>
                  <a:srgbClr val="3FFFFD"/>
                </a:solidFill>
                <a:latin typeface="Menlo" panose="020B0609030804020204" pitchFamily="49" charset="0"/>
              </a:rPr>
              <a:t>列</a:t>
            </a:r>
          </a:p>
          <a:p>
            <a:pPr>
              <a:buNone/>
            </a:pPr>
            <a:r>
              <a:rPr lang="zh-CN" altLang="en-US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TCanvas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* c = new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TCanvas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"</a:t>
            </a:r>
            <a:r>
              <a:rPr lang="en-US" altLang="zh-CN" sz="1600" dirty="0" err="1">
                <a:solidFill>
                  <a:srgbClr val="FC46FF"/>
                </a:solidFill>
                <a:latin typeface="Menlo" panose="020B0609030804020204" pitchFamily="49" charset="0"/>
              </a:rPr>
              <a:t>c"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 err="1">
                <a:solidFill>
                  <a:srgbClr val="FC46FF"/>
                </a:solidFill>
                <a:latin typeface="Menlo" panose="020B0609030804020204" pitchFamily="49" charset="0"/>
              </a:rPr>
              <a:t>"Gaussian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 Sampling Comparison"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1200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400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);</a:t>
            </a:r>
            <a:endParaRPr lang="en-US" altLang="zh-CN" sz="1600" dirty="0">
              <a:solidFill>
                <a:srgbClr val="FC46FF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c-&gt;Divide(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3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1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);</a:t>
            </a:r>
            <a:b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</a:br>
            <a:endParaRPr lang="en-US" altLang="zh-CN" sz="1600" dirty="0">
              <a:solidFill>
                <a:srgbClr val="CDBE97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>
                <a:solidFill>
                  <a:srgbClr val="3FFFFD"/>
                </a:solidFill>
                <a:latin typeface="Menlo" panose="020B0609030804020204" pitchFamily="49" charset="0"/>
              </a:rPr>
              <a:t>// 1. </a:t>
            </a:r>
            <a:r>
              <a:rPr lang="zh-CN" altLang="en-US" sz="1600" dirty="0">
                <a:solidFill>
                  <a:srgbClr val="3FFFFD"/>
                </a:solidFill>
                <a:latin typeface="Menlo" panose="020B0609030804020204" pitchFamily="49" charset="0"/>
              </a:rPr>
              <a:t>中心极限定理近似法</a:t>
            </a:r>
          </a:p>
          <a:p>
            <a:pPr>
              <a:buNone/>
            </a:pPr>
            <a:r>
              <a:rPr lang="zh-CN" altLang="en-US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TH1F* h1 = new TH1F(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"h1"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"CLT Approx N(0,1);x;Counts"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100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,-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5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5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);</a:t>
            </a:r>
            <a:endParaRPr lang="en-US" altLang="zh-CN" sz="1600" dirty="0">
              <a:solidFill>
                <a:srgbClr val="FC46FF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</a:t>
            </a:r>
            <a:r>
              <a:rPr lang="en-US" altLang="zh-CN" sz="1600" dirty="0">
                <a:solidFill>
                  <a:srgbClr val="F4F71F"/>
                </a:solidFill>
                <a:latin typeface="Menlo" panose="020B0609030804020204" pitchFamily="49" charset="0"/>
              </a:rPr>
              <a:t>for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(</a:t>
            </a:r>
            <a:r>
              <a:rPr lang="en-US" altLang="zh-CN" sz="1600" dirty="0">
                <a:solidFill>
                  <a:srgbClr val="85FFAC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i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=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;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i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&lt; N; ++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i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    </a:t>
            </a:r>
            <a:r>
              <a:rPr lang="en-US" altLang="zh-CN" sz="1600" dirty="0">
                <a:solidFill>
                  <a:srgbClr val="85FFAC"/>
                </a:solidFill>
                <a:latin typeface="Menlo" panose="020B0609030804020204" pitchFamily="49" charset="0"/>
              </a:rPr>
              <a:t>double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sum =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    </a:t>
            </a:r>
            <a:r>
              <a:rPr lang="en-US" altLang="zh-CN" sz="1600" dirty="0">
                <a:solidFill>
                  <a:srgbClr val="F4F71F"/>
                </a:solidFill>
                <a:latin typeface="Menlo" panose="020B0609030804020204" pitchFamily="49" charset="0"/>
              </a:rPr>
              <a:t>for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(</a:t>
            </a:r>
            <a:r>
              <a:rPr lang="en-US" altLang="zh-CN" sz="1600" dirty="0">
                <a:solidFill>
                  <a:srgbClr val="85FFAC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 k =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; k &lt;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12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; ++k) sum += </a:t>
            </a:r>
            <a:r>
              <a:rPr lang="en-US" altLang="zh-CN" sz="1600" dirty="0" err="1">
                <a:solidFill>
                  <a:srgbClr val="CDBE97"/>
                </a:solidFill>
                <a:latin typeface="Menlo" panose="020B0609030804020204" pitchFamily="49" charset="0"/>
              </a:rPr>
              <a:t>rng.Uniform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();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    h1-&gt;Fill(sum - </a:t>
            </a:r>
            <a:r>
              <a:rPr lang="en-US" altLang="zh-CN" sz="1600" dirty="0">
                <a:solidFill>
                  <a:srgbClr val="FC46FF"/>
                </a:solidFill>
                <a:latin typeface="Menlo" panose="020B0609030804020204" pitchFamily="49" charset="0"/>
              </a:rPr>
              <a:t>6.0</a:t>
            </a: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DBE97"/>
                </a:solidFill>
                <a:latin typeface="Menlo" panose="020B0609030804020204" pitchFamily="49" charset="0"/>
              </a:rPr>
              <a:t>    }</a:t>
            </a:r>
          </a:p>
          <a:p>
            <a:pPr>
              <a:buNone/>
            </a:pPr>
            <a:endParaRPr lang="en-US" altLang="zh-CN" sz="1600" dirty="0">
              <a:solidFill>
                <a:srgbClr val="CDBE97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45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A7874-0DBA-33DD-FC75-645264DF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F1190C-70B7-77D4-CBEA-CF9E8605DF88}"/>
              </a:ext>
            </a:extLst>
          </p:cNvPr>
          <p:cNvSpPr txBox="1"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SzPct val="90000"/>
              <a:buNone/>
              <a:defRPr sz="1600">
                <a:solidFill>
                  <a:srgbClr val="6FF0FF"/>
                </a:solidFill>
                <a:effectLst/>
                <a:latin typeface="Menlo" panose="020B0609030804020204" pitchFamily="49" charset="0"/>
                <a:ea typeface="+mn-ea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2"/>
              </a:buBlip>
              <a:defRPr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3"/>
              </a:buBlip>
              <a:defRPr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4"/>
              </a:buBlip>
              <a:defRPr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altLang="zh-CN" sz="1400" dirty="0">
                <a:solidFill>
                  <a:srgbClr val="3FFFFD"/>
                </a:solidFill>
              </a:rPr>
              <a:t>// 2. Box–Muller </a:t>
            </a:r>
            <a:r>
              <a:rPr lang="zh-CN" altLang="en-US" sz="1400" dirty="0">
                <a:solidFill>
                  <a:srgbClr val="3FFFFD"/>
                </a:solidFill>
              </a:rPr>
              <a:t>变换法</a:t>
            </a:r>
          </a:p>
          <a:p>
            <a:pPr>
              <a:buNone/>
            </a:pPr>
            <a:r>
              <a:rPr lang="zh-CN" altLang="en-US" sz="1400" dirty="0">
                <a:solidFill>
                  <a:srgbClr val="CDBE97"/>
                </a:solidFill>
              </a:rPr>
              <a:t>    </a:t>
            </a:r>
            <a:r>
              <a:rPr lang="en-US" altLang="zh-CN" sz="1400" dirty="0">
                <a:solidFill>
                  <a:srgbClr val="CDBE97"/>
                </a:solidFill>
              </a:rPr>
              <a:t>TH1F* h2 = new TH1F(</a:t>
            </a:r>
            <a:r>
              <a:rPr lang="en-US" altLang="zh-CN" sz="1400" dirty="0">
                <a:solidFill>
                  <a:srgbClr val="FC46FF"/>
                </a:solidFill>
              </a:rPr>
              <a:t>"h2"</a:t>
            </a:r>
            <a:r>
              <a:rPr lang="en-US" altLang="zh-CN" sz="1400" dirty="0">
                <a:solidFill>
                  <a:srgbClr val="CDBE97"/>
                </a:solidFill>
              </a:rPr>
              <a:t>,</a:t>
            </a:r>
            <a:r>
              <a:rPr lang="en-US" altLang="zh-CN" sz="1400" dirty="0">
                <a:solidFill>
                  <a:srgbClr val="FC46FF"/>
                </a:solidFill>
              </a:rPr>
              <a:t>"Box–Muller N(0,1);x;Counts"</a:t>
            </a:r>
            <a:r>
              <a:rPr lang="en-US" altLang="zh-CN" sz="1400" dirty="0">
                <a:solidFill>
                  <a:srgbClr val="CDBE97"/>
                </a:solidFill>
              </a:rPr>
              <a:t>,</a:t>
            </a:r>
            <a:r>
              <a:rPr lang="en-US" altLang="zh-CN" sz="1400" dirty="0">
                <a:solidFill>
                  <a:srgbClr val="FC46FF"/>
                </a:solidFill>
              </a:rPr>
              <a:t>100</a:t>
            </a:r>
            <a:r>
              <a:rPr lang="en-US" altLang="zh-CN" sz="1400" dirty="0">
                <a:solidFill>
                  <a:srgbClr val="CDBE97"/>
                </a:solidFill>
              </a:rPr>
              <a:t>,-</a:t>
            </a:r>
            <a:r>
              <a:rPr lang="en-US" altLang="zh-CN" sz="1400" dirty="0">
                <a:solidFill>
                  <a:srgbClr val="FC46FF"/>
                </a:solidFill>
              </a:rPr>
              <a:t>5</a:t>
            </a:r>
            <a:r>
              <a:rPr lang="en-US" altLang="zh-CN" sz="1400" dirty="0">
                <a:solidFill>
                  <a:srgbClr val="CDBE97"/>
                </a:solidFill>
              </a:rPr>
              <a:t>,</a:t>
            </a:r>
            <a:r>
              <a:rPr lang="en-US" altLang="zh-CN" sz="1400" dirty="0">
                <a:solidFill>
                  <a:srgbClr val="FC46FF"/>
                </a:solidFill>
              </a:rPr>
              <a:t>5</a:t>
            </a:r>
            <a:r>
              <a:rPr lang="en-US" altLang="zh-CN" sz="1400" dirty="0">
                <a:solidFill>
                  <a:srgbClr val="CDBE97"/>
                </a:solidFill>
              </a:rPr>
              <a:t>);</a:t>
            </a:r>
            <a:endParaRPr lang="en-US" altLang="zh-CN" sz="1400" dirty="0">
              <a:solidFill>
                <a:srgbClr val="FC46FF"/>
              </a:solidFill>
            </a:endParaRP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</a:t>
            </a:r>
            <a:r>
              <a:rPr lang="en-US" altLang="zh-CN" sz="1400" dirty="0">
                <a:solidFill>
                  <a:srgbClr val="F4F71F"/>
                </a:solidFill>
              </a:rPr>
              <a:t>for</a:t>
            </a:r>
            <a:r>
              <a:rPr lang="en-US" altLang="zh-CN" sz="1400" dirty="0">
                <a:solidFill>
                  <a:srgbClr val="CDBE97"/>
                </a:solidFill>
              </a:rPr>
              <a:t> (</a:t>
            </a:r>
            <a:r>
              <a:rPr lang="en-US" altLang="zh-CN" sz="1400" dirty="0">
                <a:solidFill>
                  <a:srgbClr val="85FFAC"/>
                </a:solidFill>
              </a:rPr>
              <a:t>int</a:t>
            </a:r>
            <a:r>
              <a:rPr lang="en-US" altLang="zh-CN" sz="1400" dirty="0">
                <a:solidFill>
                  <a:srgbClr val="CDBE97"/>
                </a:solidFill>
              </a:rPr>
              <a:t> </a:t>
            </a:r>
            <a:r>
              <a:rPr lang="en-US" altLang="zh-CN" sz="1400" dirty="0" err="1">
                <a:solidFill>
                  <a:srgbClr val="CDBE97"/>
                </a:solidFill>
              </a:rPr>
              <a:t>i</a:t>
            </a:r>
            <a:r>
              <a:rPr lang="en-US" altLang="zh-CN" sz="1400" dirty="0">
                <a:solidFill>
                  <a:srgbClr val="CDBE97"/>
                </a:solidFill>
              </a:rPr>
              <a:t> = </a:t>
            </a:r>
            <a:r>
              <a:rPr lang="en-US" altLang="zh-CN" sz="1400" dirty="0">
                <a:solidFill>
                  <a:srgbClr val="FC46FF"/>
                </a:solidFill>
              </a:rPr>
              <a:t>0</a:t>
            </a:r>
            <a:r>
              <a:rPr lang="en-US" altLang="zh-CN" sz="1400" dirty="0">
                <a:solidFill>
                  <a:srgbClr val="CDBE97"/>
                </a:solidFill>
              </a:rPr>
              <a:t>; </a:t>
            </a:r>
            <a:r>
              <a:rPr lang="en-US" altLang="zh-CN" sz="1400" dirty="0" err="1">
                <a:solidFill>
                  <a:srgbClr val="CDBE97"/>
                </a:solidFill>
              </a:rPr>
              <a:t>i</a:t>
            </a:r>
            <a:r>
              <a:rPr lang="en-US" altLang="zh-CN" sz="1400" dirty="0">
                <a:solidFill>
                  <a:srgbClr val="CDBE97"/>
                </a:solidFill>
              </a:rPr>
              <a:t> &lt; N; ++</a:t>
            </a:r>
            <a:r>
              <a:rPr lang="en-US" altLang="zh-CN" sz="1400" dirty="0" err="1">
                <a:solidFill>
                  <a:srgbClr val="CDBE97"/>
                </a:solidFill>
              </a:rPr>
              <a:t>i</a:t>
            </a:r>
            <a:r>
              <a:rPr lang="en-US" altLang="zh-CN" sz="1400" dirty="0">
                <a:solidFill>
                  <a:srgbClr val="CDBE97"/>
                </a:solidFill>
              </a:rPr>
              <a:t>) {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u1 = </a:t>
            </a:r>
            <a:r>
              <a:rPr lang="en-US" altLang="zh-CN" sz="1400" dirty="0" err="1">
                <a:solidFill>
                  <a:srgbClr val="CDBE97"/>
                </a:solidFill>
              </a:rPr>
              <a:t>rng.Uniform</a:t>
            </a:r>
            <a:r>
              <a:rPr lang="en-US" altLang="zh-CN" sz="1400" dirty="0">
                <a:solidFill>
                  <a:srgbClr val="CDBE97"/>
                </a:solidFill>
              </a:rPr>
              <a:t>();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u2 = </a:t>
            </a:r>
            <a:r>
              <a:rPr lang="en-US" altLang="zh-CN" sz="1400" dirty="0" err="1">
                <a:solidFill>
                  <a:srgbClr val="CDBE97"/>
                </a:solidFill>
              </a:rPr>
              <a:t>rng.Uniform</a:t>
            </a:r>
            <a:r>
              <a:rPr lang="en-US" altLang="zh-CN" sz="1400" dirty="0">
                <a:solidFill>
                  <a:srgbClr val="CDBE97"/>
                </a:solidFill>
              </a:rPr>
              <a:t>();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r  = sqrt(-</a:t>
            </a:r>
            <a:r>
              <a:rPr lang="en-US" altLang="zh-CN" sz="1400" dirty="0">
                <a:solidFill>
                  <a:srgbClr val="FC46FF"/>
                </a:solidFill>
              </a:rPr>
              <a:t>2.0</a:t>
            </a:r>
            <a:r>
              <a:rPr lang="en-US" altLang="zh-CN" sz="1400" dirty="0">
                <a:solidFill>
                  <a:srgbClr val="CDBE97"/>
                </a:solidFill>
              </a:rPr>
              <a:t> * log(u1));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y1 = r * cos(</a:t>
            </a:r>
            <a:r>
              <a:rPr lang="en-US" altLang="zh-CN" sz="1400" dirty="0">
                <a:solidFill>
                  <a:srgbClr val="FC46FF"/>
                </a:solidFill>
              </a:rPr>
              <a:t>2</a:t>
            </a:r>
            <a:r>
              <a:rPr lang="en-US" altLang="zh-CN" sz="1400" dirty="0">
                <a:solidFill>
                  <a:srgbClr val="CDBE97"/>
                </a:solidFill>
              </a:rPr>
              <a:t> * </a:t>
            </a:r>
            <a:r>
              <a:rPr lang="en-US" altLang="zh-CN" sz="1400" dirty="0">
                <a:solidFill>
                  <a:srgbClr val="FC46FF"/>
                </a:solidFill>
              </a:rPr>
              <a:t>M_PI</a:t>
            </a:r>
            <a:r>
              <a:rPr lang="en-US" altLang="zh-CN" sz="1400" dirty="0">
                <a:solidFill>
                  <a:srgbClr val="CDBE97"/>
                </a:solidFill>
              </a:rPr>
              <a:t> * u2);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y2 = r * sin(</a:t>
            </a:r>
            <a:r>
              <a:rPr lang="en-US" altLang="zh-CN" sz="1400" dirty="0">
                <a:solidFill>
                  <a:srgbClr val="FC46FF"/>
                </a:solidFill>
              </a:rPr>
              <a:t>2</a:t>
            </a:r>
            <a:r>
              <a:rPr lang="en-US" altLang="zh-CN" sz="1400" dirty="0">
                <a:solidFill>
                  <a:srgbClr val="CDBE97"/>
                </a:solidFill>
              </a:rPr>
              <a:t> * </a:t>
            </a:r>
            <a:r>
              <a:rPr lang="en-US" altLang="zh-CN" sz="1400" dirty="0">
                <a:solidFill>
                  <a:srgbClr val="FC46FF"/>
                </a:solidFill>
              </a:rPr>
              <a:t>M_PI</a:t>
            </a:r>
            <a:r>
              <a:rPr lang="en-US" altLang="zh-CN" sz="1400" dirty="0">
                <a:solidFill>
                  <a:srgbClr val="CDBE97"/>
                </a:solidFill>
              </a:rPr>
              <a:t> * u2);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h2-&gt;Fill(y1);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h2-&gt;Fill(y2);</a:t>
            </a:r>
          </a:p>
          <a:p>
            <a:r>
              <a:rPr lang="en-US" altLang="zh-CN" sz="1400" dirty="0">
                <a:solidFill>
                  <a:srgbClr val="CDBE97"/>
                </a:solidFill>
              </a:rPr>
              <a:t>    }</a:t>
            </a:r>
          </a:p>
          <a:p>
            <a:pPr>
              <a:buNone/>
            </a:pPr>
            <a:r>
              <a:rPr lang="en-US" altLang="zh-CN" sz="1400" dirty="0">
                <a:solidFill>
                  <a:srgbClr val="3FFFFD"/>
                </a:solidFill>
              </a:rPr>
              <a:t>// 3. </a:t>
            </a:r>
            <a:r>
              <a:rPr lang="zh-CN" altLang="en-US" sz="1400" dirty="0">
                <a:solidFill>
                  <a:srgbClr val="3FFFFD"/>
                </a:solidFill>
              </a:rPr>
              <a:t>极坐标（</a:t>
            </a:r>
            <a:r>
              <a:rPr lang="en-US" altLang="zh-CN" sz="1400" dirty="0">
                <a:solidFill>
                  <a:srgbClr val="3FFFFD"/>
                </a:solidFill>
              </a:rPr>
              <a:t>Polar</a:t>
            </a:r>
            <a:r>
              <a:rPr lang="zh-CN" altLang="en-US" sz="1400" dirty="0">
                <a:solidFill>
                  <a:srgbClr val="3FFFFD"/>
                </a:solidFill>
              </a:rPr>
              <a:t>）法</a:t>
            </a:r>
          </a:p>
          <a:p>
            <a:pPr>
              <a:buNone/>
            </a:pPr>
            <a:r>
              <a:rPr lang="zh-CN" altLang="en-US" sz="1400" dirty="0">
                <a:solidFill>
                  <a:srgbClr val="CDBE97"/>
                </a:solidFill>
              </a:rPr>
              <a:t>    </a:t>
            </a:r>
            <a:r>
              <a:rPr lang="en-US" altLang="zh-CN" sz="1400" dirty="0">
                <a:solidFill>
                  <a:srgbClr val="CDBE97"/>
                </a:solidFill>
              </a:rPr>
              <a:t>TH1F* h3 = new TH1F(</a:t>
            </a:r>
            <a:r>
              <a:rPr lang="en-US" altLang="zh-CN" sz="1400" dirty="0">
                <a:solidFill>
                  <a:srgbClr val="FC46FF"/>
                </a:solidFill>
              </a:rPr>
              <a:t>"h3"</a:t>
            </a:r>
            <a:r>
              <a:rPr lang="en-US" altLang="zh-CN" sz="1400" dirty="0">
                <a:solidFill>
                  <a:srgbClr val="CDBE97"/>
                </a:solidFill>
              </a:rPr>
              <a:t>,</a:t>
            </a:r>
            <a:r>
              <a:rPr lang="en-US" altLang="zh-CN" sz="1400" dirty="0">
                <a:solidFill>
                  <a:srgbClr val="FC46FF"/>
                </a:solidFill>
              </a:rPr>
              <a:t>"Polar Method N(0,1);x;Counts"</a:t>
            </a:r>
            <a:r>
              <a:rPr lang="en-US" altLang="zh-CN" sz="1400" dirty="0">
                <a:solidFill>
                  <a:srgbClr val="CDBE97"/>
                </a:solidFill>
              </a:rPr>
              <a:t>,</a:t>
            </a:r>
            <a:r>
              <a:rPr lang="en-US" altLang="zh-CN" sz="1400" dirty="0">
                <a:solidFill>
                  <a:srgbClr val="FC46FF"/>
                </a:solidFill>
              </a:rPr>
              <a:t>100</a:t>
            </a:r>
            <a:r>
              <a:rPr lang="en-US" altLang="zh-CN" sz="1400" dirty="0">
                <a:solidFill>
                  <a:srgbClr val="CDBE97"/>
                </a:solidFill>
              </a:rPr>
              <a:t>,-</a:t>
            </a:r>
            <a:r>
              <a:rPr lang="en-US" altLang="zh-CN" sz="1400" dirty="0">
                <a:solidFill>
                  <a:srgbClr val="FC46FF"/>
                </a:solidFill>
              </a:rPr>
              <a:t>5</a:t>
            </a:r>
            <a:r>
              <a:rPr lang="en-US" altLang="zh-CN" sz="1400" dirty="0">
                <a:solidFill>
                  <a:srgbClr val="CDBE97"/>
                </a:solidFill>
              </a:rPr>
              <a:t>,</a:t>
            </a:r>
            <a:r>
              <a:rPr lang="en-US" altLang="zh-CN" sz="1400" dirty="0">
                <a:solidFill>
                  <a:srgbClr val="FC46FF"/>
                </a:solidFill>
              </a:rPr>
              <a:t>5</a:t>
            </a:r>
            <a:r>
              <a:rPr lang="en-US" altLang="zh-CN" sz="1400" dirty="0">
                <a:solidFill>
                  <a:srgbClr val="CDBE97"/>
                </a:solidFill>
              </a:rPr>
              <a:t>);</a:t>
            </a:r>
            <a:endParaRPr lang="en-US" altLang="zh-CN" sz="1400" dirty="0">
              <a:solidFill>
                <a:srgbClr val="FC46FF"/>
              </a:solidFill>
            </a:endParaRP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</a:t>
            </a:r>
            <a:r>
              <a:rPr lang="en-US" altLang="zh-CN" sz="1400" dirty="0">
                <a:solidFill>
                  <a:srgbClr val="F4F71F"/>
                </a:solidFill>
              </a:rPr>
              <a:t>for</a:t>
            </a:r>
            <a:r>
              <a:rPr lang="en-US" altLang="zh-CN" sz="1400" dirty="0">
                <a:solidFill>
                  <a:srgbClr val="CDBE97"/>
                </a:solidFill>
              </a:rPr>
              <a:t> (</a:t>
            </a:r>
            <a:r>
              <a:rPr lang="en-US" altLang="zh-CN" sz="1400" dirty="0">
                <a:solidFill>
                  <a:srgbClr val="85FFAC"/>
                </a:solidFill>
              </a:rPr>
              <a:t>int</a:t>
            </a:r>
            <a:r>
              <a:rPr lang="en-US" altLang="zh-CN" sz="1400" dirty="0">
                <a:solidFill>
                  <a:srgbClr val="CDBE97"/>
                </a:solidFill>
              </a:rPr>
              <a:t> </a:t>
            </a:r>
            <a:r>
              <a:rPr lang="en-US" altLang="zh-CN" sz="1400" dirty="0" err="1">
                <a:solidFill>
                  <a:srgbClr val="CDBE97"/>
                </a:solidFill>
              </a:rPr>
              <a:t>i</a:t>
            </a:r>
            <a:r>
              <a:rPr lang="en-US" altLang="zh-CN" sz="1400" dirty="0">
                <a:solidFill>
                  <a:srgbClr val="CDBE97"/>
                </a:solidFill>
              </a:rPr>
              <a:t> = </a:t>
            </a:r>
            <a:r>
              <a:rPr lang="en-US" altLang="zh-CN" sz="1400" dirty="0">
                <a:solidFill>
                  <a:srgbClr val="FC46FF"/>
                </a:solidFill>
              </a:rPr>
              <a:t>0</a:t>
            </a:r>
            <a:r>
              <a:rPr lang="en-US" altLang="zh-CN" sz="1400" dirty="0">
                <a:solidFill>
                  <a:srgbClr val="CDBE97"/>
                </a:solidFill>
              </a:rPr>
              <a:t>; </a:t>
            </a:r>
            <a:r>
              <a:rPr lang="en-US" altLang="zh-CN" sz="1400" dirty="0" err="1">
                <a:solidFill>
                  <a:srgbClr val="CDBE97"/>
                </a:solidFill>
              </a:rPr>
              <a:t>i</a:t>
            </a:r>
            <a:r>
              <a:rPr lang="en-US" altLang="zh-CN" sz="1400" dirty="0">
                <a:solidFill>
                  <a:srgbClr val="CDBE97"/>
                </a:solidFill>
              </a:rPr>
              <a:t> &lt; N; ++</a:t>
            </a:r>
            <a:r>
              <a:rPr lang="en-US" altLang="zh-CN" sz="1400" dirty="0" err="1">
                <a:solidFill>
                  <a:srgbClr val="CDBE97"/>
                </a:solidFill>
              </a:rPr>
              <a:t>i</a:t>
            </a:r>
            <a:r>
              <a:rPr lang="en-US" altLang="zh-CN" sz="1400" dirty="0">
                <a:solidFill>
                  <a:srgbClr val="CDBE97"/>
                </a:solidFill>
              </a:rPr>
              <a:t>) {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u1 = </a:t>
            </a:r>
            <a:r>
              <a:rPr lang="en-US" altLang="zh-CN" sz="1400" dirty="0" err="1">
                <a:solidFill>
                  <a:srgbClr val="CDBE97"/>
                </a:solidFill>
              </a:rPr>
              <a:t>rng.Uniform</a:t>
            </a:r>
            <a:r>
              <a:rPr lang="en-US" altLang="zh-CN" sz="1400" dirty="0">
                <a:solidFill>
                  <a:srgbClr val="CDBE97"/>
                </a:solidFill>
              </a:rPr>
              <a:t>();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u2 = </a:t>
            </a:r>
            <a:r>
              <a:rPr lang="en-US" altLang="zh-CN" sz="1400" dirty="0" err="1">
                <a:solidFill>
                  <a:srgbClr val="CDBE97"/>
                </a:solidFill>
              </a:rPr>
              <a:t>rng.Uniform</a:t>
            </a:r>
            <a:r>
              <a:rPr lang="en-US" altLang="zh-CN" sz="1400" dirty="0">
                <a:solidFill>
                  <a:srgbClr val="CDBE97"/>
                </a:solidFill>
              </a:rPr>
              <a:t>();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rho   = -log(u1);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theta = </a:t>
            </a:r>
            <a:r>
              <a:rPr lang="en-US" altLang="zh-CN" sz="1400" dirty="0">
                <a:solidFill>
                  <a:srgbClr val="FC46FF"/>
                </a:solidFill>
              </a:rPr>
              <a:t>2</a:t>
            </a:r>
            <a:r>
              <a:rPr lang="en-US" altLang="zh-CN" sz="1400" dirty="0">
                <a:solidFill>
                  <a:srgbClr val="CDBE97"/>
                </a:solidFill>
              </a:rPr>
              <a:t> * </a:t>
            </a:r>
            <a:r>
              <a:rPr lang="en-US" altLang="zh-CN" sz="1400" dirty="0">
                <a:solidFill>
                  <a:srgbClr val="FC46FF"/>
                </a:solidFill>
              </a:rPr>
              <a:t>M_PI</a:t>
            </a:r>
            <a:r>
              <a:rPr lang="en-US" altLang="zh-CN" sz="1400" dirty="0">
                <a:solidFill>
                  <a:srgbClr val="CDBE97"/>
                </a:solidFill>
              </a:rPr>
              <a:t> * u2;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x = sqrt(</a:t>
            </a:r>
            <a:r>
              <a:rPr lang="en-US" altLang="zh-CN" sz="1400" dirty="0">
                <a:solidFill>
                  <a:srgbClr val="FC46FF"/>
                </a:solidFill>
              </a:rPr>
              <a:t>2.0</a:t>
            </a:r>
            <a:r>
              <a:rPr lang="en-US" altLang="zh-CN" sz="1400" dirty="0">
                <a:solidFill>
                  <a:srgbClr val="CDBE97"/>
                </a:solidFill>
              </a:rPr>
              <a:t> * rho) * cos(theta);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</a:t>
            </a:r>
            <a:r>
              <a:rPr lang="en-US" altLang="zh-CN" sz="1400" dirty="0">
                <a:solidFill>
                  <a:srgbClr val="85FFAC"/>
                </a:solidFill>
              </a:rPr>
              <a:t>double</a:t>
            </a:r>
            <a:r>
              <a:rPr lang="en-US" altLang="zh-CN" sz="1400" dirty="0">
                <a:solidFill>
                  <a:srgbClr val="CDBE97"/>
                </a:solidFill>
              </a:rPr>
              <a:t> y = sqrt(</a:t>
            </a:r>
            <a:r>
              <a:rPr lang="en-US" altLang="zh-CN" sz="1400" dirty="0">
                <a:solidFill>
                  <a:srgbClr val="FC46FF"/>
                </a:solidFill>
              </a:rPr>
              <a:t>2.0</a:t>
            </a:r>
            <a:r>
              <a:rPr lang="en-US" altLang="zh-CN" sz="1400" dirty="0">
                <a:solidFill>
                  <a:srgbClr val="CDBE97"/>
                </a:solidFill>
              </a:rPr>
              <a:t> * rho) * sin(theta);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h3-&gt;Fill(x);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    h3-&gt;Fill(y);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}</a:t>
            </a:r>
          </a:p>
          <a:p>
            <a:pPr>
              <a:buNone/>
            </a:pPr>
            <a:r>
              <a:rPr lang="en-US" altLang="zh-CN" sz="1400" dirty="0">
                <a:solidFill>
                  <a:srgbClr val="CDBE97"/>
                </a:solidFill>
              </a:rPr>
              <a:t>    </a:t>
            </a:r>
            <a:r>
              <a:rPr lang="en-US" altLang="zh-CN" sz="1400" dirty="0">
                <a:solidFill>
                  <a:srgbClr val="3FFFFD"/>
                </a:solidFill>
              </a:rPr>
              <a:t>// </a:t>
            </a:r>
            <a:r>
              <a:rPr lang="zh-CN" altLang="en-US" sz="1400" dirty="0">
                <a:solidFill>
                  <a:srgbClr val="3FFFFD"/>
                </a:solidFill>
              </a:rPr>
              <a:t>绘制</a:t>
            </a:r>
          </a:p>
          <a:p>
            <a:pPr>
              <a:buNone/>
            </a:pPr>
            <a:r>
              <a:rPr lang="zh-CN" altLang="en-US" sz="1400" dirty="0">
                <a:solidFill>
                  <a:srgbClr val="CDBE97"/>
                </a:solidFill>
              </a:rPr>
              <a:t>    </a:t>
            </a:r>
            <a:r>
              <a:rPr lang="en-US" altLang="zh-CN" sz="1400" dirty="0">
                <a:solidFill>
                  <a:srgbClr val="CDBE97"/>
                </a:solidFill>
              </a:rPr>
              <a:t>c-&gt;cd(</a:t>
            </a:r>
            <a:r>
              <a:rPr lang="en-US" altLang="zh-CN" sz="1400" dirty="0">
                <a:solidFill>
                  <a:srgbClr val="FC46FF"/>
                </a:solidFill>
              </a:rPr>
              <a:t>1</a:t>
            </a:r>
            <a:r>
              <a:rPr lang="en-US" altLang="zh-CN" sz="1400" dirty="0">
                <a:solidFill>
                  <a:srgbClr val="CDBE97"/>
                </a:solidFill>
              </a:rPr>
              <a:t>); h1-&gt;Draw();    c-&gt;cd(</a:t>
            </a:r>
            <a:r>
              <a:rPr lang="en-US" altLang="zh-CN" sz="1400" dirty="0">
                <a:solidFill>
                  <a:srgbClr val="FC46FF"/>
                </a:solidFill>
              </a:rPr>
              <a:t>2</a:t>
            </a:r>
            <a:r>
              <a:rPr lang="en-US" altLang="zh-CN" sz="1400" dirty="0">
                <a:solidFill>
                  <a:srgbClr val="CDBE97"/>
                </a:solidFill>
              </a:rPr>
              <a:t>); h2-&gt;Draw();       c-&gt;cd(</a:t>
            </a:r>
            <a:r>
              <a:rPr lang="en-US" altLang="zh-CN" sz="1400" dirty="0">
                <a:solidFill>
                  <a:srgbClr val="FC46FF"/>
                </a:solidFill>
              </a:rPr>
              <a:t>3</a:t>
            </a:r>
            <a:r>
              <a:rPr lang="en-US" altLang="zh-CN" sz="1400" dirty="0">
                <a:solidFill>
                  <a:srgbClr val="CDBE97"/>
                </a:solidFill>
              </a:rPr>
              <a:t>); h3-&gt;Draw();</a:t>
            </a:r>
          </a:p>
          <a:p>
            <a:r>
              <a:rPr lang="en-US" altLang="zh-CN" sz="1400" dirty="0">
                <a:solidFill>
                  <a:srgbClr val="CDBE97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45395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3C5C3-8587-105A-EEF4-80F7AA16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三种方法输出对比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BDAD5C5-6794-A3D2-8DE8-8C56F9574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850" y="1268761"/>
            <a:ext cx="8496300" cy="259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690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>
            <a:extLst>
              <a:ext uri="{FF2B5EF4-FFF2-40B4-BE49-F238E27FC236}">
                <a16:creationId xmlns:a16="http://schemas.microsoft.com/office/drawing/2014/main" id="{3BA5C819-D97B-F3DB-41DF-0EB687BD4E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3315" name="Rectangle 1027">
            <a:extLst>
              <a:ext uri="{FF2B5EF4-FFF2-40B4-BE49-F238E27FC236}">
                <a16:creationId xmlns:a16="http://schemas.microsoft.com/office/drawing/2014/main" id="{A3C26DA6-2481-DDA4-05FA-407ADC2F3D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1981200"/>
            <a:ext cx="7467600" cy="914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3316" name="Rectangle 1028">
            <a:extLst>
              <a:ext uri="{FF2B5EF4-FFF2-40B4-BE49-F238E27FC236}">
                <a16:creationId xmlns:a16="http://schemas.microsoft.com/office/drawing/2014/main" id="{E6DA4D4F-F9D5-F64C-F573-E96B8474B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84984"/>
            <a:ext cx="6553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3.5 </a:t>
            </a:r>
            <a:r>
              <a:rPr lang="zh-CN" altLang="en-US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舍选抽样法</a:t>
            </a:r>
            <a:endParaRPr lang="en-US" altLang="zh-CN" b="1" dirty="0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(acceptance-rejection sampling)</a:t>
            </a:r>
          </a:p>
        </p:txBody>
      </p:sp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38A2F03-12FD-8D0B-E667-83F586A6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3.5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舍选抽样法（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acceptance-rejection sampling)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401F482-163D-11AA-70C7-C048CF808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990600"/>
            <a:ext cx="2262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直接抽样法的困难：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1F788BD-3C0C-6727-CD95-3E181E050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52600"/>
            <a:ext cx="7467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2100" indent="-2921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许多随机变量的累积分布函数无法用解析函数给出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;</a:t>
            </a:r>
          </a:p>
          <a:p>
            <a:pPr>
              <a:buFontTx/>
              <a:buChar char="•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有些随机变量的累积分布函数的反函数不存在或难以求出；</a:t>
            </a:r>
            <a:endParaRPr lang="en-US" altLang="zh-CN" b="1">
              <a:solidFill>
                <a:srgbClr val="020202"/>
              </a:solidFill>
              <a:ea typeface="楷体_GB2312" pitchFamily="49" charset="-122"/>
            </a:endParaRPr>
          </a:p>
          <a:p>
            <a:pPr>
              <a:buFontTx/>
              <a:buChar char="•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即使反函数存在，但计算困难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50F9BB9-708D-FEB9-89DB-7D85E527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3754438"/>
            <a:ext cx="31021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舍选抽样法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(von Neumann)</a:t>
            </a:r>
            <a:r>
              <a:rPr lang="zh-CN" altLang="en-US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</a:rPr>
              <a:t>：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944A521-E34D-42B8-BACE-FD2A158D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572001"/>
            <a:ext cx="7391400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抽取随机变量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的一个随机序列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</a:rPr>
              <a:t>x</a:t>
            </a:r>
            <a:r>
              <a:rPr lang="en-US" altLang="zh-CN" b="1" i="1" baseline="-2500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</a:rPr>
              <a:t>, i=1,2,…,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按一定的舍选规则从中选出一个子序列，使其满足给定的概率分布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6" grpId="0" autoUpdateAnimBg="0"/>
      <p:bldP spid="3077" grpId="0" autoUpdateAnimBg="0"/>
      <p:bldP spid="3078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37E35F-2461-9667-55ED-84CA36E8B1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ABE70C5-EDF4-A499-270C-150060E4E2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1981200"/>
            <a:ext cx="7467600" cy="914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D6C50D73-040A-5CB2-AA16-862548628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971800"/>
            <a:ext cx="6553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3.5 </a:t>
            </a:r>
            <a:r>
              <a:rPr lang="zh-CN" altLang="en-US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舍选抽样法</a:t>
            </a:r>
            <a:endParaRPr lang="en-US" altLang="zh-CN" b="1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(acceptance-rejection sampling)</a:t>
            </a: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A971339D-EC7E-A363-30CB-9534D264F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4419601"/>
            <a:ext cx="3101975" cy="119697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9431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590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3048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3505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962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4419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AutoNum type="arabicPeriod"/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简单舍选抽样法</a:t>
            </a:r>
            <a:endParaRPr lang="en-US" altLang="zh-CN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pPr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改进的舍选抽样法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pPr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典型的例子</a:t>
            </a:r>
          </a:p>
        </p:txBody>
      </p:sp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E5223759-F109-8821-582C-F7895E291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1.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简单舍选抽样法</a:t>
            </a:r>
          </a:p>
        </p:txBody>
      </p:sp>
      <p:sp>
        <p:nvSpPr>
          <p:cNvPr id="20486" name="Rectangle 1030">
            <a:extLst>
              <a:ext uri="{FF2B5EF4-FFF2-40B4-BE49-F238E27FC236}">
                <a16:creationId xmlns:a16="http://schemas.microsoft.com/office/drawing/2014/main" id="{16EC8B73-B91E-FD66-2A7E-C6E261AD7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2743200"/>
            <a:ext cx="2031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舍选法抽样步骤：</a:t>
            </a:r>
            <a:endParaRPr lang="zh-CN" altLang="en-US" b="1">
              <a:solidFill>
                <a:srgbClr val="FF0000"/>
              </a:solidFill>
              <a:latin typeface="Times New Roman" charset="0"/>
              <a:ea typeface="楷体_GB2312" charset="0"/>
              <a:cs typeface="楷体_GB2312" charset="0"/>
              <a:sym typeface="Symbol" charset="0"/>
            </a:endParaRPr>
          </a:p>
        </p:txBody>
      </p:sp>
      <p:sp>
        <p:nvSpPr>
          <p:cNvPr id="20487" name="Rectangle 1031">
            <a:extLst>
              <a:ext uri="{FF2B5EF4-FFF2-40B4-BE49-F238E27FC236}">
                <a16:creationId xmlns:a16="http://schemas.microsoft.com/office/drawing/2014/main" id="{A578F54C-3EA5-D1CE-6407-BF0E1575C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276601"/>
            <a:ext cx="50292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产生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a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b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区间内均匀分布的随机数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:    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 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= (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b-a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+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a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 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U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0, 1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;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产生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[0,c]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区间内均匀分布的随机数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y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:   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y 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= c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 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U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0,1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;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当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y 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 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f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时，接受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为所需的随机数，否则，返回到第一步重新抽取一对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y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).</a:t>
            </a:r>
          </a:p>
        </p:txBody>
      </p:sp>
      <p:sp>
        <p:nvSpPr>
          <p:cNvPr id="20517" name="Rectangle 1061">
            <a:extLst>
              <a:ext uri="{FF2B5EF4-FFF2-40B4-BE49-F238E27FC236}">
                <a16:creationId xmlns:a16="http://schemas.microsoft.com/office/drawing/2014/main" id="{16180FCB-B756-5396-E865-ABFE07811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766763"/>
            <a:ext cx="6391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Von Neumann rejection method or Hit-and-miss method</a:t>
            </a:r>
            <a:endParaRPr lang="en-US" altLang="zh-CN" b="1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  <a:sym typeface="Symbol" charset="0"/>
            </a:endParaRPr>
          </a:p>
        </p:txBody>
      </p:sp>
      <p:sp>
        <p:nvSpPr>
          <p:cNvPr id="20518" name="Rectangle 1062">
            <a:extLst>
              <a:ext uri="{FF2B5EF4-FFF2-40B4-BE49-F238E27FC236}">
                <a16:creationId xmlns:a16="http://schemas.microsoft.com/office/drawing/2014/main" id="{6521DDEC-F0E2-7C5C-40E9-C4F04AC6B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371600"/>
            <a:ext cx="7848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设随机变量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的取值区间为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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a,b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其概率密度函数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f(x)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有界，即</a:t>
            </a:r>
          </a:p>
        </p:txBody>
      </p:sp>
      <p:graphicFrame>
        <p:nvGraphicFramePr>
          <p:cNvPr id="6150" name="Object 1063">
            <a:extLst>
              <a:ext uri="{FF2B5EF4-FFF2-40B4-BE49-F238E27FC236}">
                <a16:creationId xmlns:a16="http://schemas.microsoft.com/office/drawing/2014/main" id="{C481173A-0C7B-DAC9-D9D6-E953456330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2209801"/>
          <a:ext cx="3505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94900" imgH="4978400" progId="Equation.3">
                  <p:embed/>
                </p:oleObj>
              </mc:Choice>
              <mc:Fallback>
                <p:oleObj name="Equation" r:id="rId2" imgW="35394900" imgH="4978400" progId="Equation.3">
                  <p:embed/>
                  <p:pic>
                    <p:nvPicPr>
                      <p:cNvPr id="6150" name="Object 1063">
                        <a:extLst>
                          <a:ext uri="{FF2B5EF4-FFF2-40B4-BE49-F238E27FC236}">
                            <a16:creationId xmlns:a16="http://schemas.microsoft.com/office/drawing/2014/main" id="{C481173A-0C7B-DAC9-D9D6-E95345633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209801"/>
                        <a:ext cx="35052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1" name="Group 1080">
            <a:extLst>
              <a:ext uri="{FF2B5EF4-FFF2-40B4-BE49-F238E27FC236}">
                <a16:creationId xmlns:a16="http://schemas.microsoft.com/office/drawing/2014/main" id="{484B7487-9FA9-8E8C-37DB-5374BFEB5E55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2971800"/>
            <a:ext cx="2514600" cy="3113088"/>
            <a:chOff x="3888" y="1776"/>
            <a:chExt cx="1584" cy="1961"/>
          </a:xfrm>
        </p:grpSpPr>
        <p:sp>
          <p:nvSpPr>
            <p:cNvPr id="20521" name="Text Box 1065">
              <a:extLst>
                <a:ext uri="{FF2B5EF4-FFF2-40B4-BE49-F238E27FC236}">
                  <a16:creationId xmlns:a16="http://schemas.microsoft.com/office/drawing/2014/main" id="{5B974CFC-440B-C569-30F3-C25A2A73A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76"/>
              <a:ext cx="1288" cy="256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solidFill>
                    <a:srgbClr val="800000"/>
                  </a:solidFill>
                  <a:latin typeface="Times New Roman" charset="0"/>
                  <a:ea typeface="楷体_GB2312" charset="0"/>
                  <a:cs typeface="楷体_GB2312" charset="0"/>
                </a:rPr>
                <a:t>抽取</a:t>
              </a:r>
              <a:r>
                <a:rPr lang="en-US" altLang="zh-CN" sz="2000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r</a:t>
              </a:r>
              <a:r>
                <a:rPr lang="en-US" altLang="zh-CN" sz="2000" baseline="-25000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1</a:t>
              </a:r>
              <a:r>
                <a:rPr lang="en-US" altLang="zh-CN" sz="2000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,</a:t>
              </a:r>
              <a:r>
                <a:rPr lang="en-US" altLang="zh-CN" sz="2000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r</a:t>
              </a:r>
              <a:r>
                <a:rPr lang="en-US" altLang="zh-CN" sz="2000" baseline="-25000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2</a:t>
              </a:r>
              <a:r>
                <a:rPr lang="en-US" altLang="zh-CN" sz="2000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 </a:t>
              </a:r>
              <a:r>
                <a:rPr lang="en-US" altLang="zh-CN" sz="2000" b="1">
                  <a:solidFill>
                    <a:srgbClr val="800000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</a:t>
              </a:r>
              <a:r>
                <a:rPr lang="en-US" altLang="zh-CN" sz="2000" b="1" i="1">
                  <a:solidFill>
                    <a:srgbClr val="800000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U</a:t>
              </a:r>
              <a:r>
                <a:rPr lang="en-US" altLang="zh-CN" sz="2000" b="1">
                  <a:solidFill>
                    <a:srgbClr val="800000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[</a:t>
              </a:r>
              <a:r>
                <a:rPr lang="en-US" altLang="zh-CN" sz="2000" b="1" i="1">
                  <a:solidFill>
                    <a:srgbClr val="800000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0,1</a:t>
              </a:r>
              <a:r>
                <a:rPr lang="en-US" altLang="zh-CN" sz="2000" b="1">
                  <a:solidFill>
                    <a:srgbClr val="800000"/>
                  </a:solidFill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]</a:t>
              </a:r>
            </a:p>
          </p:txBody>
        </p:sp>
        <p:sp>
          <p:nvSpPr>
            <p:cNvPr id="20522" name="Text Box 1066">
              <a:extLst>
                <a:ext uri="{FF2B5EF4-FFF2-40B4-BE49-F238E27FC236}">
                  <a16:creationId xmlns:a16="http://schemas.microsoft.com/office/drawing/2014/main" id="{571344C2-DE76-4C31-551F-486C2F74C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08"/>
              <a:ext cx="1234" cy="407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  <a:sym typeface="Symbol" charset="0"/>
                </a:rPr>
                <a:t>x </a:t>
              </a: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= </a:t>
              </a: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a </a:t>
              </a: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+ (</a:t>
              </a: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b</a:t>
              </a: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-</a:t>
              </a: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a</a:t>
              </a: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)</a:t>
              </a: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r</a:t>
              </a:r>
              <a:r>
                <a:rPr lang="en-US" altLang="zh-CN" baseline="-25000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1</a:t>
              </a:r>
            </a:p>
            <a:p>
              <a:pPr>
                <a:defRPr/>
              </a:pP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y = cr</a:t>
              </a:r>
              <a:r>
                <a:rPr lang="en-US" altLang="zh-CN" i="1" baseline="-25000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2</a:t>
              </a:r>
            </a:p>
          </p:txBody>
        </p:sp>
        <p:grpSp>
          <p:nvGrpSpPr>
            <p:cNvPr id="6154" name="Group 1067">
              <a:extLst>
                <a:ext uri="{FF2B5EF4-FFF2-40B4-BE49-F238E27FC236}">
                  <a16:creationId xmlns:a16="http://schemas.microsoft.com/office/drawing/2014/main" id="{394B2282-FAEC-22E0-FFC3-0D980A1A13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2880"/>
              <a:ext cx="960" cy="336"/>
              <a:chOff x="3456" y="3648"/>
              <a:chExt cx="960" cy="336"/>
            </a:xfrm>
          </p:grpSpPr>
          <p:sp>
            <p:nvSpPr>
              <p:cNvPr id="20524" name="AutoShape 1068">
                <a:extLst>
                  <a:ext uri="{FF2B5EF4-FFF2-40B4-BE49-F238E27FC236}">
                    <a16:creationId xmlns:a16="http://schemas.microsoft.com/office/drawing/2014/main" id="{285C58A9-2B3D-9700-8E73-5FDAF4843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648"/>
                <a:ext cx="960" cy="336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rgbClr val="FF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0525" name="Text Box 1069">
                <a:extLst>
                  <a:ext uri="{FF2B5EF4-FFF2-40B4-BE49-F238E27FC236}">
                    <a16:creationId xmlns:a16="http://schemas.microsoft.com/office/drawing/2014/main" id="{8FA8F99A-290E-44A5-508B-31340F6283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3648"/>
                <a:ext cx="58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i="1">
                    <a:solidFill>
                      <a:srgbClr val="800000"/>
                    </a:solidFill>
                    <a:latin typeface="Times New Roman" charset="0"/>
                    <a:ea typeface="宋体" charset="0"/>
                  </a:rPr>
                  <a:t>y</a:t>
                </a:r>
                <a:r>
                  <a:rPr lang="en-US" altLang="zh-CN" baseline="-25000">
                    <a:solidFill>
                      <a:srgbClr val="800000"/>
                    </a:solidFill>
                    <a:latin typeface="Times New Roman" charset="0"/>
                    <a:ea typeface="宋体" charset="0"/>
                  </a:rPr>
                  <a:t>  </a:t>
                </a:r>
                <a:r>
                  <a:rPr lang="en-US" altLang="zh-CN">
                    <a:solidFill>
                      <a:srgbClr val="800000"/>
                    </a:solidFill>
                    <a:latin typeface="Times New Roman" charset="0"/>
                    <a:ea typeface="宋体" charset="0"/>
                    <a:sym typeface="Symbol" charset="0"/>
                  </a:rPr>
                  <a:t>  </a:t>
                </a:r>
                <a:r>
                  <a:rPr lang="en-US" altLang="zh-CN" i="1">
                    <a:solidFill>
                      <a:srgbClr val="800000"/>
                    </a:solidFill>
                    <a:latin typeface="Times New Roman" charset="0"/>
                    <a:ea typeface="宋体" charset="0"/>
                    <a:sym typeface="Symbol" charset="0"/>
                  </a:rPr>
                  <a:t>f</a:t>
                </a:r>
                <a:r>
                  <a:rPr lang="en-US" altLang="zh-CN">
                    <a:solidFill>
                      <a:srgbClr val="800000"/>
                    </a:solidFill>
                    <a:latin typeface="Times New Roman" charset="0"/>
                    <a:ea typeface="宋体" charset="0"/>
                    <a:sym typeface="Symbol" charset="0"/>
                  </a:rPr>
                  <a:t>(</a:t>
                </a:r>
                <a:r>
                  <a:rPr lang="en-US" altLang="zh-CN" i="1">
                    <a:solidFill>
                      <a:srgbClr val="800000"/>
                    </a:solidFill>
                    <a:latin typeface="Times New Roman" charset="0"/>
                    <a:ea typeface="宋体" charset="0"/>
                    <a:sym typeface="Symbol" charset="0"/>
                  </a:rPr>
                  <a:t>x</a:t>
                </a:r>
                <a:r>
                  <a:rPr lang="en-US" altLang="zh-CN">
                    <a:solidFill>
                      <a:srgbClr val="800000"/>
                    </a:solidFill>
                    <a:latin typeface="Times New Roman" charset="0"/>
                    <a:ea typeface="宋体" charset="0"/>
                    <a:sym typeface="Symbol" charset="0"/>
                  </a:rPr>
                  <a:t>)</a:t>
                </a:r>
                <a:endPara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20526" name="Text Box 1070">
              <a:extLst>
                <a:ext uri="{FF2B5EF4-FFF2-40B4-BE49-F238E27FC236}">
                  <a16:creationId xmlns:a16="http://schemas.microsoft.com/office/drawing/2014/main" id="{6A2CA9EA-1725-3A6E-C77C-0107B06B3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504"/>
              <a:ext cx="586" cy="233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X </a:t>
              </a: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= </a:t>
              </a:r>
              <a:r>
                <a:rPr lang="en-US" altLang="zh-CN" i="1">
                  <a:solidFill>
                    <a:srgbClr val="800000"/>
                  </a:solidFill>
                  <a:latin typeface="Times New Roman" charset="0"/>
                  <a:ea typeface="宋体" charset="0"/>
                  <a:sym typeface="Symbol" charset="0"/>
                </a:rPr>
                <a:t>x</a:t>
              </a:r>
              <a:endParaRPr lang="en-US" altLang="zh-CN" i="1">
                <a:solidFill>
                  <a:srgbClr val="800000"/>
                </a:solidFill>
                <a:latin typeface="Times New Roman" charset="0"/>
                <a:ea typeface="宋体" charset="0"/>
              </a:endParaRPr>
            </a:p>
          </p:txBody>
        </p:sp>
        <p:sp>
          <p:nvSpPr>
            <p:cNvPr id="20527" name="Line 1071">
              <a:extLst>
                <a:ext uri="{FF2B5EF4-FFF2-40B4-BE49-F238E27FC236}">
                  <a16:creationId xmlns:a16="http://schemas.microsoft.com/office/drawing/2014/main" id="{95461B57-34EE-0382-DC86-6D95ABB8B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016"/>
              <a:ext cx="0" cy="1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0528" name="Line 1072">
              <a:extLst>
                <a:ext uri="{FF2B5EF4-FFF2-40B4-BE49-F238E27FC236}">
                  <a16:creationId xmlns:a16="http://schemas.microsoft.com/office/drawing/2014/main" id="{049D9906-3A36-B7BF-24CE-A732BBE7F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688"/>
              <a:ext cx="0" cy="1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0529" name="Line 1073">
              <a:extLst>
                <a:ext uri="{FF2B5EF4-FFF2-40B4-BE49-F238E27FC236}">
                  <a16:creationId xmlns:a16="http://schemas.microsoft.com/office/drawing/2014/main" id="{A983836A-7380-516F-0CDB-19F6D8A0F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216"/>
              <a:ext cx="0" cy="2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grpSp>
          <p:nvGrpSpPr>
            <p:cNvPr id="6159" name="Group 1074">
              <a:extLst>
                <a:ext uri="{FF2B5EF4-FFF2-40B4-BE49-F238E27FC236}">
                  <a16:creationId xmlns:a16="http://schemas.microsoft.com/office/drawing/2014/main" id="{280EDD1C-A1C2-D972-85BD-FD3C6F112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1920"/>
              <a:ext cx="432" cy="1104"/>
              <a:chOff x="5088" y="2496"/>
              <a:chExt cx="432" cy="1008"/>
            </a:xfrm>
          </p:grpSpPr>
          <p:sp>
            <p:nvSpPr>
              <p:cNvPr id="20531" name="Line 1075">
                <a:extLst>
                  <a:ext uri="{FF2B5EF4-FFF2-40B4-BE49-F238E27FC236}">
                    <a16:creationId xmlns:a16="http://schemas.microsoft.com/office/drawing/2014/main" id="{B420443F-DA27-A647-5D88-3016E9B4D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50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0532" name="Line 1076">
                <a:extLst>
                  <a:ext uri="{FF2B5EF4-FFF2-40B4-BE49-F238E27FC236}">
                    <a16:creationId xmlns:a16="http://schemas.microsoft.com/office/drawing/2014/main" id="{73F7AFE7-E353-97F7-486E-9BAA3393C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20" y="249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0533" name="Line 1077">
                <a:extLst>
                  <a:ext uri="{FF2B5EF4-FFF2-40B4-BE49-F238E27FC236}">
                    <a16:creationId xmlns:a16="http://schemas.microsoft.com/office/drawing/2014/main" id="{A66E644F-2E7A-EE7D-BD91-F8311204E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32" y="249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20534" name="Text Box 1078">
              <a:extLst>
                <a:ext uri="{FF2B5EF4-FFF2-40B4-BE49-F238E27FC236}">
                  <a16:creationId xmlns:a16="http://schemas.microsoft.com/office/drawing/2014/main" id="{F400B888-2787-CFE4-FC74-DE5ABF4A1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168"/>
              <a:ext cx="1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  <a:sym typeface="Symbol" charset="0"/>
                </a:rPr>
                <a:t></a:t>
              </a:r>
              <a:endParaRPr lang="en-US" altLang="zh-CN">
                <a:solidFill>
                  <a:srgbClr val="800000"/>
                </a:solidFill>
                <a:latin typeface="Times New Roman" charset="0"/>
                <a:ea typeface="宋体" charset="0"/>
              </a:endParaRPr>
            </a:p>
          </p:txBody>
        </p:sp>
        <p:sp>
          <p:nvSpPr>
            <p:cNvPr id="20535" name="Text Box 1079">
              <a:extLst>
                <a:ext uri="{FF2B5EF4-FFF2-40B4-BE49-F238E27FC236}">
                  <a16:creationId xmlns:a16="http://schemas.microsoft.com/office/drawing/2014/main" id="{73D984FE-1036-5A4F-3727-56AC1207E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3050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800000"/>
                  </a:solidFill>
                  <a:latin typeface="Times New Roman" charset="0"/>
                  <a:ea typeface="宋体" charset="0"/>
                </a:rPr>
                <a:t>&gt;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utoUpdateAnimBg="0"/>
      <p:bldP spid="20487" grpId="0" autoUpdateAnimBg="0"/>
      <p:bldP spid="20517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>
            <a:extLst>
              <a:ext uri="{FF2B5EF4-FFF2-40B4-BE49-F238E27FC236}">
                <a16:creationId xmlns:a16="http://schemas.microsoft.com/office/drawing/2014/main" id="{B0E1A796-6314-ED67-67CF-9888135C0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1.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简单舍选抽样法</a:t>
            </a:r>
          </a:p>
        </p:txBody>
      </p:sp>
      <p:sp>
        <p:nvSpPr>
          <p:cNvPr id="21513" name="Rectangle 1033" descr="羊皮纸">
            <a:extLst>
              <a:ext uri="{FF2B5EF4-FFF2-40B4-BE49-F238E27FC236}">
                <a16:creationId xmlns:a16="http://schemas.microsoft.com/office/drawing/2014/main" id="{A0B13399-F32A-0D78-9D5B-1718C63B0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6925" y="2306638"/>
            <a:ext cx="2859088" cy="19748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14" name="Line 1034">
            <a:extLst>
              <a:ext uri="{FF2B5EF4-FFF2-40B4-BE49-F238E27FC236}">
                <a16:creationId xmlns:a16="http://schemas.microsoft.com/office/drawing/2014/main" id="{C0833B5B-BC7C-F995-2B0C-25FBC10A73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7813" y="1319214"/>
            <a:ext cx="0" cy="2962275"/>
          </a:xfrm>
          <a:prstGeom prst="line">
            <a:avLst/>
          </a:prstGeom>
          <a:noFill/>
          <a:ln w="28575">
            <a:solidFill>
              <a:srgbClr val="02020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15" name="Line 1035">
            <a:extLst>
              <a:ext uri="{FF2B5EF4-FFF2-40B4-BE49-F238E27FC236}">
                <a16:creationId xmlns:a16="http://schemas.microsoft.com/office/drawing/2014/main" id="{631105CB-420F-E3C6-428E-563B625AE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4" y="4281488"/>
            <a:ext cx="4287837" cy="0"/>
          </a:xfrm>
          <a:prstGeom prst="line">
            <a:avLst/>
          </a:prstGeom>
          <a:noFill/>
          <a:ln w="28575">
            <a:solidFill>
              <a:srgbClr val="02020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16" name="Freeform 1036" descr="10%">
            <a:extLst>
              <a:ext uri="{FF2B5EF4-FFF2-40B4-BE49-F238E27FC236}">
                <a16:creationId xmlns:a16="http://schemas.microsoft.com/office/drawing/2014/main" id="{69E7D471-B1A8-92F7-47EC-10BA88F95041}"/>
              </a:ext>
            </a:extLst>
          </p:cNvPr>
          <p:cNvSpPr>
            <a:spLocks/>
          </p:cNvSpPr>
          <p:nvPr/>
        </p:nvSpPr>
        <p:spPr bwMode="auto">
          <a:xfrm>
            <a:off x="4572001" y="2286001"/>
            <a:ext cx="2989263" cy="2030413"/>
          </a:xfrm>
          <a:custGeom>
            <a:avLst/>
            <a:gdLst>
              <a:gd name="T0" fmla="*/ 0 w 1104"/>
              <a:gd name="T1" fmla="*/ 1975537 h 592"/>
              <a:gd name="T2" fmla="*/ 129968 w 1104"/>
              <a:gd name="T3" fmla="*/ 1481653 h 592"/>
              <a:gd name="T4" fmla="*/ 259936 w 1104"/>
              <a:gd name="T5" fmla="*/ 493884 h 592"/>
              <a:gd name="T6" fmla="*/ 779808 w 1104"/>
              <a:gd name="T7" fmla="*/ 0 h 592"/>
              <a:gd name="T8" fmla="*/ 1429648 w 1104"/>
              <a:gd name="T9" fmla="*/ 493884 h 592"/>
              <a:gd name="T10" fmla="*/ 1689583 w 1104"/>
              <a:gd name="T11" fmla="*/ 1481653 h 592"/>
              <a:gd name="T12" fmla="*/ 2729327 w 1104"/>
              <a:gd name="T13" fmla="*/ 1810909 h 592"/>
              <a:gd name="T14" fmla="*/ 2989263 w 1104"/>
              <a:gd name="T15" fmla="*/ 1975537 h 59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04" h="592">
                <a:moveTo>
                  <a:pt x="0" y="576"/>
                </a:moveTo>
                <a:cubicBezTo>
                  <a:pt x="16" y="540"/>
                  <a:pt x="32" y="504"/>
                  <a:pt x="48" y="432"/>
                </a:cubicBezTo>
                <a:cubicBezTo>
                  <a:pt x="64" y="360"/>
                  <a:pt x="56" y="216"/>
                  <a:pt x="96" y="144"/>
                </a:cubicBezTo>
                <a:cubicBezTo>
                  <a:pt x="136" y="72"/>
                  <a:pt x="216" y="0"/>
                  <a:pt x="288" y="0"/>
                </a:cubicBezTo>
                <a:cubicBezTo>
                  <a:pt x="360" y="0"/>
                  <a:pt x="472" y="72"/>
                  <a:pt x="528" y="144"/>
                </a:cubicBezTo>
                <a:cubicBezTo>
                  <a:pt x="584" y="216"/>
                  <a:pt x="544" y="368"/>
                  <a:pt x="624" y="432"/>
                </a:cubicBezTo>
                <a:cubicBezTo>
                  <a:pt x="704" y="496"/>
                  <a:pt x="928" y="504"/>
                  <a:pt x="1008" y="528"/>
                </a:cubicBezTo>
                <a:cubicBezTo>
                  <a:pt x="1088" y="552"/>
                  <a:pt x="1088" y="592"/>
                  <a:pt x="1104" y="576"/>
                </a:cubicBezTo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7" name="Line 1037">
            <a:extLst>
              <a:ext uri="{FF2B5EF4-FFF2-40B4-BE49-F238E27FC236}">
                <a16:creationId xmlns:a16="http://schemas.microsoft.com/office/drawing/2014/main" id="{AD707EE9-2B21-54E8-80FD-CDD1F5EE7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286000"/>
            <a:ext cx="3378200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18" name="Line 1038">
            <a:extLst>
              <a:ext uri="{FF2B5EF4-FFF2-40B4-BE49-F238E27FC236}">
                <a16:creationId xmlns:a16="http://schemas.microsoft.com/office/drawing/2014/main" id="{27F7BC96-7D1B-970D-07AB-A0C18609B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6013" y="2306638"/>
            <a:ext cx="0" cy="197485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19" name="Line 1039">
            <a:extLst>
              <a:ext uri="{FF2B5EF4-FFF2-40B4-BE49-F238E27FC236}">
                <a16:creationId xmlns:a16="http://schemas.microsoft.com/office/drawing/2014/main" id="{DC811692-842A-726F-96CB-BAAE4B830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925" y="2306638"/>
            <a:ext cx="0" cy="197485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20" name="Text Box 1040">
            <a:extLst>
              <a:ext uri="{FF2B5EF4-FFF2-40B4-BE49-F238E27FC236}">
                <a16:creationId xmlns:a16="http://schemas.microsoft.com/office/drawing/2014/main" id="{77E2C01B-65CC-D3B7-9985-8751EB117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2672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a</a:t>
            </a:r>
          </a:p>
        </p:txBody>
      </p:sp>
      <p:sp>
        <p:nvSpPr>
          <p:cNvPr id="21521" name="Text Box 1041">
            <a:extLst>
              <a:ext uri="{FF2B5EF4-FFF2-40B4-BE49-F238E27FC236}">
                <a16:creationId xmlns:a16="http://schemas.microsoft.com/office/drawing/2014/main" id="{C032D457-E68A-F2A3-A5C4-D18D7E045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343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b</a:t>
            </a:r>
          </a:p>
        </p:txBody>
      </p:sp>
      <p:sp>
        <p:nvSpPr>
          <p:cNvPr id="21522" name="Text Box 1042">
            <a:extLst>
              <a:ext uri="{FF2B5EF4-FFF2-40B4-BE49-F238E27FC236}">
                <a16:creationId xmlns:a16="http://schemas.microsoft.com/office/drawing/2014/main" id="{C167AF48-DC81-1A46-A2CC-09495E2DD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41910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</a:p>
        </p:txBody>
      </p:sp>
      <p:sp>
        <p:nvSpPr>
          <p:cNvPr id="21523" name="Text Box 1043">
            <a:extLst>
              <a:ext uri="{FF2B5EF4-FFF2-40B4-BE49-F238E27FC236}">
                <a16:creationId xmlns:a16="http://schemas.microsoft.com/office/drawing/2014/main" id="{E0A14AE4-28A3-96B2-BCF5-E8DC0E5D6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1" y="3276600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f</a:t>
            </a:r>
            <a:r>
              <a:rPr lang="en-US" altLang="zh-CN">
                <a:solidFill>
                  <a:srgbClr val="020202"/>
                </a:solidFill>
                <a:latin typeface="Times New Roman" charset="0"/>
                <a:ea typeface="宋体" charset="0"/>
              </a:rPr>
              <a:t>(</a:t>
            </a: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  <a:r>
              <a:rPr lang="en-US" altLang="zh-CN">
                <a:solidFill>
                  <a:srgbClr val="020202"/>
                </a:solidFill>
                <a:latin typeface="Times New Roman" charset="0"/>
                <a:ea typeface="宋体" charset="0"/>
              </a:rPr>
              <a:t>)</a:t>
            </a:r>
          </a:p>
        </p:txBody>
      </p:sp>
      <p:sp>
        <p:nvSpPr>
          <p:cNvPr id="21524" name="Text Box 1044">
            <a:extLst>
              <a:ext uri="{FF2B5EF4-FFF2-40B4-BE49-F238E27FC236}">
                <a16:creationId xmlns:a16="http://schemas.microsoft.com/office/drawing/2014/main" id="{656448CF-1F48-4931-13D9-9623E5DB0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0574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c</a:t>
            </a:r>
          </a:p>
        </p:txBody>
      </p:sp>
      <p:graphicFrame>
        <p:nvGraphicFramePr>
          <p:cNvPr id="7182" name="Object 1061">
            <a:extLst>
              <a:ext uri="{FF2B5EF4-FFF2-40B4-BE49-F238E27FC236}">
                <a16:creationId xmlns:a16="http://schemas.microsoft.com/office/drawing/2014/main" id="{6D261C8D-D258-E520-D638-D66E3E986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733800"/>
          <a:ext cx="8826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85700" imgH="4978400" progId="Equation.3">
                  <p:embed/>
                </p:oleObj>
              </mc:Choice>
              <mc:Fallback>
                <p:oleObj name="Equation" r:id="rId4" imgW="12585700" imgH="4978400" progId="Equation.3">
                  <p:embed/>
                  <p:pic>
                    <p:nvPicPr>
                      <p:cNvPr id="7182" name="Object 1061">
                        <a:extLst>
                          <a:ext uri="{FF2B5EF4-FFF2-40B4-BE49-F238E27FC236}">
                            <a16:creationId xmlns:a16="http://schemas.microsoft.com/office/drawing/2014/main" id="{6D261C8D-D258-E520-D638-D66E3E986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733800"/>
                        <a:ext cx="8826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062">
            <a:extLst>
              <a:ext uri="{FF2B5EF4-FFF2-40B4-BE49-F238E27FC236}">
                <a16:creationId xmlns:a16="http://schemas.microsoft.com/office/drawing/2014/main" id="{6C7CFED3-1BF2-5E64-1CD0-A2AE69BEA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0925" y="2667000"/>
          <a:ext cx="9652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54100" imgH="4978400" progId="Equation.3">
                  <p:embed/>
                </p:oleObj>
              </mc:Choice>
              <mc:Fallback>
                <p:oleObj name="Equation" r:id="rId6" imgW="13754100" imgH="4978400" progId="Equation.3">
                  <p:embed/>
                  <p:pic>
                    <p:nvPicPr>
                      <p:cNvPr id="7183" name="Object 1062">
                        <a:extLst>
                          <a:ext uri="{FF2B5EF4-FFF2-40B4-BE49-F238E27FC236}">
                            <a16:creationId xmlns:a16="http://schemas.microsoft.com/office/drawing/2014/main" id="{6C7CFED3-1BF2-5E64-1CD0-A2AE69BEA8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25" y="2667000"/>
                        <a:ext cx="9652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4" name="Rectangle 1064">
            <a:extLst>
              <a:ext uri="{FF2B5EF4-FFF2-40B4-BE49-F238E27FC236}">
                <a16:creationId xmlns:a16="http://schemas.microsoft.com/office/drawing/2014/main" id="{5518B9FB-9ACD-CA64-892F-F169D9CE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35038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几何解释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21545" name="Rectangle 1065">
            <a:extLst>
              <a:ext uri="{FF2B5EF4-FFF2-40B4-BE49-F238E27FC236}">
                <a16:creationId xmlns:a16="http://schemas.microsoft.com/office/drawing/2014/main" id="{D4A74B64-43CD-2811-919B-A3A0732D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953001"/>
            <a:ext cx="85344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buFontTx/>
              <a:buChar char="•"/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在二维图上，随机选取位于矩形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abef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内的点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[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,y]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；</a:t>
            </a:r>
            <a:endParaRPr lang="en-US" altLang="zh-CN" sz="2000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 marL="190500" indent="-190500">
              <a:spcBef>
                <a:spcPct val="50000"/>
              </a:spcBef>
              <a:buFontTx/>
              <a:buChar char="•"/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选取位于曲线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下的那些点，则这些点将服从概率密度为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的分布</a:t>
            </a:r>
          </a:p>
        </p:txBody>
      </p:sp>
      <p:sp>
        <p:nvSpPr>
          <p:cNvPr id="21546" name="Text Box 1066">
            <a:extLst>
              <a:ext uri="{FF2B5EF4-FFF2-40B4-BE49-F238E27FC236}">
                <a16:creationId xmlns:a16="http://schemas.microsoft.com/office/drawing/2014/main" id="{72955831-E91C-CA10-43C0-723934B0C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8288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e</a:t>
            </a:r>
          </a:p>
        </p:txBody>
      </p:sp>
      <p:sp>
        <p:nvSpPr>
          <p:cNvPr id="21547" name="Oval 1067">
            <a:extLst>
              <a:ext uri="{FF2B5EF4-FFF2-40B4-BE49-F238E27FC236}">
                <a16:creationId xmlns:a16="http://schemas.microsoft.com/office/drawing/2014/main" id="{7BFCAA60-4E27-1915-C272-9DF4933CE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581400"/>
            <a:ext cx="76200" cy="76200"/>
          </a:xfrm>
          <a:prstGeom prst="ellipse">
            <a:avLst/>
          </a:prstGeom>
          <a:solidFill>
            <a:srgbClr val="02020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48" name="Oval 1068">
            <a:extLst>
              <a:ext uri="{FF2B5EF4-FFF2-40B4-BE49-F238E27FC236}">
                <a16:creationId xmlns:a16="http://schemas.microsoft.com/office/drawing/2014/main" id="{34218776-6369-480D-3B90-185B882DD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76200" cy="76200"/>
          </a:xfrm>
          <a:prstGeom prst="ellipse">
            <a:avLst/>
          </a:prstGeom>
          <a:solidFill>
            <a:srgbClr val="02020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1549" name="Text Box 1069">
            <a:extLst>
              <a:ext uri="{FF2B5EF4-FFF2-40B4-BE49-F238E27FC236}">
                <a16:creationId xmlns:a16="http://schemas.microsoft.com/office/drawing/2014/main" id="{C904841E-F6C9-C8AD-4582-FCF7C44FD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828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f</a:t>
            </a:r>
          </a:p>
        </p:txBody>
      </p:sp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6D4ED8D0-CFE3-08E4-D4C1-1879109A2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1.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简单舍选抽样法</a:t>
            </a:r>
          </a:p>
        </p:txBody>
      </p:sp>
      <p:sp>
        <p:nvSpPr>
          <p:cNvPr id="22545" name="Rectangle 1041">
            <a:extLst>
              <a:ext uri="{FF2B5EF4-FFF2-40B4-BE49-F238E27FC236}">
                <a16:creationId xmlns:a16="http://schemas.microsoft.com/office/drawing/2014/main" id="{85D563B9-4569-D364-F84E-72A7FE445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935038"/>
            <a:ext cx="723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证明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22546" name="Rectangle 1042">
            <a:extLst>
              <a:ext uri="{FF2B5EF4-FFF2-40B4-BE49-F238E27FC236}">
                <a16:creationId xmlns:a16="http://schemas.microsoft.com/office/drawing/2014/main" id="{63E6986A-1197-F732-98A7-361D64C26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343401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按舍选抽样法抽出的随机数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d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的概率：</a:t>
            </a:r>
          </a:p>
        </p:txBody>
      </p:sp>
      <p:sp>
        <p:nvSpPr>
          <p:cNvPr id="22531" name="Rectangle 1027" descr="羊皮纸">
            <a:extLst>
              <a:ext uri="{FF2B5EF4-FFF2-40B4-BE49-F238E27FC236}">
                <a16:creationId xmlns:a16="http://schemas.microsoft.com/office/drawing/2014/main" id="{D6134816-3CE0-B880-BB02-152D9C087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9" y="1825625"/>
            <a:ext cx="2859087" cy="19748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32" name="Line 1028">
            <a:extLst>
              <a:ext uri="{FF2B5EF4-FFF2-40B4-BE49-F238E27FC236}">
                <a16:creationId xmlns:a16="http://schemas.microsoft.com/office/drawing/2014/main" id="{0EC2EE5A-86C8-1DF2-A939-98AF7BA603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0925" y="838201"/>
            <a:ext cx="0" cy="2962275"/>
          </a:xfrm>
          <a:prstGeom prst="line">
            <a:avLst/>
          </a:prstGeom>
          <a:noFill/>
          <a:ln w="28575">
            <a:solidFill>
              <a:srgbClr val="02020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33" name="Line 1029">
            <a:extLst>
              <a:ext uri="{FF2B5EF4-FFF2-40B4-BE49-F238E27FC236}">
                <a16:creationId xmlns:a16="http://schemas.microsoft.com/office/drawing/2014/main" id="{CF455779-D7F5-835B-3AA7-4B910190D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0925" y="3800475"/>
            <a:ext cx="4287838" cy="0"/>
          </a:xfrm>
          <a:prstGeom prst="line">
            <a:avLst/>
          </a:prstGeom>
          <a:noFill/>
          <a:ln w="28575">
            <a:solidFill>
              <a:srgbClr val="02020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34" name="Freeform 1030" descr="10%">
            <a:extLst>
              <a:ext uri="{FF2B5EF4-FFF2-40B4-BE49-F238E27FC236}">
                <a16:creationId xmlns:a16="http://schemas.microsoft.com/office/drawing/2014/main" id="{A8ADE237-CDC1-F017-6B3D-3C9DCDE4AF40}"/>
              </a:ext>
            </a:extLst>
          </p:cNvPr>
          <p:cNvSpPr>
            <a:spLocks/>
          </p:cNvSpPr>
          <p:nvPr/>
        </p:nvSpPr>
        <p:spPr bwMode="auto">
          <a:xfrm>
            <a:off x="6615113" y="1804988"/>
            <a:ext cx="2989262" cy="2030412"/>
          </a:xfrm>
          <a:custGeom>
            <a:avLst/>
            <a:gdLst>
              <a:gd name="T0" fmla="*/ 0 w 1104"/>
              <a:gd name="T1" fmla="*/ 1975536 h 592"/>
              <a:gd name="T2" fmla="*/ 129968 w 1104"/>
              <a:gd name="T3" fmla="*/ 1481652 h 592"/>
              <a:gd name="T4" fmla="*/ 259936 w 1104"/>
              <a:gd name="T5" fmla="*/ 493884 h 592"/>
              <a:gd name="T6" fmla="*/ 779807 w 1104"/>
              <a:gd name="T7" fmla="*/ 0 h 592"/>
              <a:gd name="T8" fmla="*/ 1429647 w 1104"/>
              <a:gd name="T9" fmla="*/ 493884 h 592"/>
              <a:gd name="T10" fmla="*/ 1689583 w 1104"/>
              <a:gd name="T11" fmla="*/ 1481652 h 592"/>
              <a:gd name="T12" fmla="*/ 2729326 w 1104"/>
              <a:gd name="T13" fmla="*/ 1810908 h 592"/>
              <a:gd name="T14" fmla="*/ 2989262 w 1104"/>
              <a:gd name="T15" fmla="*/ 1975536 h 59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04" h="592">
                <a:moveTo>
                  <a:pt x="0" y="576"/>
                </a:moveTo>
                <a:cubicBezTo>
                  <a:pt x="16" y="540"/>
                  <a:pt x="32" y="504"/>
                  <a:pt x="48" y="432"/>
                </a:cubicBezTo>
                <a:cubicBezTo>
                  <a:pt x="64" y="360"/>
                  <a:pt x="56" y="216"/>
                  <a:pt x="96" y="144"/>
                </a:cubicBezTo>
                <a:cubicBezTo>
                  <a:pt x="136" y="72"/>
                  <a:pt x="216" y="0"/>
                  <a:pt x="288" y="0"/>
                </a:cubicBezTo>
                <a:cubicBezTo>
                  <a:pt x="360" y="0"/>
                  <a:pt x="472" y="72"/>
                  <a:pt x="528" y="144"/>
                </a:cubicBezTo>
                <a:cubicBezTo>
                  <a:pt x="584" y="216"/>
                  <a:pt x="544" y="368"/>
                  <a:pt x="624" y="432"/>
                </a:cubicBezTo>
                <a:cubicBezTo>
                  <a:pt x="704" y="496"/>
                  <a:pt x="928" y="504"/>
                  <a:pt x="1008" y="528"/>
                </a:cubicBezTo>
                <a:cubicBezTo>
                  <a:pt x="1088" y="552"/>
                  <a:pt x="1088" y="592"/>
                  <a:pt x="1104" y="576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5" name="Line 1031">
            <a:extLst>
              <a:ext uri="{FF2B5EF4-FFF2-40B4-BE49-F238E27FC236}">
                <a16:creationId xmlns:a16="http://schemas.microsoft.com/office/drawing/2014/main" id="{B45A2FDC-641F-A754-E725-081A3BE15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7913" y="1804988"/>
            <a:ext cx="3378200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36" name="Line 1032">
            <a:extLst>
              <a:ext uri="{FF2B5EF4-FFF2-40B4-BE49-F238E27FC236}">
                <a16:creationId xmlns:a16="http://schemas.microsoft.com/office/drawing/2014/main" id="{3F403795-EEAE-A00E-7613-6A294BEB0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125" y="1825625"/>
            <a:ext cx="0" cy="197485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37" name="Line 1033">
            <a:extLst>
              <a:ext uri="{FF2B5EF4-FFF2-40B4-BE49-F238E27FC236}">
                <a16:creationId xmlns:a16="http://schemas.microsoft.com/office/drawing/2014/main" id="{85AAE7DE-6C34-BF94-07BA-8E7148F8E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1825625"/>
            <a:ext cx="0" cy="197485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38" name="Text Box 1034">
            <a:extLst>
              <a:ext uri="{FF2B5EF4-FFF2-40B4-BE49-F238E27FC236}">
                <a16:creationId xmlns:a16="http://schemas.microsoft.com/office/drawing/2014/main" id="{37727585-CEE6-35DA-C7EE-9C51113A2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3786188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a</a:t>
            </a:r>
          </a:p>
        </p:txBody>
      </p:sp>
      <p:sp>
        <p:nvSpPr>
          <p:cNvPr id="22539" name="Text Box 1035">
            <a:extLst>
              <a:ext uri="{FF2B5EF4-FFF2-40B4-BE49-F238E27FC236}">
                <a16:creationId xmlns:a16="http://schemas.microsoft.com/office/drawing/2014/main" id="{6DD8C0D9-8990-2503-7A21-4C97463DB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3" y="3862388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b</a:t>
            </a:r>
          </a:p>
        </p:txBody>
      </p:sp>
      <p:sp>
        <p:nvSpPr>
          <p:cNvPr id="22540" name="Text Box 1036">
            <a:extLst>
              <a:ext uri="{FF2B5EF4-FFF2-40B4-BE49-F238E27FC236}">
                <a16:creationId xmlns:a16="http://schemas.microsoft.com/office/drawing/2014/main" id="{10DA94FD-FEEF-62DC-6662-C4CDEEBE8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913" y="3709988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</a:p>
        </p:txBody>
      </p:sp>
      <p:sp>
        <p:nvSpPr>
          <p:cNvPr id="22541" name="Text Box 1037">
            <a:extLst>
              <a:ext uri="{FF2B5EF4-FFF2-40B4-BE49-F238E27FC236}">
                <a16:creationId xmlns:a16="http://schemas.microsoft.com/office/drawing/2014/main" id="{4A208341-353D-415C-0D69-031F80B29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3914" y="2795588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f</a:t>
            </a:r>
            <a:r>
              <a:rPr lang="en-US" altLang="zh-CN">
                <a:solidFill>
                  <a:srgbClr val="020202"/>
                </a:solidFill>
                <a:latin typeface="Times New Roman" charset="0"/>
                <a:ea typeface="宋体" charset="0"/>
              </a:rPr>
              <a:t>(</a:t>
            </a: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  <a:r>
              <a:rPr lang="en-US" altLang="zh-CN">
                <a:solidFill>
                  <a:srgbClr val="020202"/>
                </a:solidFill>
                <a:latin typeface="Times New Roman" charset="0"/>
                <a:ea typeface="宋体" charset="0"/>
              </a:rPr>
              <a:t>)</a:t>
            </a:r>
          </a:p>
        </p:txBody>
      </p:sp>
      <p:sp>
        <p:nvSpPr>
          <p:cNvPr id="22542" name="Text Box 1038">
            <a:extLst>
              <a:ext uri="{FF2B5EF4-FFF2-40B4-BE49-F238E27FC236}">
                <a16:creationId xmlns:a16="http://schemas.microsoft.com/office/drawing/2014/main" id="{D4E3A871-4767-513C-8C06-1AEB5ABDD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913" y="1576388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c</a:t>
            </a:r>
          </a:p>
        </p:txBody>
      </p:sp>
      <p:graphicFrame>
        <p:nvGraphicFramePr>
          <p:cNvPr id="8208" name="Object 1039">
            <a:extLst>
              <a:ext uri="{FF2B5EF4-FFF2-40B4-BE49-F238E27FC236}">
                <a16:creationId xmlns:a16="http://schemas.microsoft.com/office/drawing/2014/main" id="{FC0125CF-176D-C91C-4759-CC9CF69D3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3713" y="3252788"/>
          <a:ext cx="8826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85700" imgH="4978400" progId="Equation.3">
                  <p:embed/>
                </p:oleObj>
              </mc:Choice>
              <mc:Fallback>
                <p:oleObj name="Equation" r:id="rId4" imgW="12585700" imgH="4978400" progId="Equation.3">
                  <p:embed/>
                  <p:pic>
                    <p:nvPicPr>
                      <p:cNvPr id="8208" name="Object 1039">
                        <a:extLst>
                          <a:ext uri="{FF2B5EF4-FFF2-40B4-BE49-F238E27FC236}">
                            <a16:creationId xmlns:a16="http://schemas.microsoft.com/office/drawing/2014/main" id="{FC0125CF-176D-C91C-4759-CC9CF69D3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13" y="3252788"/>
                        <a:ext cx="8826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1040">
            <a:extLst>
              <a:ext uri="{FF2B5EF4-FFF2-40B4-BE49-F238E27FC236}">
                <a16:creationId xmlns:a16="http://schemas.microsoft.com/office/drawing/2014/main" id="{ABA60FDB-3AA3-3F5F-FCE3-43648F137F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4038" y="2185988"/>
          <a:ext cx="9652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54100" imgH="4978400" progId="Equation.3">
                  <p:embed/>
                </p:oleObj>
              </mc:Choice>
              <mc:Fallback>
                <p:oleObj name="Equation" r:id="rId6" imgW="13754100" imgH="4978400" progId="Equation.3">
                  <p:embed/>
                  <p:pic>
                    <p:nvPicPr>
                      <p:cNvPr id="8209" name="Object 1040">
                        <a:extLst>
                          <a:ext uri="{FF2B5EF4-FFF2-40B4-BE49-F238E27FC236}">
                            <a16:creationId xmlns:a16="http://schemas.microsoft.com/office/drawing/2014/main" id="{ABA60FDB-3AA3-3F5F-FCE3-43648F137F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4038" y="2185988"/>
                        <a:ext cx="9652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043">
            <a:extLst>
              <a:ext uri="{FF2B5EF4-FFF2-40B4-BE49-F238E27FC236}">
                <a16:creationId xmlns:a16="http://schemas.microsoft.com/office/drawing/2014/main" id="{699C1C2C-1CD8-0A91-1760-739E7E67E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1347788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e</a:t>
            </a:r>
          </a:p>
        </p:txBody>
      </p:sp>
      <p:sp>
        <p:nvSpPr>
          <p:cNvPr id="22548" name="Oval 1044">
            <a:extLst>
              <a:ext uri="{FF2B5EF4-FFF2-40B4-BE49-F238E27FC236}">
                <a16:creationId xmlns:a16="http://schemas.microsoft.com/office/drawing/2014/main" id="{448F7BF3-0A2A-11D9-D95E-3177768A9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3100388"/>
            <a:ext cx="76200" cy="76200"/>
          </a:xfrm>
          <a:prstGeom prst="ellipse">
            <a:avLst/>
          </a:prstGeom>
          <a:solidFill>
            <a:srgbClr val="02020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49" name="Oval 1045">
            <a:extLst>
              <a:ext uri="{FF2B5EF4-FFF2-40B4-BE49-F238E27FC236}">
                <a16:creationId xmlns:a16="http://schemas.microsoft.com/office/drawing/2014/main" id="{35C221B2-6DF8-E563-3380-BBC0C9AF7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13" y="2109788"/>
            <a:ext cx="76200" cy="76200"/>
          </a:xfrm>
          <a:prstGeom prst="ellipse">
            <a:avLst/>
          </a:prstGeom>
          <a:solidFill>
            <a:srgbClr val="02020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50" name="Text Box 1046">
            <a:extLst>
              <a:ext uri="{FF2B5EF4-FFF2-40B4-BE49-F238E27FC236}">
                <a16:creationId xmlns:a16="http://schemas.microsoft.com/office/drawing/2014/main" id="{E2B853D7-1A58-0942-AC3F-A174E93E9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2113" y="1347788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f</a:t>
            </a:r>
          </a:p>
        </p:txBody>
      </p:sp>
      <p:sp>
        <p:nvSpPr>
          <p:cNvPr id="22552" name="Rectangle 1048">
            <a:extLst>
              <a:ext uri="{FF2B5EF4-FFF2-40B4-BE49-F238E27FC236}">
                <a16:creationId xmlns:a16="http://schemas.microsoft.com/office/drawing/2014/main" id="{5D08D5A6-B47C-61E1-E014-24D7A8DEF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00201"/>
            <a:ext cx="373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和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的概率密度函数分别为</a:t>
            </a:r>
          </a:p>
        </p:txBody>
      </p:sp>
      <p:sp>
        <p:nvSpPr>
          <p:cNvPr id="22553" name="Rectangle 1049">
            <a:extLst>
              <a:ext uri="{FF2B5EF4-FFF2-40B4-BE49-F238E27FC236}">
                <a16:creationId xmlns:a16="http://schemas.microsoft.com/office/drawing/2014/main" id="{6CBAFE9C-60B6-51E0-5051-74D693EB3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95601"/>
            <a:ext cx="2484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联合概率密度函数为</a:t>
            </a:r>
          </a:p>
        </p:txBody>
      </p:sp>
      <p:graphicFrame>
        <p:nvGraphicFramePr>
          <p:cNvPr id="8216" name="Object 1050">
            <a:extLst>
              <a:ext uri="{FF2B5EF4-FFF2-40B4-BE49-F238E27FC236}">
                <a16:creationId xmlns:a16="http://schemas.microsoft.com/office/drawing/2014/main" id="{A32DD592-D0FC-88F9-D9E4-7B8EBB606A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133601"/>
          <a:ext cx="27432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44400" imgH="9067800" progId="Equation.3">
                  <p:embed/>
                </p:oleObj>
              </mc:Choice>
              <mc:Fallback>
                <p:oleObj name="Equation" r:id="rId8" imgW="37744400" imgH="9067800" progId="Equation.3">
                  <p:embed/>
                  <p:pic>
                    <p:nvPicPr>
                      <p:cNvPr id="8216" name="Object 1050">
                        <a:extLst>
                          <a:ext uri="{FF2B5EF4-FFF2-40B4-BE49-F238E27FC236}">
                            <a16:creationId xmlns:a16="http://schemas.microsoft.com/office/drawing/2014/main" id="{A32DD592-D0FC-88F9-D9E4-7B8EBB606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33601"/>
                        <a:ext cx="27432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7" name="Object 1051">
            <a:extLst>
              <a:ext uri="{FF2B5EF4-FFF2-40B4-BE49-F238E27FC236}">
                <a16:creationId xmlns:a16="http://schemas.microsoft.com/office/drawing/2014/main" id="{3A9BFA4B-B176-0BF5-E3C6-26BC573D17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1" y="3429001"/>
          <a:ext cx="33813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520100" imgH="9652000" progId="Equation.3">
                  <p:embed/>
                </p:oleObj>
              </mc:Choice>
              <mc:Fallback>
                <p:oleObj name="Equation" r:id="rId10" imgW="46520100" imgH="9652000" progId="Equation.3">
                  <p:embed/>
                  <p:pic>
                    <p:nvPicPr>
                      <p:cNvPr id="8217" name="Object 1051">
                        <a:extLst>
                          <a:ext uri="{FF2B5EF4-FFF2-40B4-BE49-F238E27FC236}">
                            <a16:creationId xmlns:a16="http://schemas.microsoft.com/office/drawing/2014/main" id="{3A9BFA4B-B176-0BF5-E3C6-26BC573D17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429001"/>
                        <a:ext cx="33813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8" name="Object 1052">
            <a:extLst>
              <a:ext uri="{FF2B5EF4-FFF2-40B4-BE49-F238E27FC236}">
                <a16:creationId xmlns:a16="http://schemas.microsoft.com/office/drawing/2014/main" id="{C0A28151-B2DB-8919-1873-680CB2988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800600"/>
          <a:ext cx="6230938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725000" imgH="14630400" progId="Equation.3">
                  <p:embed/>
                </p:oleObj>
              </mc:Choice>
              <mc:Fallback>
                <p:oleObj name="Equation" r:id="rId12" imgW="85725000" imgH="14630400" progId="Equation.3">
                  <p:embed/>
                  <p:pic>
                    <p:nvPicPr>
                      <p:cNvPr id="8218" name="Object 1052">
                        <a:extLst>
                          <a:ext uri="{FF2B5EF4-FFF2-40B4-BE49-F238E27FC236}">
                            <a16:creationId xmlns:a16="http://schemas.microsoft.com/office/drawing/2014/main" id="{C0A28151-B2DB-8919-1873-680CB2988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00600"/>
                        <a:ext cx="6230938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7" name="Rectangle 1053">
            <a:extLst>
              <a:ext uri="{FF2B5EF4-FFF2-40B4-BE49-F238E27FC236}">
                <a16:creationId xmlns:a16="http://schemas.microsoft.com/office/drawing/2014/main" id="{FD337992-42CA-7836-44E1-F254AD2C0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867401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即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d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的概率函数为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f(x)</a:t>
            </a:r>
          </a:p>
        </p:txBody>
      </p:sp>
      <p:sp>
        <p:nvSpPr>
          <p:cNvPr id="22558" name="Line 1054">
            <a:extLst>
              <a:ext uri="{FF2B5EF4-FFF2-40B4-BE49-F238E27FC236}">
                <a16:creationId xmlns:a16="http://schemas.microsoft.com/office/drawing/2014/main" id="{DA8941A3-A44F-C0D5-25B6-604C1132C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981200"/>
            <a:ext cx="0" cy="1828800"/>
          </a:xfrm>
          <a:prstGeom prst="line">
            <a:avLst/>
          </a:prstGeom>
          <a:noFill/>
          <a:ln w="38100">
            <a:solidFill>
              <a:srgbClr val="66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2559" name="Rectangle 1055">
            <a:extLst>
              <a:ext uri="{FF2B5EF4-FFF2-40B4-BE49-F238E27FC236}">
                <a16:creationId xmlns:a16="http://schemas.microsoft.com/office/drawing/2014/main" id="{8A35D99A-74CD-3515-5230-1BB18B9E4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8100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d</a:t>
            </a:r>
          </a:p>
        </p:txBody>
      </p:sp>
    </p:spTree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AE0FE726-4A42-4AEA-1561-B8ABF078B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1.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楷体_GB2312" charset="0"/>
                <a:ea typeface="楷体_GB2312" charset="0"/>
                <a:cs typeface="楷体_GB2312" charset="0"/>
              </a:rPr>
              <a:t>简单舍选抽样法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5098AE27-038F-8D55-BE3A-6C94D83C6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35038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抽样效率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23575" name="Rectangle 1047">
            <a:extLst>
              <a:ext uri="{FF2B5EF4-FFF2-40B4-BE49-F238E27FC236}">
                <a16:creationId xmlns:a16="http://schemas.microsoft.com/office/drawing/2014/main" id="{B1B9F547-30B6-E16F-6D54-2D8A341D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81401"/>
            <a:ext cx="3505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对舍选抽样法：欲产生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m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个随机变量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的值需产生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对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(x,y)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，显然，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m 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 n</a:t>
            </a:r>
            <a:endParaRPr lang="en-US" altLang="zh-CN" sz="2000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23576" name="Rectangle 1048">
            <a:extLst>
              <a:ext uri="{FF2B5EF4-FFF2-40B4-BE49-F238E27FC236}">
                <a16:creationId xmlns:a16="http://schemas.microsoft.com/office/drawing/2014/main" id="{37D88FBA-9F68-DAE1-8B84-23467E586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524000"/>
            <a:ext cx="80772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如果选出某特定分布的一个随机数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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平均地需要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n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个随机数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U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0, 1</a:t>
            </a:r>
            <a:r>
              <a:rPr lang="en-US" altLang="zh-CN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zh-CN" altLang="en-US" b="1">
                <a:solidFill>
                  <a:srgbClr val="0000FF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，则抽样效率定义为</a:t>
            </a:r>
          </a:p>
        </p:txBody>
      </p:sp>
      <p:graphicFrame>
        <p:nvGraphicFramePr>
          <p:cNvPr id="9221" name="Object 1050">
            <a:extLst>
              <a:ext uri="{FF2B5EF4-FFF2-40B4-BE49-F238E27FC236}">
                <a16:creationId xmlns:a16="http://schemas.microsoft.com/office/drawing/2014/main" id="{38EC7D60-C11A-1EEE-F745-EF5CEB51E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5029201"/>
          <a:ext cx="32956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351700" imgH="12293600" progId="Equation.3">
                  <p:embed/>
                </p:oleObj>
              </mc:Choice>
              <mc:Fallback>
                <p:oleObj name="Equation" r:id="rId2" imgW="45351700" imgH="12293600" progId="Equation.3">
                  <p:embed/>
                  <p:pic>
                    <p:nvPicPr>
                      <p:cNvPr id="9221" name="Object 1050">
                        <a:extLst>
                          <a:ext uri="{FF2B5EF4-FFF2-40B4-BE49-F238E27FC236}">
                            <a16:creationId xmlns:a16="http://schemas.microsoft.com/office/drawing/2014/main" id="{38EC7D60-C11A-1EEE-F745-EF5CEB51E6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029201"/>
                        <a:ext cx="32956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2" name="Group 1056">
            <a:extLst>
              <a:ext uri="{FF2B5EF4-FFF2-40B4-BE49-F238E27FC236}">
                <a16:creationId xmlns:a16="http://schemas.microsoft.com/office/drawing/2014/main" id="{BA485350-1DFF-C8DE-4EAF-78117CE6E890}"/>
              </a:ext>
            </a:extLst>
          </p:cNvPr>
          <p:cNvGrpSpPr>
            <a:grpSpLocks/>
          </p:cNvGrpSpPr>
          <p:nvPr/>
        </p:nvGrpSpPr>
        <p:grpSpPr bwMode="auto">
          <a:xfrm>
            <a:off x="6218238" y="2514600"/>
            <a:ext cx="4418112" cy="3150894"/>
            <a:chOff x="2832" y="1392"/>
            <a:chExt cx="3071" cy="2158"/>
          </a:xfrm>
        </p:grpSpPr>
        <p:sp>
          <p:nvSpPr>
            <p:cNvPr id="23557" name="Rectangle 1029" descr="羊皮纸">
              <a:extLst>
                <a:ext uri="{FF2B5EF4-FFF2-40B4-BE49-F238E27FC236}">
                  <a16:creationId xmlns:a16="http://schemas.microsoft.com/office/drawing/2014/main" id="{BE965665-4AB5-EF26-E291-CC7490579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" y="2014"/>
              <a:ext cx="1801" cy="124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58" name="Line 1030">
              <a:extLst>
                <a:ext uri="{FF2B5EF4-FFF2-40B4-BE49-F238E27FC236}">
                  <a16:creationId xmlns:a16="http://schemas.microsoft.com/office/drawing/2014/main" id="{C3B3599D-C51C-D9D6-03E6-65BD6A8CC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6" y="1392"/>
              <a:ext cx="1" cy="1866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59" name="Line 1031">
              <a:extLst>
                <a:ext uri="{FF2B5EF4-FFF2-40B4-BE49-F238E27FC236}">
                  <a16:creationId xmlns:a16="http://schemas.microsoft.com/office/drawing/2014/main" id="{CDA141C3-1B32-E5FA-7161-A6697A5B9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6" y="3258"/>
              <a:ext cx="2701" cy="1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60" name="Freeform 1032" descr="10%">
              <a:extLst>
                <a:ext uri="{FF2B5EF4-FFF2-40B4-BE49-F238E27FC236}">
                  <a16:creationId xmlns:a16="http://schemas.microsoft.com/office/drawing/2014/main" id="{B43A2DC8-54A3-7C26-24B6-2C3A49608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1" y="2001"/>
              <a:ext cx="1883" cy="1279"/>
            </a:xfrm>
            <a:custGeom>
              <a:avLst/>
              <a:gdLst>
                <a:gd name="T0" fmla="*/ 0 w 1104"/>
                <a:gd name="T1" fmla="*/ 1244 h 592"/>
                <a:gd name="T2" fmla="*/ 82 w 1104"/>
                <a:gd name="T3" fmla="*/ 933 h 592"/>
                <a:gd name="T4" fmla="*/ 164 w 1104"/>
                <a:gd name="T5" fmla="*/ 311 h 592"/>
                <a:gd name="T6" fmla="*/ 491 w 1104"/>
                <a:gd name="T7" fmla="*/ 0 h 592"/>
                <a:gd name="T8" fmla="*/ 901 w 1104"/>
                <a:gd name="T9" fmla="*/ 311 h 592"/>
                <a:gd name="T10" fmla="*/ 1064 w 1104"/>
                <a:gd name="T11" fmla="*/ 933 h 592"/>
                <a:gd name="T12" fmla="*/ 1719 w 1104"/>
                <a:gd name="T13" fmla="*/ 1141 h 592"/>
                <a:gd name="T14" fmla="*/ 1883 w 1104"/>
                <a:gd name="T15" fmla="*/ 1244 h 5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4" h="592">
                  <a:moveTo>
                    <a:pt x="0" y="576"/>
                  </a:moveTo>
                  <a:cubicBezTo>
                    <a:pt x="16" y="540"/>
                    <a:pt x="32" y="504"/>
                    <a:pt x="48" y="432"/>
                  </a:cubicBezTo>
                  <a:cubicBezTo>
                    <a:pt x="64" y="360"/>
                    <a:pt x="56" y="216"/>
                    <a:pt x="96" y="144"/>
                  </a:cubicBezTo>
                  <a:cubicBezTo>
                    <a:pt x="136" y="72"/>
                    <a:pt x="216" y="0"/>
                    <a:pt x="288" y="0"/>
                  </a:cubicBezTo>
                  <a:cubicBezTo>
                    <a:pt x="360" y="0"/>
                    <a:pt x="472" y="72"/>
                    <a:pt x="528" y="144"/>
                  </a:cubicBezTo>
                  <a:cubicBezTo>
                    <a:pt x="584" y="216"/>
                    <a:pt x="544" y="368"/>
                    <a:pt x="624" y="432"/>
                  </a:cubicBezTo>
                  <a:cubicBezTo>
                    <a:pt x="704" y="496"/>
                    <a:pt x="928" y="504"/>
                    <a:pt x="1008" y="528"/>
                  </a:cubicBezTo>
                  <a:cubicBezTo>
                    <a:pt x="1088" y="552"/>
                    <a:pt x="1088" y="592"/>
                    <a:pt x="1104" y="576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5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1" name="Line 1033">
              <a:extLst>
                <a:ext uri="{FF2B5EF4-FFF2-40B4-BE49-F238E27FC236}">
                  <a16:creationId xmlns:a16="http://schemas.microsoft.com/office/drawing/2014/main" id="{25FA2422-FA82-DE3D-3F0F-D0CBAD5D4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001"/>
              <a:ext cx="2129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62" name="Line 1034">
              <a:extLst>
                <a:ext uri="{FF2B5EF4-FFF2-40B4-BE49-F238E27FC236}">
                  <a16:creationId xmlns:a16="http://schemas.microsoft.com/office/drawing/2014/main" id="{148F9947-5F07-86CB-2319-C813B88DC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4" y="2014"/>
              <a:ext cx="1" cy="12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63" name="Line 1035">
              <a:extLst>
                <a:ext uri="{FF2B5EF4-FFF2-40B4-BE49-F238E27FC236}">
                  <a16:creationId xmlns:a16="http://schemas.microsoft.com/office/drawing/2014/main" id="{EDC61DDD-B16F-562F-0178-C5B0C5B3C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3" y="2014"/>
              <a:ext cx="1" cy="12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64" name="Text Box 1036">
              <a:extLst>
                <a:ext uri="{FF2B5EF4-FFF2-40B4-BE49-F238E27FC236}">
                  <a16:creationId xmlns:a16="http://schemas.microsoft.com/office/drawing/2014/main" id="{D8695B07-9029-9C08-1896-813E0BF91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5" y="3249"/>
              <a:ext cx="209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a</a:t>
              </a:r>
            </a:p>
          </p:txBody>
        </p:sp>
        <p:sp>
          <p:nvSpPr>
            <p:cNvPr id="23565" name="Text Box 1037">
              <a:extLst>
                <a:ext uri="{FF2B5EF4-FFF2-40B4-BE49-F238E27FC236}">
                  <a16:creationId xmlns:a16="http://schemas.microsoft.com/office/drawing/2014/main" id="{491194CE-0528-4290-5EE1-2FA92F772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9" y="3297"/>
              <a:ext cx="209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b</a:t>
              </a:r>
            </a:p>
          </p:txBody>
        </p:sp>
        <p:sp>
          <p:nvSpPr>
            <p:cNvPr id="23566" name="Text Box 1038">
              <a:extLst>
                <a:ext uri="{FF2B5EF4-FFF2-40B4-BE49-F238E27FC236}">
                  <a16:creationId xmlns:a16="http://schemas.microsoft.com/office/drawing/2014/main" id="{9806FA20-F458-8F48-E2F5-E129BF483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3" y="3201"/>
              <a:ext cx="200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x</a:t>
              </a:r>
            </a:p>
          </p:txBody>
        </p:sp>
        <p:sp>
          <p:nvSpPr>
            <p:cNvPr id="23567" name="Text Box 1039">
              <a:extLst>
                <a:ext uri="{FF2B5EF4-FFF2-40B4-BE49-F238E27FC236}">
                  <a16:creationId xmlns:a16="http://schemas.microsoft.com/office/drawing/2014/main" id="{24463272-BA19-1ED3-F9D0-A8D718E19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2625"/>
              <a:ext cx="351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f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(</a:t>
              </a: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x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)</a:t>
              </a:r>
            </a:p>
          </p:txBody>
        </p:sp>
        <p:sp>
          <p:nvSpPr>
            <p:cNvPr id="23568" name="Text Box 1040">
              <a:extLst>
                <a:ext uri="{FF2B5EF4-FFF2-40B4-BE49-F238E27FC236}">
                  <a16:creationId xmlns:a16="http://schemas.microsoft.com/office/drawing/2014/main" id="{9ED7044D-21AF-79F2-472F-FDA59FF5A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871"/>
              <a:ext cx="200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c</a:t>
              </a:r>
            </a:p>
          </p:txBody>
        </p:sp>
        <p:graphicFrame>
          <p:nvGraphicFramePr>
            <p:cNvPr id="9236" name="Object 1041">
              <a:extLst>
                <a:ext uri="{FF2B5EF4-FFF2-40B4-BE49-F238E27FC236}">
                  <a16:creationId xmlns:a16="http://schemas.microsoft.com/office/drawing/2014/main" id="{B944CC46-174A-B2E4-13A5-4D7AE27123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5" y="2913"/>
            <a:ext cx="556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585700" imgH="4978400" progId="Equation.3">
                    <p:embed/>
                  </p:oleObj>
                </mc:Choice>
                <mc:Fallback>
                  <p:oleObj name="Equation" r:id="rId6" imgW="12585700" imgH="4978400" progId="Equation.3">
                    <p:embed/>
                    <p:pic>
                      <p:nvPicPr>
                        <p:cNvPr id="9236" name="Object 1041">
                          <a:extLst>
                            <a:ext uri="{FF2B5EF4-FFF2-40B4-BE49-F238E27FC236}">
                              <a16:creationId xmlns:a16="http://schemas.microsoft.com/office/drawing/2014/main" id="{B944CC46-174A-B2E4-13A5-4D7AE27123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5" y="2913"/>
                          <a:ext cx="556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1042">
              <a:extLst>
                <a:ext uri="{FF2B5EF4-FFF2-40B4-BE49-F238E27FC236}">
                  <a16:creationId xmlns:a16="http://schemas.microsoft.com/office/drawing/2014/main" id="{DD1F59D6-D1EA-8C38-6202-D21D11B7DD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3" y="2241"/>
            <a:ext cx="60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754100" imgH="4978400" progId="Equation.3">
                    <p:embed/>
                  </p:oleObj>
                </mc:Choice>
                <mc:Fallback>
                  <p:oleObj name="Equation" r:id="rId8" imgW="13754100" imgH="4978400" progId="Equation.3">
                    <p:embed/>
                    <p:pic>
                      <p:nvPicPr>
                        <p:cNvPr id="9237" name="Object 1042">
                          <a:extLst>
                            <a:ext uri="{FF2B5EF4-FFF2-40B4-BE49-F238E27FC236}">
                              <a16:creationId xmlns:a16="http://schemas.microsoft.com/office/drawing/2014/main" id="{DD1F59D6-D1EA-8C38-6202-D21D11B7DD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3" y="2241"/>
                          <a:ext cx="60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1" name="Text Box 1043">
              <a:extLst>
                <a:ext uri="{FF2B5EF4-FFF2-40B4-BE49-F238E27FC236}">
                  <a16:creationId xmlns:a16="http://schemas.microsoft.com/office/drawing/2014/main" id="{9E255F50-5A3E-7CCB-9F8D-70C9DF85D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5" y="1713"/>
              <a:ext cx="200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e</a:t>
              </a:r>
            </a:p>
          </p:txBody>
        </p:sp>
        <p:sp>
          <p:nvSpPr>
            <p:cNvPr id="23572" name="Oval 1044">
              <a:extLst>
                <a:ext uri="{FF2B5EF4-FFF2-40B4-BE49-F238E27FC236}">
                  <a16:creationId xmlns:a16="http://schemas.microsoft.com/office/drawing/2014/main" id="{517E4F21-C7C5-562A-A712-D8637F758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817"/>
              <a:ext cx="47" cy="48"/>
            </a:xfrm>
            <a:prstGeom prst="ellipse">
              <a:avLst/>
            </a:prstGeom>
            <a:solidFill>
              <a:srgbClr val="02020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73" name="Oval 1045">
              <a:extLst>
                <a:ext uri="{FF2B5EF4-FFF2-40B4-BE49-F238E27FC236}">
                  <a16:creationId xmlns:a16="http://schemas.microsoft.com/office/drawing/2014/main" id="{6309017B-880E-2B1B-C3E4-4438C8994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2193"/>
              <a:ext cx="47" cy="48"/>
            </a:xfrm>
            <a:prstGeom prst="ellipse">
              <a:avLst/>
            </a:prstGeom>
            <a:solidFill>
              <a:srgbClr val="02020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74" name="Text Box 1046">
              <a:extLst>
                <a:ext uri="{FF2B5EF4-FFF2-40B4-BE49-F238E27FC236}">
                  <a16:creationId xmlns:a16="http://schemas.microsoft.com/office/drawing/2014/main" id="{0895C7DA-14EB-1F22-D389-EE3E65902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1713"/>
              <a:ext cx="239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f</a:t>
              </a:r>
            </a:p>
          </p:txBody>
        </p:sp>
        <p:sp>
          <p:nvSpPr>
            <p:cNvPr id="23581" name="Line 1053">
              <a:extLst>
                <a:ext uri="{FF2B5EF4-FFF2-40B4-BE49-F238E27FC236}">
                  <a16:creationId xmlns:a16="http://schemas.microsoft.com/office/drawing/2014/main" id="{38A30C27-3445-AABE-54CD-D629635C9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1" cy="1152"/>
            </a:xfrm>
            <a:prstGeom prst="line">
              <a:avLst/>
            </a:prstGeom>
            <a:noFill/>
            <a:ln w="38100">
              <a:solidFill>
                <a:srgbClr val="66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3582" name="Rectangle 1054">
              <a:extLst>
                <a:ext uri="{FF2B5EF4-FFF2-40B4-BE49-F238E27FC236}">
                  <a16:creationId xmlns:a16="http://schemas.microsoft.com/office/drawing/2014/main" id="{6737C09E-A724-369B-6E5C-11D43114D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264"/>
              <a:ext cx="209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d</a:t>
              </a:r>
            </a:p>
          </p:txBody>
        </p:sp>
      </p:grpSp>
      <p:graphicFrame>
        <p:nvGraphicFramePr>
          <p:cNvPr id="9223" name="Object 1055">
            <a:extLst>
              <a:ext uri="{FF2B5EF4-FFF2-40B4-BE49-F238E27FC236}">
                <a16:creationId xmlns:a16="http://schemas.microsoft.com/office/drawing/2014/main" id="{341FF099-042C-C306-A830-F506CCF7C3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438400"/>
          <a:ext cx="83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59900" imgH="9067800" progId="Equation.3">
                  <p:embed/>
                </p:oleObj>
              </mc:Choice>
              <mc:Fallback>
                <p:oleObj name="Equation" r:id="rId10" imgW="9359900" imgH="9067800" progId="Equation.3">
                  <p:embed/>
                  <p:pic>
                    <p:nvPicPr>
                      <p:cNvPr id="9223" name="Object 1055">
                        <a:extLst>
                          <a:ext uri="{FF2B5EF4-FFF2-40B4-BE49-F238E27FC236}">
                            <a16:creationId xmlns:a16="http://schemas.microsoft.com/office/drawing/2014/main" id="{341FF099-042C-C306-A830-F506CCF7C3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438400"/>
                        <a:ext cx="838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BFFF852-54A5-6990-4174-8898DFBF90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6BAFE17-0C85-ED2E-6338-71F7BD4959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1981200"/>
            <a:ext cx="7467600" cy="914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698D28F4-F32E-AE61-B326-6DC348D1F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971800"/>
            <a:ext cx="6553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3.5 </a:t>
            </a:r>
            <a:r>
              <a:rPr lang="zh-CN" altLang="en-US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舍选抽样法</a:t>
            </a:r>
            <a:endParaRPr lang="en-US" altLang="zh-CN" b="1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(acceptance-rejection sampling)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18E574A6-C420-3D97-7F47-488005D2A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4419601"/>
            <a:ext cx="3101975" cy="119697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9431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590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3048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3505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962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4419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简单舍选抽样法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pPr>
              <a:buFontTx/>
              <a:buAutoNum type="arabicPeriod"/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改进的舍选抽样法</a:t>
            </a:r>
            <a:endParaRPr lang="en-US" altLang="zh-CN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pPr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典型的例子</a:t>
            </a:r>
          </a:p>
        </p:txBody>
      </p:sp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AFA73A0-FF6E-1327-E95B-A9EBD3187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改进的舍选抽样法</a:t>
            </a:r>
          </a:p>
        </p:txBody>
      </p:sp>
      <p:sp>
        <p:nvSpPr>
          <p:cNvPr id="16404" name="Text Box 20">
            <a:extLst>
              <a:ext uri="{FF2B5EF4-FFF2-40B4-BE49-F238E27FC236}">
                <a16:creationId xmlns:a16="http://schemas.microsoft.com/office/drawing/2014/main" id="{3B8C3CF0-B9B4-8EC2-4F4F-A16BC8A44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6" y="5830888"/>
            <a:ext cx="23214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宋体" charset="0"/>
                <a:sym typeface="Wingdings" charset="0"/>
              </a:rPr>
              <a:t>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宋体" charset="0"/>
                <a:sym typeface="Wingdings" charset="0"/>
              </a:rPr>
              <a:t>改进的舍选抽样法</a:t>
            </a:r>
            <a:endParaRPr lang="zh-CN" altLang="en-US" b="1">
              <a:solidFill>
                <a:srgbClr val="020202"/>
              </a:solidFill>
              <a:latin typeface="Times New Roman" charset="0"/>
              <a:ea typeface="宋体" charset="0"/>
            </a:endParaRPr>
          </a:p>
        </p:txBody>
      </p:sp>
      <p:grpSp>
        <p:nvGrpSpPr>
          <p:cNvPr id="16411" name="Group 27">
            <a:extLst>
              <a:ext uri="{FF2B5EF4-FFF2-40B4-BE49-F238E27FC236}">
                <a16:creationId xmlns:a16="http://schemas.microsoft.com/office/drawing/2014/main" id="{29987695-F536-4957-087A-6CC2AAF7EAD1}"/>
              </a:ext>
            </a:extLst>
          </p:cNvPr>
          <p:cNvGrpSpPr>
            <a:grpSpLocks/>
          </p:cNvGrpSpPr>
          <p:nvPr/>
        </p:nvGrpSpPr>
        <p:grpSpPr bwMode="auto">
          <a:xfrm>
            <a:off x="1739900" y="889001"/>
            <a:ext cx="8896350" cy="4398963"/>
            <a:chOff x="136" y="560"/>
            <a:chExt cx="5604" cy="2771"/>
          </a:xfrm>
        </p:grpSpPr>
        <p:sp>
          <p:nvSpPr>
            <p:cNvPr id="16387" name="Rectangle 3">
              <a:extLst>
                <a:ext uri="{FF2B5EF4-FFF2-40B4-BE49-F238E27FC236}">
                  <a16:creationId xmlns:a16="http://schemas.microsoft.com/office/drawing/2014/main" id="{43F448D4-8B4F-EE67-9CCC-760CF3A7E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560"/>
              <a:ext cx="171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solidFill>
                    <a:srgbClr val="0000FF"/>
                  </a:solidFill>
                  <a:latin typeface="Times New Roman" charset="0"/>
                  <a:ea typeface="楷体_GB2312" charset="0"/>
                  <a:cs typeface="楷体_GB2312" charset="0"/>
                  <a:sym typeface="Wingdings" charset="0"/>
                </a:rPr>
                <a:t>简单舍选抽样法的问题：</a:t>
              </a:r>
            </a:p>
          </p:txBody>
        </p:sp>
        <p:sp>
          <p:nvSpPr>
            <p:cNvPr id="16388" name="Rectangle 4">
              <a:extLst>
                <a:ext uri="{FF2B5EF4-FFF2-40B4-BE49-F238E27FC236}">
                  <a16:creationId xmlns:a16="http://schemas.microsoft.com/office/drawing/2014/main" id="{B0A4ED1C-2663-FA06-3312-850B3EBBA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912"/>
              <a:ext cx="3216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如果</a:t>
              </a:r>
              <a:r>
                <a:rPr lang="en-US" altLang="zh-CN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f(x)</a:t>
              </a: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曲线下的面积占矩形面积的比例很小，则抽样效率很低，这是因为随机数</a:t>
              </a:r>
              <a:r>
                <a:rPr lang="en-US" altLang="zh-CN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x</a:t>
              </a: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和</a:t>
              </a:r>
              <a:r>
                <a:rPr lang="en-US" altLang="zh-CN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y</a:t>
              </a: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是在区间</a:t>
              </a:r>
              <a:r>
                <a:rPr lang="en-US" altLang="zh-CN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[a, b]</a:t>
              </a: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和</a:t>
              </a:r>
              <a:r>
                <a:rPr lang="en-US" altLang="zh-CN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[0, c]</a:t>
              </a: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内均匀分布，所产生的大部分投点不会落在</a:t>
              </a:r>
              <a:r>
                <a:rPr lang="en-US" altLang="zh-CN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f(x)</a:t>
              </a:r>
              <a:r>
                <a:rPr lang="zh-CN" altLang="en-US" b="1">
                  <a:solidFill>
                    <a:srgbClr val="020202"/>
                  </a:solidFill>
                  <a:latin typeface="Times New Roman" charset="0"/>
                  <a:ea typeface="楷体_GB2312" charset="0"/>
                  <a:cs typeface="楷体_GB2312" charset="0"/>
                </a:rPr>
                <a:t>曲线下</a:t>
              </a:r>
            </a:p>
          </p:txBody>
        </p:sp>
        <p:grpSp>
          <p:nvGrpSpPr>
            <p:cNvPr id="11279" name="Group 26">
              <a:extLst>
                <a:ext uri="{FF2B5EF4-FFF2-40B4-BE49-F238E27FC236}">
                  <a16:creationId xmlns:a16="http://schemas.microsoft.com/office/drawing/2014/main" id="{8D963C8A-9FAE-0CBB-EE45-532B26878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3" y="1296"/>
              <a:ext cx="1957" cy="2035"/>
              <a:chOff x="3783" y="1296"/>
              <a:chExt cx="1957" cy="2035"/>
            </a:xfrm>
          </p:grpSpPr>
          <p:grpSp>
            <p:nvGrpSpPr>
              <p:cNvPr id="11280" name="Group 19">
                <a:extLst>
                  <a:ext uri="{FF2B5EF4-FFF2-40B4-BE49-F238E27FC236}">
                    <a16:creationId xmlns:a16="http://schemas.microsoft.com/office/drawing/2014/main" id="{C59272FC-B67C-6A88-DFFC-46BE380FC0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3" y="1296"/>
                <a:ext cx="1957" cy="2035"/>
                <a:chOff x="3926" y="240"/>
                <a:chExt cx="1957" cy="2035"/>
              </a:xfrm>
            </p:grpSpPr>
            <p:sp>
              <p:nvSpPr>
                <p:cNvPr id="16394" name="Freeform 10">
                  <a:extLst>
                    <a:ext uri="{FF2B5EF4-FFF2-40B4-BE49-F238E27FC236}">
                      <a16:creationId xmlns:a16="http://schemas.microsoft.com/office/drawing/2014/main" id="{7EE7A6C8-7AC4-ED3E-2A44-05BDEF2275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72" y="557"/>
                  <a:ext cx="1317" cy="1459"/>
                </a:xfrm>
                <a:custGeom>
                  <a:avLst/>
                  <a:gdLst>
                    <a:gd name="T0" fmla="*/ 0 w 1317"/>
                    <a:gd name="T1" fmla="*/ 1454 h 1459"/>
                    <a:gd name="T2" fmla="*/ 149 w 1317"/>
                    <a:gd name="T3" fmla="*/ 1436 h 1459"/>
                    <a:gd name="T4" fmla="*/ 305 w 1317"/>
                    <a:gd name="T5" fmla="*/ 1320 h 1459"/>
                    <a:gd name="T6" fmla="*/ 413 w 1317"/>
                    <a:gd name="T7" fmla="*/ 937 h 1459"/>
                    <a:gd name="T8" fmla="*/ 486 w 1317"/>
                    <a:gd name="T9" fmla="*/ 602 h 1459"/>
                    <a:gd name="T10" fmla="*/ 588 w 1317"/>
                    <a:gd name="T11" fmla="*/ 10 h 1459"/>
                    <a:gd name="T12" fmla="*/ 660 w 1317"/>
                    <a:gd name="T13" fmla="*/ 541 h 1459"/>
                    <a:gd name="T14" fmla="*/ 666 w 1317"/>
                    <a:gd name="T15" fmla="*/ 889 h 1459"/>
                    <a:gd name="T16" fmla="*/ 703 w 1317"/>
                    <a:gd name="T17" fmla="*/ 1176 h 1459"/>
                    <a:gd name="T18" fmla="*/ 811 w 1317"/>
                    <a:gd name="T19" fmla="*/ 1224 h 1459"/>
                    <a:gd name="T20" fmla="*/ 919 w 1317"/>
                    <a:gd name="T21" fmla="*/ 1080 h 1459"/>
                    <a:gd name="T22" fmla="*/ 1028 w 1317"/>
                    <a:gd name="T23" fmla="*/ 1224 h 1459"/>
                    <a:gd name="T24" fmla="*/ 1134 w 1317"/>
                    <a:gd name="T25" fmla="*/ 1365 h 1459"/>
                    <a:gd name="T26" fmla="*/ 1317 w 1317"/>
                    <a:gd name="T27" fmla="*/ 1446 h 145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317" h="1459">
                      <a:moveTo>
                        <a:pt x="0" y="1454"/>
                      </a:moveTo>
                      <a:cubicBezTo>
                        <a:pt x="25" y="1451"/>
                        <a:pt x="99" y="1459"/>
                        <a:pt x="149" y="1436"/>
                      </a:cubicBezTo>
                      <a:cubicBezTo>
                        <a:pt x="200" y="1413"/>
                        <a:pt x="261" y="1402"/>
                        <a:pt x="305" y="1320"/>
                      </a:cubicBezTo>
                      <a:cubicBezTo>
                        <a:pt x="349" y="1237"/>
                        <a:pt x="383" y="1057"/>
                        <a:pt x="413" y="937"/>
                      </a:cubicBezTo>
                      <a:cubicBezTo>
                        <a:pt x="444" y="817"/>
                        <a:pt x="457" y="756"/>
                        <a:pt x="486" y="602"/>
                      </a:cubicBezTo>
                      <a:cubicBezTo>
                        <a:pt x="515" y="448"/>
                        <a:pt x="559" y="20"/>
                        <a:pt x="588" y="10"/>
                      </a:cubicBezTo>
                      <a:cubicBezTo>
                        <a:pt x="617" y="0"/>
                        <a:pt x="647" y="395"/>
                        <a:pt x="660" y="541"/>
                      </a:cubicBezTo>
                      <a:cubicBezTo>
                        <a:pt x="673" y="687"/>
                        <a:pt x="659" y="783"/>
                        <a:pt x="666" y="889"/>
                      </a:cubicBezTo>
                      <a:cubicBezTo>
                        <a:pt x="673" y="995"/>
                        <a:pt x="678" y="1120"/>
                        <a:pt x="703" y="1176"/>
                      </a:cubicBezTo>
                      <a:cubicBezTo>
                        <a:pt x="727" y="1232"/>
                        <a:pt x="775" y="1240"/>
                        <a:pt x="811" y="1224"/>
                      </a:cubicBezTo>
                      <a:cubicBezTo>
                        <a:pt x="847" y="1208"/>
                        <a:pt x="883" y="1080"/>
                        <a:pt x="919" y="1080"/>
                      </a:cubicBezTo>
                      <a:cubicBezTo>
                        <a:pt x="956" y="1080"/>
                        <a:pt x="992" y="1176"/>
                        <a:pt x="1028" y="1224"/>
                      </a:cubicBezTo>
                      <a:cubicBezTo>
                        <a:pt x="1063" y="1272"/>
                        <a:pt x="1086" y="1328"/>
                        <a:pt x="1134" y="1365"/>
                      </a:cubicBezTo>
                      <a:cubicBezTo>
                        <a:pt x="1182" y="1402"/>
                        <a:pt x="1279" y="1429"/>
                        <a:pt x="1317" y="1446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6396" name="Line 12">
                  <a:extLst>
                    <a:ext uri="{FF2B5EF4-FFF2-40B4-BE49-F238E27FC236}">
                      <a16:creationId xmlns:a16="http://schemas.microsoft.com/office/drawing/2014/main" id="{6ADA916E-CD3A-BE12-9E78-2E3B8A6F2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2016"/>
                  <a:ext cx="1584" cy="0"/>
                </a:xfrm>
                <a:prstGeom prst="line">
                  <a:avLst/>
                </a:prstGeom>
                <a:noFill/>
                <a:ln w="28575">
                  <a:solidFill>
                    <a:srgbClr val="020202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zh-CN" altLang="en-US">
                    <a:latin typeface="Times New Roman" charset="0"/>
                    <a:ea typeface="宋体" charset="0"/>
                  </a:endParaRPr>
                </a:p>
              </p:txBody>
            </p:sp>
            <p:sp>
              <p:nvSpPr>
                <p:cNvPr id="16397" name="Line 13">
                  <a:extLst>
                    <a:ext uri="{FF2B5EF4-FFF2-40B4-BE49-F238E27FC236}">
                      <a16:creationId xmlns:a16="http://schemas.microsoft.com/office/drawing/2014/main" id="{23DAE939-872A-B5EB-D51F-CBD6F4DD00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76" y="240"/>
                  <a:ext cx="0" cy="1776"/>
                </a:xfrm>
                <a:prstGeom prst="line">
                  <a:avLst/>
                </a:prstGeom>
                <a:noFill/>
                <a:ln w="28575">
                  <a:solidFill>
                    <a:srgbClr val="020202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zh-CN" altLang="en-US">
                    <a:latin typeface="Times New Roman" charset="0"/>
                    <a:ea typeface="宋体" charset="0"/>
                  </a:endParaRPr>
                </a:p>
              </p:txBody>
            </p:sp>
            <p:sp>
              <p:nvSpPr>
                <p:cNvPr id="16398" name="Line 14">
                  <a:extLst>
                    <a:ext uri="{FF2B5EF4-FFF2-40B4-BE49-F238E27FC236}">
                      <a16:creationId xmlns:a16="http://schemas.microsoft.com/office/drawing/2014/main" id="{C5595413-CD26-BC81-D87B-950CC1F90C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57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prstDash val="sysDot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zh-CN" altLang="en-US">
                    <a:latin typeface="Times New Roman" charset="0"/>
                    <a:ea typeface="宋体" charset="0"/>
                  </a:endParaRPr>
                </a:p>
              </p:txBody>
            </p:sp>
            <p:sp>
              <p:nvSpPr>
                <p:cNvPr id="16399" name="Line 15">
                  <a:extLst>
                    <a:ext uri="{FF2B5EF4-FFF2-40B4-BE49-F238E27FC236}">
                      <a16:creationId xmlns:a16="http://schemas.microsoft.com/office/drawing/2014/main" id="{D569D10A-43B2-8027-E435-3BB86664E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2" y="576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prstDash val="sysDot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zh-CN" altLang="en-US">
                    <a:latin typeface="Times New Roman" charset="0"/>
                    <a:ea typeface="宋体" charset="0"/>
                  </a:endParaRPr>
                </a:p>
              </p:txBody>
            </p:sp>
            <p:sp>
              <p:nvSpPr>
                <p:cNvPr id="16400" name="Line 16">
                  <a:extLst>
                    <a:ext uri="{FF2B5EF4-FFF2-40B4-BE49-F238E27FC236}">
                      <a16:creationId xmlns:a16="http://schemas.microsoft.com/office/drawing/2014/main" id="{21287F84-2815-6D0C-05E6-6FD4C2FAF0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16" y="576"/>
                  <a:ext cx="0" cy="144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prstDash val="sysDot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zh-CN" altLang="en-US">
                    <a:latin typeface="Times New Roman" charset="0"/>
                    <a:ea typeface="宋体" charset="0"/>
                  </a:endParaRPr>
                </a:p>
              </p:txBody>
            </p:sp>
            <p:sp>
              <p:nvSpPr>
                <p:cNvPr id="16401" name="Text Box 17">
                  <a:extLst>
                    <a:ext uri="{FF2B5EF4-FFF2-40B4-BE49-F238E27FC236}">
                      <a16:creationId xmlns:a16="http://schemas.microsoft.com/office/drawing/2014/main" id="{063D0F32-C97C-2D89-8B63-316798FE55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2" y="2042"/>
                  <a:ext cx="181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i="1">
                      <a:solidFill>
                        <a:srgbClr val="020202"/>
                      </a:solidFill>
                      <a:latin typeface="Times New Roman" charset="0"/>
                      <a:ea typeface="宋体" charset="0"/>
                    </a:rPr>
                    <a:t>x</a:t>
                  </a:r>
                </a:p>
              </p:txBody>
            </p:sp>
            <p:sp>
              <p:nvSpPr>
                <p:cNvPr id="16402" name="Text Box 18">
                  <a:extLst>
                    <a:ext uri="{FF2B5EF4-FFF2-40B4-BE49-F238E27FC236}">
                      <a16:creationId xmlns:a16="http://schemas.microsoft.com/office/drawing/2014/main" id="{8B93618B-FE61-EFFD-D944-973F4E49F4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6" y="458"/>
                  <a:ext cx="181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i="1">
                      <a:solidFill>
                        <a:srgbClr val="020202"/>
                      </a:solidFill>
                      <a:latin typeface="Times New Roman" charset="0"/>
                      <a:ea typeface="宋体" charset="0"/>
                    </a:rPr>
                    <a:t>c</a:t>
                  </a:r>
                </a:p>
              </p:txBody>
            </p:sp>
          </p:grpSp>
          <p:sp>
            <p:nvSpPr>
              <p:cNvPr id="16406" name="Text Box 22">
                <a:extLst>
                  <a:ext uri="{FF2B5EF4-FFF2-40B4-BE49-F238E27FC236}">
                    <a16:creationId xmlns:a16="http://schemas.microsoft.com/office/drawing/2014/main" id="{5B41995E-1FE0-2D5F-1A2E-61984EEBB4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8" y="2330"/>
                <a:ext cx="31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f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(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x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)</a:t>
                </a:r>
              </a:p>
            </p:txBody>
          </p:sp>
          <p:sp>
            <p:nvSpPr>
              <p:cNvPr id="16407" name="Line 23">
                <a:extLst>
                  <a:ext uri="{FF2B5EF4-FFF2-40B4-BE49-F238E27FC236}">
                    <a16:creationId xmlns:a16="http://schemas.microsoft.com/office/drawing/2014/main" id="{2E5BE257-E521-CF84-479F-9EB766D09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8" y="2496"/>
                <a:ext cx="528" cy="1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</p:grpSp>
      <p:grpSp>
        <p:nvGrpSpPr>
          <p:cNvPr id="16413" name="Group 29">
            <a:extLst>
              <a:ext uri="{FF2B5EF4-FFF2-40B4-BE49-F238E27FC236}">
                <a16:creationId xmlns:a16="http://schemas.microsoft.com/office/drawing/2014/main" id="{66D4944B-BC97-7EF9-D197-3549363D2F09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405064"/>
            <a:ext cx="8483600" cy="3298825"/>
            <a:chOff x="144" y="1515"/>
            <a:chExt cx="5344" cy="2078"/>
          </a:xfrm>
        </p:grpSpPr>
        <p:grpSp>
          <p:nvGrpSpPr>
            <p:cNvPr id="11269" name="Group 28">
              <a:extLst>
                <a:ext uri="{FF2B5EF4-FFF2-40B4-BE49-F238E27FC236}">
                  <a16:creationId xmlns:a16="http://schemas.microsoft.com/office/drawing/2014/main" id="{D6B55607-8BB6-5704-BCB0-3E21226A12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515"/>
              <a:ext cx="5283" cy="2078"/>
              <a:chOff x="144" y="1515"/>
              <a:chExt cx="5283" cy="2078"/>
            </a:xfrm>
          </p:grpSpPr>
          <p:sp>
            <p:nvSpPr>
              <p:cNvPr id="16389" name="Rectangle 5">
                <a:extLst>
                  <a:ext uri="{FF2B5EF4-FFF2-40B4-BE49-F238E27FC236}">
                    <a16:creationId xmlns:a16="http://schemas.microsoft.com/office/drawing/2014/main" id="{46E745E5-3E74-C075-119F-A85D98EA6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2160"/>
                <a:ext cx="84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b="1">
                    <a:solidFill>
                      <a:srgbClr val="0000FF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改进方法：</a:t>
                </a:r>
              </a:p>
            </p:txBody>
          </p:sp>
          <p:sp>
            <p:nvSpPr>
              <p:cNvPr id="16390" name="Rectangle 6">
                <a:extLst>
                  <a:ext uri="{FF2B5EF4-FFF2-40B4-BE49-F238E27FC236}">
                    <a16:creationId xmlns:a16="http://schemas.microsoft.com/office/drawing/2014/main" id="{EF62935F-0050-A1D1-F3A2-3F98FFDE4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496"/>
                <a:ext cx="3536" cy="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defRPr/>
                </a:pPr>
                <a:r>
                  <a:rPr lang="zh-CN" altLang="en-US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构造一个新的概率密度函数</a:t>
                </a:r>
                <a:r>
                  <a:rPr lang="en-US" altLang="zh-CN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g(x)</a:t>
                </a:r>
                <a:r>
                  <a:rPr lang="zh-CN" altLang="en-US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，使它的形状接近</a:t>
                </a:r>
                <a:r>
                  <a:rPr lang="en-US" altLang="zh-CN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f(x), </a:t>
                </a:r>
                <a:r>
                  <a:rPr lang="zh-CN" altLang="en-US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且有</a:t>
                </a:r>
              </a:p>
            </p:txBody>
          </p:sp>
          <p:sp>
            <p:nvSpPr>
              <p:cNvPr id="16391" name="Rectangle 7">
                <a:extLst>
                  <a:ext uri="{FF2B5EF4-FFF2-40B4-BE49-F238E27FC236}">
                    <a16:creationId xmlns:a16="http://schemas.microsoft.com/office/drawing/2014/main" id="{548EA046-3094-37B0-E8CA-DB958264A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360"/>
                <a:ext cx="39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式中</a:t>
                </a:r>
                <a:r>
                  <a:rPr lang="en-US" altLang="zh-CN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Cg</a:t>
                </a:r>
                <a:r>
                  <a:rPr lang="zh-CN" altLang="en-US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为常数，而</a:t>
                </a:r>
                <a:r>
                  <a:rPr lang="en-US" altLang="zh-CN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g(x)</a:t>
                </a:r>
                <a:r>
                  <a:rPr lang="zh-CN" altLang="en-US" b="1">
                    <a:solidFill>
                      <a:srgbClr val="FF0000"/>
                    </a:solidFill>
                    <a:latin typeface="Times New Roman" charset="0"/>
                    <a:ea typeface="楷体_GB2312" charset="0"/>
                    <a:cs typeface="楷体_GB2312" charset="0"/>
                  </a:rPr>
                  <a:t>的抽样相对比较容易。</a:t>
                </a:r>
              </a:p>
            </p:txBody>
          </p:sp>
          <p:graphicFrame>
            <p:nvGraphicFramePr>
              <p:cNvPr id="11275" name="Object 9">
                <a:extLst>
                  <a:ext uri="{FF2B5EF4-FFF2-40B4-BE49-F238E27FC236}">
                    <a16:creationId xmlns:a16="http://schemas.microsoft.com/office/drawing/2014/main" id="{5AA2812B-8B82-F330-8A3D-A56963477E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6" y="3024"/>
              <a:ext cx="2112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7744400" imgH="5562600" progId="Equation.3">
                      <p:embed/>
                    </p:oleObj>
                  </mc:Choice>
                  <mc:Fallback>
                    <p:oleObj name="Equation" r:id="rId2" imgW="37744400" imgH="5562600" progId="Equation.3">
                      <p:embed/>
                      <p:pic>
                        <p:nvPicPr>
                          <p:cNvPr id="11275" name="Object 9">
                            <a:extLst>
                              <a:ext uri="{FF2B5EF4-FFF2-40B4-BE49-F238E27FC236}">
                                <a16:creationId xmlns:a16="http://schemas.microsoft.com/office/drawing/2014/main" id="{5AA2812B-8B82-F330-8A3D-A56963477E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3024"/>
                            <a:ext cx="2112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05" name="Freeform 21">
                <a:extLst>
                  <a:ext uri="{FF2B5EF4-FFF2-40B4-BE49-F238E27FC236}">
                    <a16:creationId xmlns:a16="http://schemas.microsoft.com/office/drawing/2014/main" id="{7D7616EE-B089-2735-220A-A727EA699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515"/>
                <a:ext cx="1299" cy="1557"/>
              </a:xfrm>
              <a:custGeom>
                <a:avLst/>
                <a:gdLst>
                  <a:gd name="T0" fmla="*/ 0 w 1299"/>
                  <a:gd name="T1" fmla="*/ 1557 h 1557"/>
                  <a:gd name="T2" fmla="*/ 144 w 1299"/>
                  <a:gd name="T3" fmla="*/ 1461 h 1557"/>
                  <a:gd name="T4" fmla="*/ 288 w 1299"/>
                  <a:gd name="T5" fmla="*/ 1221 h 1557"/>
                  <a:gd name="T6" fmla="*/ 384 w 1299"/>
                  <a:gd name="T7" fmla="*/ 885 h 1557"/>
                  <a:gd name="T8" fmla="*/ 462 w 1299"/>
                  <a:gd name="T9" fmla="*/ 465 h 1557"/>
                  <a:gd name="T10" fmla="*/ 570 w 1299"/>
                  <a:gd name="T11" fmla="*/ 42 h 1557"/>
                  <a:gd name="T12" fmla="*/ 720 w 1299"/>
                  <a:gd name="T13" fmla="*/ 213 h 1557"/>
                  <a:gd name="T14" fmla="*/ 816 w 1299"/>
                  <a:gd name="T15" fmla="*/ 549 h 1557"/>
                  <a:gd name="T16" fmla="*/ 912 w 1299"/>
                  <a:gd name="T17" fmla="*/ 837 h 1557"/>
                  <a:gd name="T18" fmla="*/ 1104 w 1299"/>
                  <a:gd name="T19" fmla="*/ 1221 h 1557"/>
                  <a:gd name="T20" fmla="*/ 1299 w 1299"/>
                  <a:gd name="T21" fmla="*/ 1518 h 15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99" h="1557">
                    <a:moveTo>
                      <a:pt x="0" y="1557"/>
                    </a:moveTo>
                    <a:cubicBezTo>
                      <a:pt x="48" y="1537"/>
                      <a:pt x="96" y="1517"/>
                      <a:pt x="144" y="1461"/>
                    </a:cubicBezTo>
                    <a:cubicBezTo>
                      <a:pt x="192" y="1405"/>
                      <a:pt x="248" y="1317"/>
                      <a:pt x="288" y="1221"/>
                    </a:cubicBezTo>
                    <a:cubicBezTo>
                      <a:pt x="328" y="1125"/>
                      <a:pt x="355" y="1011"/>
                      <a:pt x="384" y="885"/>
                    </a:cubicBezTo>
                    <a:cubicBezTo>
                      <a:pt x="413" y="759"/>
                      <a:pt x="431" y="605"/>
                      <a:pt x="462" y="465"/>
                    </a:cubicBezTo>
                    <a:cubicBezTo>
                      <a:pt x="493" y="325"/>
                      <a:pt x="527" y="84"/>
                      <a:pt x="570" y="42"/>
                    </a:cubicBezTo>
                    <a:cubicBezTo>
                      <a:pt x="613" y="0"/>
                      <a:pt x="679" y="129"/>
                      <a:pt x="720" y="213"/>
                    </a:cubicBezTo>
                    <a:cubicBezTo>
                      <a:pt x="761" y="297"/>
                      <a:pt x="784" y="445"/>
                      <a:pt x="816" y="549"/>
                    </a:cubicBezTo>
                    <a:cubicBezTo>
                      <a:pt x="848" y="653"/>
                      <a:pt x="864" y="725"/>
                      <a:pt x="912" y="837"/>
                    </a:cubicBezTo>
                    <a:cubicBezTo>
                      <a:pt x="960" y="949"/>
                      <a:pt x="1040" y="1107"/>
                      <a:pt x="1104" y="1221"/>
                    </a:cubicBezTo>
                    <a:cubicBezTo>
                      <a:pt x="1168" y="1335"/>
                      <a:pt x="1258" y="1456"/>
                      <a:pt x="1299" y="1518"/>
                    </a:cubicBezTo>
                  </a:path>
                </a:pathLst>
              </a:custGeom>
              <a:noFill/>
              <a:ln w="38100" cap="flat" cmpd="sng">
                <a:solidFill>
                  <a:srgbClr val="6633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6408" name="Text Box 24">
              <a:extLst>
                <a:ext uri="{FF2B5EF4-FFF2-40B4-BE49-F238E27FC236}">
                  <a16:creationId xmlns:a16="http://schemas.microsoft.com/office/drawing/2014/main" id="{BB0D37FB-7578-FE49-2A30-BF277E7E4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680"/>
              <a:ext cx="4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C</a:t>
              </a:r>
              <a:r>
                <a:rPr lang="en-US" altLang="zh-CN" i="1" baseline="-25000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g</a:t>
              </a: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g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(</a:t>
              </a: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x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)</a:t>
              </a:r>
            </a:p>
          </p:txBody>
        </p:sp>
        <p:sp>
          <p:nvSpPr>
            <p:cNvPr id="16409" name="Line 25">
              <a:extLst>
                <a:ext uri="{FF2B5EF4-FFF2-40B4-BE49-F238E27FC236}">
                  <a16:creationId xmlns:a16="http://schemas.microsoft.com/office/drawing/2014/main" id="{E3FFAF9B-426F-2655-9873-21086FEC6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1920"/>
              <a:ext cx="192" cy="96"/>
            </a:xfrm>
            <a:prstGeom prst="line">
              <a:avLst/>
            </a:prstGeom>
            <a:noFill/>
            <a:ln w="9525">
              <a:solidFill>
                <a:srgbClr val="6633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4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>
            <a:extLst>
              <a:ext uri="{FF2B5EF4-FFF2-40B4-BE49-F238E27FC236}">
                <a16:creationId xmlns:a16="http://schemas.microsoft.com/office/drawing/2014/main" id="{64FF4FF7-E9CA-D6F6-2540-FDE14E1A5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改进的舍选抽样法</a:t>
            </a:r>
          </a:p>
        </p:txBody>
      </p:sp>
      <p:sp>
        <p:nvSpPr>
          <p:cNvPr id="24585" name="Rectangle 1033">
            <a:extLst>
              <a:ext uri="{FF2B5EF4-FFF2-40B4-BE49-F238E27FC236}">
                <a16:creationId xmlns:a16="http://schemas.microsoft.com/office/drawing/2014/main" id="{9B25CCE2-54D0-399E-5E9F-515894715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9017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</a:p>
        </p:txBody>
      </p:sp>
      <p:sp>
        <p:nvSpPr>
          <p:cNvPr id="24586" name="Rectangle 1034">
            <a:extLst>
              <a:ext uri="{FF2B5EF4-FFF2-40B4-BE49-F238E27FC236}">
                <a16:creationId xmlns:a16="http://schemas.microsoft.com/office/drawing/2014/main" id="{5408D95D-E87D-B25A-54DF-4D608E20E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1" y="1495425"/>
            <a:ext cx="2031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rgbClr val="020202"/>
                </a:solidFill>
                <a:latin typeface="Times New Roman" charset="0"/>
                <a:ea typeface="宋体" charset="0"/>
              </a:rPr>
              <a:t>1.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产生两个随机数</a:t>
            </a:r>
          </a:p>
        </p:txBody>
      </p:sp>
      <p:sp>
        <p:nvSpPr>
          <p:cNvPr id="24587" name="Rectangle 1035">
            <a:extLst>
              <a:ext uri="{FF2B5EF4-FFF2-40B4-BE49-F238E27FC236}">
                <a16:creationId xmlns:a16="http://schemas.microsoft.com/office/drawing/2014/main" id="{7C72B501-E15C-59B4-1B61-51D7CEF1A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057400"/>
            <a:ext cx="6172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buFontTx/>
              <a:buChar char="•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产生分布为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的随机数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zh-CN" altLang="en-US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，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x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a,b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];</a:t>
            </a:r>
          </a:p>
          <a:p>
            <a:pPr marL="292100" indent="-292100">
              <a:buFontTx/>
              <a:buChar char="•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产生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[0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 C</a:t>
            </a:r>
            <a:r>
              <a:rPr lang="en-US" altLang="ko-KR" b="1" i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)]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区间上均匀分布的随机数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，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y= 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ko-KR" b="1" i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,  U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0,1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].</a:t>
            </a:r>
          </a:p>
        </p:txBody>
      </p:sp>
      <p:sp>
        <p:nvSpPr>
          <p:cNvPr id="24588" name="Rectangle 1036">
            <a:extLst>
              <a:ext uri="{FF2B5EF4-FFF2-40B4-BE49-F238E27FC236}">
                <a16:creationId xmlns:a16="http://schemas.microsoft.com/office/drawing/2014/main" id="{0579C9B8-80D1-D29B-FBEE-3217C4407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429000"/>
            <a:ext cx="2492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>
                <a:solidFill>
                  <a:srgbClr val="020202"/>
                </a:solidFill>
                <a:latin typeface="Times New Roman" charset="0"/>
                <a:ea typeface="宋体" charset="0"/>
              </a:rPr>
              <a:t>2.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接收或舍弃取样值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.</a:t>
            </a:r>
            <a:endParaRPr lang="en-US" altLang="zh-CN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24589" name="Rectangle 1037">
            <a:extLst>
              <a:ext uri="{FF2B5EF4-FFF2-40B4-BE49-F238E27FC236}">
                <a16:creationId xmlns:a16="http://schemas.microsoft.com/office/drawing/2014/main" id="{7A56A3C9-364F-0F3F-BA52-08416F76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038601"/>
            <a:ext cx="6553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buFontTx/>
              <a:buChar char="•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如果</a:t>
            </a:r>
            <a:r>
              <a:rPr lang="ko-KR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y &gt; 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ko-KR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ko-KR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，舍弃，返回到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重复上述过程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;</a:t>
            </a:r>
          </a:p>
          <a:p>
            <a:pPr marL="190500" indent="-190500">
              <a:buFontTx/>
              <a:buChar char="•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否则，接受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;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5" grpId="0" autoUpdateAnimBg="0"/>
      <p:bldP spid="24586" grpId="0" autoUpdateAnimBg="0"/>
      <p:bldP spid="24587" grpId="0" autoUpdateAnimBg="0"/>
      <p:bldP spid="24588" grpId="0" autoUpdateAnimBg="0"/>
      <p:bldP spid="24589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21CA7F0-98F5-ECF7-5B0A-3931E2DF2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改进的舍选抽样法</a:t>
            </a:r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7CAC1DB-2DC6-A837-8672-9EE435240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35038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几何解释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4A3B0F5E-B581-3B39-EA52-07FFA2624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953001"/>
            <a:ext cx="85344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buFontTx/>
              <a:buChar char="•"/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在二维图上，随机选取位于曲线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zh-CN" sz="2000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g(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下的点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[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]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；</a:t>
            </a:r>
            <a:endParaRPr lang="en-US" altLang="zh-CN" sz="2000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 marL="190500" indent="-190500">
              <a:spcBef>
                <a:spcPct val="50000"/>
              </a:spcBef>
              <a:buFontTx/>
              <a:buChar char="•"/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选取位于曲线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下的那些点，则这些点将服从概率密度为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sz="2000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的分布</a:t>
            </a:r>
          </a:p>
        </p:txBody>
      </p:sp>
      <p:sp>
        <p:nvSpPr>
          <p:cNvPr id="25622" name="Text Box 22">
            <a:extLst>
              <a:ext uri="{FF2B5EF4-FFF2-40B4-BE49-F238E27FC236}">
                <a16:creationId xmlns:a16="http://schemas.microsoft.com/office/drawing/2014/main" id="{A18D26CF-9EA8-DA1C-E282-5AF41DD80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</a:p>
        </p:txBody>
      </p:sp>
      <p:grpSp>
        <p:nvGrpSpPr>
          <p:cNvPr id="13317" name="Group 36">
            <a:extLst>
              <a:ext uri="{FF2B5EF4-FFF2-40B4-BE49-F238E27FC236}">
                <a16:creationId xmlns:a16="http://schemas.microsoft.com/office/drawing/2014/main" id="{7C0419B5-1AC3-C437-7ECB-15116457518B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447800"/>
            <a:ext cx="4083050" cy="2895600"/>
            <a:chOff x="1536" y="912"/>
            <a:chExt cx="1834" cy="1776"/>
          </a:xfrm>
        </p:grpSpPr>
        <p:sp>
          <p:nvSpPr>
            <p:cNvPr id="25616" name="Freeform 16">
              <a:extLst>
                <a:ext uri="{FF2B5EF4-FFF2-40B4-BE49-F238E27FC236}">
                  <a16:creationId xmlns:a16="http://schemas.microsoft.com/office/drawing/2014/main" id="{FA5889BB-15F6-EE18-5836-F4CADC107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229"/>
              <a:ext cx="1317" cy="1459"/>
            </a:xfrm>
            <a:custGeom>
              <a:avLst/>
              <a:gdLst>
                <a:gd name="T0" fmla="*/ 0 w 1317"/>
                <a:gd name="T1" fmla="*/ 1454 h 1459"/>
                <a:gd name="T2" fmla="*/ 149 w 1317"/>
                <a:gd name="T3" fmla="*/ 1436 h 1459"/>
                <a:gd name="T4" fmla="*/ 305 w 1317"/>
                <a:gd name="T5" fmla="*/ 1320 h 1459"/>
                <a:gd name="T6" fmla="*/ 413 w 1317"/>
                <a:gd name="T7" fmla="*/ 937 h 1459"/>
                <a:gd name="T8" fmla="*/ 486 w 1317"/>
                <a:gd name="T9" fmla="*/ 602 h 1459"/>
                <a:gd name="T10" fmla="*/ 588 w 1317"/>
                <a:gd name="T11" fmla="*/ 10 h 1459"/>
                <a:gd name="T12" fmla="*/ 660 w 1317"/>
                <a:gd name="T13" fmla="*/ 541 h 1459"/>
                <a:gd name="T14" fmla="*/ 666 w 1317"/>
                <a:gd name="T15" fmla="*/ 889 h 1459"/>
                <a:gd name="T16" fmla="*/ 703 w 1317"/>
                <a:gd name="T17" fmla="*/ 1176 h 1459"/>
                <a:gd name="T18" fmla="*/ 811 w 1317"/>
                <a:gd name="T19" fmla="*/ 1224 h 1459"/>
                <a:gd name="T20" fmla="*/ 919 w 1317"/>
                <a:gd name="T21" fmla="*/ 1080 h 1459"/>
                <a:gd name="T22" fmla="*/ 1028 w 1317"/>
                <a:gd name="T23" fmla="*/ 1224 h 1459"/>
                <a:gd name="T24" fmla="*/ 1134 w 1317"/>
                <a:gd name="T25" fmla="*/ 1365 h 1459"/>
                <a:gd name="T26" fmla="*/ 1317 w 1317"/>
                <a:gd name="T27" fmla="*/ 1446 h 14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17" h="1459">
                  <a:moveTo>
                    <a:pt x="0" y="1454"/>
                  </a:moveTo>
                  <a:cubicBezTo>
                    <a:pt x="25" y="1451"/>
                    <a:pt x="99" y="1459"/>
                    <a:pt x="149" y="1436"/>
                  </a:cubicBezTo>
                  <a:cubicBezTo>
                    <a:pt x="200" y="1413"/>
                    <a:pt x="261" y="1402"/>
                    <a:pt x="305" y="1320"/>
                  </a:cubicBezTo>
                  <a:cubicBezTo>
                    <a:pt x="349" y="1237"/>
                    <a:pt x="383" y="1057"/>
                    <a:pt x="413" y="937"/>
                  </a:cubicBezTo>
                  <a:cubicBezTo>
                    <a:pt x="444" y="817"/>
                    <a:pt x="457" y="756"/>
                    <a:pt x="486" y="602"/>
                  </a:cubicBezTo>
                  <a:cubicBezTo>
                    <a:pt x="515" y="448"/>
                    <a:pt x="559" y="20"/>
                    <a:pt x="588" y="10"/>
                  </a:cubicBezTo>
                  <a:cubicBezTo>
                    <a:pt x="617" y="0"/>
                    <a:pt x="647" y="395"/>
                    <a:pt x="660" y="541"/>
                  </a:cubicBezTo>
                  <a:cubicBezTo>
                    <a:pt x="673" y="687"/>
                    <a:pt x="659" y="783"/>
                    <a:pt x="666" y="889"/>
                  </a:cubicBezTo>
                  <a:cubicBezTo>
                    <a:pt x="673" y="995"/>
                    <a:pt x="678" y="1120"/>
                    <a:pt x="703" y="1176"/>
                  </a:cubicBezTo>
                  <a:cubicBezTo>
                    <a:pt x="727" y="1232"/>
                    <a:pt x="775" y="1240"/>
                    <a:pt x="811" y="1224"/>
                  </a:cubicBezTo>
                  <a:cubicBezTo>
                    <a:pt x="847" y="1208"/>
                    <a:pt x="883" y="1080"/>
                    <a:pt x="919" y="1080"/>
                  </a:cubicBezTo>
                  <a:cubicBezTo>
                    <a:pt x="956" y="1080"/>
                    <a:pt x="992" y="1176"/>
                    <a:pt x="1028" y="1224"/>
                  </a:cubicBezTo>
                  <a:cubicBezTo>
                    <a:pt x="1063" y="1272"/>
                    <a:pt x="1086" y="1328"/>
                    <a:pt x="1134" y="1365"/>
                  </a:cubicBezTo>
                  <a:cubicBezTo>
                    <a:pt x="1182" y="1402"/>
                    <a:pt x="1279" y="1429"/>
                    <a:pt x="1317" y="144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7" name="Line 17">
              <a:extLst>
                <a:ext uri="{FF2B5EF4-FFF2-40B4-BE49-F238E27FC236}">
                  <a16:creationId xmlns:a16="http://schemas.microsoft.com/office/drawing/2014/main" id="{3DBBC0F3-EA0D-DF48-10F8-4C7FD1272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688"/>
              <a:ext cx="1584" cy="0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5618" name="Line 18">
              <a:extLst>
                <a:ext uri="{FF2B5EF4-FFF2-40B4-BE49-F238E27FC236}">
                  <a16:creationId xmlns:a16="http://schemas.microsoft.com/office/drawing/2014/main" id="{2094DAF9-9B08-8293-5548-6BB8229DCE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6" y="912"/>
              <a:ext cx="0" cy="1776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5623" name="Text Box 23">
              <a:extLst>
                <a:ext uri="{FF2B5EF4-FFF2-40B4-BE49-F238E27FC236}">
                  <a16:creationId xmlns:a16="http://schemas.microsoft.com/office/drawing/2014/main" id="{82AF13A3-1E7A-3CB8-126F-7F953A142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130"/>
              <a:ext cx="129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c</a:t>
              </a:r>
            </a:p>
          </p:txBody>
        </p:sp>
        <p:sp>
          <p:nvSpPr>
            <p:cNvPr id="25624" name="Text Box 24">
              <a:extLst>
                <a:ext uri="{FF2B5EF4-FFF2-40B4-BE49-F238E27FC236}">
                  <a16:creationId xmlns:a16="http://schemas.microsoft.com/office/drawing/2014/main" id="{F2765D3B-09A8-8A58-468F-2DA51DDA8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946"/>
              <a:ext cx="227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f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(</a:t>
              </a: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x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)</a:t>
              </a:r>
            </a:p>
          </p:txBody>
        </p:sp>
        <p:sp>
          <p:nvSpPr>
            <p:cNvPr id="25625" name="Line 25">
              <a:extLst>
                <a:ext uri="{FF2B5EF4-FFF2-40B4-BE49-F238E27FC236}">
                  <a16:creationId xmlns:a16="http://schemas.microsoft.com/office/drawing/2014/main" id="{EFE10BC5-0951-E5C1-2DAF-B71F6C8417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1" y="2112"/>
              <a:ext cx="528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grpSp>
          <p:nvGrpSpPr>
            <p:cNvPr id="13324" name="Group 35">
              <a:extLst>
                <a:ext uri="{FF2B5EF4-FFF2-40B4-BE49-F238E27FC236}">
                  <a16:creationId xmlns:a16="http://schemas.microsoft.com/office/drawing/2014/main" id="{99ECB513-96E3-B470-9C3B-78502DCEB0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104"/>
              <a:ext cx="1299" cy="1557"/>
              <a:chOff x="4128" y="1515"/>
              <a:chExt cx="1299" cy="1557"/>
            </a:xfrm>
          </p:grpSpPr>
          <p:sp>
            <p:nvSpPr>
              <p:cNvPr id="25632" name="Freeform 32">
                <a:extLst>
                  <a:ext uri="{FF2B5EF4-FFF2-40B4-BE49-F238E27FC236}">
                    <a16:creationId xmlns:a16="http://schemas.microsoft.com/office/drawing/2014/main" id="{856195BD-EBFE-F7AF-CB55-310E8426F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515"/>
                <a:ext cx="1299" cy="1557"/>
              </a:xfrm>
              <a:custGeom>
                <a:avLst/>
                <a:gdLst>
                  <a:gd name="T0" fmla="*/ 0 w 1299"/>
                  <a:gd name="T1" fmla="*/ 1557 h 1557"/>
                  <a:gd name="T2" fmla="*/ 144 w 1299"/>
                  <a:gd name="T3" fmla="*/ 1461 h 1557"/>
                  <a:gd name="T4" fmla="*/ 288 w 1299"/>
                  <a:gd name="T5" fmla="*/ 1221 h 1557"/>
                  <a:gd name="T6" fmla="*/ 384 w 1299"/>
                  <a:gd name="T7" fmla="*/ 885 h 1557"/>
                  <a:gd name="T8" fmla="*/ 462 w 1299"/>
                  <a:gd name="T9" fmla="*/ 465 h 1557"/>
                  <a:gd name="T10" fmla="*/ 570 w 1299"/>
                  <a:gd name="T11" fmla="*/ 42 h 1557"/>
                  <a:gd name="T12" fmla="*/ 720 w 1299"/>
                  <a:gd name="T13" fmla="*/ 213 h 1557"/>
                  <a:gd name="T14" fmla="*/ 816 w 1299"/>
                  <a:gd name="T15" fmla="*/ 549 h 1557"/>
                  <a:gd name="T16" fmla="*/ 912 w 1299"/>
                  <a:gd name="T17" fmla="*/ 837 h 1557"/>
                  <a:gd name="T18" fmla="*/ 1104 w 1299"/>
                  <a:gd name="T19" fmla="*/ 1221 h 1557"/>
                  <a:gd name="T20" fmla="*/ 1299 w 1299"/>
                  <a:gd name="T21" fmla="*/ 1518 h 15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99" h="1557">
                    <a:moveTo>
                      <a:pt x="0" y="1557"/>
                    </a:moveTo>
                    <a:cubicBezTo>
                      <a:pt x="48" y="1537"/>
                      <a:pt x="96" y="1517"/>
                      <a:pt x="144" y="1461"/>
                    </a:cubicBezTo>
                    <a:cubicBezTo>
                      <a:pt x="192" y="1405"/>
                      <a:pt x="248" y="1317"/>
                      <a:pt x="288" y="1221"/>
                    </a:cubicBezTo>
                    <a:cubicBezTo>
                      <a:pt x="328" y="1125"/>
                      <a:pt x="355" y="1011"/>
                      <a:pt x="384" y="885"/>
                    </a:cubicBezTo>
                    <a:cubicBezTo>
                      <a:pt x="413" y="759"/>
                      <a:pt x="431" y="605"/>
                      <a:pt x="462" y="465"/>
                    </a:cubicBezTo>
                    <a:cubicBezTo>
                      <a:pt x="493" y="325"/>
                      <a:pt x="527" y="84"/>
                      <a:pt x="570" y="42"/>
                    </a:cubicBezTo>
                    <a:cubicBezTo>
                      <a:pt x="613" y="0"/>
                      <a:pt x="679" y="129"/>
                      <a:pt x="720" y="213"/>
                    </a:cubicBezTo>
                    <a:cubicBezTo>
                      <a:pt x="761" y="297"/>
                      <a:pt x="784" y="445"/>
                      <a:pt x="816" y="549"/>
                    </a:cubicBezTo>
                    <a:cubicBezTo>
                      <a:pt x="848" y="653"/>
                      <a:pt x="864" y="725"/>
                      <a:pt x="912" y="837"/>
                    </a:cubicBezTo>
                    <a:cubicBezTo>
                      <a:pt x="960" y="949"/>
                      <a:pt x="1040" y="1107"/>
                      <a:pt x="1104" y="1221"/>
                    </a:cubicBezTo>
                    <a:cubicBezTo>
                      <a:pt x="1168" y="1335"/>
                      <a:pt x="1258" y="1456"/>
                      <a:pt x="1299" y="1518"/>
                    </a:cubicBezTo>
                  </a:path>
                </a:pathLst>
              </a:custGeom>
              <a:noFill/>
              <a:ln w="38100" cap="flat" cmpd="sng">
                <a:solidFill>
                  <a:srgbClr val="6633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633" name="Text Box 33">
                <a:extLst>
                  <a:ext uri="{FF2B5EF4-FFF2-40B4-BE49-F238E27FC236}">
                    <a16:creationId xmlns:a16="http://schemas.microsoft.com/office/drawing/2014/main" id="{8355926D-0ADE-30C7-A588-A556F6F210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1678"/>
                <a:ext cx="354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C</a:t>
                </a:r>
                <a:r>
                  <a:rPr lang="en-US" altLang="zh-CN" i="1" baseline="-25000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g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g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(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x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)</a:t>
                </a:r>
              </a:p>
            </p:txBody>
          </p:sp>
          <p:sp>
            <p:nvSpPr>
              <p:cNvPr id="25634" name="Line 34">
                <a:extLst>
                  <a:ext uri="{FF2B5EF4-FFF2-40B4-BE49-F238E27FC236}">
                    <a16:creationId xmlns:a16="http://schemas.microsoft.com/office/drawing/2014/main" id="{BB4AA97B-51D5-CCE5-4936-0D8788DE1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44" y="192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66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</p:grpSp>
    </p:spTree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EB9D50-3C98-4622-9A2D-F1C48A150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改进的舍选抽样法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02FC87CE-7E3B-F255-DFB4-B39E1F5A9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935038"/>
            <a:ext cx="723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证明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3BD0EDF0-E2DF-EA9B-B293-FF3961F37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343401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按舍选抽样法抽出的随机数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d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的概率：</a:t>
            </a: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9906CCFC-79DF-33C0-C82D-098B8795A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962400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d</a:t>
            </a:r>
          </a:p>
        </p:txBody>
      </p:sp>
      <p:sp>
        <p:nvSpPr>
          <p:cNvPr id="4124" name="Rectangle 28">
            <a:extLst>
              <a:ext uri="{FF2B5EF4-FFF2-40B4-BE49-F238E27FC236}">
                <a16:creationId xmlns:a16="http://schemas.microsoft.com/office/drawing/2014/main" id="{68A5449B-D761-2F19-7502-E44584EB2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00201"/>
            <a:ext cx="373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和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的概率密度函数分别为</a:t>
            </a:r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2BB60770-83A1-7D7A-31CE-785F8C670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95601"/>
            <a:ext cx="2484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联合概率密度函数为</a:t>
            </a:r>
          </a:p>
        </p:txBody>
      </p:sp>
      <p:graphicFrame>
        <p:nvGraphicFramePr>
          <p:cNvPr id="14343" name="Object 30">
            <a:extLst>
              <a:ext uri="{FF2B5EF4-FFF2-40B4-BE49-F238E27FC236}">
                <a16:creationId xmlns:a16="http://schemas.microsoft.com/office/drawing/2014/main" id="{C4ED6C9A-85C4-C416-5E87-39445BA64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5688" y="2090739"/>
          <a:ext cx="3275012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059600" imgH="10236200" progId="Equation.3">
                  <p:embed/>
                </p:oleObj>
              </mc:Choice>
              <mc:Fallback>
                <p:oleObj name="Equation" r:id="rId2" imgW="45059600" imgH="10236200" progId="Equation.3">
                  <p:embed/>
                  <p:pic>
                    <p:nvPicPr>
                      <p:cNvPr id="14343" name="Object 30">
                        <a:extLst>
                          <a:ext uri="{FF2B5EF4-FFF2-40B4-BE49-F238E27FC236}">
                            <a16:creationId xmlns:a16="http://schemas.microsoft.com/office/drawing/2014/main" id="{C4ED6C9A-85C4-C416-5E87-39445BA64D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2090739"/>
                        <a:ext cx="3275012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31">
            <a:extLst>
              <a:ext uri="{FF2B5EF4-FFF2-40B4-BE49-F238E27FC236}">
                <a16:creationId xmlns:a16="http://schemas.microsoft.com/office/drawing/2014/main" id="{C792BDC5-0187-BDDF-0949-F0A5870CD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8376" y="3408364"/>
          <a:ext cx="39338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127400" imgH="10236200" progId="Equation.3">
                  <p:embed/>
                </p:oleObj>
              </mc:Choice>
              <mc:Fallback>
                <p:oleObj name="Equation" r:id="rId4" imgW="54127400" imgH="10236200" progId="Equation.3">
                  <p:embed/>
                  <p:pic>
                    <p:nvPicPr>
                      <p:cNvPr id="14344" name="Object 31">
                        <a:extLst>
                          <a:ext uri="{FF2B5EF4-FFF2-40B4-BE49-F238E27FC236}">
                            <a16:creationId xmlns:a16="http://schemas.microsoft.com/office/drawing/2014/main" id="{C792BDC5-0187-BDDF-0949-F0A5870CD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6" y="3408364"/>
                        <a:ext cx="39338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32">
            <a:extLst>
              <a:ext uri="{FF2B5EF4-FFF2-40B4-BE49-F238E27FC236}">
                <a16:creationId xmlns:a16="http://schemas.microsoft.com/office/drawing/2014/main" id="{D23E1946-0DC8-2B7A-4C60-3956BF0A4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800600"/>
          <a:ext cx="6230938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725000" imgH="14630400" progId="Equation.3">
                  <p:embed/>
                </p:oleObj>
              </mc:Choice>
              <mc:Fallback>
                <p:oleObj name="Equation" r:id="rId6" imgW="85725000" imgH="14630400" progId="Equation.3">
                  <p:embed/>
                  <p:pic>
                    <p:nvPicPr>
                      <p:cNvPr id="14345" name="Object 32">
                        <a:extLst>
                          <a:ext uri="{FF2B5EF4-FFF2-40B4-BE49-F238E27FC236}">
                            <a16:creationId xmlns:a16="http://schemas.microsoft.com/office/drawing/2014/main" id="{D23E1946-0DC8-2B7A-4C60-3956BF0A4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00600"/>
                        <a:ext cx="6230938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9" name="Rectangle 33">
            <a:extLst>
              <a:ext uri="{FF2B5EF4-FFF2-40B4-BE49-F238E27FC236}">
                <a16:creationId xmlns:a16="http://schemas.microsoft.com/office/drawing/2014/main" id="{44E09F53-4B8C-D15D-51EB-F75873F62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867401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即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d</a:t>
            </a:r>
            <a:r>
              <a:rPr lang="zh-CN" altLang="en-US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的概率函数为</a:t>
            </a:r>
            <a:r>
              <a:rPr lang="en-US" altLang="zh-CN" sz="2000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f(x)</a:t>
            </a:r>
          </a:p>
        </p:txBody>
      </p:sp>
      <p:sp>
        <p:nvSpPr>
          <p:cNvPr id="4132" name="Text Box 36">
            <a:extLst>
              <a:ext uri="{FF2B5EF4-FFF2-40B4-BE49-F238E27FC236}">
                <a16:creationId xmlns:a16="http://schemas.microsoft.com/office/drawing/2014/main" id="{901887B9-295D-4597-33F3-C94791ED7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3886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</a:p>
        </p:txBody>
      </p:sp>
      <p:grpSp>
        <p:nvGrpSpPr>
          <p:cNvPr id="14348" name="Group 37">
            <a:extLst>
              <a:ext uri="{FF2B5EF4-FFF2-40B4-BE49-F238E27FC236}">
                <a16:creationId xmlns:a16="http://schemas.microsoft.com/office/drawing/2014/main" id="{88B6B241-155C-0638-D0FC-F7FA6565B95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066800"/>
            <a:ext cx="4083050" cy="2895600"/>
            <a:chOff x="1536" y="912"/>
            <a:chExt cx="1834" cy="1776"/>
          </a:xfrm>
        </p:grpSpPr>
        <p:sp>
          <p:nvSpPr>
            <p:cNvPr id="4134" name="Freeform 38">
              <a:extLst>
                <a:ext uri="{FF2B5EF4-FFF2-40B4-BE49-F238E27FC236}">
                  <a16:creationId xmlns:a16="http://schemas.microsoft.com/office/drawing/2014/main" id="{AE32D116-1D05-29EB-4EB5-2B29C0D7E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229"/>
              <a:ext cx="1317" cy="1459"/>
            </a:xfrm>
            <a:custGeom>
              <a:avLst/>
              <a:gdLst>
                <a:gd name="T0" fmla="*/ 0 w 1317"/>
                <a:gd name="T1" fmla="*/ 1454 h 1459"/>
                <a:gd name="T2" fmla="*/ 149 w 1317"/>
                <a:gd name="T3" fmla="*/ 1436 h 1459"/>
                <a:gd name="T4" fmla="*/ 305 w 1317"/>
                <a:gd name="T5" fmla="*/ 1320 h 1459"/>
                <a:gd name="T6" fmla="*/ 413 w 1317"/>
                <a:gd name="T7" fmla="*/ 937 h 1459"/>
                <a:gd name="T8" fmla="*/ 486 w 1317"/>
                <a:gd name="T9" fmla="*/ 602 h 1459"/>
                <a:gd name="T10" fmla="*/ 588 w 1317"/>
                <a:gd name="T11" fmla="*/ 10 h 1459"/>
                <a:gd name="T12" fmla="*/ 660 w 1317"/>
                <a:gd name="T13" fmla="*/ 541 h 1459"/>
                <a:gd name="T14" fmla="*/ 666 w 1317"/>
                <a:gd name="T15" fmla="*/ 889 h 1459"/>
                <a:gd name="T16" fmla="*/ 703 w 1317"/>
                <a:gd name="T17" fmla="*/ 1176 h 1459"/>
                <a:gd name="T18" fmla="*/ 811 w 1317"/>
                <a:gd name="T19" fmla="*/ 1224 h 1459"/>
                <a:gd name="T20" fmla="*/ 919 w 1317"/>
                <a:gd name="T21" fmla="*/ 1080 h 1459"/>
                <a:gd name="T22" fmla="*/ 1028 w 1317"/>
                <a:gd name="T23" fmla="*/ 1224 h 1459"/>
                <a:gd name="T24" fmla="*/ 1134 w 1317"/>
                <a:gd name="T25" fmla="*/ 1365 h 1459"/>
                <a:gd name="T26" fmla="*/ 1317 w 1317"/>
                <a:gd name="T27" fmla="*/ 1446 h 14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17" h="1459">
                  <a:moveTo>
                    <a:pt x="0" y="1454"/>
                  </a:moveTo>
                  <a:cubicBezTo>
                    <a:pt x="25" y="1451"/>
                    <a:pt x="99" y="1459"/>
                    <a:pt x="149" y="1436"/>
                  </a:cubicBezTo>
                  <a:cubicBezTo>
                    <a:pt x="200" y="1413"/>
                    <a:pt x="261" y="1402"/>
                    <a:pt x="305" y="1320"/>
                  </a:cubicBezTo>
                  <a:cubicBezTo>
                    <a:pt x="349" y="1237"/>
                    <a:pt x="383" y="1057"/>
                    <a:pt x="413" y="937"/>
                  </a:cubicBezTo>
                  <a:cubicBezTo>
                    <a:pt x="444" y="817"/>
                    <a:pt x="457" y="756"/>
                    <a:pt x="486" y="602"/>
                  </a:cubicBezTo>
                  <a:cubicBezTo>
                    <a:pt x="515" y="448"/>
                    <a:pt x="559" y="20"/>
                    <a:pt x="588" y="10"/>
                  </a:cubicBezTo>
                  <a:cubicBezTo>
                    <a:pt x="617" y="0"/>
                    <a:pt x="647" y="395"/>
                    <a:pt x="660" y="541"/>
                  </a:cubicBezTo>
                  <a:cubicBezTo>
                    <a:pt x="673" y="687"/>
                    <a:pt x="659" y="783"/>
                    <a:pt x="666" y="889"/>
                  </a:cubicBezTo>
                  <a:cubicBezTo>
                    <a:pt x="673" y="995"/>
                    <a:pt x="678" y="1120"/>
                    <a:pt x="703" y="1176"/>
                  </a:cubicBezTo>
                  <a:cubicBezTo>
                    <a:pt x="727" y="1232"/>
                    <a:pt x="775" y="1240"/>
                    <a:pt x="811" y="1224"/>
                  </a:cubicBezTo>
                  <a:cubicBezTo>
                    <a:pt x="847" y="1208"/>
                    <a:pt x="883" y="1080"/>
                    <a:pt x="919" y="1080"/>
                  </a:cubicBezTo>
                  <a:cubicBezTo>
                    <a:pt x="956" y="1080"/>
                    <a:pt x="992" y="1176"/>
                    <a:pt x="1028" y="1224"/>
                  </a:cubicBezTo>
                  <a:cubicBezTo>
                    <a:pt x="1063" y="1272"/>
                    <a:pt x="1086" y="1328"/>
                    <a:pt x="1134" y="1365"/>
                  </a:cubicBezTo>
                  <a:cubicBezTo>
                    <a:pt x="1182" y="1402"/>
                    <a:pt x="1279" y="1429"/>
                    <a:pt x="1317" y="144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35" name="Line 39">
              <a:extLst>
                <a:ext uri="{FF2B5EF4-FFF2-40B4-BE49-F238E27FC236}">
                  <a16:creationId xmlns:a16="http://schemas.microsoft.com/office/drawing/2014/main" id="{D4F4571B-5AC0-8E29-9B49-57D63E05D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688"/>
              <a:ext cx="1584" cy="0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136" name="Line 40">
              <a:extLst>
                <a:ext uri="{FF2B5EF4-FFF2-40B4-BE49-F238E27FC236}">
                  <a16:creationId xmlns:a16="http://schemas.microsoft.com/office/drawing/2014/main" id="{B4657FA6-54FF-1E2B-8B83-6399851240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6" y="912"/>
              <a:ext cx="0" cy="1776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137" name="Text Box 41">
              <a:extLst>
                <a:ext uri="{FF2B5EF4-FFF2-40B4-BE49-F238E27FC236}">
                  <a16:creationId xmlns:a16="http://schemas.microsoft.com/office/drawing/2014/main" id="{56D66485-ED26-EBCC-8C18-AC6547008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130"/>
              <a:ext cx="129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c</a:t>
              </a:r>
            </a:p>
          </p:txBody>
        </p:sp>
        <p:sp>
          <p:nvSpPr>
            <p:cNvPr id="4138" name="Text Box 42">
              <a:extLst>
                <a:ext uri="{FF2B5EF4-FFF2-40B4-BE49-F238E27FC236}">
                  <a16:creationId xmlns:a16="http://schemas.microsoft.com/office/drawing/2014/main" id="{F5E8BA3C-E96D-E292-6B80-0DD147C81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946"/>
              <a:ext cx="227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f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(</a:t>
              </a: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x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)</a:t>
              </a:r>
            </a:p>
          </p:txBody>
        </p:sp>
        <p:sp>
          <p:nvSpPr>
            <p:cNvPr id="4139" name="Line 43">
              <a:extLst>
                <a:ext uri="{FF2B5EF4-FFF2-40B4-BE49-F238E27FC236}">
                  <a16:creationId xmlns:a16="http://schemas.microsoft.com/office/drawing/2014/main" id="{F503ED27-380D-1738-11CB-20CBBB113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1" y="2112"/>
              <a:ext cx="528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grpSp>
          <p:nvGrpSpPr>
            <p:cNvPr id="14356" name="Group 44">
              <a:extLst>
                <a:ext uri="{FF2B5EF4-FFF2-40B4-BE49-F238E27FC236}">
                  <a16:creationId xmlns:a16="http://schemas.microsoft.com/office/drawing/2014/main" id="{64AACFBA-6D28-8AA5-7A0C-C65ED8C684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104"/>
              <a:ext cx="1299" cy="1557"/>
              <a:chOff x="4128" y="1515"/>
              <a:chExt cx="1299" cy="1557"/>
            </a:xfrm>
          </p:grpSpPr>
          <p:sp>
            <p:nvSpPr>
              <p:cNvPr id="4141" name="Freeform 45">
                <a:extLst>
                  <a:ext uri="{FF2B5EF4-FFF2-40B4-BE49-F238E27FC236}">
                    <a16:creationId xmlns:a16="http://schemas.microsoft.com/office/drawing/2014/main" id="{DE038212-A68E-1BA6-A8C5-6E46DE3D4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515"/>
                <a:ext cx="1299" cy="1557"/>
              </a:xfrm>
              <a:custGeom>
                <a:avLst/>
                <a:gdLst>
                  <a:gd name="T0" fmla="*/ 0 w 1299"/>
                  <a:gd name="T1" fmla="*/ 1557 h 1557"/>
                  <a:gd name="T2" fmla="*/ 144 w 1299"/>
                  <a:gd name="T3" fmla="*/ 1461 h 1557"/>
                  <a:gd name="T4" fmla="*/ 288 w 1299"/>
                  <a:gd name="T5" fmla="*/ 1221 h 1557"/>
                  <a:gd name="T6" fmla="*/ 384 w 1299"/>
                  <a:gd name="T7" fmla="*/ 885 h 1557"/>
                  <a:gd name="T8" fmla="*/ 462 w 1299"/>
                  <a:gd name="T9" fmla="*/ 465 h 1557"/>
                  <a:gd name="T10" fmla="*/ 570 w 1299"/>
                  <a:gd name="T11" fmla="*/ 42 h 1557"/>
                  <a:gd name="T12" fmla="*/ 720 w 1299"/>
                  <a:gd name="T13" fmla="*/ 213 h 1557"/>
                  <a:gd name="T14" fmla="*/ 816 w 1299"/>
                  <a:gd name="T15" fmla="*/ 549 h 1557"/>
                  <a:gd name="T16" fmla="*/ 912 w 1299"/>
                  <a:gd name="T17" fmla="*/ 837 h 1557"/>
                  <a:gd name="T18" fmla="*/ 1104 w 1299"/>
                  <a:gd name="T19" fmla="*/ 1221 h 1557"/>
                  <a:gd name="T20" fmla="*/ 1299 w 1299"/>
                  <a:gd name="T21" fmla="*/ 1518 h 15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99" h="1557">
                    <a:moveTo>
                      <a:pt x="0" y="1557"/>
                    </a:moveTo>
                    <a:cubicBezTo>
                      <a:pt x="48" y="1537"/>
                      <a:pt x="96" y="1517"/>
                      <a:pt x="144" y="1461"/>
                    </a:cubicBezTo>
                    <a:cubicBezTo>
                      <a:pt x="192" y="1405"/>
                      <a:pt x="248" y="1317"/>
                      <a:pt x="288" y="1221"/>
                    </a:cubicBezTo>
                    <a:cubicBezTo>
                      <a:pt x="328" y="1125"/>
                      <a:pt x="355" y="1011"/>
                      <a:pt x="384" y="885"/>
                    </a:cubicBezTo>
                    <a:cubicBezTo>
                      <a:pt x="413" y="759"/>
                      <a:pt x="431" y="605"/>
                      <a:pt x="462" y="465"/>
                    </a:cubicBezTo>
                    <a:cubicBezTo>
                      <a:pt x="493" y="325"/>
                      <a:pt x="527" y="84"/>
                      <a:pt x="570" y="42"/>
                    </a:cubicBezTo>
                    <a:cubicBezTo>
                      <a:pt x="613" y="0"/>
                      <a:pt x="679" y="129"/>
                      <a:pt x="720" y="213"/>
                    </a:cubicBezTo>
                    <a:cubicBezTo>
                      <a:pt x="761" y="297"/>
                      <a:pt x="784" y="445"/>
                      <a:pt x="816" y="549"/>
                    </a:cubicBezTo>
                    <a:cubicBezTo>
                      <a:pt x="848" y="653"/>
                      <a:pt x="864" y="725"/>
                      <a:pt x="912" y="837"/>
                    </a:cubicBezTo>
                    <a:cubicBezTo>
                      <a:pt x="960" y="949"/>
                      <a:pt x="1040" y="1107"/>
                      <a:pt x="1104" y="1221"/>
                    </a:cubicBezTo>
                    <a:cubicBezTo>
                      <a:pt x="1168" y="1335"/>
                      <a:pt x="1258" y="1456"/>
                      <a:pt x="1299" y="1518"/>
                    </a:cubicBezTo>
                  </a:path>
                </a:pathLst>
              </a:custGeom>
              <a:noFill/>
              <a:ln w="38100" cap="flat" cmpd="sng">
                <a:solidFill>
                  <a:srgbClr val="6633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42" name="Text Box 46">
                <a:extLst>
                  <a:ext uri="{FF2B5EF4-FFF2-40B4-BE49-F238E27FC236}">
                    <a16:creationId xmlns:a16="http://schemas.microsoft.com/office/drawing/2014/main" id="{9141CB8C-1E65-1A90-7F38-F11E695A79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1678"/>
                <a:ext cx="354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C</a:t>
                </a:r>
                <a:r>
                  <a:rPr lang="en-US" altLang="zh-CN" i="1" baseline="-25000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g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g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(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x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)</a:t>
                </a:r>
              </a:p>
            </p:txBody>
          </p:sp>
          <p:sp>
            <p:nvSpPr>
              <p:cNvPr id="4143" name="Line 47">
                <a:extLst>
                  <a:ext uri="{FF2B5EF4-FFF2-40B4-BE49-F238E27FC236}">
                    <a16:creationId xmlns:a16="http://schemas.microsoft.com/office/drawing/2014/main" id="{33EB8F9E-01C0-C215-835A-76405F433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44" y="192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66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</p:grpSp>
      <p:sp>
        <p:nvSpPr>
          <p:cNvPr id="4144" name="Line 48">
            <a:extLst>
              <a:ext uri="{FF2B5EF4-FFF2-40B4-BE49-F238E27FC236}">
                <a16:creationId xmlns:a16="http://schemas.microsoft.com/office/drawing/2014/main" id="{CA1EFFD2-26AF-20A4-55BA-08C56DDB5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33600"/>
            <a:ext cx="0" cy="1828800"/>
          </a:xfrm>
          <a:prstGeom prst="lin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</p:spTree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7A5BBB2-E949-CF38-AB34-599299A07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改进的舍选抽样法</a:t>
            </a:r>
          </a:p>
        </p:txBody>
      </p:sp>
      <p:sp>
        <p:nvSpPr>
          <p:cNvPr id="26649" name="Rectangle 25">
            <a:extLst>
              <a:ext uri="{FF2B5EF4-FFF2-40B4-BE49-F238E27FC236}">
                <a16:creationId xmlns:a16="http://schemas.microsoft.com/office/drawing/2014/main" id="{8F574C03-7FFA-4562-6E65-1F3A4295E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35038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抽样效率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:</a:t>
            </a:r>
          </a:p>
        </p:txBody>
      </p:sp>
      <p:graphicFrame>
        <p:nvGraphicFramePr>
          <p:cNvPr id="15363" name="Object 28">
            <a:extLst>
              <a:ext uri="{FF2B5EF4-FFF2-40B4-BE49-F238E27FC236}">
                <a16:creationId xmlns:a16="http://schemas.microsoft.com/office/drawing/2014/main" id="{8ABF47B9-BB20-974C-A7AF-EB60ABB69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1" y="1905000"/>
          <a:ext cx="2443163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42300" imgH="14630400" progId="Equation.3">
                  <p:embed/>
                </p:oleObj>
              </mc:Choice>
              <mc:Fallback>
                <p:oleObj name="Equation" r:id="rId2" imgW="33642300" imgH="14630400" progId="Equation.3">
                  <p:embed/>
                  <p:pic>
                    <p:nvPicPr>
                      <p:cNvPr id="15363" name="Object 28">
                        <a:extLst>
                          <a:ext uri="{FF2B5EF4-FFF2-40B4-BE49-F238E27FC236}">
                            <a16:creationId xmlns:a16="http://schemas.microsoft.com/office/drawing/2014/main" id="{8ABF47B9-BB20-974C-A7AF-EB60ABB698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1905000"/>
                        <a:ext cx="2443163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76" name="Text Box 52">
            <a:extLst>
              <a:ext uri="{FF2B5EF4-FFF2-40B4-BE49-F238E27FC236}">
                <a16:creationId xmlns:a16="http://schemas.microsoft.com/office/drawing/2014/main" id="{DED6D6EC-EE7E-7275-EE89-2BD9427E6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4267200"/>
            <a:ext cx="2872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i="1">
                <a:solidFill>
                  <a:srgbClr val="020202"/>
                </a:solidFill>
                <a:latin typeface="Times New Roman" charset="0"/>
                <a:ea typeface="宋体" charset="0"/>
              </a:rPr>
              <a:t>x</a:t>
            </a:r>
          </a:p>
        </p:txBody>
      </p:sp>
      <p:grpSp>
        <p:nvGrpSpPr>
          <p:cNvPr id="15365" name="Group 53">
            <a:extLst>
              <a:ext uri="{FF2B5EF4-FFF2-40B4-BE49-F238E27FC236}">
                <a16:creationId xmlns:a16="http://schemas.microsoft.com/office/drawing/2014/main" id="{76F41FBB-E109-4CA7-0174-CE85645FC3BF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066800"/>
            <a:ext cx="4083050" cy="2895600"/>
            <a:chOff x="1536" y="912"/>
            <a:chExt cx="1834" cy="1776"/>
          </a:xfrm>
        </p:grpSpPr>
        <p:sp>
          <p:nvSpPr>
            <p:cNvPr id="26678" name="Freeform 54">
              <a:extLst>
                <a:ext uri="{FF2B5EF4-FFF2-40B4-BE49-F238E27FC236}">
                  <a16:creationId xmlns:a16="http://schemas.microsoft.com/office/drawing/2014/main" id="{C15D3EA4-AA17-FF9F-F7AE-75E804662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229"/>
              <a:ext cx="1317" cy="1459"/>
            </a:xfrm>
            <a:custGeom>
              <a:avLst/>
              <a:gdLst>
                <a:gd name="T0" fmla="*/ 0 w 1317"/>
                <a:gd name="T1" fmla="*/ 1454 h 1459"/>
                <a:gd name="T2" fmla="*/ 149 w 1317"/>
                <a:gd name="T3" fmla="*/ 1436 h 1459"/>
                <a:gd name="T4" fmla="*/ 305 w 1317"/>
                <a:gd name="T5" fmla="*/ 1320 h 1459"/>
                <a:gd name="T6" fmla="*/ 413 w 1317"/>
                <a:gd name="T7" fmla="*/ 937 h 1459"/>
                <a:gd name="T8" fmla="*/ 486 w 1317"/>
                <a:gd name="T9" fmla="*/ 602 h 1459"/>
                <a:gd name="T10" fmla="*/ 588 w 1317"/>
                <a:gd name="T11" fmla="*/ 10 h 1459"/>
                <a:gd name="T12" fmla="*/ 660 w 1317"/>
                <a:gd name="T13" fmla="*/ 541 h 1459"/>
                <a:gd name="T14" fmla="*/ 666 w 1317"/>
                <a:gd name="T15" fmla="*/ 889 h 1459"/>
                <a:gd name="T16" fmla="*/ 703 w 1317"/>
                <a:gd name="T17" fmla="*/ 1176 h 1459"/>
                <a:gd name="T18" fmla="*/ 811 w 1317"/>
                <a:gd name="T19" fmla="*/ 1224 h 1459"/>
                <a:gd name="T20" fmla="*/ 919 w 1317"/>
                <a:gd name="T21" fmla="*/ 1080 h 1459"/>
                <a:gd name="T22" fmla="*/ 1028 w 1317"/>
                <a:gd name="T23" fmla="*/ 1224 h 1459"/>
                <a:gd name="T24" fmla="*/ 1134 w 1317"/>
                <a:gd name="T25" fmla="*/ 1365 h 1459"/>
                <a:gd name="T26" fmla="*/ 1317 w 1317"/>
                <a:gd name="T27" fmla="*/ 1446 h 14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17" h="1459">
                  <a:moveTo>
                    <a:pt x="0" y="1454"/>
                  </a:moveTo>
                  <a:cubicBezTo>
                    <a:pt x="25" y="1451"/>
                    <a:pt x="99" y="1459"/>
                    <a:pt x="149" y="1436"/>
                  </a:cubicBezTo>
                  <a:cubicBezTo>
                    <a:pt x="200" y="1413"/>
                    <a:pt x="261" y="1402"/>
                    <a:pt x="305" y="1320"/>
                  </a:cubicBezTo>
                  <a:cubicBezTo>
                    <a:pt x="349" y="1237"/>
                    <a:pt x="383" y="1057"/>
                    <a:pt x="413" y="937"/>
                  </a:cubicBezTo>
                  <a:cubicBezTo>
                    <a:pt x="444" y="817"/>
                    <a:pt x="457" y="756"/>
                    <a:pt x="486" y="602"/>
                  </a:cubicBezTo>
                  <a:cubicBezTo>
                    <a:pt x="515" y="448"/>
                    <a:pt x="559" y="20"/>
                    <a:pt x="588" y="10"/>
                  </a:cubicBezTo>
                  <a:cubicBezTo>
                    <a:pt x="617" y="0"/>
                    <a:pt x="647" y="395"/>
                    <a:pt x="660" y="541"/>
                  </a:cubicBezTo>
                  <a:cubicBezTo>
                    <a:pt x="673" y="687"/>
                    <a:pt x="659" y="783"/>
                    <a:pt x="666" y="889"/>
                  </a:cubicBezTo>
                  <a:cubicBezTo>
                    <a:pt x="673" y="995"/>
                    <a:pt x="678" y="1120"/>
                    <a:pt x="703" y="1176"/>
                  </a:cubicBezTo>
                  <a:cubicBezTo>
                    <a:pt x="727" y="1232"/>
                    <a:pt x="775" y="1240"/>
                    <a:pt x="811" y="1224"/>
                  </a:cubicBezTo>
                  <a:cubicBezTo>
                    <a:pt x="847" y="1208"/>
                    <a:pt x="883" y="1080"/>
                    <a:pt x="919" y="1080"/>
                  </a:cubicBezTo>
                  <a:cubicBezTo>
                    <a:pt x="956" y="1080"/>
                    <a:pt x="992" y="1176"/>
                    <a:pt x="1028" y="1224"/>
                  </a:cubicBezTo>
                  <a:cubicBezTo>
                    <a:pt x="1063" y="1272"/>
                    <a:pt x="1086" y="1328"/>
                    <a:pt x="1134" y="1365"/>
                  </a:cubicBezTo>
                  <a:cubicBezTo>
                    <a:pt x="1182" y="1402"/>
                    <a:pt x="1279" y="1429"/>
                    <a:pt x="1317" y="144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79" name="Line 55">
              <a:extLst>
                <a:ext uri="{FF2B5EF4-FFF2-40B4-BE49-F238E27FC236}">
                  <a16:creationId xmlns:a16="http://schemas.microsoft.com/office/drawing/2014/main" id="{EB6BB81C-760B-33BA-65EE-4273167F2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688"/>
              <a:ext cx="1584" cy="0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6680" name="Line 56">
              <a:extLst>
                <a:ext uri="{FF2B5EF4-FFF2-40B4-BE49-F238E27FC236}">
                  <a16:creationId xmlns:a16="http://schemas.microsoft.com/office/drawing/2014/main" id="{23012AD4-6BFB-604C-A0E7-2C3420E15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6" y="912"/>
              <a:ext cx="0" cy="1776"/>
            </a:xfrm>
            <a:prstGeom prst="line">
              <a:avLst/>
            </a:prstGeom>
            <a:noFill/>
            <a:ln w="28575">
              <a:solidFill>
                <a:srgbClr val="020202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26681" name="Text Box 57">
              <a:extLst>
                <a:ext uri="{FF2B5EF4-FFF2-40B4-BE49-F238E27FC236}">
                  <a16:creationId xmlns:a16="http://schemas.microsoft.com/office/drawing/2014/main" id="{5077100F-52A9-881A-9CF5-9512CAAB2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130"/>
              <a:ext cx="129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c</a:t>
              </a:r>
            </a:p>
          </p:txBody>
        </p:sp>
        <p:sp>
          <p:nvSpPr>
            <p:cNvPr id="26682" name="Text Box 58">
              <a:extLst>
                <a:ext uri="{FF2B5EF4-FFF2-40B4-BE49-F238E27FC236}">
                  <a16:creationId xmlns:a16="http://schemas.microsoft.com/office/drawing/2014/main" id="{672B8A75-3C0F-4DF8-B6B9-2668C867B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946"/>
              <a:ext cx="227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f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(</a:t>
              </a: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x</a:t>
              </a:r>
              <a:r>
                <a:rPr lang="en-US" altLang="zh-CN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)</a:t>
              </a:r>
            </a:p>
          </p:txBody>
        </p:sp>
        <p:sp>
          <p:nvSpPr>
            <p:cNvPr id="26683" name="Line 59">
              <a:extLst>
                <a:ext uri="{FF2B5EF4-FFF2-40B4-BE49-F238E27FC236}">
                  <a16:creationId xmlns:a16="http://schemas.microsoft.com/office/drawing/2014/main" id="{546AA04C-1B02-2FD2-503A-C1DB6E748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1" y="2112"/>
              <a:ext cx="528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grpSp>
          <p:nvGrpSpPr>
            <p:cNvPr id="15374" name="Group 60">
              <a:extLst>
                <a:ext uri="{FF2B5EF4-FFF2-40B4-BE49-F238E27FC236}">
                  <a16:creationId xmlns:a16="http://schemas.microsoft.com/office/drawing/2014/main" id="{4854303B-5143-E013-8FA9-F6DA5C6179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104"/>
              <a:ext cx="1299" cy="1557"/>
              <a:chOff x="4128" y="1515"/>
              <a:chExt cx="1299" cy="1557"/>
            </a:xfrm>
          </p:grpSpPr>
          <p:sp>
            <p:nvSpPr>
              <p:cNvPr id="26685" name="Freeform 61">
                <a:extLst>
                  <a:ext uri="{FF2B5EF4-FFF2-40B4-BE49-F238E27FC236}">
                    <a16:creationId xmlns:a16="http://schemas.microsoft.com/office/drawing/2014/main" id="{900AFAB7-115F-056B-899E-9EFDDD1D8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515"/>
                <a:ext cx="1299" cy="1557"/>
              </a:xfrm>
              <a:custGeom>
                <a:avLst/>
                <a:gdLst>
                  <a:gd name="T0" fmla="*/ 0 w 1299"/>
                  <a:gd name="T1" fmla="*/ 1557 h 1557"/>
                  <a:gd name="T2" fmla="*/ 144 w 1299"/>
                  <a:gd name="T3" fmla="*/ 1461 h 1557"/>
                  <a:gd name="T4" fmla="*/ 288 w 1299"/>
                  <a:gd name="T5" fmla="*/ 1221 h 1557"/>
                  <a:gd name="T6" fmla="*/ 384 w 1299"/>
                  <a:gd name="T7" fmla="*/ 885 h 1557"/>
                  <a:gd name="T8" fmla="*/ 462 w 1299"/>
                  <a:gd name="T9" fmla="*/ 465 h 1557"/>
                  <a:gd name="T10" fmla="*/ 570 w 1299"/>
                  <a:gd name="T11" fmla="*/ 42 h 1557"/>
                  <a:gd name="T12" fmla="*/ 720 w 1299"/>
                  <a:gd name="T13" fmla="*/ 213 h 1557"/>
                  <a:gd name="T14" fmla="*/ 816 w 1299"/>
                  <a:gd name="T15" fmla="*/ 549 h 1557"/>
                  <a:gd name="T16" fmla="*/ 912 w 1299"/>
                  <a:gd name="T17" fmla="*/ 837 h 1557"/>
                  <a:gd name="T18" fmla="*/ 1104 w 1299"/>
                  <a:gd name="T19" fmla="*/ 1221 h 1557"/>
                  <a:gd name="T20" fmla="*/ 1299 w 1299"/>
                  <a:gd name="T21" fmla="*/ 1518 h 15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99" h="1557">
                    <a:moveTo>
                      <a:pt x="0" y="1557"/>
                    </a:moveTo>
                    <a:cubicBezTo>
                      <a:pt x="48" y="1537"/>
                      <a:pt x="96" y="1517"/>
                      <a:pt x="144" y="1461"/>
                    </a:cubicBezTo>
                    <a:cubicBezTo>
                      <a:pt x="192" y="1405"/>
                      <a:pt x="248" y="1317"/>
                      <a:pt x="288" y="1221"/>
                    </a:cubicBezTo>
                    <a:cubicBezTo>
                      <a:pt x="328" y="1125"/>
                      <a:pt x="355" y="1011"/>
                      <a:pt x="384" y="885"/>
                    </a:cubicBezTo>
                    <a:cubicBezTo>
                      <a:pt x="413" y="759"/>
                      <a:pt x="431" y="605"/>
                      <a:pt x="462" y="465"/>
                    </a:cubicBezTo>
                    <a:cubicBezTo>
                      <a:pt x="493" y="325"/>
                      <a:pt x="527" y="84"/>
                      <a:pt x="570" y="42"/>
                    </a:cubicBezTo>
                    <a:cubicBezTo>
                      <a:pt x="613" y="0"/>
                      <a:pt x="679" y="129"/>
                      <a:pt x="720" y="213"/>
                    </a:cubicBezTo>
                    <a:cubicBezTo>
                      <a:pt x="761" y="297"/>
                      <a:pt x="784" y="445"/>
                      <a:pt x="816" y="549"/>
                    </a:cubicBezTo>
                    <a:cubicBezTo>
                      <a:pt x="848" y="653"/>
                      <a:pt x="864" y="725"/>
                      <a:pt x="912" y="837"/>
                    </a:cubicBezTo>
                    <a:cubicBezTo>
                      <a:pt x="960" y="949"/>
                      <a:pt x="1040" y="1107"/>
                      <a:pt x="1104" y="1221"/>
                    </a:cubicBezTo>
                    <a:cubicBezTo>
                      <a:pt x="1168" y="1335"/>
                      <a:pt x="1258" y="1456"/>
                      <a:pt x="1299" y="1518"/>
                    </a:cubicBezTo>
                  </a:path>
                </a:pathLst>
              </a:custGeom>
              <a:noFill/>
              <a:ln w="38100" cap="flat" cmpd="sng">
                <a:solidFill>
                  <a:srgbClr val="6633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6686" name="Text Box 62">
                <a:extLst>
                  <a:ext uri="{FF2B5EF4-FFF2-40B4-BE49-F238E27FC236}">
                    <a16:creationId xmlns:a16="http://schemas.microsoft.com/office/drawing/2014/main" id="{7E861B23-4B76-F407-11AD-F726705CB1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1678"/>
                <a:ext cx="354" cy="2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C</a:t>
                </a:r>
                <a:r>
                  <a:rPr lang="en-US" altLang="zh-CN" i="1" baseline="-25000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g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g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(</a:t>
                </a:r>
                <a:r>
                  <a:rPr lang="en-US" altLang="zh-CN" i="1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x</a:t>
                </a:r>
                <a:r>
                  <a:rPr lang="en-US" altLang="zh-CN">
                    <a:solidFill>
                      <a:srgbClr val="020202"/>
                    </a:solidFill>
                    <a:latin typeface="Times New Roman" charset="0"/>
                    <a:ea typeface="宋体" charset="0"/>
                  </a:rPr>
                  <a:t>)</a:t>
                </a:r>
              </a:p>
            </p:txBody>
          </p:sp>
          <p:sp>
            <p:nvSpPr>
              <p:cNvPr id="26687" name="Line 63">
                <a:extLst>
                  <a:ext uri="{FF2B5EF4-FFF2-40B4-BE49-F238E27FC236}">
                    <a16:creationId xmlns:a16="http://schemas.microsoft.com/office/drawing/2014/main" id="{24234A52-9003-2137-4589-1354DC523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44" y="192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6633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</p:grpSp>
      <p:sp>
        <p:nvSpPr>
          <p:cNvPr id="26689" name="Rectangle 65">
            <a:extLst>
              <a:ext uri="{FF2B5EF4-FFF2-40B4-BE49-F238E27FC236}">
                <a16:creationId xmlns:a16="http://schemas.microsoft.com/office/drawing/2014/main" id="{0F4D053E-6245-3FE9-6ADE-3F1A5DED9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4178300"/>
            <a:ext cx="1569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常数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zh-CN" b="1" i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的选取</a:t>
            </a:r>
          </a:p>
        </p:txBody>
      </p:sp>
      <p:sp>
        <p:nvSpPr>
          <p:cNvPr id="26690" name="Rectangle 66">
            <a:extLst>
              <a:ext uri="{FF2B5EF4-FFF2-40B4-BE49-F238E27FC236}">
                <a16:creationId xmlns:a16="http://schemas.microsoft.com/office/drawing/2014/main" id="{ED6A2EE8-355F-A4CB-7E51-EA0782109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76800"/>
            <a:ext cx="7162800" cy="647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lnSpc>
                <a:spcPct val="75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常数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zh-CN" b="1" i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应尽可能地小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因为抽样效率与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zh-CN" b="1" i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成反比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;</a:t>
            </a:r>
          </a:p>
          <a:p>
            <a:pPr marL="292100" indent="-292100">
              <a:lnSpc>
                <a:spcPct val="75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zh-CN" b="1" i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=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max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{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)/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)},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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a,b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89" grpId="0" autoUpdateAnimBg="0"/>
      <p:bldP spid="26690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CA03ADCC-AE52-0E3D-5321-84F2C2B7D8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4E43EF8B-2A70-12E0-466D-88AAE85B43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1981200"/>
            <a:ext cx="7467600" cy="9144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4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9460" name="Rectangle 1028">
            <a:extLst>
              <a:ext uri="{FF2B5EF4-FFF2-40B4-BE49-F238E27FC236}">
                <a16:creationId xmlns:a16="http://schemas.microsoft.com/office/drawing/2014/main" id="{B992FF33-6FC3-9816-80C6-567EC46CF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971800"/>
            <a:ext cx="6553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3.5 </a:t>
            </a:r>
            <a:r>
              <a:rPr lang="zh-CN" altLang="en-US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舍选抽样法</a:t>
            </a:r>
            <a:endParaRPr lang="en-US" altLang="zh-CN" b="1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 algn="ctr">
              <a:spcBef>
                <a:spcPct val="50000"/>
              </a:spcBef>
              <a:buSzPct val="90000"/>
              <a:defRPr/>
            </a:pPr>
            <a:r>
              <a:rPr lang="en-US" altLang="zh-CN" b="1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(acceptance-rejection sampling)</a:t>
            </a:r>
          </a:p>
        </p:txBody>
      </p:sp>
      <p:sp>
        <p:nvSpPr>
          <p:cNvPr id="19461" name="Text Box 1029">
            <a:extLst>
              <a:ext uri="{FF2B5EF4-FFF2-40B4-BE49-F238E27FC236}">
                <a16:creationId xmlns:a16="http://schemas.microsoft.com/office/drawing/2014/main" id="{60AA960F-1128-229B-5DFA-094AD172F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4419601"/>
            <a:ext cx="3101975" cy="119697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9431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590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3048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3505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962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4419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简单舍选抽样法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pPr>
              <a:buFontTx/>
              <a:buAutoNum type="arabicPeriod"/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改进的舍选抽样法</a:t>
            </a:r>
            <a:endParaRPr lang="en-US" altLang="zh-CN" b="1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pPr>
              <a:buFontTx/>
              <a:buAutoNum type="arabicPeriod"/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典型的例子</a:t>
            </a:r>
          </a:p>
        </p:txBody>
      </p:sp>
    </p:spTree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2A82D8C-C7BB-A48C-ADEC-6DA299396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典型的例子</a:t>
            </a:r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7BFFDD18-E30D-C768-5317-19046F640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9" y="1371600"/>
          <a:ext cx="20288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327100" imgH="9652000" progId="Equation.3">
                  <p:embed/>
                </p:oleObj>
              </mc:Choice>
              <mc:Fallback>
                <p:oleObj name="Equation" r:id="rId2" imgW="26327100" imgH="9652000" progId="Equation.3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7BFFDD18-E30D-C768-5317-19046F6408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9" y="1371600"/>
                        <a:ext cx="2028825" cy="7445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EBDB5955-9644-B320-878B-3D396AB02B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1275" y="2438400"/>
          <a:ext cx="17716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06100" imgH="9067800" progId="Equation.3">
                  <p:embed/>
                </p:oleObj>
              </mc:Choice>
              <mc:Fallback>
                <p:oleObj name="Equation" r:id="rId4" imgW="23406100" imgH="9067800" progId="Equation.3">
                  <p:embed/>
                  <p:pic>
                    <p:nvPicPr>
                      <p:cNvPr id="7172" name="Object 4">
                        <a:extLst>
                          <a:ext uri="{FF2B5EF4-FFF2-40B4-BE49-F238E27FC236}">
                            <a16:creationId xmlns:a16="http://schemas.microsoft.com/office/drawing/2014/main" id="{EBDB5955-9644-B320-878B-3D396AB02B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2438400"/>
                        <a:ext cx="1771650" cy="6858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3F4FA50A-B9B9-3C30-B1A6-DA3CE18277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8138" y="3505200"/>
          <a:ext cx="598011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9522300" imgH="11696700" progId="Equation.3">
                  <p:embed/>
                </p:oleObj>
              </mc:Choice>
              <mc:Fallback>
                <p:oleObj name="Equation" r:id="rId6" imgW="89522300" imgH="11696700" progId="Equation.3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3F4FA50A-B9B9-3C30-B1A6-DA3CE18277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3505200"/>
                        <a:ext cx="5980112" cy="7826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>
            <a:extLst>
              <a:ext uri="{FF2B5EF4-FFF2-40B4-BE49-F238E27FC236}">
                <a16:creationId xmlns:a16="http://schemas.microsoft.com/office/drawing/2014/main" id="{1D7BFFDF-CB96-AEB5-03BD-A15B8FFD3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7014" y="4572000"/>
          <a:ext cx="6427787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5780900" imgH="18719800" progId="Equation.3">
                  <p:embed/>
                </p:oleObj>
              </mc:Choice>
              <mc:Fallback>
                <p:oleObj name="Equation" r:id="rId8" imgW="75780900" imgH="18719800" progId="Equation.3">
                  <p:embed/>
                  <p:pic>
                    <p:nvPicPr>
                      <p:cNvPr id="7174" name="Object 6">
                        <a:extLst>
                          <a:ext uri="{FF2B5EF4-FFF2-40B4-BE49-F238E27FC236}">
                            <a16:creationId xmlns:a16="http://schemas.microsoft.com/office/drawing/2014/main" id="{1D7BFFDF-CB96-AEB5-03BD-A15B8FFD3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4" y="4572000"/>
                        <a:ext cx="6427787" cy="1589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7">
            <a:extLst>
              <a:ext uri="{FF2B5EF4-FFF2-40B4-BE49-F238E27FC236}">
                <a16:creationId xmlns:a16="http://schemas.microsoft.com/office/drawing/2014/main" id="{11248D8A-A156-A7C0-B744-872911274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852488"/>
            <a:ext cx="35477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例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1: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标准正态分布的抽样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,x[-a,a]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7B96E136-A85F-28A6-B074-4F8C02C17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398588"/>
            <a:ext cx="563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无法用直接抽样法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累积分布函数无解析表达式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F38673C1-AB99-AC51-F87C-64F154BDD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41588"/>
            <a:ext cx="2980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Breit-wigner or Cauchy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分布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autoUpdateAnimBg="0"/>
      <p:bldP spid="7177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C7F3C20-A94D-6150-27B7-1658B2482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典型的例子</a:t>
            </a:r>
          </a:p>
        </p:txBody>
      </p:sp>
      <p:graphicFrame>
        <p:nvGraphicFramePr>
          <p:cNvPr id="18434" name="Object 3">
            <a:extLst>
              <a:ext uri="{FF2B5EF4-FFF2-40B4-BE49-F238E27FC236}">
                <a16:creationId xmlns:a16="http://schemas.microsoft.com/office/drawing/2014/main" id="{504CF5DD-782B-514F-C3AD-CDC1FD418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219200"/>
          <a:ext cx="365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228000" imgH="9944100" progId="Equation.3">
                  <p:embed/>
                </p:oleObj>
              </mc:Choice>
              <mc:Fallback>
                <p:oleObj name="Equation" r:id="rId2" imgW="46228000" imgH="9944100" progId="Equation.3">
                  <p:embed/>
                  <p:pic>
                    <p:nvPicPr>
                      <p:cNvPr id="18434" name="Object 3">
                        <a:extLst>
                          <a:ext uri="{FF2B5EF4-FFF2-40B4-BE49-F238E27FC236}">
                            <a16:creationId xmlns:a16="http://schemas.microsoft.com/office/drawing/2014/main" id="{504CF5DD-782B-514F-C3AD-CDC1FD418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19200"/>
                        <a:ext cx="3657600" cy="7874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4">
            <a:extLst>
              <a:ext uri="{FF2B5EF4-FFF2-40B4-BE49-F238E27FC236}">
                <a16:creationId xmlns:a16="http://schemas.microsoft.com/office/drawing/2014/main" id="{C329E848-4678-F0E0-B217-F4E587170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2689" y="2514600"/>
          <a:ext cx="2967037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0" imgH="19596100" progId="Equation.3">
                  <p:embed/>
                </p:oleObj>
              </mc:Choice>
              <mc:Fallback>
                <p:oleObj name="Equation" r:id="rId4" imgW="36576000" imgH="19596100" progId="Equation.3">
                  <p:embed/>
                  <p:pic>
                    <p:nvPicPr>
                      <p:cNvPr id="18435" name="Object 4">
                        <a:extLst>
                          <a:ext uri="{FF2B5EF4-FFF2-40B4-BE49-F238E27FC236}">
                            <a16:creationId xmlns:a16="http://schemas.microsoft.com/office/drawing/2014/main" id="{C329E848-4678-F0E0-B217-F4E587170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9" y="2514600"/>
                        <a:ext cx="2967037" cy="1589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5">
            <a:extLst>
              <a:ext uri="{FF2B5EF4-FFF2-40B4-BE49-F238E27FC236}">
                <a16:creationId xmlns:a16="http://schemas.microsoft.com/office/drawing/2014/main" id="{D9EC4AF5-D5CE-3090-3FFA-CAA96EB4D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762000"/>
            <a:ext cx="2898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由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抽取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 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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直接抽样法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252D184C-BDFF-0A1C-B55C-15DA73365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2413000"/>
            <a:ext cx="7745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抽取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u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7CFCBF5F-5040-C7F8-DD69-2AC758B76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394200"/>
            <a:ext cx="4724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计算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f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),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如果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u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&lt;=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f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),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接受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</a:p>
        </p:txBody>
      </p:sp>
    </p:spTree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D973504-6C42-2131-D00D-A79E3F6B3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典型的例子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69404D6-10B0-E0A9-C3C0-2ED9156D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371600"/>
            <a:ext cx="8077200" cy="4692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float gaussian_reject(double a)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{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const float c = 1.52;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while(true) { 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float eta = randac();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float x = tan(eta * 2.0 * atan(a)+atan(-a));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float q = c * 1/3.1415926*1.0/(1+x*x);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float ksi = randac();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float u = ksi*q;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float p = 1/sqrt(2*3.1415926)*exp(-x*x/2.0);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if(u &lt;= p) break;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}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return x;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} </a:t>
            </a:r>
          </a:p>
        </p:txBody>
      </p:sp>
    </p:spTree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F12168E-E0FE-D733-1BB2-5EFF1588F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典型的例子</a:t>
            </a:r>
          </a:p>
        </p:txBody>
      </p:sp>
      <p:pic>
        <p:nvPicPr>
          <p:cNvPr id="20482" name="Picture 3" descr="D:\c1.gif">
            <a:extLst>
              <a:ext uri="{FF2B5EF4-FFF2-40B4-BE49-F238E27FC236}">
                <a16:creationId xmlns:a16="http://schemas.microsoft.com/office/drawing/2014/main" id="{D1AE0CC2-F90C-4126-846E-3D6913809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276600"/>
            <a:ext cx="2662238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4">
            <a:extLst>
              <a:ext uri="{FF2B5EF4-FFF2-40B4-BE49-F238E27FC236}">
                <a16:creationId xmlns:a16="http://schemas.microsoft.com/office/drawing/2014/main" id="{521E7EB2-6332-D9C6-5BB4-B76E56A6A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990601"/>
            <a:ext cx="7696200" cy="506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void test()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SetSeed(9,11);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c1 = new TCanvas("c1","Histogram Drawing Options",200,10,700,900);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c1-&gt;Divide(1,2);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TH1F * h1 = new TH1F("h1","h1",100,-5.0,5.0);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for(int i=0; i &lt; 5000; i++) {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double x = gaussian_reject(5.0);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  h1-&gt;Fill(x);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}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  c1-&gt;cd(2);h1-&gt;Draw();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000">
                <a:solidFill>
                  <a:srgbClr val="020202"/>
                </a:solidFill>
                <a:latin typeface="Times New Roman" charset="0"/>
                <a:ea typeface="宋体" charset="0"/>
              </a:rPr>
              <a:t>}</a:t>
            </a:r>
          </a:p>
        </p:txBody>
      </p:sp>
    </p:spTree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F741B05-170B-9E7A-8FCD-DDFD917B1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典型的例子</a:t>
            </a:r>
          </a:p>
        </p:txBody>
      </p:sp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id="{0319C420-83B5-10B4-265A-7F3201C03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581400"/>
          <a:ext cx="5105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196700" imgH="9067800" progId="Equation.3">
                  <p:embed/>
                </p:oleObj>
              </mc:Choice>
              <mc:Fallback>
                <p:oleObj name="Equation" r:id="rId2" imgW="75196700" imgH="9067800" progId="Equation.3">
                  <p:embed/>
                  <p:pic>
                    <p:nvPicPr>
                      <p:cNvPr id="11267" name="Object 3">
                        <a:extLst>
                          <a:ext uri="{FF2B5EF4-FFF2-40B4-BE49-F238E27FC236}">
                            <a16:creationId xmlns:a16="http://schemas.microsoft.com/office/drawing/2014/main" id="{0319C420-83B5-10B4-265A-7F3201C03D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81400"/>
                        <a:ext cx="5105400" cy="6159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8" name="Group 4">
            <a:extLst>
              <a:ext uri="{FF2B5EF4-FFF2-40B4-BE49-F238E27FC236}">
                <a16:creationId xmlns:a16="http://schemas.microsoft.com/office/drawing/2014/main" id="{F26F34C6-933A-8067-AAD4-2E1FDE987086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953000"/>
            <a:ext cx="2133600" cy="1905000"/>
            <a:chOff x="3840" y="1632"/>
            <a:chExt cx="1344" cy="1200"/>
          </a:xfrm>
        </p:grpSpPr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92443CAC-E1DB-B1C4-9653-DC664355A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32"/>
              <a:ext cx="1296" cy="1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1270" name="Oval 6">
              <a:extLst>
                <a:ext uri="{FF2B5EF4-FFF2-40B4-BE49-F238E27FC236}">
                  <a16:creationId xmlns:a16="http://schemas.microsoft.com/office/drawing/2014/main" id="{2AE30078-F6DD-5A92-F109-7AC62FB92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32"/>
              <a:ext cx="1296" cy="1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solidFill>
                  <a:srgbClr val="020202"/>
                </a:solidFill>
                <a:latin typeface="Times New Roman" charset="0"/>
                <a:ea typeface="宋体" charset="0"/>
              </a:endParaRPr>
            </a:p>
          </p:txBody>
        </p:sp>
        <p:sp>
          <p:nvSpPr>
            <p:cNvPr id="11271" name="Line 7">
              <a:extLst>
                <a:ext uri="{FF2B5EF4-FFF2-40B4-BE49-F238E27FC236}">
                  <a16:creationId xmlns:a16="http://schemas.microsoft.com/office/drawing/2014/main" id="{60BCDF2A-9F3A-13BB-659F-BF5EC64E7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256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1272" name="Line 8">
              <a:extLst>
                <a:ext uri="{FF2B5EF4-FFF2-40B4-BE49-F238E27FC236}">
                  <a16:creationId xmlns:a16="http://schemas.microsoft.com/office/drawing/2014/main" id="{CA9C9665-337F-6A3B-B876-23A353875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63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1273" name="Line 9">
              <a:extLst>
                <a:ext uri="{FF2B5EF4-FFF2-40B4-BE49-F238E27FC236}">
                  <a16:creationId xmlns:a16="http://schemas.microsoft.com/office/drawing/2014/main" id="{1FBD3894-B6FD-92B9-AD0F-9C26F1CEF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92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1274" name="Line 10">
              <a:extLst>
                <a:ext uri="{FF2B5EF4-FFF2-40B4-BE49-F238E27FC236}">
                  <a16:creationId xmlns:a16="http://schemas.microsoft.com/office/drawing/2014/main" id="{B0904832-F051-44D6-9903-08457470E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92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1275" name="Text Box 11">
              <a:extLst>
                <a:ext uri="{FF2B5EF4-FFF2-40B4-BE49-F238E27FC236}">
                  <a16:creationId xmlns:a16="http://schemas.microsoft.com/office/drawing/2014/main" id="{D5B1262C-39D6-85A3-9C8B-CFBBAAF57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20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A</a:t>
              </a:r>
            </a:p>
          </p:txBody>
        </p:sp>
        <p:sp>
          <p:nvSpPr>
            <p:cNvPr id="11276" name="Text Box 12">
              <a:extLst>
                <a:ext uri="{FF2B5EF4-FFF2-40B4-BE49-F238E27FC236}">
                  <a16:creationId xmlns:a16="http://schemas.microsoft.com/office/drawing/2014/main" id="{B242158A-4AE7-E6F7-8F9B-030C3A991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194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20202"/>
                  </a:solidFill>
                  <a:latin typeface="Times New Roman" charset="0"/>
                  <a:ea typeface="宋体" charset="0"/>
                </a:rPr>
                <a:t>B</a:t>
              </a:r>
            </a:p>
          </p:txBody>
        </p:sp>
        <p:sp>
          <p:nvSpPr>
            <p:cNvPr id="11277" name="弧 13">
              <a:extLst>
                <a:ext uri="{FF2B5EF4-FFF2-40B4-BE49-F238E27FC236}">
                  <a16:creationId xmlns:a16="http://schemas.microsoft.com/office/drawing/2014/main" id="{A4E69FE2-F454-0BF8-2732-CEC955B66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2208"/>
              <a:ext cx="48" cy="48"/>
            </a:xfrm>
            <a:custGeom>
              <a:avLst/>
              <a:gdLst>
                <a:gd name="T0" fmla="*/ 0 w 21600"/>
                <a:gd name="T1" fmla="*/ 0 h 21600"/>
                <a:gd name="T2" fmla="*/ 48 w 21600"/>
                <a:gd name="T3" fmla="*/ 48 h 21600"/>
                <a:gd name="T4" fmla="*/ 0 w 21600"/>
                <a:gd name="T5" fmla="*/ 4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Text Box 14">
              <a:extLst>
                <a:ext uri="{FF2B5EF4-FFF2-40B4-BE49-F238E27FC236}">
                  <a16:creationId xmlns:a16="http://schemas.microsoft.com/office/drawing/2014/main" id="{42DFCEB1-C3F6-7758-DFA3-B06B6F894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6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400">
                  <a:solidFill>
                    <a:srgbClr val="020202"/>
                  </a:solidFill>
                  <a:latin typeface="Times New Roman" charset="0"/>
                  <a:ea typeface="宋体" charset="0"/>
                  <a:sym typeface="Symbol" charset="0"/>
                </a:rPr>
                <a:t>/2</a:t>
              </a:r>
              <a:endParaRPr lang="en-US" altLang="zh-CN" sz="1400">
                <a:solidFill>
                  <a:srgbClr val="020202"/>
                </a:solidFill>
                <a:latin typeface="Times New Roman" charset="0"/>
                <a:ea typeface="宋体" charset="0"/>
              </a:endParaRPr>
            </a:p>
          </p:txBody>
        </p:sp>
      </p:grpSp>
      <p:graphicFrame>
        <p:nvGraphicFramePr>
          <p:cNvPr id="11279" name="Object 15">
            <a:extLst>
              <a:ext uri="{FF2B5EF4-FFF2-40B4-BE49-F238E27FC236}">
                <a16:creationId xmlns:a16="http://schemas.microsoft.com/office/drawing/2014/main" id="{CE674BC1-5035-9C76-F738-35BB6D0243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876800"/>
          <a:ext cx="51054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858400" imgH="19900900" progId="Equation.3">
                  <p:embed/>
                </p:oleObj>
              </mc:Choice>
              <mc:Fallback>
                <p:oleObj name="Equation" r:id="rId4" imgW="60858400" imgH="19900900" progId="Equation.3">
                  <p:embed/>
                  <p:pic>
                    <p:nvPicPr>
                      <p:cNvPr id="11279" name="Object 15">
                        <a:extLst>
                          <a:ext uri="{FF2B5EF4-FFF2-40B4-BE49-F238E27FC236}">
                            <a16:creationId xmlns:a16="http://schemas.microsoft.com/office/drawing/2014/main" id="{CE674BC1-5035-9C76-F738-35BB6D0243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76800"/>
                        <a:ext cx="5105400" cy="16700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Rectangle 16">
            <a:extLst>
              <a:ext uri="{FF2B5EF4-FFF2-40B4-BE49-F238E27FC236}">
                <a16:creationId xmlns:a16="http://schemas.microsoft.com/office/drawing/2014/main" id="{7DC333A5-D999-D4B8-5DE9-48B671A31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914400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indent="-762000"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例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：利用舍选法产生随机数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=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cos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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S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=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sin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其中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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为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[0, 2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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区间内均匀分布的随机数</a:t>
            </a:r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5DC77959-23A9-BBE8-99F4-5017F56EB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828801"/>
            <a:ext cx="8534400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054100" indent="-10541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方法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：先产生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[0, 2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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间均匀分布的随机数：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 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= 2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 r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，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U[0,1],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然后直接计算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C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S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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因需要计算三角函数，故此方法运算速度慢</a:t>
            </a:r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E05CDDA2-76E1-7274-F8AD-FF0182E69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071813"/>
            <a:ext cx="42514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方法</a:t>
            </a:r>
            <a:r>
              <a:rPr lang="en-US" altLang="zh-CN" b="1">
                <a:solidFill>
                  <a:srgbClr val="020202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2</a:t>
            </a:r>
            <a:r>
              <a:rPr lang="zh-CN" altLang="en-US" b="1">
                <a:solidFill>
                  <a:srgbClr val="020202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：利用舍选法可避免三角函数运算</a:t>
            </a:r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8626EF12-F584-35E0-19CB-5C70D749B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1" y="4364038"/>
            <a:ext cx="48782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令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A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B</a:t>
            </a:r>
            <a:r>
              <a:rPr lang="zh-CN" altLang="en-US" b="1">
                <a:solidFill>
                  <a:srgbClr val="020202"/>
                </a:solidFill>
                <a:latin typeface="楷体_GB2312" charset="0"/>
                <a:ea typeface="楷体_GB2312" charset="0"/>
                <a:cs typeface="楷体_GB2312" charset="0"/>
                <a:sym typeface="Wingdings" charset="0"/>
              </a:rPr>
              <a:t>为单位圆内直角三角形的两个边，则有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1" grpId="0" autoUpdateAnimBg="0"/>
      <p:bldP spid="11282" grpId="0" autoUpdateAnimBg="0"/>
      <p:bldP spid="11283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7C0F706-CBAC-83B1-D247-2EB1D0DBF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5334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典型的例子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B761209-8335-30C1-6F5C-373FE4CC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914400"/>
            <a:ext cx="807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因此，只要产生单位圆内的随机坐标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A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B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,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就可用代数运算求出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C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S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,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算法为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3EC1F30-4E7B-0810-61C6-AA968D6AA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905000"/>
            <a:ext cx="70866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产生两个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[0,1]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区间上均匀分布的随机数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u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u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;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ea typeface="楷体_GB2312" pitchFamily="49" charset="-122"/>
                <a:sym typeface="Wingdings" pitchFamily="2" charset="2"/>
              </a:rPr>
              <a:t>令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=2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u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-1, 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=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u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ea typeface="楷体_GB2312" pitchFamily="49" charset="-122"/>
                <a:sym typeface="Wingdings" pitchFamily="2" charset="2"/>
              </a:rPr>
              <a:t>,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则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Symbol" pitchFamily="2" charset="2"/>
              </a:rPr>
              <a:t>U[-1,1],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Symbol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Symbol" pitchFamily="2" charset="2"/>
              </a:rPr>
              <a:t>2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Symbol" pitchFamily="2" charset="2"/>
              </a:rPr>
              <a:t>U[0,1]</a:t>
            </a:r>
            <a:r>
              <a:rPr lang="en-US" altLang="zh-CN" b="1">
                <a:ea typeface="楷体_GB2312" pitchFamily="49" charset="-122"/>
                <a:sym typeface="Symbol" pitchFamily="2" charset="2"/>
              </a:rPr>
              <a:t>;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计算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r</a:t>
            </a:r>
            <a:r>
              <a:rPr lang="en-US" altLang="zh-CN" b="1" baseline="30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=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en-US" altLang="zh-CN" b="1" baseline="30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+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 baseline="30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ea typeface="楷体_GB2312" pitchFamily="49" charset="-122"/>
                <a:sym typeface="Wingdings" pitchFamily="2" charset="2"/>
              </a:rPr>
              <a:t>, 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如果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r</a:t>
            </a:r>
            <a:r>
              <a:rPr lang="en-US" altLang="zh-CN" b="1" baseline="30000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2 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&gt; 1,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转到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，重新产生；</a:t>
            </a:r>
            <a:endParaRPr lang="en-US" altLang="zh-CN" b="1">
              <a:solidFill>
                <a:srgbClr val="020202"/>
              </a:solidFill>
              <a:ea typeface="楷体_GB2312" pitchFamily="49" charset="-122"/>
              <a:sym typeface="Wingdings" pitchFamily="2" charset="2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令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A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=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1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, 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B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=</a:t>
            </a:r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  <a:ea typeface="楷体_GB2312" pitchFamily="49" charset="-122"/>
                <a:sym typeface="Wingdings" pitchFamily="2" charset="2"/>
              </a:rPr>
              <a:t>2</a:t>
            </a:r>
            <a:r>
              <a:rPr lang="en-US" altLang="zh-CN" b="1">
                <a:ea typeface="楷体_GB2312" pitchFamily="49" charset="-122"/>
                <a:sym typeface="Wingdings" pitchFamily="2" charset="2"/>
              </a:rPr>
              <a:t>, 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计算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C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  <a:sym typeface="Wingdings" pitchFamily="2" charset="2"/>
              </a:rPr>
              <a:t>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2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2394860-B5F1-C361-BC04-FFDCEC9525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模拟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8104225-754A-B15F-86EE-218F483C43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1066800"/>
          </a:xfrm>
        </p:spPr>
        <p:txBody>
          <a:bodyPr/>
          <a:lstStyle/>
          <a:p>
            <a: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第三章 从概率分布函数的抽样</a:t>
            </a:r>
            <a:b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en-US" altLang="zh-CN" sz="2000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(Sampling from Probability Distribution Functions)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4BBAC7D-8F7D-DE4B-7401-77863D0A8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962401"/>
            <a:ext cx="45720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SzPct val="90000"/>
            </a:pPr>
            <a:r>
              <a:rPr lang="en-US" altLang="zh-CN" sz="2800" b="1" dirty="0">
                <a:solidFill>
                  <a:srgbClr val="02020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3.6 </a:t>
            </a:r>
            <a:r>
              <a:rPr lang="zh-CN" altLang="en-US" sz="2800" b="1" dirty="0">
                <a:solidFill>
                  <a:srgbClr val="02020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复合分布的抽样方法</a:t>
            </a:r>
          </a:p>
          <a:p>
            <a:pPr algn="ctr">
              <a:spcBef>
                <a:spcPct val="50000"/>
              </a:spcBef>
              <a:buSzPct val="90000"/>
            </a:pPr>
            <a:r>
              <a:rPr lang="en-US" altLang="zh-CN" sz="2800" b="1" dirty="0">
                <a:solidFill>
                  <a:srgbClr val="02020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(composition method)</a:t>
            </a:r>
          </a:p>
        </p:txBody>
      </p:sp>
    </p:spTree>
  </p:cSld>
  <p:clrMapOvr>
    <a:masterClrMapping/>
  </p:clrMapOvr>
  <p:transition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EC914BF-2582-B841-754B-23632B78C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3.6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复合分布的抽样方法（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composition method)</a:t>
            </a:r>
          </a:p>
        </p:txBody>
      </p:sp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411316CE-29AB-C037-5CB0-2B22A72BE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1676401"/>
          <a:ext cx="3986213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733200" imgH="16383000" progId="Equation.3">
                  <p:embed/>
                </p:oleObj>
              </mc:Choice>
              <mc:Fallback>
                <p:oleObj name="Equation" r:id="rId2" imgW="49733200" imgH="16383000" progId="Equation.3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411316CE-29AB-C037-5CB0-2B22A72BEB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1676401"/>
                        <a:ext cx="3986213" cy="13128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D0912C67-C17F-1926-8DF4-0EA1831F1E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114800"/>
          <a:ext cx="365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228000" imgH="9944100" progId="Equation.3">
                  <p:embed/>
                </p:oleObj>
              </mc:Choice>
              <mc:Fallback>
                <p:oleObj name="Equation" r:id="rId4" imgW="46228000" imgH="9944100" progId="Equation.3">
                  <p:embed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D0912C67-C17F-1926-8DF4-0EA1831F1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14800"/>
                        <a:ext cx="3657600" cy="7874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5">
            <a:extLst>
              <a:ext uri="{FF2B5EF4-FFF2-40B4-BE49-F238E27FC236}">
                <a16:creationId xmlns:a16="http://schemas.microsoft.com/office/drawing/2014/main" id="{08CC7BDF-938A-C98A-8F70-91C0B155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776288"/>
            <a:ext cx="3332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1961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年由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Marsaglia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提出的方法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AD529CD-A916-9BA9-FFAD-E7293C5E0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1" y="1220788"/>
            <a:ext cx="64011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设随机变量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的概率密度函数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f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可写成一些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PDF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的线性叠加：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6034708-8312-2223-E87D-C006F6878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1242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抽样方法：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E2878B01-C9C7-98C9-EBF4-992A25FE6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3657600"/>
            <a:ext cx="671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利用离散型的随机变量的抽样方法抽取序号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k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CE4C1591-EB08-2BDB-84D9-AFB82D1CB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4979988"/>
            <a:ext cx="2271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AutoNum type="arabicPeriod" startAt="2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由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f</a:t>
            </a:r>
            <a:r>
              <a:rPr lang="en-US" altLang="zh-CN" b="1" i="1" baseline="-25000">
                <a:solidFill>
                  <a:srgbClr val="020202"/>
                </a:solidFill>
                <a:ea typeface="楷体_GB2312" pitchFamily="49" charset="-122"/>
              </a:rPr>
              <a:t>k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(x)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抽取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x</a:t>
            </a:r>
          </a:p>
        </p:txBody>
      </p:sp>
    </p:spTree>
  </p:cSld>
  <p:clrMapOvr>
    <a:masterClrMapping/>
  </p:clrMapOvr>
  <p:transition>
    <p:rand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428CBE6-DD85-1591-3B1E-483D96CCD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3.6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复合分布的抽样方法（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composition method)</a:t>
            </a:r>
          </a:p>
        </p:txBody>
      </p:sp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8BD524EA-77AB-B75E-9428-DAFF4ADC4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4250" y="1600201"/>
          <a:ext cx="8413750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4556600" imgH="29260800" progId="Equation.3">
                  <p:embed/>
                </p:oleObj>
              </mc:Choice>
              <mc:Fallback>
                <p:oleObj name="Equation" r:id="rId2" imgW="84556600" imgH="29260800" progId="Equation.3">
                  <p:embed/>
                  <p:pic>
                    <p:nvPicPr>
                      <p:cNvPr id="4099" name="Object 3">
                        <a:extLst>
                          <a:ext uri="{FF2B5EF4-FFF2-40B4-BE49-F238E27FC236}">
                            <a16:creationId xmlns:a16="http://schemas.microsoft.com/office/drawing/2014/main" id="{8BD524EA-77AB-B75E-9428-DAFF4ADC4B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1600201"/>
                        <a:ext cx="8413750" cy="24241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4">
            <a:extLst>
              <a:ext uri="{FF2B5EF4-FFF2-40B4-BE49-F238E27FC236}">
                <a16:creationId xmlns:a16="http://schemas.microsoft.com/office/drawing/2014/main" id="{C60319FD-CF7F-4051-CF5F-4A8D8841E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1054100"/>
            <a:ext cx="5092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例：用复合法产生双指数分布随机数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0EB19A3-680C-BC05-F9A8-E67B349EF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267200"/>
            <a:ext cx="70104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2100" indent="-2921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82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–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产生两个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[0,1]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区间均匀分布的随机数 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;</a:t>
            </a:r>
          </a:p>
          <a:p>
            <a:pPr>
              <a:spcBef>
                <a:spcPct val="50000"/>
              </a:spcBef>
              <a:buFontTx/>
              <a:buChar char="–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如果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1 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  <a:sym typeface="Symbol" pitchFamily="2" charset="2"/>
              </a:rPr>
              <a:t> 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0.5, 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按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1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抽样；</a:t>
            </a:r>
          </a:p>
          <a:p>
            <a:pPr>
              <a:spcBef>
                <a:spcPct val="50000"/>
              </a:spcBef>
              <a:buFontTx/>
              <a:buChar char="–"/>
            </a:pP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如果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1 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&gt; 0.5, 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按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抽样；</a:t>
            </a:r>
          </a:p>
          <a:p>
            <a:pPr>
              <a:spcBef>
                <a:spcPct val="50000"/>
              </a:spcBef>
              <a:buFontTx/>
              <a:buChar char="–"/>
            </a:pP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1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和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20202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20202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20202"/>
                </a:solidFill>
                <a:ea typeface="楷体_GB2312" pitchFamily="49" charset="-122"/>
              </a:rPr>
              <a:t>都可用直接抽样法</a:t>
            </a:r>
          </a:p>
        </p:txBody>
      </p:sp>
    </p:spTree>
  </p:cSld>
  <p:clrMapOvr>
    <a:masterClrMapping/>
  </p:clrMapOvr>
  <p:transition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DCB0543-05FA-4EDE-AEF6-5E2C8DFF5C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4B6382E-0CC4-E250-58C6-60FF2B3274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9906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000" b="1" dirty="0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8F566359-FAA5-4D0A-1723-19BA4F445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962401"/>
            <a:ext cx="45720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8.7  </a:t>
            </a:r>
            <a:r>
              <a:rPr lang="zh-CN" altLang="en-US" sz="28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混合抽样法</a:t>
            </a:r>
            <a:endParaRPr lang="en-US" altLang="zh-CN" sz="2800" b="1" dirty="0">
              <a:solidFill>
                <a:srgbClr val="020202"/>
              </a:solidFill>
              <a:latin typeface="Comic Sans MS" charset="0"/>
              <a:ea typeface="楷体_GB2312" charset="0"/>
              <a:cs typeface="楷体_GB2312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20202"/>
                </a:solidFill>
                <a:latin typeface="Comic Sans MS" charset="0"/>
                <a:ea typeface="楷体_GB2312" charset="0"/>
                <a:cs typeface="楷体_GB2312" charset="0"/>
              </a:rPr>
              <a:t>(mixed method) </a:t>
            </a:r>
          </a:p>
        </p:txBody>
      </p:sp>
    </p:spTree>
  </p:cSld>
  <p:clrMapOvr>
    <a:masterClrMapping/>
  </p:clrMapOvr>
  <p:transition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B30B7A5-72D1-956F-DE9F-ECF5DAFC6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924800" cy="6858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(mixed method)</a:t>
            </a:r>
            <a:r>
              <a:rPr lang="en-US" altLang="zh-CN" sz="2000" b="1">
                <a:ea typeface="楷体_GB2312" charset="0"/>
                <a:cs typeface="楷体_GB2312" charset="0"/>
              </a:rPr>
              <a:t> </a:t>
            </a:r>
          </a:p>
        </p:txBody>
      </p:sp>
      <p:graphicFrame>
        <p:nvGraphicFramePr>
          <p:cNvPr id="4098" name="Object 3">
            <a:extLst>
              <a:ext uri="{FF2B5EF4-FFF2-40B4-BE49-F238E27FC236}">
                <a16:creationId xmlns:a16="http://schemas.microsoft.com/office/drawing/2014/main" id="{0857D553-4797-A4A8-AFB3-8369C30BF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990600"/>
          <a:ext cx="457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97300" imgH="4978400" progId="Equation.3">
                  <p:embed/>
                </p:oleObj>
              </mc:Choice>
              <mc:Fallback>
                <p:oleObj name="Equation" r:id="rId2" imgW="3797300" imgH="4978400" progId="Equation.3">
                  <p:embed/>
                  <p:pic>
                    <p:nvPicPr>
                      <p:cNvPr id="4098" name="Object 3">
                        <a:extLst>
                          <a:ext uri="{FF2B5EF4-FFF2-40B4-BE49-F238E27FC236}">
                            <a16:creationId xmlns:a16="http://schemas.microsoft.com/office/drawing/2014/main" id="{0857D553-4797-A4A8-AFB3-8369C30BFF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990600"/>
                        <a:ext cx="4572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Rectangle 4">
            <a:extLst>
              <a:ext uri="{FF2B5EF4-FFF2-40B4-BE49-F238E27FC236}">
                <a16:creationId xmlns:a16="http://schemas.microsoft.com/office/drawing/2014/main" id="{F1649052-AB5C-2714-8A06-5CF8B7DC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95400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混合法：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4CF47CB-EB34-F856-F359-D3FBEA60B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014413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直接抽样法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52B81B6-FF94-9A49-2CA9-A90B7C0B4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153035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舍选法</a:t>
            </a:r>
            <a:endParaRPr lang="zh-CN" altLang="en-US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257E640-1045-B329-BBF7-A8D5BD0B3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295400"/>
            <a:ext cx="18213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亦称乘抽样法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C62BC62A-75B9-0C8D-DEBB-8B819CA51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2233613"/>
            <a:ext cx="2031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适用的抽样场合：</a:t>
            </a: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DB04080F-655B-7B89-7ACC-57F992413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690813"/>
            <a:ext cx="4108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直接抽样法不可用、舍选抽样法效率低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7BD3434D-8DED-A94B-1E3D-F84A15E4A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200401"/>
            <a:ext cx="7924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–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概率密度函数难以积分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无累积分布函数的解析表达式；</a:t>
            </a:r>
            <a:endParaRPr lang="en-US" altLang="zh-CN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  <a:p>
            <a:pPr>
              <a:spcBef>
                <a:spcPct val="50000"/>
              </a:spcBef>
              <a:buFontTx/>
              <a:buChar char="–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累积分布函数的反函数的解析表达式不存在；</a:t>
            </a:r>
            <a:endParaRPr lang="en-US" altLang="zh-CN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  <a:p>
            <a:pPr>
              <a:spcBef>
                <a:spcPct val="50000"/>
              </a:spcBef>
              <a:buFontTx/>
              <a:buChar char="–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概率密度函数存在尖峰（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spiky);</a:t>
            </a:r>
          </a:p>
        </p:txBody>
      </p:sp>
    </p:spTree>
  </p:cSld>
  <p:clrMapOvr>
    <a:masterClrMapping/>
  </p:clrMapOvr>
  <p:transition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3E1DD47-0CCF-0563-F6FE-5BFC67769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9248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(mixed method)</a:t>
            </a:r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2DFAA0ED-AE87-FE10-0E4A-27C6F6EE1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905001"/>
          <a:ext cx="2514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74500" imgH="4686300" progId="Equation.3">
                  <p:embed/>
                </p:oleObj>
              </mc:Choice>
              <mc:Fallback>
                <p:oleObj name="Equation" r:id="rId2" imgW="24574500" imgH="4686300" progId="Equation.3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2DFAA0ED-AE87-FE10-0E4A-27C6F6EE1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05001"/>
                        <a:ext cx="2514600" cy="4794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4">
            <a:extLst>
              <a:ext uri="{FF2B5EF4-FFF2-40B4-BE49-F238E27FC236}">
                <a16:creationId xmlns:a16="http://schemas.microsoft.com/office/drawing/2014/main" id="{34666738-E2C5-0C11-E1B0-AC310AF0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19200"/>
            <a:ext cx="48013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假定：概率密度函数可写成下面的因子化形式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B513DA1-D25A-06A9-9989-DB0FB96EF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59080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其中：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C736181-81CE-3463-A4DE-FAF17B279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24200"/>
            <a:ext cx="7772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buFontTx/>
              <a:buChar char="–"/>
              <a:defRPr/>
            </a:pP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包含了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p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的峰值部分且可用直接抽样法进行抽样</a:t>
            </a:r>
            <a:endParaRPr lang="en-US" altLang="zh-CN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 marL="292100" indent="-292100">
              <a:spcBef>
                <a:spcPct val="50000"/>
              </a:spcBef>
              <a:buFontTx/>
              <a:buChar char="–"/>
              <a:defRPr/>
            </a:pP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是一个相对变化平缓的函数，包含了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p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函数的大部分的数学复杂性；</a:t>
            </a:r>
          </a:p>
        </p:txBody>
      </p:sp>
    </p:spTree>
  </p:cSld>
  <p:clrMapOvr>
    <a:masterClrMapping/>
  </p:clrMapOvr>
  <p:transition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34E09CA-F97E-B349-EB45-0B1D7E0EF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9248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(mixed method)</a:t>
            </a:r>
          </a:p>
        </p:txBody>
      </p:sp>
      <p:graphicFrame>
        <p:nvGraphicFramePr>
          <p:cNvPr id="6146" name="Object 3">
            <a:extLst>
              <a:ext uri="{FF2B5EF4-FFF2-40B4-BE49-F238E27FC236}">
                <a16:creationId xmlns:a16="http://schemas.microsoft.com/office/drawing/2014/main" id="{AECB7A94-314C-8FE6-42C1-53B42E10C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981200"/>
          <a:ext cx="36576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72700" imgH="8775700" progId="Equation.3">
                  <p:embed/>
                </p:oleObj>
              </mc:Choice>
              <mc:Fallback>
                <p:oleObj name="Equation" r:id="rId2" imgW="48272700" imgH="8775700" progId="Equation.3">
                  <p:embed/>
                  <p:pic>
                    <p:nvPicPr>
                      <p:cNvPr id="6146" name="Object 3">
                        <a:extLst>
                          <a:ext uri="{FF2B5EF4-FFF2-40B4-BE49-F238E27FC236}">
                            <a16:creationId xmlns:a16="http://schemas.microsoft.com/office/drawing/2014/main" id="{AECB7A94-314C-8FE6-42C1-53B42E10C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81200"/>
                        <a:ext cx="3657600" cy="666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">
            <a:extLst>
              <a:ext uri="{FF2B5EF4-FFF2-40B4-BE49-F238E27FC236}">
                <a16:creationId xmlns:a16="http://schemas.microsoft.com/office/drawing/2014/main" id="{5D3618FF-2BD8-DCAA-01BC-A24F1116D7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352801"/>
          <a:ext cx="48006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105800" imgH="8191500" progId="Equation.3">
                  <p:embed/>
                </p:oleObj>
              </mc:Choice>
              <mc:Fallback>
                <p:oleObj name="Equation" r:id="rId4" imgW="59105800" imgH="8191500" progId="Equation.3">
                  <p:embed/>
                  <p:pic>
                    <p:nvPicPr>
                      <p:cNvPr id="6147" name="Object 4">
                        <a:extLst>
                          <a:ext uri="{FF2B5EF4-FFF2-40B4-BE49-F238E27FC236}">
                            <a16:creationId xmlns:a16="http://schemas.microsoft.com/office/drawing/2014/main" id="{5D3618FF-2BD8-DCAA-01BC-A24F1116D7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52801"/>
                        <a:ext cx="4800600" cy="6635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5">
            <a:extLst>
              <a:ext uri="{FF2B5EF4-FFF2-40B4-BE49-F238E27FC236}">
                <a16:creationId xmlns:a16="http://schemas.microsoft.com/office/drawing/2014/main" id="{065FA741-45A5-CA22-BE75-F48DF17B4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7620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u="sng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抽样方法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：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34FFAFAC-0773-70B0-0ACA-06FFE6001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1371600"/>
            <a:ext cx="19159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1.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将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归一化：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88BD771B-DABF-C625-375F-54365D4B6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2819400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令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FCAB4AAB-AF47-C343-3CF3-1A3738D28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4114800"/>
            <a:ext cx="45307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M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为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g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在区间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[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a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b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上的极大值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72D24B25-57DC-96FB-DAD9-C66A341D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4648200"/>
            <a:ext cx="32047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利用直接抽样法由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   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抽取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;</a:t>
            </a:r>
          </a:p>
        </p:txBody>
      </p:sp>
      <p:graphicFrame>
        <p:nvGraphicFramePr>
          <p:cNvPr id="6153" name="Object 10">
            <a:extLst>
              <a:ext uri="{FF2B5EF4-FFF2-40B4-BE49-F238E27FC236}">
                <a16:creationId xmlns:a16="http://schemas.microsoft.com/office/drawing/2014/main" id="{A1678994-9253-0A61-0E63-086AC4D7D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6990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99400" imgH="5270500" progId="Equation.3">
                  <p:embed/>
                </p:oleObj>
              </mc:Choice>
              <mc:Fallback>
                <p:oleObj name="Equation" r:id="rId6" imgW="7899400" imgH="5270500" progId="Equation.3">
                  <p:embed/>
                  <p:pic>
                    <p:nvPicPr>
                      <p:cNvPr id="6153" name="Object 10">
                        <a:extLst>
                          <a:ext uri="{FF2B5EF4-FFF2-40B4-BE49-F238E27FC236}">
                            <a16:creationId xmlns:a16="http://schemas.microsoft.com/office/drawing/2014/main" id="{A1678994-9253-0A61-0E63-086AC4D7D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699000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11">
            <a:extLst>
              <a:ext uri="{FF2B5EF4-FFF2-40B4-BE49-F238E27FC236}">
                <a16:creationId xmlns:a16="http://schemas.microsoft.com/office/drawing/2014/main" id="{49A1B7F7-6364-67BF-7C3F-B4E9B1A0E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257801"/>
            <a:ext cx="800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84175" indent="-384175">
              <a:spcBef>
                <a:spcPct val="5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4 .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抽取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[0,1]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区间均匀分布的随机数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r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如果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            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，则接受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否则，返回到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3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重新抽样</a:t>
            </a:r>
          </a:p>
        </p:txBody>
      </p:sp>
      <p:graphicFrame>
        <p:nvGraphicFramePr>
          <p:cNvPr id="6155" name="Object 12">
            <a:extLst>
              <a:ext uri="{FF2B5EF4-FFF2-40B4-BE49-F238E27FC236}">
                <a16:creationId xmlns:a16="http://schemas.microsoft.com/office/drawing/2014/main" id="{E039375C-C832-264A-CA9E-408698881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5334001"/>
          <a:ext cx="914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85700" imgH="4686300" progId="Equation.3">
                  <p:embed/>
                </p:oleObj>
              </mc:Choice>
              <mc:Fallback>
                <p:oleObj name="Equation" r:id="rId8" imgW="12585700" imgH="4686300" progId="Equation.3">
                  <p:embed/>
                  <p:pic>
                    <p:nvPicPr>
                      <p:cNvPr id="6155" name="Object 12">
                        <a:extLst>
                          <a:ext uri="{FF2B5EF4-FFF2-40B4-BE49-F238E27FC236}">
                            <a16:creationId xmlns:a16="http://schemas.microsoft.com/office/drawing/2014/main" id="{E039375C-C832-264A-CA9E-4086988819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334001"/>
                        <a:ext cx="914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A768C51-6046-7FE6-EABA-71AF6AF04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(mixed method)</a:t>
            </a:r>
          </a:p>
        </p:txBody>
      </p:sp>
      <p:graphicFrame>
        <p:nvGraphicFramePr>
          <p:cNvPr id="7170" name="Object 3">
            <a:extLst>
              <a:ext uri="{FF2B5EF4-FFF2-40B4-BE49-F238E27FC236}">
                <a16:creationId xmlns:a16="http://schemas.microsoft.com/office/drawing/2014/main" id="{370D2D35-653D-5BE1-6012-91BBC566B5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981201"/>
          <a:ext cx="20574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52900" imgH="7899400" progId="Equation.3">
                  <p:embed/>
                </p:oleObj>
              </mc:Choice>
              <mc:Fallback>
                <p:oleObj name="Equation" r:id="rId2" imgW="29552900" imgH="7899400" progId="Equation.3">
                  <p:embed/>
                  <p:pic>
                    <p:nvPicPr>
                      <p:cNvPr id="7170" name="Object 3">
                        <a:extLst>
                          <a:ext uri="{FF2B5EF4-FFF2-40B4-BE49-F238E27FC236}">
                            <a16:creationId xmlns:a16="http://schemas.microsoft.com/office/drawing/2014/main" id="{370D2D35-653D-5BE1-6012-91BBC566B5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981201"/>
                        <a:ext cx="2057400" cy="5492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4">
            <a:extLst>
              <a:ext uri="{FF2B5EF4-FFF2-40B4-BE49-F238E27FC236}">
                <a16:creationId xmlns:a16="http://schemas.microsoft.com/office/drawing/2014/main" id="{29AD655F-B303-F97E-AC03-59B72A218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276600"/>
          <a:ext cx="34099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374800" imgH="9944100" progId="Equation.3">
                  <p:embed/>
                </p:oleObj>
              </mc:Choice>
              <mc:Fallback>
                <p:oleObj name="Equation" r:id="rId4" imgW="52374800" imgH="9944100" progId="Equation.3">
                  <p:embed/>
                  <p:pic>
                    <p:nvPicPr>
                      <p:cNvPr id="7171" name="Object 4">
                        <a:extLst>
                          <a:ext uri="{FF2B5EF4-FFF2-40B4-BE49-F238E27FC236}">
                            <a16:creationId xmlns:a16="http://schemas.microsoft.com/office/drawing/2014/main" id="{29AD655F-B303-F97E-AC03-59B72A218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76600"/>
                        <a:ext cx="3409950" cy="6477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5">
            <a:extLst>
              <a:ext uri="{FF2B5EF4-FFF2-40B4-BE49-F238E27FC236}">
                <a16:creationId xmlns:a16="http://schemas.microsoft.com/office/drawing/2014/main" id="{F3B3F5B3-A868-3C49-0341-4B42D314A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0200" y="4953000"/>
          <a:ext cx="5334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483600" imgH="5270500" progId="Equation.3">
                  <p:embed/>
                </p:oleObj>
              </mc:Choice>
              <mc:Fallback>
                <p:oleObj name="Equation" r:id="rId6" imgW="8483600" imgH="5270500" progId="Equation.3">
                  <p:embed/>
                  <p:pic>
                    <p:nvPicPr>
                      <p:cNvPr id="7172" name="Object 5">
                        <a:extLst>
                          <a:ext uri="{FF2B5EF4-FFF2-40B4-BE49-F238E27FC236}">
                            <a16:creationId xmlns:a16="http://schemas.microsoft.com/office/drawing/2014/main" id="{F3B3F5B3-A868-3C49-0341-4B42D314A2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4953000"/>
                        <a:ext cx="5334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6">
            <a:extLst>
              <a:ext uri="{FF2B5EF4-FFF2-40B4-BE49-F238E27FC236}">
                <a16:creationId xmlns:a16="http://schemas.microsoft.com/office/drawing/2014/main" id="{1D020BAE-0D09-7AA6-13C0-DC78A6A73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486400"/>
          <a:ext cx="5334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483600" imgH="5270500" progId="Equation.3">
                  <p:embed/>
                </p:oleObj>
              </mc:Choice>
              <mc:Fallback>
                <p:oleObj name="Equation" r:id="rId8" imgW="8483600" imgH="5270500" progId="Equation.3">
                  <p:embed/>
                  <p:pic>
                    <p:nvPicPr>
                      <p:cNvPr id="7173" name="Object 6">
                        <a:extLst>
                          <a:ext uri="{FF2B5EF4-FFF2-40B4-BE49-F238E27FC236}">
                            <a16:creationId xmlns:a16="http://schemas.microsoft.com/office/drawing/2014/main" id="{1D020BAE-0D09-7AA6-13C0-DC78A6A73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86400"/>
                        <a:ext cx="5334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7">
            <a:extLst>
              <a:ext uri="{FF2B5EF4-FFF2-40B4-BE49-F238E27FC236}">
                <a16:creationId xmlns:a16="http://schemas.microsoft.com/office/drawing/2014/main" id="{90FB1D7D-B231-C64E-3C5C-BE30370D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447800"/>
            <a:ext cx="571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设概率密度函数可写成如下的形式：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44DC3EBE-EB3E-DCBC-D6C7-351143043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862013"/>
            <a:ext cx="1569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u="sng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推广的形式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：</a:t>
            </a: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02283CB6-8DAF-7EDF-1603-CE756EFCA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541588"/>
            <a:ext cx="45191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 typeface="Wingdings" charset="0"/>
              <a:buChar char="è"/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复合抽样法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+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混合抽样法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==〉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乘加抽样法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A0446AAD-411D-2D0D-CBB1-ED064930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3434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C829B812-EDA5-546D-CAA9-04CF4BB8F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876800"/>
            <a:ext cx="8382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1.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采用复合抽样法，先确定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p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的随机数应由哪一个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   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抽取；</a:t>
            </a:r>
            <a:endParaRPr lang="en-US" altLang="zh-CN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2.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在按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      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抽样时，采用上面的混合方法</a:t>
            </a:r>
          </a:p>
        </p:txBody>
      </p:sp>
      <p:graphicFrame>
        <p:nvGraphicFramePr>
          <p:cNvPr id="7179" name="Object 12">
            <a:extLst>
              <a:ext uri="{FF2B5EF4-FFF2-40B4-BE49-F238E27FC236}">
                <a16:creationId xmlns:a16="http://schemas.microsoft.com/office/drawing/2014/main" id="{C6391229-1AC6-1FC5-2022-FE6B56A53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3048000"/>
          <a:ext cx="4114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195200" imgH="19304000" progId="Equation.3">
                  <p:embed/>
                </p:oleObj>
              </mc:Choice>
              <mc:Fallback>
                <p:oleObj name="Equation" r:id="rId10" imgW="63195200" imgH="19304000" progId="Equation.3">
                  <p:embed/>
                  <p:pic>
                    <p:nvPicPr>
                      <p:cNvPr id="7179" name="Object 12">
                        <a:extLst>
                          <a:ext uri="{FF2B5EF4-FFF2-40B4-BE49-F238E27FC236}">
                            <a16:creationId xmlns:a16="http://schemas.microsoft.com/office/drawing/2014/main" id="{C6391229-1AC6-1FC5-2022-FE6B56A53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048000"/>
                        <a:ext cx="4114800" cy="12573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AD9FEA8-1B9F-5859-F8B5-BFA08B2A3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(mixed method)</a:t>
            </a: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F5E97D21-E344-9B07-2D46-CCD1C33BD2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0150" y="1819276"/>
          <a:ext cx="7710488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826000" imgH="1181100" progId="Equation.3">
                  <p:embed/>
                </p:oleObj>
              </mc:Choice>
              <mc:Fallback>
                <p:oleObj name="公式" r:id="rId2" imgW="4826000" imgH="1181100" progId="Equation.3">
                  <p:embed/>
                  <p:pic>
                    <p:nvPicPr>
                      <p:cNvPr id="8194" name="Object 3">
                        <a:extLst>
                          <a:ext uri="{FF2B5EF4-FFF2-40B4-BE49-F238E27FC236}">
                            <a16:creationId xmlns:a16="http://schemas.microsoft.com/office/drawing/2014/main" id="{F5E97D21-E344-9B07-2D46-CCD1C33BD2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1819276"/>
                        <a:ext cx="7710488" cy="20113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4">
            <a:extLst>
              <a:ext uri="{FF2B5EF4-FFF2-40B4-BE49-F238E27FC236}">
                <a16:creationId xmlns:a16="http://schemas.microsoft.com/office/drawing/2014/main" id="{E1D014A0-671B-AEA9-E62F-4533F0A8F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838200"/>
            <a:ext cx="19672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例：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compton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散射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39BCBC14-47D4-9DA6-D250-B414FD5E8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295400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微分截面：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99591C03-12EA-797E-F8AE-87626DD4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46025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如何抽取散射光子的能量？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==〉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乘加抽样法</a:t>
            </a:r>
          </a:p>
        </p:txBody>
      </p:sp>
    </p:spTree>
  </p:cSld>
  <p:clrMapOvr>
    <a:masterClrMapping/>
  </p:clrMapOvr>
  <p:transition>
    <p:rand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5428F29-BE1C-BFAB-2C4E-2E2BE6A86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(mixed method)</a:t>
            </a:r>
          </a:p>
        </p:txBody>
      </p:sp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E5F12AC2-9CE3-79F1-AD33-31E450819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447801"/>
          <a:ext cx="8915400" cy="341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3568500" imgH="43294300" progId="Equation.3">
                  <p:embed/>
                </p:oleObj>
              </mc:Choice>
              <mc:Fallback>
                <p:oleObj name="Equation" r:id="rId2" imgW="103568500" imgH="43294300" progId="Equation.3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E5F12AC2-9CE3-79F1-AD33-31E450819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1"/>
                        <a:ext cx="8915400" cy="34131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BC1944-F4FB-378B-78B9-39069404F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3.7 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混合抽样法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(mixed method)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4B8D866-6C17-7A38-BE35-B1C7E111E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2819400"/>
            <a:ext cx="9144000" cy="6019800"/>
          </a:xfrm>
        </p:spPr>
        <p:txBody>
          <a:bodyPr/>
          <a:lstStyle/>
          <a:p>
            <a:pPr marL="609600" indent="-609600">
              <a:buNone/>
            </a:pPr>
            <a:endParaRPr lang="en-US" altLang="zh-CN" sz="2000" b="1">
              <a:ea typeface="楷体_GB2312" pitchFamily="49" charset="-122"/>
            </a:endParaRPr>
          </a:p>
          <a:p>
            <a:pPr marL="609600" indent="-609600">
              <a:buNone/>
            </a:pPr>
            <a:endParaRPr lang="en-US" altLang="zh-CN" sz="2000" b="1">
              <a:ea typeface="楷体_GB2312" pitchFamily="49" charset="-122"/>
            </a:endParaRPr>
          </a:p>
          <a:p>
            <a:pPr marL="609600" indent="-609600">
              <a:buNone/>
            </a:pPr>
            <a:r>
              <a:rPr lang="en-US" altLang="zh-CN" sz="2000" b="1">
                <a:ea typeface="楷体_GB2312" pitchFamily="49" charset="-122"/>
              </a:rPr>
              <a:t>   </a:t>
            </a:r>
          </a:p>
          <a:p>
            <a:pPr marL="609600" indent="-609600">
              <a:buNone/>
            </a:pPr>
            <a:r>
              <a:rPr lang="en-US" altLang="zh-CN" sz="2000" b="1">
                <a:ea typeface="楷体_GB2312" pitchFamily="49" charset="-122"/>
              </a:rPr>
              <a:t>              </a:t>
            </a:r>
            <a:endParaRPr lang="en-US" altLang="zh-CN" sz="2000" b="1" baseline="30000">
              <a:ea typeface="楷体_GB2312" pitchFamily="49" charset="-122"/>
              <a:sym typeface="Symbol" pitchFamily="2" charset="2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31B30C74-850F-E448-ED99-BC2305CD7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14400"/>
            <a:ext cx="58592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3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是三个在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[0,1]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区间上均匀分布的随机数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130218B-226D-965C-B01D-7939E2F69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524000"/>
            <a:ext cx="82296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1.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确定由哪一个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f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函数来抽取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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：如果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r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&lt;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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/(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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+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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2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，选择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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否则选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2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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；</a:t>
            </a:r>
            <a:endParaRPr lang="en-US" altLang="zh-CN" b="1">
              <a:solidFill>
                <a:srgbClr val="020202"/>
              </a:solidFill>
              <a:latin typeface="Times New Roman" charset="0"/>
              <a:ea typeface="楷体_GB2312" charset="0"/>
              <a:cs typeface="楷体_GB2312" charset="0"/>
              <a:sym typeface="Symbol" charset="0"/>
            </a:endParaRPr>
          </a:p>
          <a:p>
            <a:pPr marL="292100" indent="-292100">
              <a:spcBef>
                <a:spcPct val="5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2.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根据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或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f</a:t>
            </a:r>
            <a:r>
              <a:rPr lang="en-US" altLang="zh-CN" b="1" baseline="-25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2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抽取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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：直接抽样法</a:t>
            </a:r>
          </a:p>
        </p:txBody>
      </p:sp>
      <p:graphicFrame>
        <p:nvGraphicFramePr>
          <p:cNvPr id="10245" name="Object 6">
            <a:extLst>
              <a:ext uri="{FF2B5EF4-FFF2-40B4-BE49-F238E27FC236}">
                <a16:creationId xmlns:a16="http://schemas.microsoft.com/office/drawing/2014/main" id="{A2ED7789-F96E-B6D9-D56E-CB166202B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95600"/>
          <a:ext cx="4648200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125900" imgH="11112500" progId="Equation.3">
                  <p:embed/>
                </p:oleObj>
              </mc:Choice>
              <mc:Fallback>
                <p:oleObj name="Equation" r:id="rId2" imgW="42125900" imgH="11112500" progId="Equation.3">
                  <p:embed/>
                  <p:pic>
                    <p:nvPicPr>
                      <p:cNvPr id="10245" name="Object 6">
                        <a:extLst>
                          <a:ext uri="{FF2B5EF4-FFF2-40B4-BE49-F238E27FC236}">
                            <a16:creationId xmlns:a16="http://schemas.microsoft.com/office/drawing/2014/main" id="{A2ED7789-F96E-B6D9-D56E-CB166202B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95600"/>
                        <a:ext cx="4648200" cy="12271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>
            <a:extLst>
              <a:ext uri="{FF2B5EF4-FFF2-40B4-BE49-F238E27FC236}">
                <a16:creationId xmlns:a16="http://schemas.microsoft.com/office/drawing/2014/main" id="{4431CFA6-8C9B-F4A5-FC86-FB5CA80C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192588"/>
            <a:ext cx="1438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3.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计算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sin</a:t>
            </a:r>
            <a:r>
              <a:rPr lang="en-US" altLang="zh-CN" b="1" baseline="30000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:</a:t>
            </a:r>
          </a:p>
        </p:txBody>
      </p:sp>
      <p:graphicFrame>
        <p:nvGraphicFramePr>
          <p:cNvPr id="10247" name="Object 8">
            <a:extLst>
              <a:ext uri="{FF2B5EF4-FFF2-40B4-BE49-F238E27FC236}">
                <a16:creationId xmlns:a16="http://schemas.microsoft.com/office/drawing/2014/main" id="{EEED689E-D51A-181D-A78E-C45BF0C0E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724401"/>
          <a:ext cx="45720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5532000" imgH="10528300" progId="Equation.3">
                  <p:embed/>
                </p:oleObj>
              </mc:Choice>
              <mc:Fallback>
                <p:oleObj name="Equation" r:id="rId4" imgW="65532000" imgH="10528300" progId="Equation.3">
                  <p:embed/>
                  <p:pic>
                    <p:nvPicPr>
                      <p:cNvPr id="10247" name="Object 8">
                        <a:extLst>
                          <a:ext uri="{FF2B5EF4-FFF2-40B4-BE49-F238E27FC236}">
                            <a16:creationId xmlns:a16="http://schemas.microsoft.com/office/drawing/2014/main" id="{EEED689E-D51A-181D-A78E-C45BF0C0E2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1"/>
                        <a:ext cx="4572000" cy="7350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9">
            <a:extLst>
              <a:ext uri="{FF2B5EF4-FFF2-40B4-BE49-F238E27FC236}">
                <a16:creationId xmlns:a16="http://schemas.microsoft.com/office/drawing/2014/main" id="{489DAB92-32F4-5368-8F6F-FB2E81891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1" y="5564188"/>
            <a:ext cx="53976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4.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计算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g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lang="en-US" altLang="zh-CN" b="1" i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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),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如果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              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接受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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，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 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否则返回到第一步</a:t>
            </a:r>
          </a:p>
        </p:txBody>
      </p:sp>
      <p:graphicFrame>
        <p:nvGraphicFramePr>
          <p:cNvPr id="10249" name="Object 10">
            <a:extLst>
              <a:ext uri="{FF2B5EF4-FFF2-40B4-BE49-F238E27FC236}">
                <a16:creationId xmlns:a16="http://schemas.microsoft.com/office/drawing/2014/main" id="{F60B522C-A2C1-0F8B-26D4-60E08B4E6E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5562600"/>
          <a:ext cx="1066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169900" imgH="5270500" progId="Equation.3">
                  <p:embed/>
                </p:oleObj>
              </mc:Choice>
              <mc:Fallback>
                <p:oleObj name="Equation" r:id="rId6" imgW="13169900" imgH="5270500" progId="Equation.3">
                  <p:embed/>
                  <p:pic>
                    <p:nvPicPr>
                      <p:cNvPr id="10249" name="Object 10">
                        <a:extLst>
                          <a:ext uri="{FF2B5EF4-FFF2-40B4-BE49-F238E27FC236}">
                            <a16:creationId xmlns:a16="http://schemas.microsoft.com/office/drawing/2014/main" id="{F60B522C-A2C1-0F8B-26D4-60E08B4E6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562600"/>
                        <a:ext cx="10668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2E2910B-2F18-A589-8F52-07413EB16B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902030302020204" pitchFamily="66" charset="0"/>
                <a:ea typeface="楷体_GB2312" pitchFamily="49" charset="-122"/>
              </a:rPr>
              <a:t>模拟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A4BEC96-7120-22FA-F286-304BC1D950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1066800"/>
          </a:xfrm>
        </p:spPr>
        <p:txBody>
          <a:bodyPr/>
          <a:lstStyle/>
          <a:p>
            <a: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第三章 从概率分布函数的抽样</a:t>
            </a:r>
            <a:br>
              <a:rPr lang="zh-CN" altLang="en-US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</a:br>
            <a:r>
              <a:rPr lang="en-US" altLang="zh-CN" sz="2000" b="1">
                <a:solidFill>
                  <a:srgbClr val="050507"/>
                </a:solidFill>
                <a:latin typeface="Comic Sans MS" panose="030F0902030302020204" pitchFamily="66" charset="0"/>
                <a:ea typeface="楷体_GB2312" pitchFamily="49" charset="-122"/>
              </a:rPr>
              <a:t>(Sampling from Probability Distribution Functions)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72823C7-FD28-59A7-ADB4-205F77BB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968750"/>
            <a:ext cx="502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8.8  </a:t>
            </a:r>
            <a:r>
              <a:rPr lang="zh-CN" altLang="en-US" sz="32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近似抽样法（列表法</a:t>
            </a:r>
            <a:r>
              <a:rPr lang="en-US" altLang="zh-CN" sz="3200" b="1" dirty="0">
                <a:solidFill>
                  <a:srgbClr val="020202"/>
                </a:solidFill>
                <a:latin typeface="Comic Sans MS" panose="030F0902030302020204" pitchFamily="66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ransition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E38D9BF-860F-5752-A0C0-6C9669622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9BB3F12-7AE0-A4FA-287F-7AFA715B5B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3924300"/>
            <a:ext cx="9144000" cy="5867400"/>
          </a:xfrm>
        </p:spPr>
        <p:txBody>
          <a:bodyPr/>
          <a:lstStyle/>
          <a:p>
            <a:pPr marL="196850" indent="-196850">
              <a:buNone/>
            </a:pPr>
            <a:endParaRPr lang="en-US" altLang="zh-CN" sz="2400" b="1">
              <a:solidFill>
                <a:srgbClr val="FF0000"/>
              </a:solidFill>
              <a:ea typeface="楷体_GB2312" pitchFamily="49" charset="-122"/>
            </a:endParaRPr>
          </a:p>
          <a:p>
            <a:pPr marL="196850" indent="-196850">
              <a:buNone/>
            </a:pPr>
            <a:r>
              <a:rPr lang="en-US" altLang="zh-CN" sz="2400" b="1">
                <a:ea typeface="楷体_GB2312" pitchFamily="49" charset="-122"/>
              </a:rPr>
              <a:t>    </a:t>
            </a:r>
          </a:p>
          <a:p>
            <a:pPr marL="196850" indent="-196850">
              <a:buNone/>
            </a:pPr>
            <a:endParaRPr lang="en-US" altLang="zh-CN" sz="2400" b="1">
              <a:solidFill>
                <a:srgbClr val="FF0000"/>
              </a:solidFill>
              <a:ea typeface="楷体_GB2312" pitchFamily="49" charset="-122"/>
            </a:endParaRPr>
          </a:p>
          <a:p>
            <a:pPr marL="755650" lvl="1" indent="-271463"/>
            <a:endParaRPr lang="en-US" altLang="zh-CN" sz="2400" b="1">
              <a:ea typeface="楷体_GB2312" pitchFamily="49" charset="-122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3F681AB-1942-1B2C-EFC2-1DC5442A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762000"/>
            <a:ext cx="1569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近似抽样法：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167AB17-5F96-A8C4-5CB1-7CC378A75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1249364"/>
            <a:ext cx="83359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ea typeface="楷体_GB2312" pitchFamily="49" charset="-122"/>
              </a:rPr>
              <a:t>用近似的分布函数取代欲抽取的概率密度函数，一般是采用列表的形式将连续型的概率分布变成分离型的概率分布。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50965C2-C93A-8AD1-B7BE-67F427E8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255838"/>
            <a:ext cx="1569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使用的场合：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849E8BE9-0728-9506-6474-A9C529CB0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895600"/>
            <a:ext cx="7924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4175" indent="-384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46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–"/>
            </a:pPr>
            <a:r>
              <a:rPr lang="zh-CN" altLang="en-US" b="1">
                <a:ea typeface="楷体_GB2312" pitchFamily="49" charset="-122"/>
              </a:rPr>
              <a:t>概率密度函数的形式非常复杂，在模拟过程中进行计算需花费相当多的</a:t>
            </a:r>
            <a:r>
              <a:rPr lang="en-US" altLang="zh-CN" b="1">
                <a:ea typeface="楷体_GB2312" pitchFamily="49" charset="-122"/>
              </a:rPr>
              <a:t>CPU</a:t>
            </a:r>
            <a:r>
              <a:rPr lang="zh-CN" altLang="en-US" b="1">
                <a:ea typeface="楷体_GB2312" pitchFamily="49" charset="-122"/>
              </a:rPr>
              <a:t>时间</a:t>
            </a:r>
            <a:r>
              <a:rPr lang="en-US" altLang="zh-CN" b="1">
                <a:ea typeface="楷体_GB2312" pitchFamily="49" charset="-122"/>
              </a:rPr>
              <a:t>;</a:t>
            </a:r>
          </a:p>
          <a:p>
            <a:pPr>
              <a:spcBef>
                <a:spcPct val="50000"/>
              </a:spcBef>
              <a:buFontTx/>
              <a:buChar char="–"/>
            </a:pPr>
            <a:r>
              <a:rPr lang="zh-CN" altLang="en-US" b="1">
                <a:ea typeface="楷体_GB2312" pitchFamily="49" charset="-122"/>
              </a:rPr>
              <a:t>概率密度函数无解析形式，只能用数值或曲线的形式表示。</a:t>
            </a:r>
          </a:p>
        </p:txBody>
      </p:sp>
    </p:spTree>
  </p:cSld>
  <p:clrMapOvr>
    <a:masterClrMapping/>
  </p:clrMapOvr>
  <p:transition>
    <p:rand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944E16D-D982-BCA7-1F27-2613A9FDD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60DDD355-E3FA-0DFE-DE5C-1372DF4CF4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057401"/>
          <a:ext cx="4191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65400" imgH="5270500" progId="Equation.3">
                  <p:embed/>
                </p:oleObj>
              </mc:Choice>
              <mc:Fallback>
                <p:oleObj name="Equation" r:id="rId2" imgW="40665400" imgH="5270500" progId="Equation.3">
                  <p:embed/>
                  <p:pic>
                    <p:nvPicPr>
                      <p:cNvPr id="4099" name="Object 3">
                        <a:extLst>
                          <a:ext uri="{FF2B5EF4-FFF2-40B4-BE49-F238E27FC236}">
                            <a16:creationId xmlns:a16="http://schemas.microsoft.com/office/drawing/2014/main" id="{60DDD355-E3FA-0DFE-DE5C-1372DF4CF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057401"/>
                        <a:ext cx="4191000" cy="542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356B98F6-A5FF-DA8D-3995-66F756F9D0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3124200"/>
          <a:ext cx="3352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36500" imgH="5270500" progId="Equation.3">
                  <p:embed/>
                </p:oleObj>
              </mc:Choice>
              <mc:Fallback>
                <p:oleObj name="Equation" r:id="rId4" imgW="38036500" imgH="5270500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356B98F6-A5FF-DA8D-3995-66F756F9D0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124200"/>
                        <a:ext cx="3352800" cy="463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Rectangle 5">
            <a:extLst>
              <a:ext uri="{FF2B5EF4-FFF2-40B4-BE49-F238E27FC236}">
                <a16:creationId xmlns:a16="http://schemas.microsoft.com/office/drawing/2014/main" id="{04821286-BDD4-4213-9871-D77B01B47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6" y="715963"/>
            <a:ext cx="1164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基本方法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1E0B232-7041-0C62-E2D8-D9BF8C0B3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1189038"/>
            <a:ext cx="32560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>
                <a:ea typeface="楷体_GB2312" pitchFamily="49" charset="-122"/>
              </a:rPr>
              <a:t>设概率密度函数：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),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  <a:sym typeface="Symbol" pitchFamily="2" charset="2"/>
              </a:rPr>
              <a:t></a:t>
            </a:r>
            <a:r>
              <a:rPr lang="en-US" altLang="zh-CN" b="1">
                <a:ea typeface="楷体_GB2312" pitchFamily="49" charset="-122"/>
              </a:rPr>
              <a:t>[</a:t>
            </a:r>
            <a:r>
              <a:rPr lang="en-US" altLang="zh-CN" b="1" i="1">
                <a:ea typeface="楷体_GB2312" pitchFamily="49" charset="-122"/>
              </a:rPr>
              <a:t>a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b</a:t>
            </a:r>
            <a:r>
              <a:rPr lang="en-US" altLang="zh-CN" b="1">
                <a:ea typeface="楷体_GB2312" pitchFamily="49" charset="-122"/>
              </a:rPr>
              <a:t>]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EE7E049-AE77-B9B2-DC8A-7B7599F29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002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ea typeface="楷体_GB2312" pitchFamily="49" charset="-122"/>
              </a:rPr>
              <a:t>将区间</a:t>
            </a:r>
            <a:r>
              <a:rPr lang="en-US" altLang="zh-CN" b="1">
                <a:ea typeface="楷体_GB2312" pitchFamily="49" charset="-122"/>
              </a:rPr>
              <a:t>[</a:t>
            </a:r>
            <a:r>
              <a:rPr lang="en-US" altLang="zh-CN" b="1" i="1">
                <a:ea typeface="楷体_GB2312" pitchFamily="49" charset="-122"/>
              </a:rPr>
              <a:t>a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b</a:t>
            </a:r>
            <a:r>
              <a:rPr lang="en-US" altLang="zh-CN" b="1">
                <a:ea typeface="楷体_GB2312" pitchFamily="49" charset="-122"/>
              </a:rPr>
              <a:t>]</a:t>
            </a:r>
            <a:r>
              <a:rPr lang="zh-CN" altLang="en-US" b="1">
                <a:ea typeface="楷体_GB2312" pitchFamily="49" charset="-122"/>
              </a:rPr>
              <a:t>分成</a:t>
            </a:r>
            <a:r>
              <a:rPr lang="en-US" altLang="zh-CN" b="1" i="1">
                <a:ea typeface="楷体_GB2312" pitchFamily="49" charset="-122"/>
              </a:rPr>
              <a:t>n</a:t>
            </a:r>
            <a:r>
              <a:rPr lang="zh-CN" altLang="en-US" b="1">
                <a:ea typeface="楷体_GB2312" pitchFamily="49" charset="-122"/>
              </a:rPr>
              <a:t>个子区间，分点为  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90D85E4A-47C1-2DAE-4082-68D3DBEB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667000"/>
            <a:ext cx="3576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 startAt="2"/>
            </a:pPr>
            <a:r>
              <a:rPr lang="zh-CN" altLang="en-US" b="1">
                <a:ea typeface="楷体_GB2312" pitchFamily="49" charset="-122"/>
              </a:rPr>
              <a:t>分点对应的函数值为</a:t>
            </a:r>
            <a:r>
              <a:rPr lang="en-US" altLang="zh-CN" b="1">
                <a:ea typeface="楷体_GB2312" pitchFamily="49" charset="-122"/>
              </a:rPr>
              <a:t>: 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3500587E-F37E-9980-AA40-74F4D6BC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1"/>
            <a:ext cx="7848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 startAt="3"/>
            </a:pPr>
            <a:r>
              <a:rPr lang="zh-CN" altLang="en-US" b="1">
                <a:ea typeface="楷体_GB2312" pitchFamily="49" charset="-122"/>
              </a:rPr>
              <a:t>对于每一个小区间，利用一简单的函数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a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来近似地表示原概率分布函数，并使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a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在该区间内的积分与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在该区间内的积分相等，即俩者的概率相等。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37196C54-8AE0-4604-AC65-09FF0A1BD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05401"/>
            <a:ext cx="7848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 startAt="4"/>
            </a:pPr>
            <a:r>
              <a:rPr lang="zh-CN" altLang="en-US" b="1">
                <a:ea typeface="楷体_GB2312" pitchFamily="49" charset="-122"/>
              </a:rPr>
              <a:t>利用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计算每一个子区间的概率值                      并计算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的累积分布函数在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i="1" baseline="-25000">
                <a:ea typeface="楷体_GB2312" pitchFamily="49" charset="-122"/>
              </a:rPr>
              <a:t>i</a:t>
            </a:r>
            <a:r>
              <a:rPr lang="zh-CN" altLang="en-US" b="1">
                <a:ea typeface="楷体_GB2312" pitchFamily="49" charset="-122"/>
              </a:rPr>
              <a:t>处的值                               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zh-CN" altLang="en-US" b="1">
                <a:ea typeface="楷体_GB2312" pitchFamily="49" charset="-122"/>
              </a:rPr>
              <a:t>并将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i="1" baseline="-25000">
                <a:ea typeface="楷体_GB2312" pitchFamily="49" charset="-122"/>
              </a:rPr>
              <a:t>i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和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i="1" baseline="-25000">
                <a:ea typeface="楷体_GB2312" pitchFamily="49" charset="-122"/>
              </a:rPr>
              <a:t>i</a:t>
            </a:r>
            <a:r>
              <a:rPr lang="zh-CN" altLang="en-US" b="1">
                <a:ea typeface="楷体_GB2312" pitchFamily="49" charset="-122"/>
              </a:rPr>
              <a:t>存入数据表中</a:t>
            </a:r>
            <a:r>
              <a:rPr lang="en-US" altLang="zh-CN" b="1">
                <a:ea typeface="楷体_GB2312" pitchFamily="49" charset="-122"/>
              </a:rPr>
              <a:t>;</a:t>
            </a:r>
          </a:p>
        </p:txBody>
      </p:sp>
      <p:graphicFrame>
        <p:nvGraphicFramePr>
          <p:cNvPr id="4107" name="Object 11">
            <a:extLst>
              <a:ext uri="{FF2B5EF4-FFF2-40B4-BE49-F238E27FC236}">
                <a16:creationId xmlns:a16="http://schemas.microsoft.com/office/drawing/2014/main" id="{4A07B5BC-CEBE-FE9A-6385-5A7294186F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5029201"/>
          <a:ext cx="14478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529800" imgH="8191500" progId="Equation.3">
                  <p:embed/>
                </p:oleObj>
              </mc:Choice>
              <mc:Fallback>
                <p:oleObj name="Equation" r:id="rId6" imgW="22529800" imgH="8191500" progId="Equation.3">
                  <p:embed/>
                  <p:pic>
                    <p:nvPicPr>
                      <p:cNvPr id="4107" name="Object 11">
                        <a:extLst>
                          <a:ext uri="{FF2B5EF4-FFF2-40B4-BE49-F238E27FC236}">
                            <a16:creationId xmlns:a16="http://schemas.microsoft.com/office/drawing/2014/main" id="{4A07B5BC-CEBE-FE9A-6385-5A7294186F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5029201"/>
                        <a:ext cx="14478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>
            <a:extLst>
              <a:ext uri="{FF2B5EF4-FFF2-40B4-BE49-F238E27FC236}">
                <a16:creationId xmlns:a16="http://schemas.microsoft.com/office/drawing/2014/main" id="{A6142DED-244E-29DC-9E40-2BC1929EF0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2414" y="5486400"/>
          <a:ext cx="20843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452300" imgH="10236200" progId="Equation.3">
                  <p:embed/>
                </p:oleObj>
              </mc:Choice>
              <mc:Fallback>
                <p:oleObj name="Equation" r:id="rId8" imgW="37452300" imgH="10236200" progId="Equation.3">
                  <p:embed/>
                  <p:pic>
                    <p:nvPicPr>
                      <p:cNvPr id="4108" name="Object 12">
                        <a:extLst>
                          <a:ext uri="{FF2B5EF4-FFF2-40B4-BE49-F238E27FC236}">
                            <a16:creationId xmlns:a16="http://schemas.microsoft.com/office/drawing/2014/main" id="{A6142DED-244E-29DC-9E40-2BC1929EF0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2414" y="5486400"/>
                        <a:ext cx="20843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4E7718-8EAD-1FF4-E4E3-288246F29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96590A9F-626F-1EB9-D5B3-B340EBDBA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2075" y="1752601"/>
          <a:ext cx="20764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203400" imgH="5270500" progId="Equation.3">
                  <p:embed/>
                </p:oleObj>
              </mc:Choice>
              <mc:Fallback>
                <p:oleObj name="Equation" r:id="rId2" imgW="27203400" imgH="5270500" progId="Equation.3">
                  <p:embed/>
                  <p:pic>
                    <p:nvPicPr>
                      <p:cNvPr id="5123" name="Object 3">
                        <a:extLst>
                          <a:ext uri="{FF2B5EF4-FFF2-40B4-BE49-F238E27FC236}">
                            <a16:creationId xmlns:a16="http://schemas.microsoft.com/office/drawing/2014/main" id="{96590A9F-626F-1EB9-D5B3-B340EBDBA8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1752601"/>
                        <a:ext cx="20764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4">
            <a:extLst>
              <a:ext uri="{FF2B5EF4-FFF2-40B4-BE49-F238E27FC236}">
                <a16:creationId xmlns:a16="http://schemas.microsoft.com/office/drawing/2014/main" id="{7777DE15-A7C0-38C1-57AE-E15663283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762000"/>
            <a:ext cx="8001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 startAt="5"/>
            </a:pPr>
            <a:r>
              <a:rPr lang="zh-CN" altLang="en-US" b="1">
                <a:ea typeface="楷体_GB2312" pitchFamily="49" charset="-122"/>
              </a:rPr>
              <a:t>抽样方法</a:t>
            </a:r>
            <a:r>
              <a:rPr lang="en-US" altLang="zh-CN" b="1">
                <a:ea typeface="楷体_GB2312" pitchFamily="49" charset="-122"/>
              </a:rPr>
              <a:t>:    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zh-CN" altLang="en-US" b="1">
                <a:ea typeface="楷体_GB2312" pitchFamily="49" charset="-122"/>
              </a:rPr>
              <a:t>随机选择子区间</a:t>
            </a:r>
            <a:r>
              <a:rPr lang="en-US" altLang="zh-CN" b="1">
                <a:ea typeface="楷体_GB2312" pitchFamily="49" charset="-122"/>
              </a:rPr>
              <a:t>:</a:t>
            </a:r>
            <a:r>
              <a:rPr lang="zh-CN" altLang="en-US" b="1">
                <a:ea typeface="楷体_GB2312" pitchFamily="49" charset="-122"/>
              </a:rPr>
              <a:t>选取</a:t>
            </a:r>
            <a:r>
              <a:rPr lang="en-US" altLang="zh-CN" b="1">
                <a:ea typeface="楷体_GB2312" pitchFamily="49" charset="-122"/>
              </a:rPr>
              <a:t>[0,1]</a:t>
            </a:r>
            <a:r>
              <a:rPr lang="zh-CN" altLang="en-US" b="1">
                <a:ea typeface="楷体_GB2312" pitchFamily="49" charset="-122"/>
              </a:rPr>
              <a:t>区间内均匀分布的随机数</a:t>
            </a:r>
            <a:r>
              <a:rPr lang="en-US" altLang="zh-CN" b="1" i="1">
                <a:ea typeface="楷体_GB2312" pitchFamily="49" charset="-122"/>
              </a:rPr>
              <a:t>r,</a:t>
            </a:r>
            <a:r>
              <a:rPr lang="zh-CN" altLang="en-US" b="1">
                <a:ea typeface="楷体_GB2312" pitchFamily="49" charset="-122"/>
              </a:rPr>
              <a:t>找出满足                              的子区间</a:t>
            </a:r>
            <a:r>
              <a:rPr lang="en-US" altLang="zh-CN" b="1">
                <a:ea typeface="楷体_GB2312" pitchFamily="49" charset="-122"/>
              </a:rPr>
              <a:t>[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i="1" baseline="-25000">
                <a:ea typeface="楷体_GB2312" pitchFamily="49" charset="-122"/>
              </a:rPr>
              <a:t>i-1</a:t>
            </a:r>
            <a:r>
              <a:rPr lang="en-US" altLang="zh-CN" b="1" i="1">
                <a:ea typeface="楷体_GB2312" pitchFamily="49" charset="-122"/>
              </a:rPr>
              <a:t>,x</a:t>
            </a:r>
            <a:r>
              <a:rPr lang="en-US" altLang="zh-CN" b="1" i="1" baseline="-25000">
                <a:ea typeface="楷体_GB2312" pitchFamily="49" charset="-122"/>
              </a:rPr>
              <a:t>i</a:t>
            </a:r>
            <a:r>
              <a:rPr lang="en-US" altLang="zh-CN" b="1">
                <a:ea typeface="楷体_GB2312" pitchFamily="49" charset="-122"/>
              </a:rPr>
              <a:t>];    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zh-CN" altLang="en-US" b="1">
                <a:ea typeface="楷体_GB2312" pitchFamily="49" charset="-122"/>
              </a:rPr>
              <a:t>根据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a</a:t>
            </a:r>
            <a:r>
              <a:rPr lang="en-US" altLang="zh-CN" b="1" i="1">
                <a:ea typeface="楷体_GB2312" pitchFamily="49" charset="-122"/>
              </a:rPr>
              <a:t>(x)</a:t>
            </a:r>
            <a:r>
              <a:rPr lang="zh-CN" altLang="en-US" b="1">
                <a:ea typeface="楷体_GB2312" pitchFamily="49" charset="-122"/>
              </a:rPr>
              <a:t>的特点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zh-CN" altLang="en-US" b="1">
                <a:ea typeface="楷体_GB2312" pitchFamily="49" charset="-122"/>
              </a:rPr>
              <a:t>确定欲抽取的随机数</a:t>
            </a:r>
            <a:r>
              <a:rPr lang="zh-CN" altLang="en-US" b="1" i="1">
                <a:ea typeface="楷体_GB2312" pitchFamily="49" charset="-122"/>
                <a:sym typeface="Symbol" pitchFamily="2" charset="2"/>
              </a:rPr>
              <a:t>；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D74859A-9143-8863-448E-118944FC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2841625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几点说明：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F299131F-76C1-4A00-0EC6-403D13AB3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4" y="3387725"/>
            <a:ext cx="2274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b="1">
                <a:ea typeface="楷体_GB2312" pitchFamily="49" charset="-122"/>
              </a:rPr>
              <a:t>分点的选取</a:t>
            </a:r>
            <a:r>
              <a:rPr lang="en-US" altLang="zh-CN" b="1">
                <a:ea typeface="楷体_GB2312" pitchFamily="49" charset="-122"/>
              </a:rPr>
              <a:t>: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620F9A63-FA42-AC08-425B-4D8F5AC6F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3840164"/>
            <a:ext cx="80311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baseline="-25000">
                <a:ea typeface="楷体_GB2312" pitchFamily="49" charset="-122"/>
              </a:rPr>
              <a:t>0</a:t>
            </a:r>
            <a:r>
              <a:rPr lang="en-US" altLang="zh-CN" b="1">
                <a:ea typeface="楷体_GB2312" pitchFamily="49" charset="-122"/>
              </a:rPr>
              <a:t>,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 </a:t>
            </a:r>
            <a:r>
              <a:rPr lang="en-US" altLang="zh-CN" b="1" i="1">
                <a:ea typeface="楷体_GB2312" pitchFamily="49" charset="-122"/>
              </a:rPr>
              <a:t>...</a:t>
            </a:r>
            <a:r>
              <a:rPr lang="en-US" altLang="zh-CN" b="1">
                <a:ea typeface="楷体_GB2312" pitchFamily="49" charset="-122"/>
              </a:rPr>
              <a:t>,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n</a:t>
            </a:r>
            <a:r>
              <a:rPr lang="zh-CN" altLang="en-US" b="1">
                <a:ea typeface="楷体_GB2312" pitchFamily="49" charset="-122"/>
              </a:rPr>
              <a:t>应能充分反映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的变化状况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zh-CN" altLang="en-US" b="1">
                <a:ea typeface="楷体_GB2312" pitchFamily="49" charset="-122"/>
              </a:rPr>
              <a:t>即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zh-CN" altLang="en-US" b="1">
                <a:ea typeface="楷体_GB2312" pitchFamily="49" charset="-122"/>
              </a:rPr>
              <a:t>在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 </a:t>
            </a:r>
            <a:r>
              <a:rPr lang="zh-CN" altLang="en-US" b="1">
                <a:ea typeface="楷体_GB2312" pitchFamily="49" charset="-122"/>
              </a:rPr>
              <a:t>变化迅速的区域分点密一点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zh-CN" altLang="en-US" b="1">
                <a:ea typeface="楷体_GB2312" pitchFamily="49" charset="-122"/>
              </a:rPr>
              <a:t>变化缓慢的区域分点稀一点</a:t>
            </a:r>
            <a:r>
              <a:rPr lang="en-US" altLang="zh-CN" b="1">
                <a:ea typeface="楷体_GB2312" pitchFamily="49" charset="-122"/>
              </a:rPr>
              <a:t>.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29B02FA7-2655-6B94-D10C-7C4BA4A3F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4606925"/>
            <a:ext cx="237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 startAt="2"/>
            </a:pP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a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的选取</a:t>
            </a:r>
            <a:r>
              <a:rPr lang="en-US" altLang="zh-CN" b="1">
                <a:ea typeface="楷体_GB2312" pitchFamily="49" charset="-122"/>
              </a:rPr>
              <a:t>: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706D05D8-319F-312E-DCBE-BCAEF6E91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257800"/>
            <a:ext cx="4572000" cy="1307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000" b="1">
                <a:ea typeface="楷体_GB2312" pitchFamily="49" charset="-122"/>
              </a:rPr>
              <a:t>阶梯近似</a:t>
            </a:r>
            <a:r>
              <a:rPr lang="en-US" altLang="zh-CN" sz="2000" b="1">
                <a:ea typeface="楷体_GB2312" pitchFamily="49" charset="-122"/>
              </a:rPr>
              <a:t>:</a:t>
            </a:r>
          </a:p>
          <a:p>
            <a:pPr>
              <a:lnSpc>
                <a:spcPct val="6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000" b="1">
                <a:ea typeface="楷体_GB2312" pitchFamily="49" charset="-122"/>
              </a:rPr>
              <a:t>线性近似</a:t>
            </a:r>
          </a:p>
          <a:p>
            <a:pPr>
              <a:lnSpc>
                <a:spcPct val="6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000" b="1">
                <a:ea typeface="楷体_GB2312" pitchFamily="49" charset="-122"/>
              </a:rPr>
              <a:t>二次曲线近似</a:t>
            </a:r>
          </a:p>
          <a:p>
            <a:pPr>
              <a:lnSpc>
                <a:spcPct val="6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000" b="1">
                <a:ea typeface="楷体_GB2312" pitchFamily="49" charset="-122"/>
              </a:rPr>
              <a:t>样条函数近似</a:t>
            </a:r>
          </a:p>
        </p:txBody>
      </p:sp>
    </p:spTree>
  </p:cSld>
  <p:clrMapOvr>
    <a:masterClrMapping/>
  </p:clrMapOvr>
  <p:transition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41A256-A944-96BC-F9FB-90A9D5E8C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graphicFrame>
        <p:nvGraphicFramePr>
          <p:cNvPr id="6147" name="Object 3">
            <a:extLst>
              <a:ext uri="{FF2B5EF4-FFF2-40B4-BE49-F238E27FC236}">
                <a16:creationId xmlns:a16="http://schemas.microsoft.com/office/drawing/2014/main" id="{206DB94E-D909-0443-AEE8-B22AA0B9E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828801"/>
          <a:ext cx="7696200" cy="312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926200" imgH="44475400" progId="Equation.3">
                  <p:embed/>
                </p:oleObj>
              </mc:Choice>
              <mc:Fallback>
                <p:oleObj name="Equation" r:id="rId2" imgW="69926200" imgH="44475400" progId="Equation.3">
                  <p:embed/>
                  <p:pic>
                    <p:nvPicPr>
                      <p:cNvPr id="6147" name="Object 3">
                        <a:extLst>
                          <a:ext uri="{FF2B5EF4-FFF2-40B4-BE49-F238E27FC236}">
                            <a16:creationId xmlns:a16="http://schemas.microsoft.com/office/drawing/2014/main" id="{206DB94E-D909-0443-AEE8-B22AA0B9E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828801"/>
                        <a:ext cx="7696200" cy="31289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8" name="Group 4">
            <a:extLst>
              <a:ext uri="{FF2B5EF4-FFF2-40B4-BE49-F238E27FC236}">
                <a16:creationId xmlns:a16="http://schemas.microsoft.com/office/drawing/2014/main" id="{3A4ABAFA-BEA1-9669-DB92-116C79067727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4876800"/>
            <a:ext cx="1828800" cy="1752600"/>
            <a:chOff x="4608" y="1584"/>
            <a:chExt cx="1152" cy="1104"/>
          </a:xfrm>
        </p:grpSpPr>
        <p:sp>
          <p:nvSpPr>
            <p:cNvPr id="6149" name="Line 5">
              <a:extLst>
                <a:ext uri="{FF2B5EF4-FFF2-40B4-BE49-F238E27FC236}">
                  <a16:creationId xmlns:a16="http://schemas.microsoft.com/office/drawing/2014/main" id="{8F1BB69C-A5E9-3D6F-483E-5B23B80B7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68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" name="Line 6">
              <a:extLst>
                <a:ext uri="{FF2B5EF4-FFF2-40B4-BE49-F238E27FC236}">
                  <a16:creationId xmlns:a16="http://schemas.microsoft.com/office/drawing/2014/main" id="{089F5842-E0F6-C929-F394-FF0EB62CA4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1584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" name="Line 7">
              <a:extLst>
                <a:ext uri="{FF2B5EF4-FFF2-40B4-BE49-F238E27FC236}">
                  <a16:creationId xmlns:a16="http://schemas.microsoft.com/office/drawing/2014/main" id="{64AD47B1-E591-26C9-8435-0032D174E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3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" name="Line 8">
              <a:extLst>
                <a:ext uri="{FF2B5EF4-FFF2-40B4-BE49-F238E27FC236}">
                  <a16:creationId xmlns:a16="http://schemas.microsoft.com/office/drawing/2014/main" id="{E8B2BB4C-588E-9355-BA38-BF5578077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35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" name="Line 9">
              <a:extLst>
                <a:ext uri="{FF2B5EF4-FFF2-40B4-BE49-F238E27FC236}">
                  <a16:creationId xmlns:a16="http://schemas.microsoft.com/office/drawing/2014/main" id="{B87BA6C6-7319-0536-8F8C-C1388FDFB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" name="Line 10">
              <a:extLst>
                <a:ext uri="{FF2B5EF4-FFF2-40B4-BE49-F238E27FC236}">
                  <a16:creationId xmlns:a16="http://schemas.microsoft.com/office/drawing/2014/main" id="{73871918-BF89-33D2-4011-82D5C6488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" name="Line 11">
              <a:extLst>
                <a:ext uri="{FF2B5EF4-FFF2-40B4-BE49-F238E27FC236}">
                  <a16:creationId xmlns:a16="http://schemas.microsoft.com/office/drawing/2014/main" id="{3D5683B6-7F4F-1BEF-F255-ED3215B5FA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18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6" name="Line 12">
              <a:extLst>
                <a:ext uri="{FF2B5EF4-FFF2-40B4-BE49-F238E27FC236}">
                  <a16:creationId xmlns:a16="http://schemas.microsoft.com/office/drawing/2014/main" id="{3BB2D836-9226-CF03-B2B5-D21E81D45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7" name="Line 13">
              <a:extLst>
                <a:ext uri="{FF2B5EF4-FFF2-40B4-BE49-F238E27FC236}">
                  <a16:creationId xmlns:a16="http://schemas.microsoft.com/office/drawing/2014/main" id="{3CAA9AA8-6A28-01A0-E700-D41B46EFC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Line 14">
              <a:extLst>
                <a:ext uri="{FF2B5EF4-FFF2-40B4-BE49-F238E27FC236}">
                  <a16:creationId xmlns:a16="http://schemas.microsoft.com/office/drawing/2014/main" id="{6CC5A319-B8E6-DB05-3CA5-2A45FE72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21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9" name="Line 15">
              <a:extLst>
                <a:ext uri="{FF2B5EF4-FFF2-40B4-BE49-F238E27FC236}">
                  <a16:creationId xmlns:a16="http://schemas.microsoft.com/office/drawing/2014/main" id="{5686C18D-AC0F-DD54-585D-CF0C87D2F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1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0" name="Line 16">
              <a:extLst>
                <a:ext uri="{FF2B5EF4-FFF2-40B4-BE49-F238E27FC236}">
                  <a16:creationId xmlns:a16="http://schemas.microsoft.com/office/drawing/2014/main" id="{F2A16978-E5B9-FC4C-863A-9409F5029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30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7">
              <a:extLst>
                <a:ext uri="{FF2B5EF4-FFF2-40B4-BE49-F238E27FC236}">
                  <a16:creationId xmlns:a16="http://schemas.microsoft.com/office/drawing/2014/main" id="{E787C603-3A8D-957D-4417-18332425D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23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Freeform 18">
              <a:extLst>
                <a:ext uri="{FF2B5EF4-FFF2-40B4-BE49-F238E27FC236}">
                  <a16:creationId xmlns:a16="http://schemas.microsoft.com/office/drawing/2014/main" id="{E98C1C6A-F8C5-A90A-4C01-C4B7EB353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864"/>
              <a:ext cx="816" cy="632"/>
            </a:xfrm>
            <a:custGeom>
              <a:avLst/>
              <a:gdLst>
                <a:gd name="T0" fmla="*/ 0 w 816"/>
                <a:gd name="T1" fmla="*/ 632 h 632"/>
                <a:gd name="T2" fmla="*/ 48 w 816"/>
                <a:gd name="T3" fmla="*/ 488 h 632"/>
                <a:gd name="T4" fmla="*/ 96 w 816"/>
                <a:gd name="T5" fmla="*/ 344 h 632"/>
                <a:gd name="T6" fmla="*/ 192 w 816"/>
                <a:gd name="T7" fmla="*/ 200 h 632"/>
                <a:gd name="T8" fmla="*/ 288 w 816"/>
                <a:gd name="T9" fmla="*/ 104 h 632"/>
                <a:gd name="T10" fmla="*/ 384 w 816"/>
                <a:gd name="T11" fmla="*/ 8 h 632"/>
                <a:gd name="T12" fmla="*/ 480 w 816"/>
                <a:gd name="T13" fmla="*/ 56 h 632"/>
                <a:gd name="T14" fmla="*/ 624 w 816"/>
                <a:gd name="T15" fmla="*/ 296 h 632"/>
                <a:gd name="T16" fmla="*/ 720 w 816"/>
                <a:gd name="T17" fmla="*/ 392 h 632"/>
                <a:gd name="T18" fmla="*/ 768 w 816"/>
                <a:gd name="T19" fmla="*/ 440 h 632"/>
                <a:gd name="T20" fmla="*/ 816 w 816"/>
                <a:gd name="T21" fmla="*/ 536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6" h="632">
                  <a:moveTo>
                    <a:pt x="0" y="632"/>
                  </a:moveTo>
                  <a:cubicBezTo>
                    <a:pt x="16" y="584"/>
                    <a:pt x="32" y="536"/>
                    <a:pt x="48" y="488"/>
                  </a:cubicBezTo>
                  <a:cubicBezTo>
                    <a:pt x="64" y="440"/>
                    <a:pt x="72" y="392"/>
                    <a:pt x="96" y="344"/>
                  </a:cubicBezTo>
                  <a:cubicBezTo>
                    <a:pt x="120" y="296"/>
                    <a:pt x="160" y="240"/>
                    <a:pt x="192" y="200"/>
                  </a:cubicBezTo>
                  <a:cubicBezTo>
                    <a:pt x="224" y="160"/>
                    <a:pt x="256" y="136"/>
                    <a:pt x="288" y="104"/>
                  </a:cubicBezTo>
                  <a:cubicBezTo>
                    <a:pt x="320" y="72"/>
                    <a:pt x="352" y="16"/>
                    <a:pt x="384" y="8"/>
                  </a:cubicBezTo>
                  <a:cubicBezTo>
                    <a:pt x="416" y="0"/>
                    <a:pt x="440" y="8"/>
                    <a:pt x="480" y="56"/>
                  </a:cubicBezTo>
                  <a:cubicBezTo>
                    <a:pt x="520" y="104"/>
                    <a:pt x="584" y="240"/>
                    <a:pt x="624" y="296"/>
                  </a:cubicBezTo>
                  <a:cubicBezTo>
                    <a:pt x="664" y="352"/>
                    <a:pt x="696" y="368"/>
                    <a:pt x="720" y="392"/>
                  </a:cubicBezTo>
                  <a:cubicBezTo>
                    <a:pt x="744" y="416"/>
                    <a:pt x="752" y="416"/>
                    <a:pt x="768" y="440"/>
                  </a:cubicBezTo>
                  <a:cubicBezTo>
                    <a:pt x="784" y="464"/>
                    <a:pt x="800" y="496"/>
                    <a:pt x="816" y="5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63" name="Rectangle 19">
            <a:extLst>
              <a:ext uri="{FF2B5EF4-FFF2-40B4-BE49-F238E27FC236}">
                <a16:creationId xmlns:a16="http://schemas.microsoft.com/office/drawing/2014/main" id="{CD0C736D-E003-1934-C802-4ED81588F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709613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阶梯近似</a:t>
            </a:r>
          </a:p>
        </p:txBody>
      </p:sp>
      <p:sp>
        <p:nvSpPr>
          <p:cNvPr id="6164" name="Rectangle 20">
            <a:extLst>
              <a:ext uri="{FF2B5EF4-FFF2-40B4-BE49-F238E27FC236}">
                <a16:creationId xmlns:a16="http://schemas.microsoft.com/office/drawing/2014/main" id="{F03A9F86-F415-4217-81A6-3B80FCA83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1" y="1295400"/>
            <a:ext cx="6186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将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f</a:t>
            </a:r>
            <a:r>
              <a:rPr lang="en-US" altLang="zh-CN" b="1" i="1" baseline="-25000">
                <a:solidFill>
                  <a:srgbClr val="030305"/>
                </a:solidFill>
                <a:ea typeface="楷体_GB2312" pitchFamily="49" charset="-122"/>
              </a:rPr>
              <a:t>a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) 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取为阶梯函数，在每一个子区间中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f</a:t>
            </a:r>
            <a:r>
              <a:rPr lang="en-US" altLang="zh-CN" b="1" i="1" baseline="-25000">
                <a:solidFill>
                  <a:srgbClr val="030305"/>
                </a:solidFill>
                <a:ea typeface="楷体_GB2312" pitchFamily="49" charset="-122"/>
              </a:rPr>
              <a:t>a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都是均匀分布</a:t>
            </a:r>
          </a:p>
        </p:txBody>
      </p:sp>
    </p:spTree>
  </p:cSld>
  <p:clrMapOvr>
    <a:masterClrMapping/>
  </p:clrMapOvr>
  <p:transition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A1EF417-A640-7F0F-FDB0-30492D9DC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A6CB31FE-E32B-360F-43DA-D961382D54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1" y="2209801"/>
          <a:ext cx="25130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76600" imgH="5562600" progId="Equation.3">
                  <p:embed/>
                </p:oleObj>
              </mc:Choice>
              <mc:Fallback>
                <p:oleObj name="Equation" r:id="rId2" imgW="28676600" imgH="5562600" progId="Equation.3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A6CB31FE-E32B-360F-43DA-D961382D54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2209801"/>
                        <a:ext cx="2513013" cy="4873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B63A7501-CCC2-3D3C-A76B-10C1B38FFC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3429001"/>
          <a:ext cx="45704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82700" imgH="10820400" progId="Equation.3">
                  <p:embed/>
                </p:oleObj>
              </mc:Choice>
              <mc:Fallback>
                <p:oleObj name="Equation" r:id="rId4" imgW="52082700" imgH="10820400" progId="Equation.3">
                  <p:embed/>
                  <p:pic>
                    <p:nvPicPr>
                      <p:cNvPr id="7172" name="Object 4">
                        <a:extLst>
                          <a:ext uri="{FF2B5EF4-FFF2-40B4-BE49-F238E27FC236}">
                            <a16:creationId xmlns:a16="http://schemas.microsoft.com/office/drawing/2014/main" id="{B63A7501-CCC2-3D3C-A76B-10C1B38FFC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3429001"/>
                        <a:ext cx="4570413" cy="9493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5">
            <a:extLst>
              <a:ext uri="{FF2B5EF4-FFF2-40B4-BE49-F238E27FC236}">
                <a16:creationId xmlns:a16="http://schemas.microsoft.com/office/drawing/2014/main" id="{03FE86DA-7FEA-C667-7D9F-B4CB5C76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1066800"/>
            <a:ext cx="809307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抽样方法：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选取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[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0</a:t>
            </a:r>
            <a:r>
              <a:rPr lang="zh-CN" altLang="en-US" b="1" i="1">
                <a:solidFill>
                  <a:srgbClr val="030305"/>
                </a:solidFill>
                <a:ea typeface="楷体_GB2312" pitchFamily="49" charset="-122"/>
              </a:rPr>
              <a:t>，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1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]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区间均匀分布的随机数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r</a:t>
            </a:r>
            <a:r>
              <a:rPr lang="en-US" altLang="zh-CN" b="1" i="1" baseline="-25000">
                <a:solidFill>
                  <a:srgbClr val="030305"/>
                </a:solidFill>
                <a:ea typeface="楷体_GB2312" pitchFamily="49" charset="-122"/>
              </a:rPr>
              <a:t>i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;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找出满足下式的分点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x</a:t>
            </a:r>
            <a:r>
              <a:rPr lang="en-US" altLang="zh-CN" b="1" baseline="-25000">
                <a:solidFill>
                  <a:srgbClr val="030305"/>
                </a:solidFill>
                <a:ea typeface="楷体_GB2312" pitchFamily="49" charset="-122"/>
              </a:rPr>
              <a:t>j-1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和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x</a:t>
            </a:r>
            <a:r>
              <a:rPr lang="en-US" altLang="zh-CN" b="1" baseline="-25000">
                <a:solidFill>
                  <a:srgbClr val="030305"/>
                </a:solidFill>
                <a:ea typeface="楷体_GB2312" pitchFamily="49" charset="-122"/>
              </a:rPr>
              <a:t>j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: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欲抽取的随机数为：</a:t>
            </a:r>
          </a:p>
        </p:txBody>
      </p:sp>
    </p:spTree>
  </p:cSld>
  <p:clrMapOvr>
    <a:masterClrMapping/>
  </p:clrMapOvr>
  <p:transition>
    <p:rand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A6D57DC-6D35-6B1B-1E45-01F547649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83294E83-4B85-AC01-8754-2C23F9AE1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133601"/>
          <a:ext cx="73914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287600" imgH="11112500" progId="Equation.3">
                  <p:embed/>
                </p:oleObj>
              </mc:Choice>
              <mc:Fallback>
                <p:oleObj name="Equation" r:id="rId2" imgW="91287600" imgH="11112500" progId="Equation.3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83294E83-4B85-AC01-8754-2C23F9AE19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133601"/>
                        <a:ext cx="7391400" cy="9001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96B09819-E83A-65E3-7411-2A88BD98A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191000"/>
          <a:ext cx="59436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508900" imgH="8191500" progId="Equation.3">
                  <p:embed/>
                </p:oleObj>
              </mc:Choice>
              <mc:Fallback>
                <p:oleObj name="Equation" r:id="rId4" imgW="58508900" imgH="819150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96B09819-E83A-65E3-7411-2A88BD98A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91000"/>
                        <a:ext cx="5943600" cy="8334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rgbClr val="FFFFFF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5">
            <a:extLst>
              <a:ext uri="{FF2B5EF4-FFF2-40B4-BE49-F238E27FC236}">
                <a16:creationId xmlns:a16="http://schemas.microsoft.com/office/drawing/2014/main" id="{1F4C7377-F313-531C-5B80-BD215445E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914400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线性近似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B8499879-61E6-13F0-01D4-F5E19DC70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524000"/>
            <a:ext cx="7696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利用一系列的折线来近似原分布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f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)</a:t>
            </a:r>
            <a:r>
              <a:rPr lang="zh-CN" altLang="en-US" b="1" i="1">
                <a:solidFill>
                  <a:srgbClr val="030305"/>
                </a:solidFill>
                <a:ea typeface="楷体_GB2312" pitchFamily="49" charset="-122"/>
              </a:rPr>
              <a:t>，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即将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f</a:t>
            </a:r>
            <a:r>
              <a:rPr lang="en-US" altLang="zh-CN" b="1" i="1" baseline="-25000">
                <a:solidFill>
                  <a:srgbClr val="030305"/>
                </a:solidFill>
                <a:ea typeface="楷体_GB2312" pitchFamily="49" charset="-122"/>
              </a:rPr>
              <a:t>a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030305"/>
                </a:solidFill>
                <a:ea typeface="楷体_GB2312" pitchFamily="49" charset="-122"/>
              </a:rPr>
              <a:t>x</a:t>
            </a:r>
            <a:r>
              <a:rPr lang="en-US" altLang="zh-CN" b="1">
                <a:solidFill>
                  <a:srgbClr val="030305"/>
                </a:solidFill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取为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D6F20421-2537-A42C-07E5-6038FED0C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181350"/>
            <a:ext cx="891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ea typeface="楷体_GB2312" pitchFamily="49" charset="-122"/>
              </a:rPr>
              <a:t>其中</a:t>
            </a:r>
            <a:r>
              <a:rPr lang="en-US" altLang="zh-CN" b="1">
                <a:ea typeface="楷体_GB2312" pitchFamily="49" charset="-122"/>
              </a:rPr>
              <a:t>C</a:t>
            </a:r>
            <a:r>
              <a:rPr lang="zh-CN" altLang="en-US" b="1">
                <a:ea typeface="楷体_GB2312" pitchFamily="49" charset="-122"/>
              </a:rPr>
              <a:t>为归一化因子，使得每一子区间内原分布和近似分布的积分概率相等</a:t>
            </a:r>
          </a:p>
        </p:txBody>
      </p:sp>
    </p:spTree>
  </p:cSld>
  <p:clrMapOvr>
    <a:masterClrMapping/>
  </p:clrMapOvr>
  <p:transition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92FF90-C746-69DA-1B1A-39D34EE09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</p:spPr>
        <p:txBody>
          <a:bodyPr/>
          <a:lstStyle/>
          <a:p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3.8 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近似抽样法（列表法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</p:txBody>
      </p:sp>
      <p:grpSp>
        <p:nvGrpSpPr>
          <p:cNvPr id="9219" name="Group 3">
            <a:extLst>
              <a:ext uri="{FF2B5EF4-FFF2-40B4-BE49-F238E27FC236}">
                <a16:creationId xmlns:a16="http://schemas.microsoft.com/office/drawing/2014/main" id="{1218CF5C-8567-CB4D-C868-54FC1BBB188D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752600"/>
            <a:ext cx="5791200" cy="3581400"/>
            <a:chOff x="816" y="2208"/>
            <a:chExt cx="3312" cy="2016"/>
          </a:xfrm>
        </p:grpSpPr>
        <p:sp>
          <p:nvSpPr>
            <p:cNvPr id="9220" name="Rectangle 4">
              <a:extLst>
                <a:ext uri="{FF2B5EF4-FFF2-40B4-BE49-F238E27FC236}">
                  <a16:creationId xmlns:a16="http://schemas.microsoft.com/office/drawing/2014/main" id="{4A6ED6D3-C10F-D50E-518D-542EEAE57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208"/>
              <a:ext cx="1056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solidFill>
                    <a:srgbClr val="030305"/>
                  </a:solidFill>
                  <a:ea typeface="楷体_GB2312" pitchFamily="49" charset="-122"/>
                </a:rPr>
                <a:t>抽取</a:t>
              </a:r>
              <a:r>
                <a:rPr lang="en-US" altLang="zh-CN" b="1" i="1">
                  <a:solidFill>
                    <a:srgbClr val="030305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rgbClr val="030305"/>
                  </a:solidFill>
                  <a:ea typeface="楷体_GB2312" pitchFamily="49" charset="-122"/>
                </a:rPr>
                <a:t>1</a:t>
              </a:r>
              <a:r>
                <a:rPr lang="en-US" altLang="zh-CN" b="1">
                  <a:solidFill>
                    <a:srgbClr val="030305"/>
                  </a:solidFill>
                  <a:ea typeface="楷体_GB2312" pitchFamily="49" charset="-122"/>
                </a:rPr>
                <a:t>,</a:t>
              </a:r>
              <a:r>
                <a:rPr lang="en-US" altLang="zh-CN" b="1" i="1">
                  <a:solidFill>
                    <a:srgbClr val="030305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rgbClr val="030305"/>
                  </a:solidFill>
                  <a:ea typeface="楷体_GB2312" pitchFamily="49" charset="-122"/>
                </a:rPr>
                <a:t>2</a:t>
              </a:r>
            </a:p>
          </p:txBody>
        </p:sp>
        <p:sp>
          <p:nvSpPr>
            <p:cNvPr id="9221" name="Rectangle 5">
              <a:extLst>
                <a:ext uri="{FF2B5EF4-FFF2-40B4-BE49-F238E27FC236}">
                  <a16:creationId xmlns:a16="http://schemas.microsoft.com/office/drawing/2014/main" id="{6154A59E-E1CE-399A-7B6D-3094B9B98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688"/>
              <a:ext cx="1968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solidFill>
                    <a:srgbClr val="030305"/>
                  </a:solidFill>
                  <a:ea typeface="楷体_GB2312" pitchFamily="49" charset="-122"/>
                </a:rPr>
                <a:t>找出满足下式要求的</a:t>
              </a:r>
              <a:r>
                <a:rPr lang="en-US" altLang="zh-CN" b="1" i="1">
                  <a:solidFill>
                    <a:srgbClr val="030305"/>
                  </a:solidFill>
                  <a:ea typeface="楷体_GB2312" pitchFamily="49" charset="-122"/>
                </a:rPr>
                <a:t>x</a:t>
              </a:r>
              <a:r>
                <a:rPr lang="en-US" altLang="zh-CN" b="1" baseline="-25000">
                  <a:solidFill>
                    <a:srgbClr val="030305"/>
                  </a:solidFill>
                  <a:ea typeface="楷体_GB2312" pitchFamily="49" charset="-122"/>
                </a:rPr>
                <a:t>j-1</a:t>
              </a:r>
              <a:r>
                <a:rPr lang="en-US" altLang="zh-CN" b="1">
                  <a:solidFill>
                    <a:srgbClr val="030305"/>
                  </a:solidFill>
                  <a:ea typeface="楷体_GB2312" pitchFamily="49" charset="-122"/>
                </a:rPr>
                <a:t>,</a:t>
              </a:r>
              <a:r>
                <a:rPr lang="en-US" altLang="zh-CN" b="1" i="1">
                  <a:solidFill>
                    <a:srgbClr val="030305"/>
                  </a:solidFill>
                  <a:ea typeface="楷体_GB2312" pitchFamily="49" charset="-122"/>
                </a:rPr>
                <a:t>x</a:t>
              </a:r>
              <a:r>
                <a:rPr lang="en-US" altLang="zh-CN" b="1" baseline="-25000">
                  <a:solidFill>
                    <a:srgbClr val="030305"/>
                  </a:solidFill>
                  <a:ea typeface="楷体_GB2312" pitchFamily="49" charset="-122"/>
                </a:rPr>
                <a:t>j</a:t>
              </a:r>
            </a:p>
            <a:p>
              <a:pPr algn="ctr"/>
              <a:endParaRPr lang="en-US" altLang="zh-CN" b="1" baseline="-25000">
                <a:solidFill>
                  <a:srgbClr val="030305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9222" name="Object 6">
              <a:extLst>
                <a:ext uri="{FF2B5EF4-FFF2-40B4-BE49-F238E27FC236}">
                  <a16:creationId xmlns:a16="http://schemas.microsoft.com/office/drawing/2014/main" id="{3F878E8D-5978-D178-B6C0-DB5DC90E41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2880"/>
            <a:ext cx="10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0429200" imgH="5562600" progId="Equation.3">
                    <p:embed/>
                  </p:oleObj>
                </mc:Choice>
                <mc:Fallback>
                  <p:oleObj name="Equation" r:id="rId2" imgW="30429200" imgH="5562600" progId="Equation.3">
                    <p:embed/>
                    <p:pic>
                      <p:nvPicPr>
                        <p:cNvPr id="9222" name="Object 6">
                          <a:extLst>
                            <a:ext uri="{FF2B5EF4-FFF2-40B4-BE49-F238E27FC236}">
                              <a16:creationId xmlns:a16="http://schemas.microsoft.com/office/drawing/2014/main" id="{3F878E8D-5978-D178-B6C0-DB5DC90E41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 bright="6000" contrast="18000"/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880"/>
                          <a:ext cx="100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AutoShape 7">
              <a:extLst>
                <a:ext uri="{FF2B5EF4-FFF2-40B4-BE49-F238E27FC236}">
                  <a16:creationId xmlns:a16="http://schemas.microsoft.com/office/drawing/2014/main" id="{3370048A-7056-D0BD-855C-D4B842A2D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16"/>
              <a:ext cx="2160" cy="38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4" name="Object 8">
              <a:extLst>
                <a:ext uri="{FF2B5EF4-FFF2-40B4-BE49-F238E27FC236}">
                  <a16:creationId xmlns:a16="http://schemas.microsoft.com/office/drawing/2014/main" id="{C15F4E3E-C307-77CF-5BD6-03658E363C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264"/>
            <a:ext cx="206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274200" imgH="9652000" progId="Equation.3">
                    <p:embed/>
                  </p:oleObj>
                </mc:Choice>
                <mc:Fallback>
                  <p:oleObj name="Equation" r:id="rId4" imgW="60274200" imgH="9652000" progId="Equation.3">
                    <p:embed/>
                    <p:pic>
                      <p:nvPicPr>
                        <p:cNvPr id="9224" name="Object 8">
                          <a:extLst>
                            <a:ext uri="{FF2B5EF4-FFF2-40B4-BE49-F238E27FC236}">
                              <a16:creationId xmlns:a16="http://schemas.microsoft.com/office/drawing/2014/main" id="{C15F4E3E-C307-77CF-5BD6-03658E363C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264"/>
                          <a:ext cx="2064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5" name="Rectangle 9">
              <a:extLst>
                <a:ext uri="{FF2B5EF4-FFF2-40B4-BE49-F238E27FC236}">
                  <a16:creationId xmlns:a16="http://schemas.microsoft.com/office/drawing/2014/main" id="{81FEC0D5-2F47-FB15-18D7-8275FE6FF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88"/>
              <a:ext cx="1152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6" name="Rectangle 10">
              <a:extLst>
                <a:ext uri="{FF2B5EF4-FFF2-40B4-BE49-F238E27FC236}">
                  <a16:creationId xmlns:a16="http://schemas.microsoft.com/office/drawing/2014/main" id="{D2E270F2-D079-C987-56CF-246EA954B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888"/>
              <a:ext cx="1296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7" name="Object 11">
              <a:extLst>
                <a:ext uri="{FF2B5EF4-FFF2-40B4-BE49-F238E27FC236}">
                  <a16:creationId xmlns:a16="http://schemas.microsoft.com/office/drawing/2014/main" id="{8B8B0B0E-FB77-BFE4-01E0-90800CA7F1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936"/>
            <a:ext cx="105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9845000" imgH="5562600" progId="Equation.3">
                    <p:embed/>
                  </p:oleObj>
                </mc:Choice>
                <mc:Fallback>
                  <p:oleObj name="Equation" r:id="rId6" imgW="29845000" imgH="5562600" progId="Equation.3">
                    <p:embed/>
                    <p:pic>
                      <p:nvPicPr>
                        <p:cNvPr id="9227" name="Object 11">
                          <a:extLst>
                            <a:ext uri="{FF2B5EF4-FFF2-40B4-BE49-F238E27FC236}">
                              <a16:creationId xmlns:a16="http://schemas.microsoft.com/office/drawing/2014/main" id="{8B8B0B0E-FB77-BFE4-01E0-90800CA7F1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936"/>
                          <a:ext cx="1056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12">
              <a:extLst>
                <a:ext uri="{FF2B5EF4-FFF2-40B4-BE49-F238E27FC236}">
                  <a16:creationId xmlns:a16="http://schemas.microsoft.com/office/drawing/2014/main" id="{182E48EA-0C2D-D774-C00B-3793A26E4C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3984"/>
            <a:ext cx="1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620700" imgH="5562600" progId="Equation.3">
                    <p:embed/>
                  </p:oleObj>
                </mc:Choice>
                <mc:Fallback>
                  <p:oleObj name="Equation" r:id="rId8" imgW="38620700" imgH="5562600" progId="Equation.3">
                    <p:embed/>
                    <p:pic>
                      <p:nvPicPr>
                        <p:cNvPr id="9228" name="Object 12">
                          <a:extLst>
                            <a:ext uri="{FF2B5EF4-FFF2-40B4-BE49-F238E27FC236}">
                              <a16:creationId xmlns:a16="http://schemas.microsoft.com/office/drawing/2014/main" id="{182E48EA-0C2D-D774-C00B-3793A26E4C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984"/>
                          <a:ext cx="1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9" name="Line 13">
              <a:extLst>
                <a:ext uri="{FF2B5EF4-FFF2-40B4-BE49-F238E27FC236}">
                  <a16:creationId xmlns:a16="http://schemas.microsoft.com/office/drawing/2014/main" id="{CAEDEE76-1FAE-6CDA-15ED-6379C287B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" name="Line 14">
              <a:extLst>
                <a:ext uri="{FF2B5EF4-FFF2-40B4-BE49-F238E27FC236}">
                  <a16:creationId xmlns:a16="http://schemas.microsoft.com/office/drawing/2014/main" id="{CD7B760A-8F50-D8BD-55FC-B98EB91A5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Line 15">
              <a:extLst>
                <a:ext uri="{FF2B5EF4-FFF2-40B4-BE49-F238E27FC236}">
                  <a16:creationId xmlns:a16="http://schemas.microsoft.com/office/drawing/2014/main" id="{F867F537-F6B7-6283-3F85-22509E312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6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2" name="Line 16">
              <a:extLst>
                <a:ext uri="{FF2B5EF4-FFF2-40B4-BE49-F238E27FC236}">
                  <a16:creationId xmlns:a16="http://schemas.microsoft.com/office/drawing/2014/main" id="{9A0779A8-6BAD-A919-244E-3FC5314C0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6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3" name="Object 17">
              <a:extLst>
                <a:ext uri="{FF2B5EF4-FFF2-40B4-BE49-F238E27FC236}">
                  <a16:creationId xmlns:a16="http://schemas.microsoft.com/office/drawing/2014/main" id="{15A22A0B-419D-DD69-75DF-44CABBC1C1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3696"/>
            <a:ext cx="12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21000" imgH="3505200" progId="Equation.3">
                    <p:embed/>
                  </p:oleObj>
                </mc:Choice>
                <mc:Fallback>
                  <p:oleObj name="Equation" r:id="rId10" imgW="2921000" imgH="3505200" progId="Equation.3">
                    <p:embed/>
                    <p:pic>
                      <p:nvPicPr>
                        <p:cNvPr id="9233" name="Object 17">
                          <a:extLst>
                            <a:ext uri="{FF2B5EF4-FFF2-40B4-BE49-F238E27FC236}">
                              <a16:creationId xmlns:a16="http://schemas.microsoft.com/office/drawing/2014/main" id="{15A22A0B-419D-DD69-75DF-44CABBC1C1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696"/>
                          <a:ext cx="120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4" name="Text Box 18">
              <a:extLst>
                <a:ext uri="{FF2B5EF4-FFF2-40B4-BE49-F238E27FC236}">
                  <a16:creationId xmlns:a16="http://schemas.microsoft.com/office/drawing/2014/main" id="{C9FDC345-0271-E2F3-231C-45A061FA9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24"/>
              <a:ext cx="194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solidFill>
                    <a:srgbClr val="030305"/>
                  </a:solidFill>
                  <a:ea typeface="楷体_GB2312" pitchFamily="49" charset="-122"/>
                </a:rPr>
                <a:t>&gt;</a:t>
              </a:r>
            </a:p>
          </p:txBody>
        </p:sp>
      </p:grpSp>
      <p:sp>
        <p:nvSpPr>
          <p:cNvPr id="9235" name="Text Box 19">
            <a:extLst>
              <a:ext uri="{FF2B5EF4-FFF2-40B4-BE49-F238E27FC236}">
                <a16:creationId xmlns:a16="http://schemas.microsoft.com/office/drawing/2014/main" id="{6A19BA8D-7A4C-0BB8-3E87-563DDC3C1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1011238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30305"/>
                </a:solidFill>
                <a:ea typeface="楷体_GB2312" pitchFamily="49" charset="-122"/>
              </a:rPr>
              <a:t>抽样方法：</a:t>
            </a:r>
          </a:p>
        </p:txBody>
      </p:sp>
    </p:spTree>
  </p:cSld>
  <p:clrMapOvr>
    <a:masterClrMapping/>
  </p:clrMapOvr>
  <p:transition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CFECDF6-9292-4A8B-6F82-3ED0BF9959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FD4B545-A8C0-DD33-3E07-3D9990F095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13716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zh-CN" altLang="en-US" b="1">
                <a:solidFill>
                  <a:srgbClr val="050507"/>
                </a:solidFill>
                <a:ea typeface="楷体_GB2312" pitchFamily="49" charset="-122"/>
              </a:rPr>
              <a:t>第三章</a:t>
            </a:r>
            <a:r>
              <a:rPr lang="en-US" altLang="zh-CN" b="1">
                <a:solidFill>
                  <a:srgbClr val="050507"/>
                </a:solidFill>
                <a:ea typeface="楷体_GB2312" pitchFamily="49" charset="-122"/>
              </a:rPr>
              <a:t> </a:t>
            </a:r>
            <a:br>
              <a:rPr lang="en-US" altLang="zh-CN" b="1">
                <a:solidFill>
                  <a:srgbClr val="050507"/>
                </a:solidFill>
                <a:ea typeface="楷体_GB2312" pitchFamily="49" charset="-122"/>
              </a:rPr>
            </a:br>
            <a:r>
              <a:rPr lang="zh-CN" altLang="en-US" b="1">
                <a:solidFill>
                  <a:srgbClr val="050507"/>
                </a:solidFill>
                <a:ea typeface="楷体_GB2312" pitchFamily="49" charset="-122"/>
              </a:rPr>
              <a:t>从概率分布函数的抽样</a:t>
            </a:r>
            <a:br>
              <a:rPr lang="en-US" altLang="zh-CN" b="1">
                <a:solidFill>
                  <a:srgbClr val="050507"/>
                </a:solidFill>
                <a:ea typeface="楷体_GB2312" pitchFamily="49" charset="-122"/>
              </a:rPr>
            </a:br>
            <a:r>
              <a:rPr lang="en-US" altLang="zh-CN" sz="2000" b="1">
                <a:solidFill>
                  <a:srgbClr val="050507"/>
                </a:solidFill>
                <a:ea typeface="楷体_GB2312" pitchFamily="49" charset="-122"/>
              </a:rPr>
              <a:t>(Sampling from Probability Distribution Functions)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083A95B-8000-879C-739F-317BCE300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4114800"/>
            <a:ext cx="36496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b="1" dirty="0">
                <a:latin typeface="Times New Roman" charset="0"/>
                <a:ea typeface="楷体_GB2312" charset="0"/>
                <a:cs typeface="楷体_GB2312" charset="0"/>
              </a:rPr>
              <a:t>3.9 </a:t>
            </a:r>
            <a:r>
              <a:rPr lang="zh-CN" altLang="en-US" sz="3200" b="1" dirty="0">
                <a:latin typeface="Times New Roman" charset="0"/>
                <a:ea typeface="楷体_GB2312" charset="0"/>
                <a:cs typeface="楷体_GB2312" charset="0"/>
              </a:rPr>
              <a:t>多维分布的抽样</a:t>
            </a:r>
          </a:p>
        </p:txBody>
      </p:sp>
    </p:spTree>
  </p:cSld>
  <p:clrMapOvr>
    <a:masterClrMapping/>
  </p:clrMapOvr>
  <p:transition>
    <p:rand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D0F1245-8130-0BA6-B3C4-04A552178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3.9 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多维分布的抽样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E02BC14-7909-3305-15D4-1FEFA8A43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838200"/>
            <a:ext cx="822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buFontTx/>
              <a:buChar char="•"/>
              <a:defRPr/>
            </a:pP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将一维分布的抽样方法推广到多维分布</a:t>
            </a:r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05E7BBF0-A791-2E74-6682-F66FB50F7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828800"/>
            <a:ext cx="7010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设</a:t>
            </a:r>
            <a:r>
              <a:rPr lang="en-US" altLang="zh-CN" b="1" i="1"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维概率密度为</a:t>
            </a:r>
            <a:r>
              <a:rPr lang="en-US" altLang="zh-CN" b="1">
                <a:latin typeface="楷体_GB2312" charset="0"/>
                <a:ea typeface="楷体_GB2312" charset="0"/>
                <a:cs typeface="楷体_GB2312" charset="0"/>
              </a:rPr>
              <a:t>   </a:t>
            </a: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，</a:t>
            </a:r>
            <a:r>
              <a:rPr lang="en-US" altLang="zh-CN" b="1">
                <a:latin typeface="楷体_GB2312" charset="0"/>
                <a:ea typeface="楷体_GB2312" charset="0"/>
                <a:cs typeface="楷体_GB2312" charset="0"/>
              </a:rPr>
              <a:t> </a:t>
            </a: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的取值域为</a:t>
            </a:r>
            <a:r>
              <a:rPr lang="en-US" altLang="zh-CN" b="1" i="1"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维长方体</a:t>
            </a:r>
            <a:r>
              <a:rPr lang="en-US" altLang="zh-CN" b="1">
                <a:latin typeface="楷体_GB2312" charset="0"/>
                <a:ea typeface="楷体_GB2312" charset="0"/>
                <a:cs typeface="楷体_GB2312" charset="0"/>
              </a:rPr>
              <a:t>    ,</a:t>
            </a:r>
          </a:p>
        </p:txBody>
      </p:sp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C96ABA1C-9E2C-9E2A-ACEF-19AA6042BD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905000"/>
          <a:ext cx="53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23100" imgH="4686300" progId="Equation.3">
                  <p:embed/>
                </p:oleObj>
              </mc:Choice>
              <mc:Fallback>
                <p:oleObj name="Equation" r:id="rId2" imgW="7023100" imgH="4686300" progId="Equation.3">
                  <p:embed/>
                  <p:pic>
                    <p:nvPicPr>
                      <p:cNvPr id="4100" name="Object 5">
                        <a:extLst>
                          <a:ext uri="{FF2B5EF4-FFF2-40B4-BE49-F238E27FC236}">
                            <a16:creationId xmlns:a16="http://schemas.microsoft.com/office/drawing/2014/main" id="{C96ABA1C-9E2C-9E2A-ACEF-19AA6042B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905000"/>
                        <a:ext cx="533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>
            <a:extLst>
              <a:ext uri="{FF2B5EF4-FFF2-40B4-BE49-F238E27FC236}">
                <a16:creationId xmlns:a16="http://schemas.microsoft.com/office/drawing/2014/main" id="{14695B9B-FD10-698F-6FD4-A3758D9180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1828801"/>
          <a:ext cx="5588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91500" imgH="5270500" progId="Equation.3">
                  <p:embed/>
                </p:oleObj>
              </mc:Choice>
              <mc:Fallback>
                <p:oleObj name="Equation" r:id="rId4" imgW="8191500" imgH="5270500" progId="Equation.3">
                  <p:embed/>
                  <p:pic>
                    <p:nvPicPr>
                      <p:cNvPr id="4101" name="Object 6">
                        <a:extLst>
                          <a:ext uri="{FF2B5EF4-FFF2-40B4-BE49-F238E27FC236}">
                            <a16:creationId xmlns:a16="http://schemas.microsoft.com/office/drawing/2014/main" id="{14695B9B-FD10-698F-6FD4-A3758D918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1828801"/>
                        <a:ext cx="5588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7">
            <a:extLst>
              <a:ext uri="{FF2B5EF4-FFF2-40B4-BE49-F238E27FC236}">
                <a16:creationId xmlns:a16="http://schemas.microsoft.com/office/drawing/2014/main" id="{08B0ED17-2C39-C155-E013-CB927B823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905000"/>
          <a:ext cx="2984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21000" imgH="3797300" progId="Equation.3">
                  <p:embed/>
                </p:oleObj>
              </mc:Choice>
              <mc:Fallback>
                <p:oleObj name="Equation" r:id="rId6" imgW="2921000" imgH="3797300" progId="Equation.3">
                  <p:embed/>
                  <p:pic>
                    <p:nvPicPr>
                      <p:cNvPr id="4102" name="Object 7">
                        <a:extLst>
                          <a:ext uri="{FF2B5EF4-FFF2-40B4-BE49-F238E27FC236}">
                            <a16:creationId xmlns:a16="http://schemas.microsoft.com/office/drawing/2014/main" id="{08B0ED17-2C39-C155-E013-CB927B823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05000"/>
                        <a:ext cx="2984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8">
            <a:extLst>
              <a:ext uri="{FF2B5EF4-FFF2-40B4-BE49-F238E27FC236}">
                <a16:creationId xmlns:a16="http://schemas.microsoft.com/office/drawing/2014/main" id="{3123A6B1-B367-87FE-89D8-E60DAB916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362201"/>
          <a:ext cx="42100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543200" imgH="5562600" progId="Equation.3">
                  <p:embed/>
                </p:oleObj>
              </mc:Choice>
              <mc:Fallback>
                <p:oleObj name="Equation" r:id="rId8" imgW="53543200" imgH="5562600" progId="Equation.3">
                  <p:embed/>
                  <p:pic>
                    <p:nvPicPr>
                      <p:cNvPr id="4103" name="Object 8">
                        <a:extLst>
                          <a:ext uri="{FF2B5EF4-FFF2-40B4-BE49-F238E27FC236}">
                            <a16:creationId xmlns:a16="http://schemas.microsoft.com/office/drawing/2014/main" id="{3123A6B1-B367-87FE-89D8-E60DAB916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362201"/>
                        <a:ext cx="42100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9">
            <a:extLst>
              <a:ext uri="{FF2B5EF4-FFF2-40B4-BE49-F238E27FC236}">
                <a16:creationId xmlns:a16="http://schemas.microsoft.com/office/drawing/2014/main" id="{C9CE0A57-DEA7-6AC9-6420-941ACCF3AD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9088" y="2971800"/>
          <a:ext cx="53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023100" imgH="4686300" progId="Equation.3">
                  <p:embed/>
                </p:oleObj>
              </mc:Choice>
              <mc:Fallback>
                <p:oleObj name="Equation" r:id="rId10" imgW="7023100" imgH="4686300" progId="Equation.3">
                  <p:embed/>
                  <p:pic>
                    <p:nvPicPr>
                      <p:cNvPr id="4104" name="Object 9">
                        <a:extLst>
                          <a:ext uri="{FF2B5EF4-FFF2-40B4-BE49-F238E27FC236}">
                            <a16:creationId xmlns:a16="http://schemas.microsoft.com/office/drawing/2014/main" id="{C9CE0A57-DEA7-6AC9-6420-941ACCF3AD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2971800"/>
                        <a:ext cx="533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 Box 10">
            <a:extLst>
              <a:ext uri="{FF2B5EF4-FFF2-40B4-BE49-F238E27FC236}">
                <a16:creationId xmlns:a16="http://schemas.microsoft.com/office/drawing/2014/main" id="{E2C36B21-7323-C021-9E24-4BC5881C4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9" y="28956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3C4F125F-7EE1-1537-123B-1FAC1814E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088" y="2895600"/>
            <a:ext cx="5641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的极大值为</a:t>
            </a:r>
            <a:r>
              <a:rPr lang="en-US" altLang="zh-CN" b="1" i="1">
                <a:latin typeface="Times New Roman" charset="0"/>
                <a:ea typeface="楷体_GB2312" charset="0"/>
                <a:cs typeface="楷体_GB2312" charset="0"/>
              </a:rPr>
              <a:t>M</a:t>
            </a:r>
            <a:r>
              <a:rPr lang="en-US" altLang="zh-CN" b="1">
                <a:latin typeface="Times New Roman" charset="0"/>
                <a:ea typeface="楷体_GB2312" charset="0"/>
                <a:cs typeface="楷体_GB2312" charset="0"/>
              </a:rPr>
              <a:t>, </a:t>
            </a: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则</a:t>
            </a:r>
            <a:r>
              <a:rPr lang="en-US" altLang="zh-CN" b="1">
                <a:latin typeface="Times New Roman" charset="0"/>
                <a:ea typeface="楷体_GB2312" charset="0"/>
                <a:cs typeface="楷体_GB2312" charset="0"/>
              </a:rPr>
              <a:t>     </a:t>
            </a: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的随机数</a:t>
            </a:r>
            <a:r>
              <a:rPr lang="en-US" altLang="zh-CN" b="1">
                <a:latin typeface="Times New Roman" charset="0"/>
                <a:ea typeface="楷体_GB2312" charset="0"/>
                <a:cs typeface="楷体_GB2312" charset="0"/>
              </a:rPr>
              <a:t>                            </a:t>
            </a: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的舍选法</a:t>
            </a:r>
          </a:p>
        </p:txBody>
      </p:sp>
      <p:graphicFrame>
        <p:nvGraphicFramePr>
          <p:cNvPr id="4107" name="Object 12">
            <a:extLst>
              <a:ext uri="{FF2B5EF4-FFF2-40B4-BE49-F238E27FC236}">
                <a16:creationId xmlns:a16="http://schemas.microsoft.com/office/drawing/2014/main" id="{AD041575-9B2C-1A1C-CFF2-1E5483052C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6088" y="2971800"/>
          <a:ext cx="53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023100" imgH="4686300" progId="Equation.3">
                  <p:embed/>
                </p:oleObj>
              </mc:Choice>
              <mc:Fallback>
                <p:oleObj name="Equation" r:id="rId12" imgW="7023100" imgH="4686300" progId="Equation.3">
                  <p:embed/>
                  <p:pic>
                    <p:nvPicPr>
                      <p:cNvPr id="4107" name="Object 12">
                        <a:extLst>
                          <a:ext uri="{FF2B5EF4-FFF2-40B4-BE49-F238E27FC236}">
                            <a16:creationId xmlns:a16="http://schemas.microsoft.com/office/drawing/2014/main" id="{AD041575-9B2C-1A1C-CFF2-1E5483052C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088" y="2971800"/>
                        <a:ext cx="533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3">
            <a:extLst>
              <a:ext uri="{FF2B5EF4-FFF2-40B4-BE49-F238E27FC236}">
                <a16:creationId xmlns:a16="http://schemas.microsoft.com/office/drawing/2014/main" id="{1E0FB2AF-40F8-2C47-1DE9-42F5184BAC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2488" y="2895600"/>
          <a:ext cx="21526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450800" imgH="5562600" progId="Equation.3">
                  <p:embed/>
                </p:oleObj>
              </mc:Choice>
              <mc:Fallback>
                <p:oleObj name="Equation" r:id="rId13" imgW="25450800" imgH="5562600" progId="Equation.3">
                  <p:embed/>
                  <p:pic>
                    <p:nvPicPr>
                      <p:cNvPr id="4108" name="Object 13">
                        <a:extLst>
                          <a:ext uri="{FF2B5EF4-FFF2-40B4-BE49-F238E27FC236}">
                            <a16:creationId xmlns:a16="http://schemas.microsoft.com/office/drawing/2014/main" id="{1E0FB2AF-40F8-2C47-1DE9-42F5184BAC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488" y="2895600"/>
                        <a:ext cx="21526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9" name="Group 14">
            <a:extLst>
              <a:ext uri="{FF2B5EF4-FFF2-40B4-BE49-F238E27FC236}">
                <a16:creationId xmlns:a16="http://schemas.microsoft.com/office/drawing/2014/main" id="{9F6EA7A8-47C7-F909-C4B9-0B2349B9813B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581401"/>
            <a:ext cx="3810000" cy="2994025"/>
            <a:chOff x="1632" y="2016"/>
            <a:chExt cx="2400" cy="1886"/>
          </a:xfrm>
        </p:grpSpPr>
        <p:sp>
          <p:nvSpPr>
            <p:cNvPr id="3087" name="Text Box 15">
              <a:extLst>
                <a:ext uri="{FF2B5EF4-FFF2-40B4-BE49-F238E27FC236}">
                  <a16:creationId xmlns:a16="http://schemas.microsoft.com/office/drawing/2014/main" id="{37EC4AF8-C3DA-4EE6-7FC9-1B72FC7D4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016"/>
              <a:ext cx="2095" cy="252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b="1">
                  <a:ea typeface="楷体_GB2312" pitchFamily="49" charset="-122"/>
                </a:rPr>
                <a:t>抽取</a:t>
              </a:r>
              <a:r>
                <a:rPr lang="en-US" altLang="zh-CN" sz="2000" b="1" i="1">
                  <a:ea typeface="楷体_GB2312" pitchFamily="49" charset="-122"/>
                </a:rPr>
                <a:t>r</a:t>
              </a:r>
              <a:r>
                <a:rPr lang="en-US" altLang="zh-CN" sz="2000" b="1" i="1">
                  <a:cs typeface="Times New Roman" panose="02020603050405020304" pitchFamily="18" charset="0"/>
                </a:rPr>
                <a:t>´, </a:t>
              </a:r>
              <a:r>
                <a:rPr lang="en-US" altLang="zh-CN" sz="2000" b="1" i="1"/>
                <a:t>r</a:t>
              </a:r>
              <a:r>
                <a:rPr lang="en-US" altLang="zh-CN" sz="2000" baseline="-25000"/>
                <a:t>i</a:t>
              </a:r>
              <a:r>
                <a:rPr lang="en-US" altLang="zh-CN" sz="2000"/>
                <a:t> 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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U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[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0,1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], 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i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=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1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,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2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,…,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n</a:t>
              </a:r>
            </a:p>
          </p:txBody>
        </p:sp>
        <p:sp>
          <p:nvSpPr>
            <p:cNvPr id="3088" name="Text Box 16">
              <a:extLst>
                <a:ext uri="{FF2B5EF4-FFF2-40B4-BE49-F238E27FC236}">
                  <a16:creationId xmlns:a16="http://schemas.microsoft.com/office/drawing/2014/main" id="{C98F095D-D7E8-7D21-25E9-5F55C9DD7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96"/>
              <a:ext cx="2189" cy="294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>
                  <a:sym typeface="Symbol" pitchFamily="2" charset="2"/>
                </a:rPr>
                <a:t></a:t>
              </a:r>
              <a:r>
                <a:rPr lang="en-US" altLang="zh-CN" i="1" baseline="-25000">
                  <a:sym typeface="Symbol" pitchFamily="2" charset="2"/>
                </a:rPr>
                <a:t>i</a:t>
              </a:r>
              <a:r>
                <a:rPr lang="en-US" altLang="zh-CN" i="1"/>
                <a:t> </a:t>
              </a:r>
              <a:r>
                <a:rPr lang="en-US" altLang="zh-CN"/>
                <a:t>= </a:t>
              </a:r>
              <a:r>
                <a:rPr lang="en-US" altLang="zh-CN" i="1"/>
                <a:t>a</a:t>
              </a:r>
              <a:r>
                <a:rPr lang="en-US" altLang="zh-CN" i="1" baseline="-25000"/>
                <a:t>i</a:t>
              </a:r>
              <a:r>
                <a:rPr lang="en-US" altLang="zh-CN" i="1"/>
                <a:t> </a:t>
              </a:r>
              <a:r>
                <a:rPr lang="en-US" altLang="zh-CN"/>
                <a:t>+ (</a:t>
              </a:r>
              <a:r>
                <a:rPr lang="en-US" altLang="zh-CN" i="1"/>
                <a:t>b</a:t>
              </a:r>
              <a:r>
                <a:rPr lang="en-US" altLang="zh-CN" i="1" baseline="-25000"/>
                <a:t>i</a:t>
              </a:r>
              <a:r>
                <a:rPr lang="en-US" altLang="zh-CN"/>
                <a:t>-</a:t>
              </a:r>
              <a:r>
                <a:rPr lang="en-US" altLang="zh-CN" i="1"/>
                <a:t>a</a:t>
              </a:r>
              <a:r>
                <a:rPr lang="en-US" altLang="zh-CN" i="1" baseline="-25000"/>
                <a:t>i</a:t>
              </a:r>
              <a:r>
                <a:rPr lang="en-US" altLang="zh-CN"/>
                <a:t>)</a:t>
              </a:r>
              <a:r>
                <a:rPr lang="en-US" altLang="zh-CN" i="1"/>
                <a:t>r</a:t>
              </a:r>
              <a:r>
                <a:rPr lang="en-US" altLang="zh-CN" baseline="-25000"/>
                <a:t>i</a:t>
              </a:r>
              <a:r>
                <a:rPr lang="en-US" altLang="zh-CN"/>
                <a:t>, 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i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=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1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,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2</a:t>
              </a:r>
              <a:r>
                <a:rPr lang="en-US" altLang="zh-CN" sz="2000" b="1">
                  <a:ea typeface="楷体_GB2312" pitchFamily="49" charset="-122"/>
                  <a:sym typeface="Symbol" pitchFamily="2" charset="2"/>
                </a:rPr>
                <a:t>,…,</a:t>
              </a:r>
              <a:r>
                <a:rPr lang="en-US" altLang="zh-CN" sz="2000" b="1" i="1">
                  <a:ea typeface="楷体_GB2312" pitchFamily="49" charset="-122"/>
                  <a:sym typeface="Symbol" pitchFamily="2" charset="2"/>
                </a:rPr>
                <a:t>n</a:t>
              </a:r>
              <a:r>
                <a:rPr lang="en-US" altLang="zh-CN"/>
                <a:t> </a:t>
              </a:r>
            </a:p>
          </p:txBody>
        </p:sp>
        <p:sp>
          <p:nvSpPr>
            <p:cNvPr id="3089" name="Line 17">
              <a:extLst>
                <a:ext uri="{FF2B5EF4-FFF2-40B4-BE49-F238E27FC236}">
                  <a16:creationId xmlns:a16="http://schemas.microsoft.com/office/drawing/2014/main" id="{F247CF98-9EEA-4D69-6D64-C017E89D1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56"/>
              <a:ext cx="0" cy="2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3090" name="Line 18">
              <a:extLst>
                <a:ext uri="{FF2B5EF4-FFF2-40B4-BE49-F238E27FC236}">
                  <a16:creationId xmlns:a16="http://schemas.microsoft.com/office/drawing/2014/main" id="{C40F20BD-7189-9FB2-B84C-3C504B98D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784"/>
              <a:ext cx="0" cy="1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3091" name="Line 19">
              <a:extLst>
                <a:ext uri="{FF2B5EF4-FFF2-40B4-BE49-F238E27FC236}">
                  <a16:creationId xmlns:a16="http://schemas.microsoft.com/office/drawing/2014/main" id="{DE41AA55-8F5B-FD92-C53F-A1FE56D1B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312"/>
              <a:ext cx="0" cy="2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grpSp>
          <p:nvGrpSpPr>
            <p:cNvPr id="4116" name="Group 20">
              <a:extLst>
                <a:ext uri="{FF2B5EF4-FFF2-40B4-BE49-F238E27FC236}">
                  <a16:creationId xmlns:a16="http://schemas.microsoft.com/office/drawing/2014/main" id="{4C16280A-2786-AC7B-6D3D-8A93B525C1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2160"/>
              <a:ext cx="960" cy="1008"/>
              <a:chOff x="3072" y="2160"/>
              <a:chExt cx="960" cy="1008"/>
            </a:xfrm>
          </p:grpSpPr>
          <p:sp>
            <p:nvSpPr>
              <p:cNvPr id="3093" name="Line 21">
                <a:extLst>
                  <a:ext uri="{FF2B5EF4-FFF2-40B4-BE49-F238E27FC236}">
                    <a16:creationId xmlns:a16="http://schemas.microsoft.com/office/drawing/2014/main" id="{C2381F7C-2942-4CEE-38A2-E5382963C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168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094" name="Line 22">
                <a:extLst>
                  <a:ext uri="{FF2B5EF4-FFF2-40B4-BE49-F238E27FC236}">
                    <a16:creationId xmlns:a16="http://schemas.microsoft.com/office/drawing/2014/main" id="{5C5A8196-E748-BFA1-454B-8BCE0EE32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216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095" name="Line 23">
                <a:extLst>
                  <a:ext uri="{FF2B5EF4-FFF2-40B4-BE49-F238E27FC236}">
                    <a16:creationId xmlns:a16="http://schemas.microsoft.com/office/drawing/2014/main" id="{60481DFA-E304-36DF-ADE2-AF7B513A4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3096" name="Text Box 24">
              <a:extLst>
                <a:ext uri="{FF2B5EF4-FFF2-40B4-BE49-F238E27FC236}">
                  <a16:creationId xmlns:a16="http://schemas.microsoft.com/office/drawing/2014/main" id="{0CE728FA-AB57-CF84-9715-AA642FDF4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1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Times New Roman" charset="0"/>
                  <a:ea typeface="宋体" charset="0"/>
                  <a:sym typeface="Symbol" charset="0"/>
                </a:rPr>
                <a:t></a:t>
              </a:r>
              <a:endParaRPr lang="en-US" altLang="zh-CN">
                <a:latin typeface="Times New Roman" charset="0"/>
                <a:ea typeface="宋体" charset="0"/>
              </a:endParaRPr>
            </a:p>
          </p:txBody>
        </p:sp>
        <p:sp>
          <p:nvSpPr>
            <p:cNvPr id="3097" name="Text Box 25">
              <a:extLst>
                <a:ext uri="{FF2B5EF4-FFF2-40B4-BE49-F238E27FC236}">
                  <a16:creationId xmlns:a16="http://schemas.microsoft.com/office/drawing/2014/main" id="{D44FF6AD-DC61-CB93-BD2D-CD7934D58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3146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Times New Roman" charset="0"/>
                  <a:ea typeface="宋体" charset="0"/>
                </a:rPr>
                <a:t>&gt;</a:t>
              </a:r>
            </a:p>
          </p:txBody>
        </p:sp>
        <p:grpSp>
          <p:nvGrpSpPr>
            <p:cNvPr id="4119" name="Group 26">
              <a:extLst>
                <a:ext uri="{FF2B5EF4-FFF2-40B4-BE49-F238E27FC236}">
                  <a16:creationId xmlns:a16="http://schemas.microsoft.com/office/drawing/2014/main" id="{D5CB344E-BFC1-B0E3-15DF-1ABA3006B7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976"/>
              <a:ext cx="960" cy="345"/>
              <a:chOff x="2112" y="2967"/>
              <a:chExt cx="960" cy="345"/>
            </a:xfrm>
          </p:grpSpPr>
          <p:grpSp>
            <p:nvGrpSpPr>
              <p:cNvPr id="4123" name="Group 27">
                <a:extLst>
                  <a:ext uri="{FF2B5EF4-FFF2-40B4-BE49-F238E27FC236}">
                    <a16:creationId xmlns:a16="http://schemas.microsoft.com/office/drawing/2014/main" id="{A0F1A448-05C1-5E81-77A5-B52F680799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2967"/>
                <a:ext cx="960" cy="345"/>
                <a:chOff x="3456" y="3639"/>
                <a:chExt cx="960" cy="345"/>
              </a:xfrm>
            </p:grpSpPr>
            <p:sp>
              <p:nvSpPr>
                <p:cNvPr id="3100" name="AutoShape 28">
                  <a:extLst>
                    <a:ext uri="{FF2B5EF4-FFF2-40B4-BE49-F238E27FC236}">
                      <a16:creationId xmlns:a16="http://schemas.microsoft.com/office/drawing/2014/main" id="{13089DF7-B66F-2AC6-EAF0-48CDE4AEF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3648"/>
                  <a:ext cx="960" cy="336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solidFill>
                    <a:srgbClr val="FF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Times New Roman" charset="0"/>
                    <a:ea typeface="宋体" charset="0"/>
                  </a:endParaRPr>
                </a:p>
              </p:txBody>
            </p:sp>
            <p:sp>
              <p:nvSpPr>
                <p:cNvPr id="3101" name="Text Box 29">
                  <a:extLst>
                    <a:ext uri="{FF2B5EF4-FFF2-40B4-BE49-F238E27FC236}">
                      <a16:creationId xmlns:a16="http://schemas.microsoft.com/office/drawing/2014/main" id="{62579AA6-E649-CE3D-822C-4162DB110E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4" y="3639"/>
                  <a:ext cx="11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endParaRPr lang="zh-CN" altLang="en-US" i="1">
                    <a:latin typeface="Times New Roman" charset="0"/>
                    <a:ea typeface="宋体" charset="0"/>
                  </a:endParaRPr>
                </a:p>
              </p:txBody>
            </p:sp>
          </p:grpSp>
          <p:graphicFrame>
            <p:nvGraphicFramePr>
              <p:cNvPr id="4124" name="Object 30">
                <a:extLst>
                  <a:ext uri="{FF2B5EF4-FFF2-40B4-BE49-F238E27FC236}">
                    <a16:creationId xmlns:a16="http://schemas.microsoft.com/office/drawing/2014/main" id="{5C6D027B-5A83-8BE5-7CE3-0F593B6922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60" y="3024"/>
              <a:ext cx="912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9596100" imgH="4686300" progId="Equation.3">
                      <p:embed/>
                    </p:oleObj>
                  </mc:Choice>
                  <mc:Fallback>
                    <p:oleObj name="Equation" r:id="rId15" imgW="19596100" imgH="4686300" progId="Equation.3">
                      <p:embed/>
                      <p:pic>
                        <p:nvPicPr>
                          <p:cNvPr id="4124" name="Object 30">
                            <a:extLst>
                              <a:ext uri="{FF2B5EF4-FFF2-40B4-BE49-F238E27FC236}">
                                <a16:creationId xmlns:a16="http://schemas.microsoft.com/office/drawing/2014/main" id="{5C6D027B-5A83-8BE5-7CE3-0F593B6922B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024"/>
                            <a:ext cx="912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20" name="Group 31">
              <a:extLst>
                <a:ext uri="{FF2B5EF4-FFF2-40B4-BE49-F238E27FC236}">
                  <a16:creationId xmlns:a16="http://schemas.microsoft.com/office/drawing/2014/main" id="{32FFC174-78E7-95F1-1D35-9461BE3F37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3600"/>
              <a:ext cx="586" cy="302"/>
              <a:chOff x="2256" y="3600"/>
              <a:chExt cx="586" cy="302"/>
            </a:xfrm>
          </p:grpSpPr>
          <p:sp>
            <p:nvSpPr>
              <p:cNvPr id="3104" name="Text Box 32">
                <a:extLst>
                  <a:ext uri="{FF2B5EF4-FFF2-40B4-BE49-F238E27FC236}">
                    <a16:creationId xmlns:a16="http://schemas.microsoft.com/office/drawing/2014/main" id="{C25BBD08-BC57-1DF3-99D1-7F1CFDF5B2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600"/>
                <a:ext cx="586" cy="233"/>
              </a:xfrm>
              <a:prstGeom prst="rect">
                <a:avLst/>
              </a:prstGeom>
              <a:noFill/>
              <a:ln w="9525">
                <a:solidFill>
                  <a:srgbClr val="FF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 i="1">
                  <a:latin typeface="Times New Roman" charset="0"/>
                  <a:ea typeface="宋体" charset="0"/>
                </a:endParaRPr>
              </a:p>
            </p:txBody>
          </p:sp>
          <p:graphicFrame>
            <p:nvGraphicFramePr>
              <p:cNvPr id="4122" name="Object 33">
                <a:extLst>
                  <a:ext uri="{FF2B5EF4-FFF2-40B4-BE49-F238E27FC236}">
                    <a16:creationId xmlns:a16="http://schemas.microsoft.com/office/drawing/2014/main" id="{E912B76C-FFA1-E33A-7A1F-B9ED3A4627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56" y="3600"/>
              <a:ext cx="548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8483600" imgH="4686300" progId="Equation.3">
                      <p:embed/>
                    </p:oleObj>
                  </mc:Choice>
                  <mc:Fallback>
                    <p:oleObj name="Equation" r:id="rId17" imgW="8483600" imgH="4686300" progId="Equation.3">
                      <p:embed/>
                      <p:pic>
                        <p:nvPicPr>
                          <p:cNvPr id="4122" name="Object 33">
                            <a:extLst>
                              <a:ext uri="{FF2B5EF4-FFF2-40B4-BE49-F238E27FC236}">
                                <a16:creationId xmlns:a16="http://schemas.microsoft.com/office/drawing/2014/main" id="{E912B76C-FFA1-E33A-7A1F-B9ED3A46274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6" y="3600"/>
                            <a:ext cx="548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106" name="Rectangle 34">
            <a:extLst>
              <a:ext uri="{FF2B5EF4-FFF2-40B4-BE49-F238E27FC236}">
                <a16:creationId xmlns:a16="http://schemas.microsoft.com/office/drawing/2014/main" id="{F1F08544-C393-5BFF-9B49-321CE7108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95400"/>
            <a:ext cx="2262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舍选法用于多维抽样</a:t>
            </a:r>
          </a:p>
        </p:txBody>
      </p:sp>
    </p:spTree>
  </p:cSld>
  <p:clrMapOvr>
    <a:masterClrMapping/>
  </p:clrMapOvr>
  <p:transition>
    <p:rand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D8C008E-889F-1A5E-E7EA-4F2BAD012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3.9 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多维分布的抽样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94EF6D56-4B9A-CDE3-9070-74C03AA49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630238"/>
            <a:ext cx="34163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混合抽样法用于多维分布的抽样</a:t>
            </a:r>
          </a:p>
        </p:txBody>
      </p:sp>
      <p:grpSp>
        <p:nvGrpSpPr>
          <p:cNvPr id="5123" name="Group 4">
            <a:extLst>
              <a:ext uri="{FF2B5EF4-FFF2-40B4-BE49-F238E27FC236}">
                <a16:creationId xmlns:a16="http://schemas.microsoft.com/office/drawing/2014/main" id="{7940C3BA-D4E7-5537-E55C-694EAC072127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163640"/>
            <a:ext cx="4648200" cy="411163"/>
            <a:chOff x="816" y="397"/>
            <a:chExt cx="2928" cy="259"/>
          </a:xfrm>
        </p:grpSpPr>
        <p:sp>
          <p:nvSpPr>
            <p:cNvPr id="4101" name="Text Box 5">
              <a:extLst>
                <a:ext uri="{FF2B5EF4-FFF2-40B4-BE49-F238E27FC236}">
                  <a16:creationId xmlns:a16="http://schemas.microsoft.com/office/drawing/2014/main" id="{F6A088E2-546F-1C2C-34AA-FA2C26C86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97"/>
              <a:ext cx="28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</a:rPr>
                <a:t>设多维随机变量概率密度函数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</a:rPr>
                <a:t>       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</a:rPr>
                <a:t>可表示为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</a:rPr>
                <a:t> </a:t>
              </a:r>
            </a:p>
          </p:txBody>
        </p:sp>
        <p:graphicFrame>
          <p:nvGraphicFramePr>
            <p:cNvPr id="5150" name="Object 6">
              <a:extLst>
                <a:ext uri="{FF2B5EF4-FFF2-40B4-BE49-F238E27FC236}">
                  <a16:creationId xmlns:a16="http://schemas.microsoft.com/office/drawing/2014/main" id="{79549A24-D5C7-04DD-453C-E76E83EC11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432"/>
            <a:ext cx="33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023100" imgH="4686300" progId="Equation.3">
                    <p:embed/>
                  </p:oleObj>
                </mc:Choice>
                <mc:Fallback>
                  <p:oleObj name="Equation" r:id="rId2" imgW="7023100" imgH="4686300" progId="Equation.3">
                    <p:embed/>
                    <p:pic>
                      <p:nvPicPr>
                        <p:cNvPr id="5150" name="Object 6">
                          <a:extLst>
                            <a:ext uri="{FF2B5EF4-FFF2-40B4-BE49-F238E27FC236}">
                              <a16:creationId xmlns:a16="http://schemas.microsoft.com/office/drawing/2014/main" id="{79549A24-D5C7-04DD-453C-E76E83EC11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432"/>
                          <a:ext cx="336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4" name="Object 7">
            <a:extLst>
              <a:ext uri="{FF2B5EF4-FFF2-40B4-BE49-F238E27FC236}">
                <a16:creationId xmlns:a16="http://schemas.microsoft.com/office/drawing/2014/main" id="{3BCAA21B-1075-C76D-5EF0-93A959DF9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1752600"/>
          <a:ext cx="2311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42900" imgH="4686300" progId="Equation.3">
                  <p:embed/>
                </p:oleObj>
              </mc:Choice>
              <mc:Fallback>
                <p:oleObj name="Equation" r:id="rId4" imgW="25742900" imgH="4686300" progId="Equation.3">
                  <p:embed/>
                  <p:pic>
                    <p:nvPicPr>
                      <p:cNvPr id="5124" name="Object 7">
                        <a:extLst>
                          <a:ext uri="{FF2B5EF4-FFF2-40B4-BE49-F238E27FC236}">
                            <a16:creationId xmlns:a16="http://schemas.microsoft.com/office/drawing/2014/main" id="{3BCAA21B-1075-C76D-5EF0-93A959DF9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752600"/>
                        <a:ext cx="2311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5" name="Group 8">
            <a:extLst>
              <a:ext uri="{FF2B5EF4-FFF2-40B4-BE49-F238E27FC236}">
                <a16:creationId xmlns:a16="http://schemas.microsoft.com/office/drawing/2014/main" id="{7B99114A-A77C-1177-D4EC-37A8860EF093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2251078"/>
            <a:ext cx="4916488" cy="417513"/>
            <a:chOff x="854" y="1082"/>
            <a:chExt cx="3097" cy="263"/>
          </a:xfrm>
        </p:grpSpPr>
        <p:sp>
          <p:nvSpPr>
            <p:cNvPr id="4105" name="Text Box 9">
              <a:extLst>
                <a:ext uri="{FF2B5EF4-FFF2-40B4-BE49-F238E27FC236}">
                  <a16:creationId xmlns:a16="http://schemas.microsoft.com/office/drawing/2014/main" id="{55D0B02D-4485-F6B6-97F1-1F444043E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1082"/>
              <a:ext cx="30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</a:rPr>
                <a:t>式中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</a:rPr>
                <a:t>      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</a:rPr>
                <a:t>为任意多维概率密度函数，其随机数为</a:t>
              </a:r>
            </a:p>
          </p:txBody>
        </p:sp>
        <p:graphicFrame>
          <p:nvGraphicFramePr>
            <p:cNvPr id="5148" name="Object 10">
              <a:extLst>
                <a:ext uri="{FF2B5EF4-FFF2-40B4-BE49-F238E27FC236}">
                  <a16:creationId xmlns:a16="http://schemas.microsoft.com/office/drawing/2014/main" id="{37A6F329-D31A-D9C5-5E89-5164108A4D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104"/>
            <a:ext cx="39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607300" imgH="4686300" progId="Equation.3">
                    <p:embed/>
                  </p:oleObj>
                </mc:Choice>
                <mc:Fallback>
                  <p:oleObj name="Equation" r:id="rId6" imgW="7607300" imgH="4686300" progId="Equation.3">
                    <p:embed/>
                    <p:pic>
                      <p:nvPicPr>
                        <p:cNvPr id="5148" name="Object 10">
                          <a:extLst>
                            <a:ext uri="{FF2B5EF4-FFF2-40B4-BE49-F238E27FC236}">
                              <a16:creationId xmlns:a16="http://schemas.microsoft.com/office/drawing/2014/main" id="{37A6F329-D31A-D9C5-5E89-5164108A4D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104"/>
                          <a:ext cx="392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6" name="Object 11">
            <a:extLst>
              <a:ext uri="{FF2B5EF4-FFF2-40B4-BE49-F238E27FC236}">
                <a16:creationId xmlns:a16="http://schemas.microsoft.com/office/drawing/2014/main" id="{1E8149D2-51CF-2C9D-CB31-D25BA1219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590801"/>
          <a:ext cx="25400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742900" imgH="5270500" progId="Equation.3">
                  <p:embed/>
                </p:oleObj>
              </mc:Choice>
              <mc:Fallback>
                <p:oleObj name="Equation" r:id="rId8" imgW="25742900" imgH="5270500" progId="Equation.3">
                  <p:embed/>
                  <p:pic>
                    <p:nvPicPr>
                      <p:cNvPr id="5126" name="Object 11">
                        <a:extLst>
                          <a:ext uri="{FF2B5EF4-FFF2-40B4-BE49-F238E27FC236}">
                            <a16:creationId xmlns:a16="http://schemas.microsoft.com/office/drawing/2014/main" id="{1E8149D2-51CF-2C9D-CB31-D25BA1219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590801"/>
                        <a:ext cx="25400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7" name="Group 12">
            <a:extLst>
              <a:ext uri="{FF2B5EF4-FFF2-40B4-BE49-F238E27FC236}">
                <a16:creationId xmlns:a16="http://schemas.microsoft.com/office/drawing/2014/main" id="{86EAB427-C3B9-F4C9-7555-6CED925DD525}"/>
              </a:ext>
            </a:extLst>
          </p:cNvPr>
          <p:cNvGrpSpPr>
            <a:grpSpLocks/>
          </p:cNvGrpSpPr>
          <p:nvPr/>
        </p:nvGrpSpPr>
        <p:grpSpPr bwMode="auto">
          <a:xfrm>
            <a:off x="2955926" y="3048000"/>
            <a:ext cx="7712075" cy="469900"/>
            <a:chOff x="902" y="1584"/>
            <a:chExt cx="4858" cy="296"/>
          </a:xfrm>
        </p:grpSpPr>
        <p:sp>
          <p:nvSpPr>
            <p:cNvPr id="4109" name="Text Box 13">
              <a:extLst>
                <a:ext uri="{FF2B5EF4-FFF2-40B4-BE49-F238E27FC236}">
                  <a16:creationId xmlns:a16="http://schemas.microsoft.com/office/drawing/2014/main" id="{A2D43124-3A5E-AB68-8F5B-C3608662A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1606"/>
              <a:ext cx="48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i="1">
                  <a:latin typeface="Times New Roman" charset="0"/>
                  <a:ea typeface="楷体_GB2312" charset="0"/>
                  <a:cs typeface="楷体_GB2312" charset="0"/>
                </a:rPr>
                <a:t>H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</a:rPr>
                <a:t>(  )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0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的极大值为</a:t>
              </a:r>
              <a:r>
                <a:rPr lang="en-US" altLang="zh-CN" b="1" i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M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，则</a:t>
              </a:r>
              <a:r>
                <a:rPr lang="en-US" altLang="zh-CN" b="1" i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f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(  )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的随机数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                            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可由下列方式抽取：</a:t>
              </a:r>
              <a:r>
                <a:rPr lang="en-US" altLang="zh-CN" b="1">
                  <a:latin typeface="Times New Roman" charset="0"/>
                  <a:ea typeface="楷体_GB2312" charset="0"/>
                  <a:cs typeface="楷体_GB2312" charset="0"/>
                  <a:sym typeface="Symbol" charset="0"/>
                </a:rPr>
                <a:t>       </a:t>
              </a:r>
              <a:endParaRPr lang="en-US" altLang="zh-CN" b="1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  <p:graphicFrame>
          <p:nvGraphicFramePr>
            <p:cNvPr id="5144" name="Object 14">
              <a:extLst>
                <a:ext uri="{FF2B5EF4-FFF2-40B4-BE49-F238E27FC236}">
                  <a16:creationId xmlns:a16="http://schemas.microsoft.com/office/drawing/2014/main" id="{1A42ECA8-3A31-B3D4-B844-E3A51EB79C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680"/>
            <a:ext cx="15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21000" imgH="3797300" progId="Equation.3">
                    <p:embed/>
                  </p:oleObj>
                </mc:Choice>
                <mc:Fallback>
                  <p:oleObj name="Equation" r:id="rId10" imgW="2921000" imgH="3797300" progId="Equation.3">
                    <p:embed/>
                    <p:pic>
                      <p:nvPicPr>
                        <p:cNvPr id="5144" name="Object 14">
                          <a:extLst>
                            <a:ext uri="{FF2B5EF4-FFF2-40B4-BE49-F238E27FC236}">
                              <a16:creationId xmlns:a16="http://schemas.microsoft.com/office/drawing/2014/main" id="{1A42ECA8-3A31-B3D4-B844-E3A51EB79C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680"/>
                          <a:ext cx="15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5" name="Object 15">
              <a:extLst>
                <a:ext uri="{FF2B5EF4-FFF2-40B4-BE49-F238E27FC236}">
                  <a16:creationId xmlns:a16="http://schemas.microsoft.com/office/drawing/2014/main" id="{569CE0F4-73FF-4F0C-E91A-9A729211CE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1680"/>
            <a:ext cx="15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21000" imgH="3797300" progId="Equation.3">
                    <p:embed/>
                  </p:oleObj>
                </mc:Choice>
                <mc:Fallback>
                  <p:oleObj name="Equation" r:id="rId10" imgW="2921000" imgH="3797300" progId="Equation.3">
                    <p:embed/>
                    <p:pic>
                      <p:nvPicPr>
                        <p:cNvPr id="5145" name="Object 15">
                          <a:extLst>
                            <a:ext uri="{FF2B5EF4-FFF2-40B4-BE49-F238E27FC236}">
                              <a16:creationId xmlns:a16="http://schemas.microsoft.com/office/drawing/2014/main" id="{569CE0F4-73FF-4F0C-E91A-9A729211CE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680"/>
                          <a:ext cx="15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6" name="Object 16">
              <a:extLst>
                <a:ext uri="{FF2B5EF4-FFF2-40B4-BE49-F238E27FC236}">
                  <a16:creationId xmlns:a16="http://schemas.microsoft.com/office/drawing/2014/main" id="{6C3BFACE-A288-3AA3-141A-39B253AE9A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1584"/>
            <a:ext cx="135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5450800" imgH="5562600" progId="Equation.3">
                    <p:embed/>
                  </p:oleObj>
                </mc:Choice>
                <mc:Fallback>
                  <p:oleObj name="Equation" r:id="rId12" imgW="25450800" imgH="5562600" progId="Equation.3">
                    <p:embed/>
                    <p:pic>
                      <p:nvPicPr>
                        <p:cNvPr id="5146" name="Object 16">
                          <a:extLst>
                            <a:ext uri="{FF2B5EF4-FFF2-40B4-BE49-F238E27FC236}">
                              <a16:creationId xmlns:a16="http://schemas.microsoft.com/office/drawing/2014/main" id="{6C3BFACE-A288-3AA3-141A-39B253AE9A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584"/>
                          <a:ext cx="1356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8" name="Group 17">
            <a:extLst>
              <a:ext uri="{FF2B5EF4-FFF2-40B4-BE49-F238E27FC236}">
                <a16:creationId xmlns:a16="http://schemas.microsoft.com/office/drawing/2014/main" id="{0A7B6247-48F4-EF0C-C796-92D2DDA628AE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67200"/>
            <a:ext cx="2743200" cy="2419350"/>
            <a:chOff x="1584" y="2282"/>
            <a:chExt cx="1728" cy="1524"/>
          </a:xfrm>
        </p:grpSpPr>
        <p:sp>
          <p:nvSpPr>
            <p:cNvPr id="4114" name="Text Box 18">
              <a:extLst>
                <a:ext uri="{FF2B5EF4-FFF2-40B4-BE49-F238E27FC236}">
                  <a16:creationId xmlns:a16="http://schemas.microsoft.com/office/drawing/2014/main" id="{5E5BE99B-93D5-7EAD-E1E4-01478CE13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2282"/>
              <a:ext cx="922" cy="233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</a:rPr>
                <a:t>抽取</a:t>
              </a:r>
              <a:r>
                <a:rPr lang="en-US" altLang="zh-CN" b="1" i="1">
                  <a:latin typeface="Times New Roman" charset="0"/>
                  <a:ea typeface="楷体_GB2312" charset="0"/>
                  <a:cs typeface="楷体_GB2312" charset="0"/>
                </a:rPr>
                <a:t>r</a:t>
              </a:r>
              <a:r>
                <a:rPr lang="zh-CN" altLang="en-US" b="1">
                  <a:latin typeface="Times New Roman" charset="0"/>
                  <a:ea typeface="楷体_GB2312" charset="0"/>
                  <a:cs typeface="楷体_GB2312" charset="0"/>
                </a:rPr>
                <a:t>和</a:t>
              </a:r>
            </a:p>
          </p:txBody>
        </p:sp>
        <p:graphicFrame>
          <p:nvGraphicFramePr>
            <p:cNvPr id="5130" name="Object 19">
              <a:extLst>
                <a:ext uri="{FF2B5EF4-FFF2-40B4-BE49-F238E27FC236}">
                  <a16:creationId xmlns:a16="http://schemas.microsoft.com/office/drawing/2014/main" id="{A7719BF4-11A2-93D6-68E3-E7F09344CD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2304"/>
            <a:ext cx="1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213100" imgH="4686300" progId="Equation.3">
                    <p:embed/>
                  </p:oleObj>
                </mc:Choice>
                <mc:Fallback>
                  <p:oleObj name="Equation" r:id="rId14" imgW="3213100" imgH="4686300" progId="Equation.3">
                    <p:embed/>
                    <p:pic>
                      <p:nvPicPr>
                        <p:cNvPr id="5130" name="Object 19">
                          <a:extLst>
                            <a:ext uri="{FF2B5EF4-FFF2-40B4-BE49-F238E27FC236}">
                              <a16:creationId xmlns:a16="http://schemas.microsoft.com/office/drawing/2014/main" id="{A7719BF4-11A2-93D6-68E3-E7F09344CD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304"/>
                          <a:ext cx="17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31" name="Group 20">
              <a:extLst>
                <a:ext uri="{FF2B5EF4-FFF2-40B4-BE49-F238E27FC236}">
                  <a16:creationId xmlns:a16="http://schemas.microsoft.com/office/drawing/2014/main" id="{125A56CD-8353-9A18-189E-6C830711F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832"/>
              <a:ext cx="1248" cy="432"/>
              <a:chOff x="1584" y="2688"/>
              <a:chExt cx="1248" cy="432"/>
            </a:xfrm>
          </p:grpSpPr>
          <p:sp>
            <p:nvSpPr>
              <p:cNvPr id="4117" name="AutoShape 21">
                <a:extLst>
                  <a:ext uri="{FF2B5EF4-FFF2-40B4-BE49-F238E27FC236}">
                    <a16:creationId xmlns:a16="http://schemas.microsoft.com/office/drawing/2014/main" id="{C7AD3469-BFB6-CD67-B5FF-A333F3CED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688"/>
                <a:ext cx="1248" cy="432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rgbClr val="FF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graphicFrame>
            <p:nvGraphicFramePr>
              <p:cNvPr id="5142" name="Object 22">
                <a:extLst>
                  <a:ext uri="{FF2B5EF4-FFF2-40B4-BE49-F238E27FC236}">
                    <a16:creationId xmlns:a16="http://schemas.microsoft.com/office/drawing/2014/main" id="{619EC8E6-252C-8DFF-8493-153C3271E3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84" y="2784"/>
              <a:ext cx="1228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9596100" imgH="4686300" progId="Equation.3">
                      <p:embed/>
                    </p:oleObj>
                  </mc:Choice>
                  <mc:Fallback>
                    <p:oleObj name="Equation" r:id="rId16" imgW="19596100" imgH="4686300" progId="Equation.3">
                      <p:embed/>
                      <p:pic>
                        <p:nvPicPr>
                          <p:cNvPr id="5142" name="Object 22">
                            <a:extLst>
                              <a:ext uri="{FF2B5EF4-FFF2-40B4-BE49-F238E27FC236}">
                                <a16:creationId xmlns:a16="http://schemas.microsoft.com/office/drawing/2014/main" id="{619EC8E6-252C-8DFF-8493-153C3271E3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2784"/>
                            <a:ext cx="1228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00FF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132" name="Object 23">
              <a:extLst>
                <a:ext uri="{FF2B5EF4-FFF2-40B4-BE49-F238E27FC236}">
                  <a16:creationId xmlns:a16="http://schemas.microsoft.com/office/drawing/2014/main" id="{AE96147E-782A-A4A9-7282-2AD3A95A01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3504"/>
            <a:ext cx="5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775700" imgH="5270500" progId="Equation.3">
                    <p:embed/>
                  </p:oleObj>
                </mc:Choice>
                <mc:Fallback>
                  <p:oleObj name="Equation" r:id="rId18" imgW="8775700" imgH="5270500" progId="Equation.3">
                    <p:embed/>
                    <p:pic>
                      <p:nvPicPr>
                        <p:cNvPr id="5132" name="Object 23">
                          <a:extLst>
                            <a:ext uri="{FF2B5EF4-FFF2-40B4-BE49-F238E27FC236}">
                              <a16:creationId xmlns:a16="http://schemas.microsoft.com/office/drawing/2014/main" id="{AE96147E-782A-A4A9-7282-2AD3A95A01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504"/>
                          <a:ext cx="504" cy="30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0" name="Line 24">
              <a:extLst>
                <a:ext uri="{FF2B5EF4-FFF2-40B4-BE49-F238E27FC236}">
                  <a16:creationId xmlns:a16="http://schemas.microsoft.com/office/drawing/2014/main" id="{09FA7C95-C6EC-1D1C-A2D9-E4744D807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592"/>
              <a:ext cx="0" cy="2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121" name="Line 25">
              <a:extLst>
                <a:ext uri="{FF2B5EF4-FFF2-40B4-BE49-F238E27FC236}">
                  <a16:creationId xmlns:a16="http://schemas.microsoft.com/office/drawing/2014/main" id="{DC9076BD-1E28-22BA-C5F7-D08ABFF57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264"/>
              <a:ext cx="0" cy="2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Times New Roman" charset="0"/>
                <a:ea typeface="宋体" charset="0"/>
              </a:endParaRPr>
            </a:p>
          </p:txBody>
        </p:sp>
        <p:grpSp>
          <p:nvGrpSpPr>
            <p:cNvPr id="5135" name="Group 26">
              <a:extLst>
                <a:ext uri="{FF2B5EF4-FFF2-40B4-BE49-F238E27FC236}">
                  <a16:creationId xmlns:a16="http://schemas.microsoft.com/office/drawing/2014/main" id="{9B30DD30-27BC-F68A-FCDC-2FEF88CEA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448"/>
              <a:ext cx="672" cy="624"/>
              <a:chOff x="2640" y="2448"/>
              <a:chExt cx="672" cy="624"/>
            </a:xfrm>
          </p:grpSpPr>
          <p:sp>
            <p:nvSpPr>
              <p:cNvPr id="4123" name="Line 27">
                <a:extLst>
                  <a:ext uri="{FF2B5EF4-FFF2-40B4-BE49-F238E27FC236}">
                    <a16:creationId xmlns:a16="http://schemas.microsoft.com/office/drawing/2014/main" id="{A35BFBC6-118E-559A-5D31-975C9DC2F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07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4124" name="Line 28">
                <a:extLst>
                  <a:ext uri="{FF2B5EF4-FFF2-40B4-BE49-F238E27FC236}">
                    <a16:creationId xmlns:a16="http://schemas.microsoft.com/office/drawing/2014/main" id="{F2485D8E-1345-BEB0-A1FD-9B0882311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2448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4125" name="Line 29">
                <a:extLst>
                  <a:ext uri="{FF2B5EF4-FFF2-40B4-BE49-F238E27FC236}">
                    <a16:creationId xmlns:a16="http://schemas.microsoft.com/office/drawing/2014/main" id="{CA00A1EF-2642-F932-878D-4D468C7A5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244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4126" name="Text Box 30">
              <a:extLst>
                <a:ext uri="{FF2B5EF4-FFF2-40B4-BE49-F238E27FC236}">
                  <a16:creationId xmlns:a16="http://schemas.microsoft.com/office/drawing/2014/main" id="{FB01AD0A-683C-2976-A904-0D0626141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216"/>
              <a:ext cx="1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Times New Roman" charset="0"/>
                  <a:ea typeface="宋体" charset="0"/>
                  <a:sym typeface="Symbol" charset="0"/>
                </a:rPr>
                <a:t></a:t>
              </a:r>
              <a:endParaRPr lang="en-US" altLang="zh-CN">
                <a:latin typeface="Times New Roman" charset="0"/>
                <a:ea typeface="宋体" charset="0"/>
              </a:endParaRPr>
            </a:p>
          </p:txBody>
        </p:sp>
        <p:sp>
          <p:nvSpPr>
            <p:cNvPr id="4127" name="Text Box 31">
              <a:extLst>
                <a:ext uri="{FF2B5EF4-FFF2-40B4-BE49-F238E27FC236}">
                  <a16:creationId xmlns:a16="http://schemas.microsoft.com/office/drawing/2014/main" id="{217F6314-B5DD-3A19-DFDA-F58C3BB7A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3002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Times New Roman" charset="0"/>
                  <a:ea typeface="宋体" charset="0"/>
                </a:rPr>
                <a:t>&gt;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D8BE524-FB18-8188-5494-74F7DF583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3.9 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多维分布的抽样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1F18E448-4285-F8E4-00BB-445EADFD3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685800"/>
            <a:ext cx="15055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条件密度法</a:t>
            </a:r>
            <a:r>
              <a:rPr lang="en-US" altLang="zh-CN" b="1">
                <a:latin typeface="楷体_GB2312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716714EB-0CDC-A48C-8A01-5B20895C8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1184275"/>
            <a:ext cx="53206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利用条件概率密度将多维模拟转化为一维模拟问题</a:t>
            </a:r>
            <a:r>
              <a:rPr lang="en-US" altLang="zh-CN" b="1">
                <a:latin typeface="Times New Roman" charset="0"/>
                <a:ea typeface="楷体_GB2312" charset="0"/>
                <a:cs typeface="楷体_GB2312" charset="0"/>
              </a:rPr>
              <a:t>.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F749FEA6-7952-C107-9EB3-3B8391C1E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1676400"/>
            <a:ext cx="606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任意</a:t>
            </a:r>
            <a:r>
              <a:rPr lang="en-US" altLang="zh-CN" b="1">
                <a:ea typeface="楷体_GB2312" pitchFamily="49" charset="-122"/>
              </a:rPr>
              <a:t>n</a:t>
            </a:r>
            <a:r>
              <a:rPr lang="zh-CN" altLang="en-US" b="1">
                <a:ea typeface="楷体_GB2312" pitchFamily="49" charset="-122"/>
              </a:rPr>
              <a:t>维概率密度函数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可表示为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6CB2AA50-4CE2-5666-4934-00A06748F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209801"/>
            <a:ext cx="6805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) =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) </a:t>
            </a:r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0298DBE9-59C1-8F39-32E5-4C8CD777D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667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5128" name="AutoShape 8">
            <a:extLst>
              <a:ext uri="{FF2B5EF4-FFF2-40B4-BE49-F238E27FC236}">
                <a16:creationId xmlns:a16="http://schemas.microsoft.com/office/drawing/2014/main" id="{F456BABF-83CD-45BA-E078-B8FBE5EC0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819400"/>
            <a:ext cx="1600200" cy="533400"/>
          </a:xfrm>
          <a:prstGeom prst="wedgeRectCallout">
            <a:avLst>
              <a:gd name="adj1" fmla="val 31051"/>
              <a:gd name="adj2" fmla="val -794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条件概率</a:t>
            </a:r>
          </a:p>
        </p:txBody>
      </p:sp>
      <p:sp>
        <p:nvSpPr>
          <p:cNvPr id="5129" name="AutoShape 9">
            <a:extLst>
              <a:ext uri="{FF2B5EF4-FFF2-40B4-BE49-F238E27FC236}">
                <a16:creationId xmlns:a16="http://schemas.microsoft.com/office/drawing/2014/main" id="{1D0F3C9B-353B-D151-BBCD-76F6B271C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971800"/>
            <a:ext cx="2743200" cy="838200"/>
          </a:xfrm>
          <a:prstGeom prst="wedgeRectCallout">
            <a:avLst>
              <a:gd name="adj1" fmla="val -27949"/>
              <a:gd name="adj2" fmla="val -8257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zh-CN" altLang="en-US" b="1">
                <a:ea typeface="楷体_GB2312" pitchFamily="49" charset="-122"/>
              </a:rPr>
              <a:t>联合概率密度</a:t>
            </a:r>
          </a:p>
        </p:txBody>
      </p:sp>
      <p:sp>
        <p:nvSpPr>
          <p:cNvPr id="5130" name="Line 10">
            <a:extLst>
              <a:ext uri="{FF2B5EF4-FFF2-40B4-BE49-F238E27FC236}">
                <a16:creationId xmlns:a16="http://schemas.microsoft.com/office/drawing/2014/main" id="{882A1466-26F6-4211-2A36-24321E34F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6670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Times New Roman" charset="0"/>
              <a:ea typeface="宋体" charset="0"/>
            </a:endParaRPr>
          </a:p>
        </p:txBody>
      </p:sp>
      <p:graphicFrame>
        <p:nvGraphicFramePr>
          <p:cNvPr id="6154" name="Object 11">
            <a:extLst>
              <a:ext uri="{FF2B5EF4-FFF2-40B4-BE49-F238E27FC236}">
                <a16:creationId xmlns:a16="http://schemas.microsoft.com/office/drawing/2014/main" id="{434E5F3D-06D1-5DDE-2950-0B681C2A0F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657601"/>
          <a:ext cx="4343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90000" imgH="6438900" progId="Equation.3">
                  <p:embed/>
                </p:oleObj>
              </mc:Choice>
              <mc:Fallback>
                <p:oleObj name="Equation" r:id="rId2" imgW="59690000" imgH="6438900" progId="Equation.3">
                  <p:embed/>
                  <p:pic>
                    <p:nvPicPr>
                      <p:cNvPr id="6154" name="Object 11">
                        <a:extLst>
                          <a:ext uri="{FF2B5EF4-FFF2-40B4-BE49-F238E27FC236}">
                            <a16:creationId xmlns:a16="http://schemas.microsoft.com/office/drawing/2014/main" id="{434E5F3D-06D1-5DDE-2950-0B681C2A0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57601"/>
                        <a:ext cx="43434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12">
            <a:extLst>
              <a:ext uri="{FF2B5EF4-FFF2-40B4-BE49-F238E27FC236}">
                <a16:creationId xmlns:a16="http://schemas.microsoft.com/office/drawing/2014/main" id="{7CA042AC-7B79-3316-B63C-0B3AEE2F8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267200"/>
            <a:ext cx="46698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) =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 </a:t>
            </a:r>
          </a:p>
          <a:p>
            <a:r>
              <a:rPr lang="en-US" altLang="zh-CN" b="1">
                <a:cs typeface="Times New Roman" panose="02020603050405020304" pitchFamily="18" charset="0"/>
              </a:rPr>
              <a:t>                         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n-2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</a:t>
            </a:r>
          </a:p>
          <a:p>
            <a:r>
              <a:rPr lang="en-US" altLang="zh-CN" b="1">
                <a:cs typeface="Times New Roman" panose="02020603050405020304" pitchFamily="18" charset="0"/>
              </a:rPr>
              <a:t>                          </a:t>
            </a:r>
            <a:r>
              <a:rPr lang="en-US" altLang="zh-CN" b="1"/>
              <a:t>…</a:t>
            </a:r>
          </a:p>
          <a:p>
            <a:r>
              <a:rPr lang="en-US" altLang="zh-CN" b="1"/>
              <a:t>                         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</a:t>
            </a:r>
          </a:p>
          <a:p>
            <a:r>
              <a:rPr lang="en-US" altLang="zh-CN" b="1">
                <a:cs typeface="Times New Roman" panose="02020603050405020304" pitchFamily="18" charset="0"/>
              </a:rPr>
              <a:t>                         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</a:p>
        </p:txBody>
      </p:sp>
      <p:graphicFrame>
        <p:nvGraphicFramePr>
          <p:cNvPr id="6156" name="Object 13">
            <a:extLst>
              <a:ext uri="{FF2B5EF4-FFF2-40B4-BE49-F238E27FC236}">
                <a16:creationId xmlns:a16="http://schemas.microsoft.com/office/drawing/2014/main" id="{D26CB74F-8C90-8BAF-E7CF-AF8AF15AF5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1" y="4267200"/>
          <a:ext cx="817563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97300" imgH="4978400" progId="Equation.3">
                  <p:embed/>
                </p:oleObj>
              </mc:Choice>
              <mc:Fallback>
                <p:oleObj name="Equation" r:id="rId4" imgW="3797300" imgH="4978400" progId="Equation.3">
                  <p:embed/>
                  <p:pic>
                    <p:nvPicPr>
                      <p:cNvPr id="6156" name="Object 13">
                        <a:extLst>
                          <a:ext uri="{FF2B5EF4-FFF2-40B4-BE49-F238E27FC236}">
                            <a16:creationId xmlns:a16="http://schemas.microsoft.com/office/drawing/2014/main" id="{D26CB74F-8C90-8BAF-E7CF-AF8AF15AF5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4267200"/>
                        <a:ext cx="817563" cy="216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Text Box 14">
            <a:extLst>
              <a:ext uri="{FF2B5EF4-FFF2-40B4-BE49-F238E27FC236}">
                <a16:creationId xmlns:a16="http://schemas.microsoft.com/office/drawing/2014/main" id="{669913D6-FCB9-6C46-1621-0E67D2C65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1" y="4876800"/>
            <a:ext cx="29876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>
                <a:latin typeface="楷体_GB2312" charset="0"/>
                <a:ea typeface="楷体_GB2312" charset="0"/>
                <a:cs typeface="楷体_GB2312" charset="0"/>
              </a:rPr>
              <a:t>n</a:t>
            </a: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个一维概率密度的乘积</a:t>
            </a:r>
          </a:p>
        </p:txBody>
      </p:sp>
      <p:graphicFrame>
        <p:nvGraphicFramePr>
          <p:cNvPr id="6158" name="Object 15">
            <a:extLst>
              <a:ext uri="{FF2B5EF4-FFF2-40B4-BE49-F238E27FC236}">
                <a16:creationId xmlns:a16="http://schemas.microsoft.com/office/drawing/2014/main" id="{0DAA2AA4-AF9D-0D0C-ED1B-250B1BC717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6091238"/>
          <a:ext cx="44196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340500" imgH="9944100" progId="Equation.3">
                  <p:embed/>
                </p:oleObj>
              </mc:Choice>
              <mc:Fallback>
                <p:oleObj name="Equation" r:id="rId6" imgW="57340500" imgH="9944100" progId="Equation.3">
                  <p:embed/>
                  <p:pic>
                    <p:nvPicPr>
                      <p:cNvPr id="6158" name="Object 15">
                        <a:extLst>
                          <a:ext uri="{FF2B5EF4-FFF2-40B4-BE49-F238E27FC236}">
                            <a16:creationId xmlns:a16="http://schemas.microsoft.com/office/drawing/2014/main" id="{0DAA2AA4-AF9D-0D0C-ED1B-250B1BC717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6091238"/>
                        <a:ext cx="44196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181B70C-8A12-7EE7-65B9-4E370FB25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altLang="zh-CN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3.9 </a:t>
            </a:r>
            <a:r>
              <a:rPr lang="zh-CN" altLang="en-US" sz="3200" b="1" u="sng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多维分布的抽样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8B649F23-F8E2-59C1-8870-D9399251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685800"/>
            <a:ext cx="15055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zh-CN" altLang="en-US" b="1">
                <a:latin typeface="楷体_GB2312" charset="0"/>
                <a:ea typeface="楷体_GB2312" charset="0"/>
                <a:cs typeface="楷体_GB2312" charset="0"/>
              </a:rPr>
              <a:t>条件密度法</a:t>
            </a:r>
            <a:r>
              <a:rPr lang="en-US" altLang="zh-CN" b="1">
                <a:latin typeface="楷体_GB2312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666A9D03-C634-E74A-7684-3A8649ECA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19200"/>
            <a:ext cx="46698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 i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) =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 </a:t>
            </a:r>
          </a:p>
          <a:p>
            <a:r>
              <a:rPr lang="en-US" altLang="zh-CN" b="1">
                <a:cs typeface="Times New Roman" panose="02020603050405020304" pitchFamily="18" charset="0"/>
              </a:rPr>
              <a:t>                         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n-1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,…,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n-2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</a:t>
            </a:r>
          </a:p>
          <a:p>
            <a:r>
              <a:rPr lang="en-US" altLang="zh-CN" b="1">
                <a:cs typeface="Times New Roman" panose="02020603050405020304" pitchFamily="18" charset="0"/>
              </a:rPr>
              <a:t>                          </a:t>
            </a:r>
            <a:r>
              <a:rPr lang="en-US" altLang="zh-CN" b="1"/>
              <a:t>…</a:t>
            </a:r>
          </a:p>
          <a:p>
            <a:r>
              <a:rPr lang="en-US" altLang="zh-CN" b="1"/>
              <a:t>                         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en-US" altLang="zh-CN" b="1">
                <a:cs typeface="Times New Roman" panose="02020603050405020304" pitchFamily="18" charset="0"/>
              </a:rPr>
              <a:t>·</a:t>
            </a:r>
          </a:p>
          <a:p>
            <a:r>
              <a:rPr lang="en-US" altLang="zh-CN" b="1">
                <a:cs typeface="Times New Roman" panose="02020603050405020304" pitchFamily="18" charset="0"/>
              </a:rPr>
              <a:t>                          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517768C9-5B2E-5782-995E-DD9217199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3068638"/>
            <a:ext cx="1338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8CE05D4F-626C-DC74-8101-767F2D294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6" y="3616326"/>
            <a:ext cx="7559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由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抽样得到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zh-CN" altLang="en-US" b="1">
                <a:ea typeface="楷体_GB2312" pitchFamily="49" charset="-122"/>
              </a:rPr>
              <a:t>的随机数</a:t>
            </a:r>
            <a:r>
              <a:rPr lang="en-US" altLang="zh-CN" b="1"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 baseline="-25000">
                <a:ea typeface="楷体_GB2312" pitchFamily="49" charset="-122"/>
                <a:sym typeface="Symbol" pitchFamily="2" charset="2"/>
              </a:rPr>
              <a:t>1</a:t>
            </a:r>
            <a:r>
              <a:rPr lang="zh-CN" altLang="en-US" b="1">
                <a:ea typeface="楷体_GB2312" pitchFamily="49" charset="-122"/>
                <a:sym typeface="Symbol" pitchFamily="2" charset="2"/>
              </a:rPr>
              <a:t>，将</a:t>
            </a:r>
            <a:r>
              <a:rPr lang="en-US" altLang="zh-CN" b="1"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 baseline="-25000">
                <a:ea typeface="楷体_GB2312" pitchFamily="49" charset="-122"/>
                <a:sym typeface="Symbol" pitchFamily="2" charset="2"/>
              </a:rPr>
              <a:t>1</a:t>
            </a:r>
            <a:r>
              <a:rPr lang="zh-CN" altLang="en-US" b="1">
                <a:ea typeface="楷体_GB2312" pitchFamily="49" charset="-122"/>
                <a:sym typeface="Symbol" pitchFamily="2" charset="2"/>
              </a:rPr>
              <a:t>代入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中得到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zh-CN" altLang="en-US" b="1">
                <a:ea typeface="楷体_GB2312" pitchFamily="49" charset="-122"/>
              </a:rPr>
              <a:t>的一维分布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；</a:t>
            </a:r>
            <a:endParaRPr lang="en-US" altLang="zh-CN" b="1">
              <a:ea typeface="楷体_GB2312" pitchFamily="49" charset="-122"/>
            </a:endParaRPr>
          </a:p>
          <a:p>
            <a:r>
              <a:rPr lang="zh-CN" altLang="en-US" b="1">
                <a:ea typeface="楷体_GB2312" pitchFamily="49" charset="-122"/>
              </a:rPr>
              <a:t>由</a:t>
            </a:r>
            <a:r>
              <a:rPr lang="en-US" altLang="zh-CN" b="1" i="1">
                <a:ea typeface="楷体_GB2312" pitchFamily="49" charset="-122"/>
              </a:rPr>
              <a:t>f</a:t>
            </a:r>
            <a:r>
              <a:rPr lang="en-US" altLang="zh-CN" b="1">
                <a:ea typeface="楷体_GB2312" pitchFamily="49" charset="-122"/>
              </a:rPr>
              <a:t>(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en-US" altLang="zh-CN" b="1">
                <a:ea typeface="楷体_GB2312" pitchFamily="49" charset="-122"/>
              </a:rPr>
              <a:t>| </a:t>
            </a:r>
            <a:r>
              <a:rPr lang="en-US" altLang="zh-CN" b="1" i="1"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 baseline="-25000">
                <a:ea typeface="楷体_GB2312" pitchFamily="49" charset="-122"/>
              </a:rPr>
              <a:t>1</a:t>
            </a:r>
            <a:r>
              <a:rPr lang="en-US" altLang="zh-CN" b="1">
                <a:ea typeface="楷体_GB2312" pitchFamily="49" charset="-122"/>
              </a:rPr>
              <a:t>)</a:t>
            </a:r>
            <a:r>
              <a:rPr lang="zh-CN" altLang="en-US" b="1">
                <a:ea typeface="楷体_GB2312" pitchFamily="49" charset="-122"/>
              </a:rPr>
              <a:t>抽样得到</a:t>
            </a:r>
            <a:r>
              <a:rPr lang="en-US" altLang="zh-CN" b="1" i="1">
                <a:ea typeface="楷体_GB2312" pitchFamily="49" charset="-122"/>
              </a:rPr>
              <a:t>x</a:t>
            </a:r>
            <a:r>
              <a:rPr lang="en-US" altLang="zh-CN" b="1" baseline="-25000">
                <a:ea typeface="楷体_GB2312" pitchFamily="49" charset="-122"/>
              </a:rPr>
              <a:t>2</a:t>
            </a:r>
            <a:r>
              <a:rPr lang="zh-CN" altLang="en-US" b="1">
                <a:ea typeface="楷体_GB2312" pitchFamily="49" charset="-122"/>
              </a:rPr>
              <a:t>的随机数</a:t>
            </a:r>
            <a:r>
              <a:rPr lang="en-US" altLang="zh-CN" b="1">
                <a:ea typeface="楷体_GB2312" pitchFamily="49" charset="-122"/>
                <a:sym typeface="Symbol" pitchFamily="2" charset="2"/>
              </a:rPr>
              <a:t></a:t>
            </a:r>
            <a:r>
              <a:rPr lang="en-US" altLang="zh-CN" b="1" baseline="-25000">
                <a:ea typeface="楷体_GB2312" pitchFamily="49" charset="-122"/>
                <a:sym typeface="Symbol" pitchFamily="2" charset="2"/>
              </a:rPr>
              <a:t>2</a:t>
            </a:r>
            <a:r>
              <a:rPr lang="zh-CN" altLang="en-US" b="1">
                <a:ea typeface="楷体_GB2312" pitchFamily="49" charset="-122"/>
                <a:sym typeface="Symbol" pitchFamily="2" charset="2"/>
              </a:rPr>
              <a:t>，</a:t>
            </a:r>
            <a:r>
              <a:rPr lang="en-US" altLang="zh-CN" b="1">
                <a:ea typeface="楷体_GB2312" pitchFamily="49" charset="-122"/>
                <a:sym typeface="Symbol" pitchFamily="2" charset="2"/>
              </a:rPr>
              <a:t>…</a:t>
            </a:r>
          </a:p>
        </p:txBody>
      </p:sp>
    </p:spTree>
  </p:cSld>
  <p:clrMapOvr>
    <a:masterClrMapping/>
  </p:clrMapOvr>
  <p:transition>
    <p:rand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6E617B-7132-7EEB-60C0-6F87E9E73F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066801"/>
            <a:ext cx="7772400" cy="79851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Monte Carlo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模拟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70444E0-0E37-D9D4-396D-CD7E796A8E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90800" y="2362200"/>
            <a:ext cx="7162800" cy="11430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第三章</a:t>
            </a:r>
            <a:r>
              <a:rPr lang="en-US" altLang="zh-CN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 </a:t>
            </a:r>
            <a:r>
              <a:rPr lang="zh-CN" altLang="en-US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从概率分布函数的抽样</a:t>
            </a:r>
            <a:br>
              <a:rPr lang="en-US" altLang="zh-CN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</a:br>
            <a:r>
              <a:rPr lang="en-US" altLang="zh-CN" sz="2000" b="1">
                <a:solidFill>
                  <a:srgbClr val="050507"/>
                </a:solidFill>
                <a:latin typeface="Comic Sans MS" charset="0"/>
                <a:ea typeface="楷体_GB2312" charset="0"/>
                <a:cs typeface="楷体_GB2312" charset="0"/>
              </a:rPr>
              <a:t>(Sampling from Probability Distribution Functions)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6AC197E-AD5B-E338-EF04-94B524940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86200"/>
            <a:ext cx="518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3200" b="1" dirty="0">
                <a:solidFill>
                  <a:srgbClr val="030305"/>
                </a:solidFill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3200" b="1" dirty="0">
                <a:solidFill>
                  <a:srgbClr val="030305"/>
                </a:solidFill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</p:spTree>
  </p:cSld>
  <p:clrMapOvr>
    <a:masterClrMapping/>
  </p:clrMapOvr>
  <p:transition>
    <p:rand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E68E2E7-387C-BD8E-3C3B-B59561170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751E659-5084-73A4-AED1-6C9B1D5A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838200"/>
            <a:ext cx="883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defRPr/>
            </a:pP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由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Metropolis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、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Rosenbluth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和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Teller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在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1953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年提出的一种抽样方法</a:t>
            </a:r>
          </a:p>
        </p:txBody>
      </p:sp>
      <p:sp>
        <p:nvSpPr>
          <p:cNvPr id="3107" name="Text Box 35">
            <a:extLst>
              <a:ext uri="{FF2B5EF4-FFF2-40B4-BE49-F238E27FC236}">
                <a16:creationId xmlns:a16="http://schemas.microsoft.com/office/drawing/2014/main" id="{9E9B3A0D-2939-C549-C9B7-ECC2C0CA6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946275"/>
            <a:ext cx="6262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84150" indent="-18415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设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为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</a:rPr>
              <a:t>d</a:t>
            </a: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维随机向量，其概率密度函数为</a:t>
            </a:r>
            <a:r>
              <a:rPr lang="en-US" altLang="zh-CN" b="1" i="1">
                <a:solidFill>
                  <a:srgbClr val="000000"/>
                </a:solidFill>
                <a:ea typeface="楷体_GB2312" charset="0"/>
                <a:cs typeface="楷体_GB2312" charset="0"/>
              </a:rPr>
              <a:t>w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</a:rPr>
              <a:t>(X)</a:t>
            </a:r>
          </a:p>
        </p:txBody>
      </p:sp>
      <p:sp>
        <p:nvSpPr>
          <p:cNvPr id="3108" name="Text Box 36">
            <a:extLst>
              <a:ext uri="{FF2B5EF4-FFF2-40B4-BE49-F238E27FC236}">
                <a16:creationId xmlns:a16="http://schemas.microsoft.com/office/drawing/2014/main" id="{1DF28CE0-7C45-4DEE-E145-33C60B076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810001"/>
            <a:ext cx="6477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通过在</a:t>
            </a:r>
            <a:r>
              <a:rPr lang="en-US" altLang="zh-CN" b="1" i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d </a:t>
            </a:r>
            <a:r>
              <a:rPr lang="zh-CN" altLang="en-US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维空间中的随机行走来产生</a:t>
            </a:r>
            <a:r>
              <a:rPr lang="en-US" altLang="zh-CN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的随机取样，利用</a:t>
            </a:r>
            <a:r>
              <a:rPr lang="en-US" altLang="zh-CN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 </a:t>
            </a:r>
            <a:r>
              <a:rPr lang="en-US" altLang="zh-CN" b="1" i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w</a:t>
            </a:r>
            <a:r>
              <a:rPr lang="en-US" altLang="zh-CN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(X)</a:t>
            </a:r>
            <a:r>
              <a:rPr lang="zh-CN" altLang="en-US" b="1">
                <a:solidFill>
                  <a:srgbClr val="FF0000"/>
                </a:solidFill>
                <a:latin typeface="Times New Roman" charset="0"/>
                <a:ea typeface="楷体_GB2312" charset="0"/>
                <a:cs typeface="楷体_GB2312" charset="0"/>
              </a:rPr>
              <a:t>来选取每一步行走的步长和方向</a:t>
            </a:r>
          </a:p>
        </p:txBody>
      </p:sp>
      <p:sp>
        <p:nvSpPr>
          <p:cNvPr id="3109" name="Text Box 37">
            <a:extLst>
              <a:ext uri="{FF2B5EF4-FFF2-40B4-BE49-F238E27FC236}">
                <a16:creationId xmlns:a16="http://schemas.microsoft.com/office/drawing/2014/main" id="{6E0411CE-C56A-EA9D-F084-4862B05CA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2590800"/>
            <a:ext cx="363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84150" indent="-18415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Char char="•"/>
              <a:defRPr/>
            </a:pP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欲产生一组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的随机值：</a:t>
            </a:r>
          </a:p>
        </p:txBody>
      </p:sp>
      <p:graphicFrame>
        <p:nvGraphicFramePr>
          <p:cNvPr id="4102" name="Object 38">
            <a:extLst>
              <a:ext uri="{FF2B5EF4-FFF2-40B4-BE49-F238E27FC236}">
                <a16:creationId xmlns:a16="http://schemas.microsoft.com/office/drawing/2014/main" id="{A8671772-D6A2-44A0-0BB9-3B2230AEE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124200"/>
          <a:ext cx="17399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967200" imgH="5270500" progId="Equation.3">
                  <p:embed/>
                </p:oleObj>
              </mc:Choice>
              <mc:Fallback>
                <p:oleObj name="Equation" r:id="rId2" imgW="16967200" imgH="5270500" progId="Equation.3">
                  <p:embed/>
                  <p:pic>
                    <p:nvPicPr>
                      <p:cNvPr id="4102" name="Object 38">
                        <a:extLst>
                          <a:ext uri="{FF2B5EF4-FFF2-40B4-BE49-F238E27FC236}">
                            <a16:creationId xmlns:a16="http://schemas.microsoft.com/office/drawing/2014/main" id="{A8671772-D6A2-44A0-0BB9-3B2230AEE0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124200"/>
                        <a:ext cx="17399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1" name="Text Box 39">
            <a:extLst>
              <a:ext uri="{FF2B5EF4-FFF2-40B4-BE49-F238E27FC236}">
                <a16:creationId xmlns:a16="http://schemas.microsoft.com/office/drawing/2014/main" id="{30073446-9CD9-6C67-ED23-B01F7536D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689476"/>
            <a:ext cx="6248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设已产生了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i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个随机值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 baseline="-25000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i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，以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 baseline="-25000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i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为基点随机选取一新的试验点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 baseline="-25000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t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，根据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w(X)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决定是否接受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 baseline="-25000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t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作为新的点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en-US" altLang="zh-CN" b="1" baseline="-25000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i+1</a:t>
            </a:r>
          </a:p>
        </p:txBody>
      </p:sp>
    </p:spTree>
  </p:cSld>
  <p:clrMapOvr>
    <a:masterClrMapping/>
  </p:clrMapOvr>
  <p:transition>
    <p:rand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CABE7E0-7C7A-F35B-A7E9-D2049E7A5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4128" name="Text Box 32">
            <a:extLst>
              <a:ext uri="{FF2B5EF4-FFF2-40B4-BE49-F238E27FC236}">
                <a16:creationId xmlns:a16="http://schemas.microsoft.com/office/drawing/2014/main" id="{647A4243-3644-525A-B4B2-6E6E04551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6" y="803275"/>
            <a:ext cx="24118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Metropolis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抽样方法：</a:t>
            </a:r>
          </a:p>
        </p:txBody>
      </p:sp>
      <p:sp>
        <p:nvSpPr>
          <p:cNvPr id="4131" name="Rectangle 35">
            <a:extLst>
              <a:ext uri="{FF2B5EF4-FFF2-40B4-BE49-F238E27FC236}">
                <a16:creationId xmlns:a16="http://schemas.microsoft.com/office/drawing/2014/main" id="{5BE4FEE3-8E46-2B34-68BD-1268B50F7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95600"/>
            <a:ext cx="6400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产生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d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个在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(-1,1)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区间上均匀分布的随机数</a:t>
            </a:r>
            <a:endParaRPr lang="zh-CN" altLang="en-US" b="1" i="1" baseline="-25000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  <a:sym typeface="Symbol" charset="0"/>
            </a:endParaRPr>
          </a:p>
        </p:txBody>
      </p:sp>
      <p:sp>
        <p:nvSpPr>
          <p:cNvPr id="4132" name="Rectangle 36">
            <a:extLst>
              <a:ext uri="{FF2B5EF4-FFF2-40B4-BE49-F238E27FC236}">
                <a16:creationId xmlns:a16="http://schemas.microsoft.com/office/drawing/2014/main" id="{4A82AB35-CA0D-99B4-E3E9-959CE4B48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429000"/>
            <a:ext cx="3200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buFontTx/>
              <a:buAutoNum type="arabicPeriod" startAt="2"/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计算新的尝试点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:</a:t>
            </a:r>
          </a:p>
        </p:txBody>
      </p:sp>
      <p:sp>
        <p:nvSpPr>
          <p:cNvPr id="4133" name="Rectangle 37">
            <a:extLst>
              <a:ext uri="{FF2B5EF4-FFF2-40B4-BE49-F238E27FC236}">
                <a16:creationId xmlns:a16="http://schemas.microsoft.com/office/drawing/2014/main" id="{8A38FDA3-88A2-2964-210E-12EC7C56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3962400"/>
            <a:ext cx="50196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buFontTx/>
              <a:buAutoNum type="arabicPeriod" startAt="3"/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计算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w(X)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函数在两点处的数值比</a:t>
            </a:r>
          </a:p>
        </p:txBody>
      </p:sp>
      <p:graphicFrame>
        <p:nvGraphicFramePr>
          <p:cNvPr id="5126" name="Object 38">
            <a:extLst>
              <a:ext uri="{FF2B5EF4-FFF2-40B4-BE49-F238E27FC236}">
                <a16:creationId xmlns:a16="http://schemas.microsoft.com/office/drawing/2014/main" id="{DBDCDA7A-34DC-55DE-508B-56160DA75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1" y="3429001"/>
          <a:ext cx="19462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21900" imgH="5562600" progId="Equation.3">
                  <p:embed/>
                </p:oleObj>
              </mc:Choice>
              <mc:Fallback>
                <p:oleObj name="Equation" r:id="rId2" imgW="22821900" imgH="5562600" progId="Equation.3">
                  <p:embed/>
                  <p:pic>
                    <p:nvPicPr>
                      <p:cNvPr id="5126" name="Object 38">
                        <a:extLst>
                          <a:ext uri="{FF2B5EF4-FFF2-40B4-BE49-F238E27FC236}">
                            <a16:creationId xmlns:a16="http://schemas.microsoft.com/office/drawing/2014/main" id="{DBDCDA7A-34DC-55DE-508B-56160DA758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1" y="3429001"/>
                        <a:ext cx="19462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39">
            <a:extLst>
              <a:ext uri="{FF2B5EF4-FFF2-40B4-BE49-F238E27FC236}">
                <a16:creationId xmlns:a16="http://schemas.microsoft.com/office/drawing/2014/main" id="{131F1BCE-EBB7-365B-93FC-C33230685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1" y="3810001"/>
          <a:ext cx="10001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30400" imgH="10528300" progId="Equation.3">
                  <p:embed/>
                </p:oleObj>
              </mc:Choice>
              <mc:Fallback>
                <p:oleObj name="Equation" r:id="rId4" imgW="14630400" imgH="10528300" progId="Equation.3">
                  <p:embed/>
                  <p:pic>
                    <p:nvPicPr>
                      <p:cNvPr id="5127" name="Object 39">
                        <a:extLst>
                          <a:ext uri="{FF2B5EF4-FFF2-40B4-BE49-F238E27FC236}">
                            <a16:creationId xmlns:a16="http://schemas.microsoft.com/office/drawing/2014/main" id="{131F1BCE-EBB7-365B-93FC-C332306855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3810001"/>
                        <a:ext cx="10001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6" name="Text Box 40">
            <a:extLst>
              <a:ext uri="{FF2B5EF4-FFF2-40B4-BE49-F238E27FC236}">
                <a16:creationId xmlns:a16="http://schemas.microsoft.com/office/drawing/2014/main" id="{3AB8F527-40D9-4329-D9C2-AFF2D99F6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648200"/>
            <a:ext cx="588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AutoNum type="arabicPeriod" startAt="4"/>
              <a:defRPr/>
            </a:pP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产生在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</a:rPr>
              <a:t>(0,1)</a:t>
            </a: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</a:rPr>
              <a:t>区间内均匀分布的随机数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  <a:sym typeface="Symbol" charset="0"/>
              </a:rPr>
              <a:t></a:t>
            </a:r>
            <a:endParaRPr lang="en-US" altLang="zh-CN" b="1">
              <a:solidFill>
                <a:srgbClr val="000000"/>
              </a:solidFill>
              <a:ea typeface="楷体_GB2312" charset="0"/>
              <a:cs typeface="楷体_GB2312" charset="0"/>
            </a:endParaRPr>
          </a:p>
        </p:txBody>
      </p:sp>
      <p:sp>
        <p:nvSpPr>
          <p:cNvPr id="4137" name="Text Box 41">
            <a:extLst>
              <a:ext uri="{FF2B5EF4-FFF2-40B4-BE49-F238E27FC236}">
                <a16:creationId xmlns:a16="http://schemas.microsoft.com/office/drawing/2014/main" id="{CA8880C0-DC71-75B0-8A54-285AF9583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181600"/>
            <a:ext cx="838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Tx/>
              <a:buAutoNum type="arabicPeriod" startAt="6"/>
              <a:defRPr/>
            </a:pP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  <a:sym typeface="Symbol" charset="0"/>
              </a:rPr>
              <a:t>如果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  <a:sym typeface="Symbol" charset="0"/>
              </a:rPr>
              <a:t>r  </a:t>
            </a:r>
            <a:r>
              <a: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  <a:sym typeface="Symbol" charset="0"/>
              </a:rPr>
              <a:t>，则令</a:t>
            </a:r>
            <a:r>
              <a:rPr lang="en-US" altLang="zh-CN" b="1">
                <a:solidFill>
                  <a:srgbClr val="000000"/>
                </a:solidFill>
                <a:ea typeface="楷体_GB2312" charset="0"/>
                <a:cs typeface="楷体_GB2312" charset="0"/>
                <a:sym typeface="Symbol" charset="0"/>
              </a:rPr>
              <a:t>, </a:t>
            </a:r>
            <a:endParaRPr lang="en-US" altLang="zh-CN" b="1" i="1" baseline="-25000">
              <a:solidFill>
                <a:srgbClr val="000000"/>
              </a:solidFill>
              <a:ea typeface="楷体_GB2312" charset="0"/>
              <a:cs typeface="楷体_GB2312" charset="0"/>
              <a:sym typeface="Symbol" charset="0"/>
            </a:endParaRPr>
          </a:p>
        </p:txBody>
      </p:sp>
      <p:grpSp>
        <p:nvGrpSpPr>
          <p:cNvPr id="5130" name="Group 45">
            <a:extLst>
              <a:ext uri="{FF2B5EF4-FFF2-40B4-BE49-F238E27FC236}">
                <a16:creationId xmlns:a16="http://schemas.microsoft.com/office/drawing/2014/main" id="{85D09753-C0CB-6117-EE7C-F506EAE42A5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371600"/>
            <a:ext cx="5105400" cy="457200"/>
            <a:chOff x="480" y="912"/>
            <a:chExt cx="3216" cy="288"/>
          </a:xfrm>
        </p:grpSpPr>
        <p:sp>
          <p:nvSpPr>
            <p:cNvPr id="4129" name="Text Box 33">
              <a:extLst>
                <a:ext uri="{FF2B5EF4-FFF2-40B4-BE49-F238E27FC236}">
                  <a16:creationId xmlns:a16="http://schemas.microsoft.com/office/drawing/2014/main" id="{54886EDF-F705-32FA-2F88-3EBDB775E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912"/>
              <a:ext cx="21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3716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8288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2860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zh-CN" altLang="en-US" b="1">
                  <a:solidFill>
                    <a:srgbClr val="000000"/>
                  </a:solidFill>
                  <a:latin typeface="楷体_GB2312" charset="0"/>
                  <a:ea typeface="楷体_GB2312" charset="0"/>
                  <a:cs typeface="楷体_GB2312" charset="0"/>
                </a:rPr>
                <a:t>选择参数</a:t>
              </a:r>
              <a:r>
                <a:rPr lang="en-US" altLang="zh-CN" b="1" i="1">
                  <a:solidFill>
                    <a:srgbClr val="000000"/>
                  </a:solidFill>
                  <a:latin typeface="楷体_GB2312" charset="0"/>
                  <a:ea typeface="楷体_GB2312" charset="0"/>
                  <a:cs typeface="楷体_GB2312" charset="0"/>
                  <a:sym typeface="Symbol" charset="0"/>
                </a:rPr>
                <a:t> </a:t>
              </a:r>
              <a:r>
                <a:rPr lang="zh-CN" altLang="en-US" b="1">
                  <a:solidFill>
                    <a:srgbClr val="000000"/>
                  </a:solidFill>
                  <a:latin typeface="楷体_GB2312" charset="0"/>
                  <a:ea typeface="楷体_GB2312" charset="0"/>
                  <a:cs typeface="楷体_GB2312" charset="0"/>
                  <a:sym typeface="Symbol" charset="0"/>
                </a:rPr>
                <a:t>和</a:t>
              </a:r>
              <a:r>
                <a:rPr lang="zh-CN" altLang="en-US" b="1">
                  <a:solidFill>
                    <a:srgbClr val="000000"/>
                  </a:solidFill>
                  <a:ea typeface="楷体_GB2312" charset="0"/>
                  <a:cs typeface="楷体_GB2312" charset="0"/>
                </a:rPr>
                <a:t>初始点</a:t>
              </a:r>
              <a:endParaRPr lang="zh-CN" altLang="en-US" b="1">
                <a:solidFill>
                  <a:srgbClr val="000000"/>
                </a:solidFill>
                <a:ea typeface="楷体_GB2312" charset="0"/>
                <a:cs typeface="楷体_GB2312" charset="0"/>
                <a:sym typeface="Symbol" charset="0"/>
              </a:endParaRPr>
            </a:p>
          </p:txBody>
        </p:sp>
        <p:graphicFrame>
          <p:nvGraphicFramePr>
            <p:cNvPr id="5138" name="Object 43">
              <a:extLst>
                <a:ext uri="{FF2B5EF4-FFF2-40B4-BE49-F238E27FC236}">
                  <a16:creationId xmlns:a16="http://schemas.microsoft.com/office/drawing/2014/main" id="{A3ED755B-BD9D-9FB3-3ACF-63097E3699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912"/>
            <a:ext cx="13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9552900" imgH="5270500" progId="Equation.3">
                    <p:embed/>
                  </p:oleObj>
                </mc:Choice>
                <mc:Fallback>
                  <p:oleObj name="Equation" r:id="rId6" imgW="29552900" imgH="5270500" progId="Equation.3">
                    <p:embed/>
                    <p:pic>
                      <p:nvPicPr>
                        <p:cNvPr id="5138" name="Object 43">
                          <a:extLst>
                            <a:ext uri="{FF2B5EF4-FFF2-40B4-BE49-F238E27FC236}">
                              <a16:creationId xmlns:a16="http://schemas.microsoft.com/office/drawing/2014/main" id="{A3ED755B-BD9D-9FB3-3ACF-63097E3699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912"/>
                          <a:ext cx="13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40" name="Text Box 44">
            <a:extLst>
              <a:ext uri="{FF2B5EF4-FFF2-40B4-BE49-F238E27FC236}">
                <a16:creationId xmlns:a16="http://schemas.microsoft.com/office/drawing/2014/main" id="{3BF1DCF6-A282-7E9D-E3B0-37B5A40D4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8458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设已产生了第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i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个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的随机值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    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，</a:t>
            </a:r>
            <a:r>
              <a:rPr lang="zh-CN" altLang="en-US" b="1">
                <a:solidFill>
                  <a:srgbClr val="000000"/>
                </a:solidFill>
                <a:latin typeface="楷体_GB2312" charset="0"/>
                <a:ea typeface="楷体_GB2312" charset="0"/>
                <a:cs typeface="楷体_GB2312" charset="0"/>
              </a:rPr>
              <a:t>则第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i+1</a:t>
            </a:r>
            <a:r>
              <a:rPr lang="zh-CN" altLang="en-US" b="1">
                <a:solidFill>
                  <a:srgbClr val="000000"/>
                </a:solidFill>
                <a:latin typeface="楷体_GB2312" charset="0"/>
                <a:ea typeface="楷体_GB2312" charset="0"/>
                <a:cs typeface="楷体_GB2312" charset="0"/>
              </a:rPr>
              <a:t>个随机值由下列步骤产生：</a:t>
            </a:r>
            <a:endParaRPr lang="zh-CN" altLang="en-US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5132" name="Object 46">
            <a:extLst>
              <a:ext uri="{FF2B5EF4-FFF2-40B4-BE49-F238E27FC236}">
                <a16:creationId xmlns:a16="http://schemas.microsoft.com/office/drawing/2014/main" id="{25801AA6-6E9C-C12B-4C5D-FCEA2272B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1905000"/>
          <a:ext cx="381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05200" imgH="5270500" progId="Equation.3">
                  <p:embed/>
                </p:oleObj>
              </mc:Choice>
              <mc:Fallback>
                <p:oleObj name="Equation" r:id="rId8" imgW="3505200" imgH="5270500" progId="Equation.3">
                  <p:embed/>
                  <p:pic>
                    <p:nvPicPr>
                      <p:cNvPr id="5132" name="Object 46">
                        <a:extLst>
                          <a:ext uri="{FF2B5EF4-FFF2-40B4-BE49-F238E27FC236}">
                            <a16:creationId xmlns:a16="http://schemas.microsoft.com/office/drawing/2014/main" id="{25801AA6-6E9C-C12B-4C5D-FCEA2272B3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05000"/>
                        <a:ext cx="381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49">
            <a:extLst>
              <a:ext uri="{FF2B5EF4-FFF2-40B4-BE49-F238E27FC236}">
                <a16:creationId xmlns:a16="http://schemas.microsoft.com/office/drawing/2014/main" id="{5F2DE722-35D2-327F-D298-80AFEA7656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7800" y="2895600"/>
          <a:ext cx="16002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37700" imgH="5562600" progId="Equation.3">
                  <p:embed/>
                </p:oleObj>
              </mc:Choice>
              <mc:Fallback>
                <p:oleObj name="Equation" r:id="rId10" imgW="22237700" imgH="5562600" progId="Equation.3">
                  <p:embed/>
                  <p:pic>
                    <p:nvPicPr>
                      <p:cNvPr id="5133" name="Object 49">
                        <a:extLst>
                          <a:ext uri="{FF2B5EF4-FFF2-40B4-BE49-F238E27FC236}">
                            <a16:creationId xmlns:a16="http://schemas.microsoft.com/office/drawing/2014/main" id="{5F2DE722-35D2-327F-D298-80AFEA7656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0" y="2895600"/>
                        <a:ext cx="16002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50">
            <a:extLst>
              <a:ext uri="{FF2B5EF4-FFF2-40B4-BE49-F238E27FC236}">
                <a16:creationId xmlns:a16="http://schemas.microsoft.com/office/drawing/2014/main" id="{443D5D87-8F8F-24C2-2D2B-08294A9C4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5181601"/>
          <a:ext cx="10223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01500" imgH="5562600" progId="Equation.3">
                  <p:embed/>
                </p:oleObj>
              </mc:Choice>
              <mc:Fallback>
                <p:oleObj name="Equation" r:id="rId12" imgW="12001500" imgH="5562600" progId="Equation.3">
                  <p:embed/>
                  <p:pic>
                    <p:nvPicPr>
                      <p:cNvPr id="5134" name="Object 50">
                        <a:extLst>
                          <a:ext uri="{FF2B5EF4-FFF2-40B4-BE49-F238E27FC236}">
                            <a16:creationId xmlns:a16="http://schemas.microsoft.com/office/drawing/2014/main" id="{443D5D87-8F8F-24C2-2D2B-08294A9C4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181601"/>
                        <a:ext cx="10223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" name="Rectangle 51">
            <a:extLst>
              <a:ext uri="{FF2B5EF4-FFF2-40B4-BE49-F238E27FC236}">
                <a16:creationId xmlns:a16="http://schemas.microsoft.com/office/drawing/2014/main" id="{DEA16FB6-8C78-81FD-9C8E-461B85B81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5638800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否则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, </a:t>
            </a:r>
            <a:endParaRPr lang="en-US" altLang="zh-CN" b="1" i="1" baseline="-25000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  <a:sym typeface="Symbol" charset="0"/>
            </a:endParaRPr>
          </a:p>
        </p:txBody>
      </p:sp>
      <p:graphicFrame>
        <p:nvGraphicFramePr>
          <p:cNvPr id="5136" name="Object 52">
            <a:extLst>
              <a:ext uri="{FF2B5EF4-FFF2-40B4-BE49-F238E27FC236}">
                <a16:creationId xmlns:a16="http://schemas.microsoft.com/office/drawing/2014/main" id="{87A88A00-278C-36F3-FBA4-36EC808E5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6914" y="5651501"/>
          <a:ext cx="9985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696700" imgH="5270500" progId="Equation.3">
                  <p:embed/>
                </p:oleObj>
              </mc:Choice>
              <mc:Fallback>
                <p:oleObj name="Equation" r:id="rId14" imgW="11696700" imgH="5270500" progId="Equation.3">
                  <p:embed/>
                  <p:pic>
                    <p:nvPicPr>
                      <p:cNvPr id="5136" name="Object 52">
                        <a:extLst>
                          <a:ext uri="{FF2B5EF4-FFF2-40B4-BE49-F238E27FC236}">
                            <a16:creationId xmlns:a16="http://schemas.microsoft.com/office/drawing/2014/main" id="{87A88A00-278C-36F3-FBA4-36EC808E5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4" y="5651501"/>
                        <a:ext cx="9985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8430DF3-7F87-B24C-E05B-19DC7C9B5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9ECD23CC-8B8B-A070-6BEE-783E7ADB2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7120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证明</a:t>
            </a:r>
            <a:r>
              <a:rPr lang="en-US" altLang="zh-CN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: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EC1B32E7-CB50-E5CA-C4CC-DB9AB74E6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219200"/>
            <a:ext cx="8534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考虑一群数目很大的行走者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每个行走者在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空间中从不同的起始点相互独立地行走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4A5D6E71-ED23-F29D-AD2F-CDA28E4B9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133600"/>
            <a:ext cx="51106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en-US" altLang="zh-CN" b="1" baseline="-25000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(X): 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经过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步行走后在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点处的行走者的数目。</a:t>
            </a:r>
          </a:p>
        </p:txBody>
      </p:sp>
      <p:sp>
        <p:nvSpPr>
          <p:cNvPr id="5136" name="Text Box 16">
            <a:extLst>
              <a:ext uri="{FF2B5EF4-FFF2-40B4-BE49-F238E27FC236}">
                <a16:creationId xmlns:a16="http://schemas.microsoft.com/office/drawing/2014/main" id="{F876C45D-9A21-DDF2-AC00-E7D65A134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2708275"/>
            <a:ext cx="43556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在第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n+1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步：从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点到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点的行走者的数目</a:t>
            </a:r>
          </a:p>
        </p:txBody>
      </p:sp>
      <p:graphicFrame>
        <p:nvGraphicFramePr>
          <p:cNvPr id="6150" name="Object 17">
            <a:extLst>
              <a:ext uri="{FF2B5EF4-FFF2-40B4-BE49-F238E27FC236}">
                <a16:creationId xmlns:a16="http://schemas.microsoft.com/office/drawing/2014/main" id="{F89FA565-23FE-FF1C-2603-34A4C3BF2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3352801"/>
          <a:ext cx="38100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431400" imgH="16383000" progId="Equation.3">
                  <p:embed/>
                </p:oleObj>
              </mc:Choice>
              <mc:Fallback>
                <p:oleObj name="Equation" r:id="rId2" imgW="73431400" imgH="16383000" progId="Equation.3">
                  <p:embed/>
                  <p:pic>
                    <p:nvPicPr>
                      <p:cNvPr id="6150" name="Object 17">
                        <a:extLst>
                          <a:ext uri="{FF2B5EF4-FFF2-40B4-BE49-F238E27FC236}">
                            <a16:creationId xmlns:a16="http://schemas.microsoft.com/office/drawing/2014/main" id="{F89FA565-23FE-FF1C-2603-34A4C3BF2F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52801"/>
                        <a:ext cx="38100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Text Box 18">
            <a:extLst>
              <a:ext uri="{FF2B5EF4-FFF2-40B4-BE49-F238E27FC236}">
                <a16:creationId xmlns:a16="http://schemas.microsoft.com/office/drawing/2014/main" id="{0E2D2D80-E4D3-AB6B-0C7A-2383225DB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267201"/>
            <a:ext cx="47436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P(X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Y): 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在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点处的行走者行走到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点的几率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  <a:sym typeface="Wingdings" charset="0"/>
            </a:endParaRPr>
          </a:p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P(Y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X): 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在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点处的行走者行走到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点的几率</a:t>
            </a:r>
            <a:endParaRPr lang="zh-CN" altLang="en-US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5139" name="Text Box 19">
            <a:extLst>
              <a:ext uri="{FF2B5EF4-FFF2-40B4-BE49-F238E27FC236}">
                <a16:creationId xmlns:a16="http://schemas.microsoft.com/office/drawing/2014/main" id="{48DE4646-2BF1-3F49-50F0-617FB9189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5064125"/>
            <a:ext cx="30267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达到平衡状态时：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N(X) = 0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6153" name="Object 20">
            <a:extLst>
              <a:ext uri="{FF2B5EF4-FFF2-40B4-BE49-F238E27FC236}">
                <a16:creationId xmlns:a16="http://schemas.microsoft.com/office/drawing/2014/main" id="{BA6C7776-0669-DF2D-0B0E-555B050080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5638800"/>
          <a:ext cx="23685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643800" imgH="9944100" progId="Equation.3">
                  <p:embed/>
                </p:oleObj>
              </mc:Choice>
              <mc:Fallback>
                <p:oleObj name="Equation" r:id="rId4" imgW="45643800" imgH="9944100" progId="Equation.3">
                  <p:embed/>
                  <p:pic>
                    <p:nvPicPr>
                      <p:cNvPr id="6153" name="Object 20">
                        <a:extLst>
                          <a:ext uri="{FF2B5EF4-FFF2-40B4-BE49-F238E27FC236}">
                            <a16:creationId xmlns:a16="http://schemas.microsoft.com/office/drawing/2014/main" id="{BA6C7776-0669-DF2D-0B0E-555B050080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638800"/>
                        <a:ext cx="23685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Text Box 21">
            <a:extLst>
              <a:ext uri="{FF2B5EF4-FFF2-40B4-BE49-F238E27FC236}">
                <a16:creationId xmlns:a16="http://schemas.microsoft.com/office/drawing/2014/main" id="{193B2E05-1E4A-CD65-A611-D8D60C882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410201"/>
            <a:ext cx="3962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0413" indent="-760413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1052513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243013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433513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defRPr/>
            </a:pPr>
            <a:r>
              <a:rPr lang="en-US" altLang="zh-CN" sz="2000" b="1">
                <a:solidFill>
                  <a:srgbClr val="030305"/>
                </a:solidFill>
                <a:ea typeface="楷体_GB2312" charset="0"/>
                <a:cs typeface="楷体_GB2312" charset="0"/>
              </a:rPr>
              <a:t>N</a:t>
            </a:r>
            <a:r>
              <a:rPr lang="en-US" altLang="zh-CN" sz="2000" b="1" baseline="-25000">
                <a:solidFill>
                  <a:srgbClr val="030305"/>
                </a:solidFill>
                <a:ea typeface="楷体_GB2312" charset="0"/>
                <a:cs typeface="楷体_GB2312" charset="0"/>
              </a:rPr>
              <a:t>e</a:t>
            </a:r>
            <a:r>
              <a:rPr lang="en-US" altLang="zh-CN" sz="2000" b="1">
                <a:solidFill>
                  <a:srgbClr val="030305"/>
                </a:solidFill>
                <a:ea typeface="楷体_GB2312" charset="0"/>
                <a:cs typeface="楷体_GB2312" charset="0"/>
              </a:rPr>
              <a:t>(X): </a:t>
            </a:r>
            <a:r>
              <a:rPr lang="zh-CN" altLang="en-US" sz="2000" b="1">
                <a:solidFill>
                  <a:srgbClr val="030305"/>
                </a:solidFill>
                <a:ea typeface="楷体_GB2312" charset="0"/>
                <a:cs typeface="楷体_GB2312" charset="0"/>
              </a:rPr>
              <a:t>在平衡状态时在</a:t>
            </a:r>
            <a:r>
              <a:rPr lang="en-US" altLang="zh-CN" sz="2000" b="1">
                <a:solidFill>
                  <a:srgbClr val="030305"/>
                </a:solidFill>
                <a:ea typeface="楷体_GB2312" charset="0"/>
                <a:cs typeface="楷体_GB2312" charset="0"/>
              </a:rPr>
              <a:t>X</a:t>
            </a:r>
            <a:r>
              <a:rPr lang="zh-CN" altLang="en-US" sz="2000" b="1">
                <a:solidFill>
                  <a:srgbClr val="030305"/>
                </a:solidFill>
                <a:ea typeface="楷体_GB2312" charset="0"/>
                <a:cs typeface="楷体_GB2312" charset="0"/>
              </a:rPr>
              <a:t>点处的行走者的数目。</a:t>
            </a:r>
          </a:p>
        </p:txBody>
      </p:sp>
    </p:spTree>
  </p:cSld>
  <p:clrMapOvr>
    <a:masterClrMapping/>
  </p:clrMapOvr>
  <p:transition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8D42137-ACAD-5FCD-7AFB-D218A1B57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933501C3-78C6-2553-9490-6EAF84335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74700"/>
            <a:ext cx="56497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下面证明利用</a:t>
            </a:r>
            <a:r>
              <a:rPr lang="en-US" altLang="zh-CN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Metropolis</a:t>
            </a:r>
            <a:r>
              <a:rPr lang="zh-CN" altLang="en-US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算法可得到：</a:t>
            </a:r>
            <a:r>
              <a:rPr lang="en-US" altLang="zh-CN" sz="2000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en-US" altLang="zh-CN" sz="2000" b="1" baseline="-25000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e</a:t>
            </a:r>
            <a:r>
              <a:rPr lang="en-US" altLang="zh-CN" sz="2000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(X) ~ w(X)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1112B55-709C-9391-9376-F8031542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41302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在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Metropolis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算法中，由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到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的几率：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86D98FA3-17EC-9060-AA24-A91550DCF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733800"/>
            <a:ext cx="830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如果由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可经过一步到达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Y(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即：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和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都位于边长为</a:t>
            </a:r>
            <a:r>
              <a:rPr lang="en-US" altLang="zh-CN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</a:t>
            </a:r>
            <a:r>
              <a:rPr lang="zh-CN" altLang="en-US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的多维立方体内）</a:t>
            </a:r>
            <a:endParaRPr lang="zh-CN" altLang="en-US" b="1">
              <a:solidFill>
                <a:srgbClr val="030305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15B5593E-6202-20B5-5474-C2496783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828800"/>
            <a:ext cx="3043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宋体" charset="0"/>
              </a:rPr>
              <a:t>P(X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宋体" charset="0"/>
                <a:sym typeface="Wingdings" charset="0"/>
              </a:rPr>
              <a:t>Y) = T(XY)A(XY)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宋体" charset="0"/>
            </a:endParaRP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89AE7C12-B763-D85A-720D-7AC7349BA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2438401"/>
            <a:ext cx="26361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T: 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由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到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走一步的几率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A: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这一步被接受的几率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264EE7A9-7F0C-6435-3064-B7AB8A2BA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710113"/>
            <a:ext cx="21714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宋体" charset="0"/>
              </a:rPr>
              <a:t>T(X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宋体" charset="0"/>
                <a:sym typeface="Wingdings" charset="0"/>
              </a:rPr>
              <a:t>Y) = T(YX)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宋体" charset="0"/>
            </a:endParaRPr>
          </a:p>
        </p:txBody>
      </p:sp>
    </p:spTree>
  </p:cSld>
  <p:clrMapOvr>
    <a:masterClrMapping/>
  </p:clrMapOvr>
  <p:transition>
    <p:rand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707E3BC-9257-71B6-AD59-251FE234B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8B2C0208-3111-98E1-B363-B0260CD4C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762000"/>
            <a:ext cx="62722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根据</a:t>
            </a:r>
            <a:r>
              <a:rPr lang="en-US" altLang="zh-CN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Metropolis</a:t>
            </a:r>
            <a:r>
              <a:rPr lang="zh-CN" altLang="en-US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算法：</a:t>
            </a:r>
            <a:endParaRPr lang="zh-CN" altLang="en-US" sz="2000" b="1">
              <a:solidFill>
                <a:srgbClr val="030305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B53FF205-1F44-47BD-80CD-59D78E779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1" y="1371600"/>
            <a:ext cx="2938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）如果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w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）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&gt; 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w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，则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2C4A9E15-4CE9-0083-B8B7-030293F1E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905000"/>
            <a:ext cx="13805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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) = 1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D8601433-A1C3-739A-99AD-101353111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1" y="5791200"/>
            <a:ext cx="16049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N</a:t>
            </a:r>
            <a:r>
              <a:rPr lang="en-US" altLang="zh-CN" sz="2000" b="1" baseline="-25000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e</a:t>
            </a:r>
            <a:r>
              <a:rPr lang="en-US" altLang="zh-CN" sz="2000" b="1">
                <a:solidFill>
                  <a:srgbClr val="030305"/>
                </a:solidFill>
                <a:latin typeface="Times New Roman" charset="0"/>
                <a:ea typeface="楷体_GB2312" charset="0"/>
                <a:cs typeface="楷体_GB2312" charset="0"/>
              </a:rPr>
              <a:t>(X) ~ w(X)</a:t>
            </a:r>
          </a:p>
        </p:txBody>
      </p:sp>
      <p:graphicFrame>
        <p:nvGraphicFramePr>
          <p:cNvPr id="8198" name="Object 10">
            <a:extLst>
              <a:ext uri="{FF2B5EF4-FFF2-40B4-BE49-F238E27FC236}">
                <a16:creationId xmlns:a16="http://schemas.microsoft.com/office/drawing/2014/main" id="{E7C4364A-65DC-61C3-CEF3-11B883160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514600"/>
          <a:ext cx="23193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34400" imgH="9652000" progId="Equation.3">
                  <p:embed/>
                </p:oleObj>
              </mc:Choice>
              <mc:Fallback>
                <p:oleObj name="Equation" r:id="rId2" imgW="33934400" imgH="9652000" progId="Equation.3">
                  <p:embed/>
                  <p:pic>
                    <p:nvPicPr>
                      <p:cNvPr id="8198" name="Object 10">
                        <a:extLst>
                          <a:ext uri="{FF2B5EF4-FFF2-40B4-BE49-F238E27FC236}">
                            <a16:creationId xmlns:a16="http://schemas.microsoft.com/office/drawing/2014/main" id="{E7C4364A-65DC-61C3-CEF3-11B8831605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514600"/>
                        <a:ext cx="23193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1">
            <a:extLst>
              <a:ext uri="{FF2B5EF4-FFF2-40B4-BE49-F238E27FC236}">
                <a16:creationId xmlns:a16="http://schemas.microsoft.com/office/drawing/2014/main" id="{9C6BACA8-EDDA-AFF9-115E-6EE7364AB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590800"/>
            <a:ext cx="2646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由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到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被接受的几率为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r</a:t>
            </a:r>
          </a:p>
        </p:txBody>
      </p:sp>
      <p:sp>
        <p:nvSpPr>
          <p:cNvPr id="11276" name="Text Box 12">
            <a:extLst>
              <a:ext uri="{FF2B5EF4-FFF2-40B4-BE49-F238E27FC236}">
                <a16:creationId xmlns:a16="http://schemas.microsoft.com/office/drawing/2014/main" id="{D8039888-BA87-8B1E-E6F8-8BFBFF6DC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3163888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endParaRPr lang="en-US" altLang="zh-CN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8201" name="Object 13">
            <a:extLst>
              <a:ext uri="{FF2B5EF4-FFF2-40B4-BE49-F238E27FC236}">
                <a16:creationId xmlns:a16="http://schemas.microsoft.com/office/drawing/2014/main" id="{955D07DF-062E-6543-55E7-9B93C26AA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3200400"/>
          <a:ext cx="12461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990300" imgH="9944100" progId="Equation.3">
                  <p:embed/>
                </p:oleObj>
              </mc:Choice>
              <mc:Fallback>
                <p:oleObj name="Equation" r:id="rId4" imgW="23990300" imgH="9944100" progId="Equation.3">
                  <p:embed/>
                  <p:pic>
                    <p:nvPicPr>
                      <p:cNvPr id="8201" name="Object 13">
                        <a:extLst>
                          <a:ext uri="{FF2B5EF4-FFF2-40B4-BE49-F238E27FC236}">
                            <a16:creationId xmlns:a16="http://schemas.microsoft.com/office/drawing/2014/main" id="{955D07DF-062E-6543-55E7-9B93C26AAF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200400"/>
                        <a:ext cx="12461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" name="Rectangle 20">
            <a:extLst>
              <a:ext uri="{FF2B5EF4-FFF2-40B4-BE49-F238E27FC236}">
                <a16:creationId xmlns:a16="http://schemas.microsoft.com/office/drawing/2014/main" id="{795CCD07-6E18-2081-FED6-30C817EB8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3962400"/>
            <a:ext cx="2938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）如果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w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）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&lt; 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w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Y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，则</a:t>
            </a:r>
          </a:p>
        </p:txBody>
      </p:sp>
      <p:sp>
        <p:nvSpPr>
          <p:cNvPr id="11285" name="Text Box 21">
            <a:extLst>
              <a:ext uri="{FF2B5EF4-FFF2-40B4-BE49-F238E27FC236}">
                <a16:creationId xmlns:a16="http://schemas.microsoft.com/office/drawing/2014/main" id="{AB2934FE-1A31-3070-635A-642C8E2B1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495800"/>
            <a:ext cx="13805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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) = 1</a:t>
            </a:r>
            <a:endParaRPr lang="en-US" altLang="zh-CN" b="1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8204" name="Object 22">
            <a:extLst>
              <a:ext uri="{FF2B5EF4-FFF2-40B4-BE49-F238E27FC236}">
                <a16:creationId xmlns:a16="http://schemas.microsoft.com/office/drawing/2014/main" id="{CC779D6B-0C02-CCCE-E395-955BC52E71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5105400"/>
          <a:ext cx="23193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934400" imgH="9652000" progId="Equation.3">
                  <p:embed/>
                </p:oleObj>
              </mc:Choice>
              <mc:Fallback>
                <p:oleObj name="Equation" r:id="rId6" imgW="33934400" imgH="9652000" progId="Equation.3">
                  <p:embed/>
                  <p:pic>
                    <p:nvPicPr>
                      <p:cNvPr id="8204" name="Object 22">
                        <a:extLst>
                          <a:ext uri="{FF2B5EF4-FFF2-40B4-BE49-F238E27FC236}">
                            <a16:creationId xmlns:a16="http://schemas.microsoft.com/office/drawing/2014/main" id="{CC779D6B-0C02-CCCE-E395-955BC52E71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05400"/>
                        <a:ext cx="23193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Rectangle 23">
            <a:extLst>
              <a:ext uri="{FF2B5EF4-FFF2-40B4-BE49-F238E27FC236}">
                <a16:creationId xmlns:a16="http://schemas.microsoft.com/office/drawing/2014/main" id="{A9F73FBB-19EA-9D77-43C5-5B786977B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81600"/>
            <a:ext cx="2646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由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到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Y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被接受的几率为</a:t>
            </a:r>
            <a:r>
              <a:rPr lang="en-US" altLang="zh-CN" b="1" i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r</a:t>
            </a:r>
          </a:p>
        </p:txBody>
      </p:sp>
      <p:sp>
        <p:nvSpPr>
          <p:cNvPr id="11288" name="Text Box 24">
            <a:extLst>
              <a:ext uri="{FF2B5EF4-FFF2-40B4-BE49-F238E27FC236}">
                <a16:creationId xmlns:a16="http://schemas.microsoft.com/office/drawing/2014/main" id="{F8545055-F4BA-5C34-B019-2479B95CB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5754688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Wingdings" charset="0"/>
              </a:rPr>
              <a:t></a:t>
            </a:r>
            <a:endParaRPr lang="en-US" altLang="zh-CN">
              <a:solidFill>
                <a:srgbClr val="00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graphicFrame>
        <p:nvGraphicFramePr>
          <p:cNvPr id="8207" name="Object 25">
            <a:extLst>
              <a:ext uri="{FF2B5EF4-FFF2-40B4-BE49-F238E27FC236}">
                <a16:creationId xmlns:a16="http://schemas.microsoft.com/office/drawing/2014/main" id="{832884DB-DD58-5BEB-BE06-41C6F6CB7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5791200"/>
          <a:ext cx="12461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990300" imgH="9944100" progId="Equation.3">
                  <p:embed/>
                </p:oleObj>
              </mc:Choice>
              <mc:Fallback>
                <p:oleObj name="Equation" r:id="rId4" imgW="23990300" imgH="9944100" progId="Equation.3">
                  <p:embed/>
                  <p:pic>
                    <p:nvPicPr>
                      <p:cNvPr id="8207" name="Object 25">
                        <a:extLst>
                          <a:ext uri="{FF2B5EF4-FFF2-40B4-BE49-F238E27FC236}">
                            <a16:creationId xmlns:a16="http://schemas.microsoft.com/office/drawing/2014/main" id="{832884DB-DD58-5BEB-BE06-41C6F6CB77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791200"/>
                        <a:ext cx="12461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AD21492-E949-86BC-3C60-D027D5255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D3039414-373D-10B7-E9EA-966214847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762000"/>
            <a:ext cx="62722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30305"/>
                </a:solidFill>
                <a:latin typeface="楷体_GB2312" charset="0"/>
                <a:ea typeface="楷体_GB2312" charset="0"/>
                <a:cs typeface="楷体_GB2312" charset="0"/>
              </a:rPr>
              <a:t>注意：</a:t>
            </a:r>
            <a:endParaRPr lang="zh-CN" altLang="en-US" sz="2000" b="1">
              <a:solidFill>
                <a:srgbClr val="030305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2F039E8-C056-24D0-F44F-BA366ECDC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65251"/>
            <a:ext cx="845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5175" indent="-765175"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）关于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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的选取：如果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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太小，要历经整个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X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的取值区间需要行走很长的距离（产生很多的点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；如果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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很大，一步行走被拒绝的几率会很大。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A04337B1-FF96-E7B8-F100-3A78D6BE7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1" y="2667000"/>
            <a:ext cx="39966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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的取值：约有一半的试验行走被接受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61AB09EC-2E2C-7202-652A-CCEE8DB7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3810000"/>
            <a:ext cx="41601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）关于行走的初始点：取</a:t>
            </a:r>
            <a:r>
              <a:rPr lang="en-US" altLang="zh-CN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w</a:t>
            </a:r>
            <a:r>
              <a:rPr lang="zh-CN" altLang="en-US" b="1">
                <a:solidFill>
                  <a:srgbClr val="000000"/>
                </a:solidFill>
                <a:latin typeface="Times New Roman" charset="0"/>
                <a:ea typeface="楷体_GB2312" charset="0"/>
                <a:cs typeface="楷体_GB2312" charset="0"/>
              </a:rPr>
              <a:t>较大的点</a:t>
            </a:r>
          </a:p>
        </p:txBody>
      </p:sp>
    </p:spTree>
  </p:cSld>
  <p:clrMapOvr>
    <a:masterClrMapping/>
  </p:clrMapOvr>
  <p:transition>
    <p:random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383126E-5C82-A74B-7468-02AF21D2B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15240000" cy="92964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3.10 Metropolis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  <a:ea typeface="楷体_GB2312" charset="0"/>
                <a:cs typeface="楷体_GB2312" charset="0"/>
              </a:rPr>
              <a:t>抽样方法</a:t>
            </a:r>
          </a:p>
        </p:txBody>
      </p:sp>
      <p:graphicFrame>
        <p:nvGraphicFramePr>
          <p:cNvPr id="12305" name="Object 17">
            <a:extLst>
              <a:ext uri="{FF2B5EF4-FFF2-40B4-BE49-F238E27FC236}">
                <a16:creationId xmlns:a16="http://schemas.microsoft.com/office/drawing/2014/main" id="{48F9BE36-8BE1-F851-E7A3-13EA91E6A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1371600"/>
          <a:ext cx="20955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203400" imgH="9652000" progId="Equation.3">
                  <p:embed/>
                </p:oleObj>
              </mc:Choice>
              <mc:Fallback>
                <p:oleObj name="Equation" r:id="rId2" imgW="27203400" imgH="9652000" progId="Equation.3">
                  <p:embed/>
                  <p:pic>
                    <p:nvPicPr>
                      <p:cNvPr id="12305" name="Object 17">
                        <a:extLst>
                          <a:ext uri="{FF2B5EF4-FFF2-40B4-BE49-F238E27FC236}">
                            <a16:creationId xmlns:a16="http://schemas.microsoft.com/office/drawing/2014/main" id="{48F9BE36-8BE1-F851-E7A3-13EA91E6A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1371600"/>
                        <a:ext cx="2095500" cy="7445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50000">
                            <a:schemeClr val="bg1"/>
                          </a:gs>
                          <a:gs pos="100000">
                            <a:schemeClr val="hlink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Rectangle 18">
            <a:extLst>
              <a:ext uri="{FF2B5EF4-FFF2-40B4-BE49-F238E27FC236}">
                <a16:creationId xmlns:a16="http://schemas.microsoft.com/office/drawing/2014/main" id="{46D2B5CD-BB1E-1C9E-8200-EFE925280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1" y="858838"/>
            <a:ext cx="26853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例</a:t>
            </a:r>
            <a:r>
              <a:rPr lang="en-US" altLang="zh-CN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1:</a:t>
            </a:r>
            <a:r>
              <a:rPr lang="zh-CN" altLang="en-US" b="1">
                <a:solidFill>
                  <a:srgbClr val="020202"/>
                </a:solidFill>
                <a:latin typeface="Times New Roman" charset="0"/>
                <a:ea typeface="楷体_GB2312" charset="0"/>
                <a:cs typeface="楷体_GB2312" charset="0"/>
                <a:sym typeface="Symbol" charset="0"/>
              </a:rPr>
              <a:t>标准正态分布的抽样</a:t>
            </a:r>
          </a:p>
        </p:txBody>
      </p:sp>
      <p:graphicFrame>
        <p:nvGraphicFramePr>
          <p:cNvPr id="10244" name="Object 19">
            <a:extLst>
              <a:ext uri="{FF2B5EF4-FFF2-40B4-BE49-F238E27FC236}">
                <a16:creationId xmlns:a16="http://schemas.microsoft.com/office/drawing/2014/main" id="{A0FEB8BA-EA8A-4E33-F0E3-E505730D5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2362200"/>
          <a:ext cx="285908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33800" imgH="10820400" progId="Equation.3">
                  <p:embed/>
                </p:oleObj>
              </mc:Choice>
              <mc:Fallback>
                <p:oleObj name="Equation" r:id="rId4" imgW="41833800" imgH="10820400" progId="Equation.3">
                  <p:embed/>
                  <p:pic>
                    <p:nvPicPr>
                      <p:cNvPr id="10244" name="Object 19">
                        <a:extLst>
                          <a:ext uri="{FF2B5EF4-FFF2-40B4-BE49-F238E27FC236}">
                            <a16:creationId xmlns:a16="http://schemas.microsoft.com/office/drawing/2014/main" id="{A0FEB8BA-EA8A-4E33-F0E3-E505730D5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2200"/>
                        <a:ext cx="2859088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17365</TotalTime>
  <Words>8215</Words>
  <Application>Microsoft Macintosh PowerPoint</Application>
  <PresentationFormat>宽屏</PresentationFormat>
  <Paragraphs>873</Paragraphs>
  <Slides>113</Slides>
  <Notes>1</Notes>
  <HiddenSlides>6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113</vt:i4>
      </vt:variant>
    </vt:vector>
  </HeadingPairs>
  <TitlesOfParts>
    <vt:vector size="131" baseType="lpstr">
      <vt:lpstr>等线</vt:lpstr>
      <vt:lpstr>KaiTi</vt:lpstr>
      <vt:lpstr>楷体_GB2312</vt:lpstr>
      <vt:lpstr>Microsoft YaHei</vt:lpstr>
      <vt:lpstr>Aptos</vt:lpstr>
      <vt:lpstr>Aptos Display</vt:lpstr>
      <vt:lpstr>Arial</vt:lpstr>
      <vt:lpstr>Cambria Math</vt:lpstr>
      <vt:lpstr>Comic Sans MS</vt:lpstr>
      <vt:lpstr>Helvetica</vt:lpstr>
      <vt:lpstr>Menlo</vt:lpstr>
      <vt:lpstr>Symbol</vt:lpstr>
      <vt:lpstr>Tahoma</vt:lpstr>
      <vt:lpstr>Times New Roman</vt:lpstr>
      <vt:lpstr>Wingdings</vt:lpstr>
      <vt:lpstr>Office 主题​​</vt:lpstr>
      <vt:lpstr>Equation</vt:lpstr>
      <vt:lpstr>公式</vt:lpstr>
      <vt:lpstr>Monte Carlo模拟</vt:lpstr>
      <vt:lpstr>第三章 从概率分布函数的抽样</vt:lpstr>
      <vt:lpstr>第三章 从概率分布函数的抽样</vt:lpstr>
      <vt:lpstr>PowerPoint 演示文稿</vt:lpstr>
      <vt:lpstr>Monte Carlo模拟</vt:lpstr>
      <vt:lpstr>目录</vt:lpstr>
      <vt:lpstr>3.1 等价的连续概率密度函数</vt:lpstr>
      <vt:lpstr>函数（狄拉克delta）引入</vt:lpstr>
      <vt:lpstr>PowerPoint 演示文稿</vt:lpstr>
      <vt:lpstr>3.1 等价的连续概率密度函数</vt:lpstr>
      <vt:lpstr> 变换的本质是什么？</vt:lpstr>
      <vt:lpstr>Monte Carlo模拟</vt:lpstr>
      <vt:lpstr>3.2 pdf的变换</vt:lpstr>
      <vt:lpstr>PowerPoint 演示文稿</vt:lpstr>
      <vt:lpstr>PowerPoint 演示文稿</vt:lpstr>
      <vt:lpstr>Monte Carlo模拟</vt:lpstr>
      <vt:lpstr>1. 基本原理</vt:lpstr>
      <vt:lpstr>2. 连续型的随机变量的抽样</vt:lpstr>
      <vt:lpstr>2. 连续型的随机变量的抽样</vt:lpstr>
      <vt:lpstr>2. 连续型的随机变量的抽样</vt:lpstr>
      <vt:lpstr>2. 连续型的随机变量的抽样</vt:lpstr>
      <vt:lpstr>3. 离散型的随机变量的抽样</vt:lpstr>
      <vt:lpstr>3. 离散型的随机变量的抽样</vt:lpstr>
      <vt:lpstr>PowerPoint 演示文稿</vt:lpstr>
      <vt:lpstr>3. 离散型的随机变量的抽样</vt:lpstr>
      <vt:lpstr>举例</vt:lpstr>
      <vt:lpstr>4. 几个典型的例子</vt:lpstr>
      <vt:lpstr>小结</vt:lpstr>
      <vt:lpstr>4. 几个典型的例子</vt:lpstr>
      <vt:lpstr>4. 几个典型的例子</vt:lpstr>
      <vt:lpstr>4. 几个典型的例子</vt:lpstr>
      <vt:lpstr>总结</vt:lpstr>
      <vt:lpstr>总结</vt:lpstr>
      <vt:lpstr>从概率分布函数的抽样：问题总结</vt:lpstr>
      <vt:lpstr>4. 几个典型的例子</vt:lpstr>
      <vt:lpstr>4. 几个典型的例子</vt:lpstr>
      <vt:lpstr>Monte Carlo模拟</vt:lpstr>
      <vt:lpstr>1.基本思路</vt:lpstr>
      <vt:lpstr>Monte Carlo模拟</vt:lpstr>
      <vt:lpstr>2.抽样方法</vt:lpstr>
      <vt:lpstr>2.抽样方法</vt:lpstr>
      <vt:lpstr>小结</vt:lpstr>
      <vt:lpstr>2.抽样方法</vt:lpstr>
      <vt:lpstr>Monte Carlo模拟</vt:lpstr>
      <vt:lpstr>3.高斯分布的抽样方法</vt:lpstr>
      <vt:lpstr>3.高斯分布的抽样方法</vt:lpstr>
      <vt:lpstr>3.高斯分布的抽样方法</vt:lpstr>
      <vt:lpstr>3.高斯分布的抽样方法</vt:lpstr>
      <vt:lpstr>PowerPoint 演示文稿</vt:lpstr>
      <vt:lpstr>3.高斯分布的抽样方法</vt:lpstr>
      <vt:lpstr>3.高斯分布的抽样方法</vt:lpstr>
      <vt:lpstr>（Box–Muller 变换）推导思路</vt:lpstr>
      <vt:lpstr>3.高斯分布的抽样方法</vt:lpstr>
      <vt:lpstr>PowerPoint 演示文稿</vt:lpstr>
      <vt:lpstr>3.高斯分布的抽样方法</vt:lpstr>
      <vt:lpstr>3.高斯分布的抽样方法</vt:lpstr>
      <vt:lpstr>3.高斯分布的抽样方法</vt:lpstr>
      <vt:lpstr>3.高斯分布的抽样方法</vt:lpstr>
      <vt:lpstr>3.高斯分布的抽样方法</vt:lpstr>
      <vt:lpstr>PowerPoint 演示文稿</vt:lpstr>
      <vt:lpstr>三种方法输出对比</vt:lpstr>
      <vt:lpstr>Monte Carlo模拟</vt:lpstr>
      <vt:lpstr>3.5 舍选抽样法（acceptance-rejection sampling)</vt:lpstr>
      <vt:lpstr>Monte Carlo模拟</vt:lpstr>
      <vt:lpstr>1. 简单舍选抽样法</vt:lpstr>
      <vt:lpstr>1. 简单舍选抽样法</vt:lpstr>
      <vt:lpstr>1. 简单舍选抽样法</vt:lpstr>
      <vt:lpstr>1. 简单舍选抽样法</vt:lpstr>
      <vt:lpstr>Monte Carlo模拟</vt:lpstr>
      <vt:lpstr>2. 改进的舍选抽样法</vt:lpstr>
      <vt:lpstr>2. 改进的舍选抽样法</vt:lpstr>
      <vt:lpstr>2. 改进的舍选抽样法</vt:lpstr>
      <vt:lpstr>2. 改进的舍选抽样法</vt:lpstr>
      <vt:lpstr>2. 改进的舍选抽样法</vt:lpstr>
      <vt:lpstr>Monte Carlo模拟</vt:lpstr>
      <vt:lpstr>3. 典型的例子</vt:lpstr>
      <vt:lpstr>3. 典型的例子</vt:lpstr>
      <vt:lpstr>3. 典型的例子</vt:lpstr>
      <vt:lpstr>3. 典型的例子</vt:lpstr>
      <vt:lpstr>3. 典型的例子</vt:lpstr>
      <vt:lpstr>3. 典型的例子</vt:lpstr>
      <vt:lpstr>Monte Carlo模拟</vt:lpstr>
      <vt:lpstr>3.6 复合分布的抽样方法（composition method)</vt:lpstr>
      <vt:lpstr>3.6 复合分布的抽样方法（composition method)</vt:lpstr>
      <vt:lpstr>Monte Carlo模拟</vt:lpstr>
      <vt:lpstr>3.7  混合抽样法(mixed method) </vt:lpstr>
      <vt:lpstr>3.7  混合抽样法(mixed method)</vt:lpstr>
      <vt:lpstr>3.7  混合抽样法(mixed method)</vt:lpstr>
      <vt:lpstr>3.7  混合抽样法(mixed method)</vt:lpstr>
      <vt:lpstr>3.7  混合抽样法(mixed method)</vt:lpstr>
      <vt:lpstr>3.7  混合抽样法(mixed method)</vt:lpstr>
      <vt:lpstr>3.7  混合抽样法(mixed method)</vt:lpstr>
      <vt:lpstr>Monte Carlo模拟</vt:lpstr>
      <vt:lpstr>3.8  近似抽样法（列表法)</vt:lpstr>
      <vt:lpstr>3.8  近似抽样法（列表法)</vt:lpstr>
      <vt:lpstr>3.8  近似抽样法（列表法)</vt:lpstr>
      <vt:lpstr>3.8  近似抽样法（列表法)</vt:lpstr>
      <vt:lpstr>3.8  近似抽样法（列表法)</vt:lpstr>
      <vt:lpstr>3.8  近似抽样法（列表法)</vt:lpstr>
      <vt:lpstr>3.8  近似抽样法（列表法)</vt:lpstr>
      <vt:lpstr>Monte Carlo模拟</vt:lpstr>
      <vt:lpstr>3.9 多维分布的抽样</vt:lpstr>
      <vt:lpstr>3.9 多维分布的抽样</vt:lpstr>
      <vt:lpstr>3.9 多维分布的抽样</vt:lpstr>
      <vt:lpstr>3.9 多维分布的抽样</vt:lpstr>
      <vt:lpstr>Monte Carlo模拟</vt:lpstr>
      <vt:lpstr>3.10 Metropolis抽样方法</vt:lpstr>
      <vt:lpstr>3.10 Metropolis抽样方法</vt:lpstr>
      <vt:lpstr>3.10 Metropolis抽样方法</vt:lpstr>
      <vt:lpstr>3.10 Metropolis抽样方法</vt:lpstr>
      <vt:lpstr>3.10 Metropolis抽样方法</vt:lpstr>
      <vt:lpstr>3.10 Metropolis抽样方法</vt:lpstr>
      <vt:lpstr>3.10 Metropolis抽样方法</vt:lpstr>
    </vt:vector>
  </TitlesOfParts>
  <Company>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实验数据处理方法 第二部分：Monte Carlo模拟</dc:title>
  <dc:creator>zhangxy</dc:creator>
  <cp:lastModifiedBy>office</cp:lastModifiedBy>
  <cp:revision>20</cp:revision>
  <dcterms:created xsi:type="dcterms:W3CDTF">2006-02-13T15:22:59Z</dcterms:created>
  <dcterms:modified xsi:type="dcterms:W3CDTF">2026-04-19T04:01:10Z</dcterms:modified>
</cp:coreProperties>
</file>