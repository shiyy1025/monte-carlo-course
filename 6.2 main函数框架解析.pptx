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4"/>
  </p:notesMasterIdLst>
  <p:sldIdLst>
    <p:sldId id="317" r:id="rId2"/>
    <p:sldId id="318" r:id="rId3"/>
    <p:sldId id="319" r:id="rId4"/>
    <p:sldId id="320" r:id="rId5"/>
    <p:sldId id="321" r:id="rId6"/>
    <p:sldId id="322" r:id="rId7"/>
    <p:sldId id="323" r:id="rId8"/>
    <p:sldId id="326" r:id="rId9"/>
    <p:sldId id="327" r:id="rId10"/>
    <p:sldId id="329" r:id="rId11"/>
    <p:sldId id="328" r:id="rId12"/>
    <p:sldId id="331" r:id="rId13"/>
    <p:sldId id="330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1" r:id="rId23"/>
    <p:sldId id="340" r:id="rId24"/>
    <p:sldId id="342" r:id="rId25"/>
    <p:sldId id="344" r:id="rId26"/>
    <p:sldId id="343" r:id="rId27"/>
    <p:sldId id="324" r:id="rId28"/>
    <p:sldId id="325" r:id="rId29"/>
    <p:sldId id="316" r:id="rId30"/>
    <p:sldId id="300" r:id="rId31"/>
    <p:sldId id="271" r:id="rId32"/>
    <p:sldId id="274" r:id="rId33"/>
    <p:sldId id="269" r:id="rId34"/>
    <p:sldId id="278" r:id="rId35"/>
    <p:sldId id="279" r:id="rId36"/>
    <p:sldId id="296" r:id="rId37"/>
    <p:sldId id="295" r:id="rId38"/>
    <p:sldId id="297" r:id="rId39"/>
    <p:sldId id="276" r:id="rId40"/>
    <p:sldId id="287" r:id="rId41"/>
    <p:sldId id="280" r:id="rId42"/>
    <p:sldId id="281" r:id="rId43"/>
    <p:sldId id="282" r:id="rId44"/>
    <p:sldId id="283" r:id="rId45"/>
    <p:sldId id="284" r:id="rId46"/>
    <p:sldId id="304" r:id="rId47"/>
    <p:sldId id="298" r:id="rId48"/>
    <p:sldId id="311" r:id="rId49"/>
    <p:sldId id="299" r:id="rId50"/>
    <p:sldId id="303" r:id="rId51"/>
    <p:sldId id="302" r:id="rId52"/>
    <p:sldId id="313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F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99" autoAdjust="0"/>
    <p:restoredTop sz="94660" autoAdjust="0"/>
  </p:normalViewPr>
  <p:slideViewPr>
    <p:cSldViewPr>
      <p:cViewPr varScale="1">
        <p:scale>
          <a:sx n="116" d="100"/>
          <a:sy n="116" d="100"/>
        </p:scale>
        <p:origin x="1104" y="8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69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7:05:13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1108 182 24575,'-50'0'0,"-21"0"0,-26 0 0,41 0 0,-1 0 0,-2 0 0,1 0 0,2 0 0,2 0 0,-44 0 0,11 1 0,18 5 0,15 12 0,14 12 0,6 16 0,0 11 0,0 9 0,1 3 0,6-1 0,8-3 0,7 2 0,6 4 0,4 5 0,2 4 0,5 2 0,17 4 0,-3-39 0,5-1 0,7 6 0,5-1 0,7 2 0,3-1 0,2 1 0,2-1 0,3-4 0,1-3 0,0-4 0,1-3 0,-2-5 0,1-2 0,1-4 0,1-2 0,-2-2 0,1-3 0,1-2 0,1-2 0,4-3 0,0-2 0,2-3 0,1-2 0,5-3 0,2 0 0,3-2 0,0 0 0,2-1 0,0 0 0,0-1 0,-2-1 0,-4-2 0,-1-3 0,-5-2 0,-1-4 0,-5-2 0,-2-3 0,-4-2 0,-2-2 0,37-25 0,-14-2 0,-15-4 0,-14 0 0,-10-8 0,-5-16 0,-1-18 0,-14 40 0,-2-2 0,-1-2 0,-2 0 0,-2 3 0,-2 3 0,-1-39 0,-4 22 0,0 19 0,0 10 0,0 9 0,0 1 0,0 3 0,-4 4 0,-4-2 0,-10-4 0,-8-9 0,-6-7 0,-5-3 0,-8-1 0,-10 2 0,-14 0 0,-17 0 0,37 23 0,-3 2 0,-6-1 0,-2 1 0,-2 0 0,0 2 0,1 1 0,1 2 0,4 2 0,2 2 0,-35-5 0,12 9 0,12 7 0,2 3 0,-1 0 0,-2 0 0,0 0 0,5 0 0,8-2 0,11 0 0,7-1 0,0 1 0,1 2 0,2 0 0,5 0 0,8 0 0,9 0 0,4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7:05:18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0 697 24575,'37'0'0,"7"0"0,15 0 0,1 1 0,-3 3 0,-11 0 0,-13 1 0,-11-2 0,-11-3 0,-2 0 0,0-2 0,12-16 0,15-28 0,18-30 0,-22 26 0,0-2 0,-1 2 0,-1 1 0,20-31 0,-17 24 0,-15 28 0,-10 11 0,-5 6 0,-3 3 0,2 0 0,4-4 0,5-11 0,6-9 0,3-6 0,0 6 0,-9 15 0,-4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7:17:04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208 455 24575,'0'57'0,"-1"15"0,-6 25 0,0-47 0,-2 2 0,-3 8 0,-2 2 0,-1 3 0,0 0 0,1-1 0,1 1 0,2-2 0,0-2 0,-4 32 0,2-19 0,2-10 0,1-10 0,2-5 0,0 0 0,2-5 0,1-2 0,2-1 0,3-3 0,0 0 0,0 7 0,3 1 0,5 7 0,10 4 0,11-2 0,6-5 0,9-4 0,8-7 0,15-3 0,19-1 0,-36-18 0,2-2 0,6 2 0,1-2 0,4 0 0,1-2 0,4-2 0,1-2 0,4-2 0,3-2 0,11-2 0,2-2 0,5 0 0,3-1-194,-28 0 1,2 0 0,0 0 193,3 0 0,1 0 0,-1 0 0,-3 0 0,-1 0 0,0 0 0,31 0 0,-3 0 0,-11 0 0,-2 0 0,-6 0 0,-1 0 0,0-1 0,1-1 0,1-2 0,0-1 0,4-2 0,0-3 0,-1-1 0,-2-3 290,-1-2 0,-1-2-290,2-2 0,0-3 0,1-2 0,1-2 0,6-4 0,0-1 0,2-2 0,-2 0 0,-3 0 0,-3-1 0,-7 0 0,-5 0 0,-13 3 0,-4 0 0,-9 2 0,-4-2 0,21-29 0,-14-2 0,-5-13 0,-22 31 0,0-2 0,-1-3 0,-1-2 0,0 0 0,-2 0 0,-2 1 0,-3 0 0,5-47 0,-12 46 0,-1 0 0,-3-4 0,0 1 0,-1 2 0,0 1 0,0-39 0,0 23 0,-5 18 0,-16 6 0,-22-6 0,-30-16 0,29 29 0,-3 0 0,-2-2 0,-2 2 0,-7-1 0,-5 3 0,-10-1 0,-6 4 0,16 11 0,-3 0 0,-3 3-351,-14-1 1,-3 2 0,-2 2 350,-2 1 0,0 1 0,-1 2 0,0 1 0,-1 2 0,0 0 0,0 1 0,0 2 0,0 0 0,0 1 0,0 0 0,-1 2 0,18 0 0,-1 1 0,0 0 0,0 0 0,-24 1 0,1 0 0,0 0 0,2 0 0,0 0 0,3 0 0,6 0 0,2 0 0,3 0-5,10 1 0,1 0 1,4 0 4,-21 2 0,7 0 0,19 1 0,6 2 0,-27 6 0,15 3 0,6 5 1050,-4 2-1050,-4 4 15,-6 4-15,-8 4 0,3 0 0,8-2 0,17-5 0,24-7 0,15-3 0,10-1 0,3-1 0,-2 7 0,-1 9 0,-4 5 0,-1 4 0,0-6 0,2-7 0,4-4 0,2-13 0,3-2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7:31:37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 1 24575,'10'0'0,"6"1"0,9 5 0,11 7 0,9 5 0,4 4 0,11 5 0,11 5 0,7 5 0,7 5 0,-10-2 0,-13-4 0,-17-5 0,-16-6 0,-12-5 0,-7 0 0,-5 1 0,-4 6 0,-1 10 0,0 11 0,0 18 0,0 17 0,0 17 0,0-44 0,0 0 0,0 1 0,0-1 0,0-3 0,0-1 0,0 38 0,4-14 0,10-9 0,12-10 0,15-7 0,10-10 0,12-12 0,7-10 0,-3-10 0,-8-11 0,-15-9 0,-18-4 0,-10-2 0,-11 6 0,-11 6 0,-5 3 0,-2 7 0,-2 7 0,2 9 0,2 9 0,-1 13 0,-2 15 0,-1 20 0,4-27 0,0 4 0,-1 9 0,1 4 0,-2 9 0,1 3 0,0 6 0,1 1 0,2 6 0,0 0 0,1-2 0,0 0 0,1-1 0,1-2 0,-1-5 0,-1-2 0,2-10 0,-1-3 0,1-4 0,0-3 0,1-8 0,0-2 0,-3 39 0,1-14 0,-1-14 0,-1-5 0,-2-3 0,-2 6 0,-3 8 0,-3 4 0,-1-1 0,-2-5 0,2-9 0,-2-8 0,-6-6 0,-2-3 0,1-4 0,0-5 0,-3-4 0,-3-2 0,-7-3 0,-10 2 0,-9 2 0,-14 0 0,-12 0 0,-8-3 0,-2-5 0,4-3 0,11-1 0,14-1 0,11-2 0,10-2 0,1-3 0,-2 0 0,-6 0 0,-9-2 0,-2 2 0,1-2 0,9 1 0,15-1 0,12-3 0,9 0 0,-7-3 0,17 2 0,-8-2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FB559-A418-49ED-BB88-3C7BEC7A2846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52E8F-1F23-4F97-90BC-A628BC94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5029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639762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8077200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www.dzsc.com/product/searchfile/5540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125370.htm" TargetMode="External"/><Relationship Id="rId2" Type="http://schemas.openxmlformats.org/officeDocument/2006/relationships/hyperlink" Target="http://baike.baidu.com/view/138039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none" TargetMode="External"/><Relationship Id="rId5" Type="http://schemas.openxmlformats.org/officeDocument/2006/relationships/hyperlink" Target="http://baike.baidu.com/view/1284.htm" TargetMode="External"/><Relationship Id="rId4" Type="http://schemas.openxmlformats.org/officeDocument/2006/relationships/hyperlink" Target="http://baike.baidu.com/view/15102.htm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FCCF-EE89-4C48-617A-69263439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C36258-7B8D-BBF3-6E25-C910C5267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如何编写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（）函数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7A762D-D2CC-4E9C-D919-1E98C98F5CD3}"/>
              </a:ext>
            </a:extLst>
          </p:cNvPr>
          <p:cNvSpPr txBox="1"/>
          <p:nvPr/>
        </p:nvSpPr>
        <p:spPr>
          <a:xfrm>
            <a:off x="1981200" y="3297271"/>
            <a:ext cx="632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dirty="0"/>
              <a:t>…/Basic/exampleB1/main(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)</a:t>
            </a:r>
            <a:r>
              <a:rPr kumimoji="1" lang="zh-CN" altLang="en-US" sz="3200" dirty="0"/>
              <a:t> 函数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4233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6C960-9221-8CC8-DCAB-E63DFC13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 anchor="b" anchorCtr="0">
            <a:normAutofit fontScale="90000"/>
          </a:bodyPr>
          <a:lstStyle/>
          <a:p>
            <a:r>
              <a:rPr kumimoji="1" lang="zh-CN" altLang="en-US" dirty="0"/>
              <a:t>许可证与免责声明，不需要关心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F32956-CCFE-631A-F9D1-13D248A9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CEFE2B7-F630-92C9-0FD2-0F9D3F09662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921696" y="1024559"/>
            <a:ext cx="545300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1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D47C0-789D-0EB8-12AE-C5104C97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89A95-3D1F-4D82-8DDE-9C63DC23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头文件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ACCBDD-649D-3C8F-5C01-CFEA962D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FE64054-B654-C2D9-CE00-D1467CC9A49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8600" y="1371600"/>
            <a:ext cx="5118100" cy="3429000"/>
          </a:xfrm>
          <a:prstGeom prst="rect">
            <a:avLst/>
          </a:prstGeom>
        </p:spPr>
      </p:pic>
      <p:sp>
        <p:nvSpPr>
          <p:cNvPr id="9" name="右大括号 8">
            <a:extLst>
              <a:ext uri="{FF2B5EF4-FFF2-40B4-BE49-F238E27FC236}">
                <a16:creationId xmlns:a16="http://schemas.microsoft.com/office/drawing/2014/main" id="{9DB32D1F-62B7-2EB1-FD38-5B9720FD4184}"/>
              </a:ext>
            </a:extLst>
          </p:cNvPr>
          <p:cNvSpPr/>
          <p:nvPr/>
        </p:nvSpPr>
        <p:spPr>
          <a:xfrm>
            <a:off x="5048526" y="1676400"/>
            <a:ext cx="304800" cy="533400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741FF313-55D3-C1F8-5CE4-7DAED4714BE2}"/>
              </a:ext>
            </a:extLst>
          </p:cNvPr>
          <p:cNvSpPr/>
          <p:nvPr/>
        </p:nvSpPr>
        <p:spPr>
          <a:xfrm>
            <a:off x="5041900" y="2838658"/>
            <a:ext cx="304800" cy="1676400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4E484604-2065-1063-EC05-14556B4E0DBE}"/>
              </a:ext>
            </a:extLst>
          </p:cNvPr>
          <p:cNvSpPr/>
          <p:nvPr/>
        </p:nvSpPr>
        <p:spPr>
          <a:xfrm>
            <a:off x="5041900" y="2324100"/>
            <a:ext cx="304800" cy="342900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356577-7090-882E-C94A-6D8B5202DE8E}"/>
              </a:ext>
            </a:extLst>
          </p:cNvPr>
          <p:cNvSpPr txBox="1"/>
          <p:nvPr/>
        </p:nvSpPr>
        <p:spPr>
          <a:xfrm>
            <a:off x="5290930" y="1741631"/>
            <a:ext cx="341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用户自定义的 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Geant4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DA81B1-0852-B630-E22D-8D3635998F9F}"/>
              </a:ext>
            </a:extLst>
          </p:cNvPr>
          <p:cNvSpPr txBox="1"/>
          <p:nvPr/>
        </p:nvSpPr>
        <p:spPr>
          <a:xfrm>
            <a:off x="5264426" y="2319221"/>
            <a:ext cx="3776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" dirty="0"/>
              <a:t>（</a:t>
            </a:r>
            <a:r>
              <a:rPr lang="en" altLang="zh-CN" dirty="0"/>
              <a:t>B</a:t>
            </a:r>
            <a:r>
              <a:rPr lang="zh-CN" altLang="en" dirty="0"/>
              <a:t>）</a:t>
            </a:r>
            <a:r>
              <a:rPr lang="en" altLang="zh-CN" dirty="0"/>
              <a:t>Geant4 </a:t>
            </a:r>
            <a:r>
              <a:rPr lang="zh-CN" altLang="en-US" dirty="0"/>
              <a:t>官方提供的物理列表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5B0A40-782F-022D-36F6-3EF28816929B}"/>
              </a:ext>
            </a:extLst>
          </p:cNvPr>
          <p:cNvSpPr txBox="1"/>
          <p:nvPr/>
        </p:nvSpPr>
        <p:spPr>
          <a:xfrm>
            <a:off x="5267739" y="3434834"/>
            <a:ext cx="3014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Geant4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内部框架类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D469B5-9BDD-D7CA-6087-C2A51CE3209E}"/>
              </a:ext>
            </a:extLst>
          </p:cNvPr>
          <p:cNvSpPr txBox="1"/>
          <p:nvPr/>
        </p:nvSpPr>
        <p:spPr>
          <a:xfrm>
            <a:off x="2390660" y="5563518"/>
            <a:ext cx="3541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以</a:t>
            </a:r>
            <a:r>
              <a:rPr kumimoji="1" lang="en-US" altLang="zh-CN" sz="2400" b="1" dirty="0"/>
              <a:t>A</a:t>
            </a:r>
            <a:r>
              <a:rPr kumimoji="1" lang="zh-CN" altLang="en-US" sz="2400" b="1" dirty="0"/>
              <a:t>的类为例，简要介绍</a:t>
            </a:r>
          </a:p>
        </p:txBody>
      </p:sp>
    </p:spTree>
    <p:extLst>
      <p:ext uri="{BB962C8B-B14F-4D97-AF65-F5344CB8AC3E}">
        <p14:creationId xmlns:p14="http://schemas.microsoft.com/office/powerpoint/2010/main" val="288890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/>
      <p:bldP spid="15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3596F-51C4-C1E0-63C6-1ABEEED4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用户自定义的 </a:t>
            </a:r>
            <a:r>
              <a:rPr lang="e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Geant4 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</a:t>
            </a:r>
            <a:r>
              <a:rPr lang="en" altLang="zh-CN" sz="2400" b="1" dirty="0" err="1"/>
              <a:t>ActionInitialization.hh</a:t>
            </a:r>
            <a:endParaRPr kumimoji="1" lang="zh-CN" altLang="en-US" sz="24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905BF9D-2C20-A2F4-9FD9-18CA7605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56CD157-9FA2-7248-96E1-ED92F3D9DB4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79939" y="1011307"/>
            <a:ext cx="6584121" cy="50292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B51E8E7-20B9-1D3D-3195-2B543AE59BFE}"/>
              </a:ext>
            </a:extLst>
          </p:cNvPr>
          <p:cNvSpPr txBox="1"/>
          <p:nvPr/>
        </p:nvSpPr>
        <p:spPr>
          <a:xfrm>
            <a:off x="4648200" y="859675"/>
            <a:ext cx="4419600" cy="987504"/>
          </a:xfrm>
          <a:prstGeom prst="roundRect">
            <a:avLst/>
          </a:prstGeom>
          <a:solidFill>
            <a:srgbClr val="F7FF9C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防止文件被重复包含，否则会产生“重复定义”错误。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ifndef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如果未定义宏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定义宏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文件末尾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endif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匹配结束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68E0EC3-296D-63B5-143C-371BD9CCF2A3}"/>
              </a:ext>
            </a:extLst>
          </p:cNvPr>
          <p:cNvSpPr/>
          <p:nvPr/>
        </p:nvSpPr>
        <p:spPr>
          <a:xfrm>
            <a:off x="1279939" y="1011307"/>
            <a:ext cx="3063461" cy="512693"/>
          </a:xfrm>
          <a:prstGeom prst="roundRect">
            <a:avLst/>
          </a:prstGeom>
          <a:solidFill>
            <a:srgbClr val="F7FF9C">
              <a:alpha val="6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C0234CC-FA57-7F3E-34C0-B71B8F43616C}"/>
              </a:ext>
            </a:extLst>
          </p:cNvPr>
          <p:cNvSpPr/>
          <p:nvPr/>
        </p:nvSpPr>
        <p:spPr>
          <a:xfrm>
            <a:off x="1279938" y="2869510"/>
            <a:ext cx="5273262" cy="40709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245EBC6-5D52-DD33-AF94-B06ABC9F5F68}"/>
              </a:ext>
            </a:extLst>
          </p:cNvPr>
          <p:cNvSpPr/>
          <p:nvPr/>
        </p:nvSpPr>
        <p:spPr>
          <a:xfrm>
            <a:off x="6095999" y="2180397"/>
            <a:ext cx="2971801" cy="1096203"/>
          </a:xfrm>
          <a:prstGeom prst="roundRect">
            <a:avLst/>
          </a:prstGeom>
          <a:solidFill>
            <a:schemeClr val="accent2">
              <a:lumMod val="20000"/>
              <a:lumOff val="80000"/>
              <a:alpha val="9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定义一个名为 </a:t>
            </a:r>
            <a:r>
              <a:rPr lang="en" altLang="zh-CN" dirty="0" err="1">
                <a:solidFill>
                  <a:schemeClr val="tx1"/>
                </a:solidFill>
              </a:rPr>
              <a:t>ActionInitialization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的类，并且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继承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" altLang="zh-CN" b="1" dirty="0">
                <a:solidFill>
                  <a:schemeClr val="tx1"/>
                </a:solidFill>
              </a:rPr>
              <a:t>Geant4 </a:t>
            </a:r>
            <a:r>
              <a:rPr lang="zh-CN" altLang="en-US" b="1" dirty="0">
                <a:solidFill>
                  <a:schemeClr val="tx1"/>
                </a:solidFill>
              </a:rPr>
              <a:t>的用户动作初始化基类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66981D7-BECD-3E0D-AE86-C25A470D9B4B}"/>
              </a:ext>
            </a:extLst>
          </p:cNvPr>
          <p:cNvSpPr/>
          <p:nvPr/>
        </p:nvSpPr>
        <p:spPr>
          <a:xfrm>
            <a:off x="1275348" y="3609818"/>
            <a:ext cx="4058652" cy="40709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6A6DFC6-629E-B2F8-18C8-A940D833961D}"/>
              </a:ext>
            </a:extLst>
          </p:cNvPr>
          <p:cNvSpPr/>
          <p:nvPr/>
        </p:nvSpPr>
        <p:spPr>
          <a:xfrm>
            <a:off x="5334000" y="3610779"/>
            <a:ext cx="3657600" cy="109620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9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tx1"/>
                </a:solidFill>
              </a:rPr>
              <a:t>构造函数</a:t>
            </a:r>
            <a:r>
              <a:rPr kumimoji="1" lang="zh-CN" altLang="en-US" dirty="0">
                <a:solidFill>
                  <a:schemeClr val="tx1"/>
                </a:solidFill>
              </a:rPr>
              <a:t>：不写具体的初始化逻辑，</a:t>
            </a:r>
            <a:r>
              <a:rPr lang="zh-CN" altLang="en-US" b="1" dirty="0">
                <a:solidFill>
                  <a:schemeClr val="tx1"/>
                </a:solidFill>
              </a:rPr>
              <a:t>编译器创建一个“空的构造函数”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析构函数：清理资源，释放内存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A12C1D2-3A29-206B-98DB-E88E68467AE9}"/>
              </a:ext>
            </a:extLst>
          </p:cNvPr>
          <p:cNvSpPr/>
          <p:nvPr/>
        </p:nvSpPr>
        <p:spPr>
          <a:xfrm>
            <a:off x="1275348" y="4215020"/>
            <a:ext cx="3657600" cy="407090"/>
          </a:xfrm>
          <a:prstGeom prst="round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6DAC3F4-FBA9-2318-39DF-3CFDC694BB10}"/>
              </a:ext>
            </a:extLst>
          </p:cNvPr>
          <p:cNvSpPr/>
          <p:nvPr/>
        </p:nvSpPr>
        <p:spPr>
          <a:xfrm>
            <a:off x="3924298" y="4966653"/>
            <a:ext cx="4533902" cy="140707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定义了两个函数：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Const</a:t>
            </a:r>
            <a:r>
              <a:rPr kumimoji="1" lang="zh-CN" altLang="en-US" dirty="0">
                <a:solidFill>
                  <a:schemeClr val="tx1"/>
                </a:solidFill>
              </a:rPr>
              <a:t>：表明函数内部，不能给类的成员变量赋值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Override</a:t>
            </a:r>
            <a:r>
              <a:rPr kumimoji="1"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>
                <a:solidFill>
                  <a:schemeClr val="tx1"/>
                </a:solidFill>
              </a:rPr>
              <a:t>保证此函数正确覆盖父类虚函数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1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D8CF5-82CF-8EE8-93CC-1589579C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用户自定义的 </a:t>
            </a:r>
            <a:r>
              <a:rPr lang="e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Geant4 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2400" b="1" dirty="0" err="1"/>
              <a:t>DetectorConstruction.hh</a:t>
            </a:r>
            <a:endParaRPr kumimoji="1" lang="zh-CN" altLang="en-US" sz="24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B919CD-98A8-F9A8-B925-BE8F3CAC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内容占位符 6">
            <a:extLst>
              <a:ext uri="{FF2B5EF4-FFF2-40B4-BE49-F238E27FC236}">
                <a16:creationId xmlns:a16="http://schemas.microsoft.com/office/drawing/2014/main" id="{A9C908F1-14C5-9B28-73D0-4B35C1D0AC8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1143000"/>
            <a:ext cx="5271169" cy="51865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42CAAC-0368-1F13-334B-58E2C85087B8}"/>
              </a:ext>
            </a:extLst>
          </p:cNvPr>
          <p:cNvSpPr txBox="1"/>
          <p:nvPr/>
        </p:nvSpPr>
        <p:spPr>
          <a:xfrm>
            <a:off x="3924298" y="1459270"/>
            <a:ext cx="4419600" cy="646986"/>
          </a:xfrm>
          <a:prstGeom prst="roundRect">
            <a:avLst/>
          </a:prstGeom>
          <a:solidFill>
            <a:srgbClr val="F7FF9C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前置声明：</a:t>
            </a:r>
            <a:r>
              <a:rPr lang="zh-CN" altLang="en-US" sz="1600" dirty="0"/>
              <a:t>告诉编译器这两个类存在，因为下面只声明了指针，</a:t>
            </a:r>
            <a:r>
              <a:rPr lang="en-US" altLang="zh-CN" sz="1600" dirty="0"/>
              <a:t>include</a:t>
            </a:r>
            <a:r>
              <a:rPr lang="zh-CN" altLang="en-US" sz="1600" dirty="0"/>
              <a:t>头文件没必要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BB37D62-BDEE-6EE2-7A29-164ACBF3DB54}"/>
              </a:ext>
            </a:extLst>
          </p:cNvPr>
          <p:cNvSpPr/>
          <p:nvPr/>
        </p:nvSpPr>
        <p:spPr>
          <a:xfrm>
            <a:off x="907973" y="1847179"/>
            <a:ext cx="1911427" cy="512693"/>
          </a:xfrm>
          <a:prstGeom prst="roundRect">
            <a:avLst/>
          </a:prstGeom>
          <a:solidFill>
            <a:srgbClr val="F7FF9C">
              <a:alpha val="6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E9067AE-E26D-1AF3-B345-DBE2AADCA8B4}"/>
              </a:ext>
            </a:extLst>
          </p:cNvPr>
          <p:cNvSpPr/>
          <p:nvPr/>
        </p:nvSpPr>
        <p:spPr>
          <a:xfrm>
            <a:off x="1143000" y="4143011"/>
            <a:ext cx="4533902" cy="595041"/>
          </a:xfrm>
          <a:prstGeom prst="round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805F6B5-CDF3-98E5-94F9-DE84F9363A41}"/>
              </a:ext>
            </a:extLst>
          </p:cNvPr>
          <p:cNvSpPr/>
          <p:nvPr/>
        </p:nvSpPr>
        <p:spPr>
          <a:xfrm>
            <a:off x="4610098" y="4922499"/>
            <a:ext cx="4533902" cy="140707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定义了三个函数：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kumimoji="1" lang="zh-CN" altLang="en-US" dirty="0">
                <a:solidFill>
                  <a:schemeClr val="tx1"/>
                </a:solidFill>
              </a:rPr>
              <a:t>核心虚函数</a:t>
            </a:r>
            <a:r>
              <a:rPr kumimoji="1" lang="en-US" altLang="zh-CN" dirty="0">
                <a:solidFill>
                  <a:schemeClr val="tx1"/>
                </a:solidFill>
              </a:rPr>
              <a:t>Construct()</a:t>
            </a:r>
            <a:r>
              <a:rPr kumimoji="1" lang="zh-CN" altLang="en-US" dirty="0">
                <a:solidFill>
                  <a:schemeClr val="tx1"/>
                </a:solidFill>
              </a:rPr>
              <a:t>，具体实现在</a:t>
            </a:r>
            <a:r>
              <a:rPr kumimoji="1" lang="en-US" altLang="zh-CN" dirty="0">
                <a:solidFill>
                  <a:schemeClr val="tx1"/>
                </a:solidFill>
              </a:rPr>
              <a:t>.cc</a:t>
            </a:r>
          </a:p>
          <a:p>
            <a:pPr marL="342900" indent="-342900">
              <a:buAutoNum type="arabicPeriod"/>
            </a:pPr>
            <a:r>
              <a:rPr kumimoji="1" lang="zh-CN" altLang="en-US" dirty="0">
                <a:solidFill>
                  <a:schemeClr val="tx1"/>
                </a:solidFill>
              </a:rPr>
              <a:t>计分体积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kumimoji="1" lang="zh-CN" altLang="en-US" dirty="0">
                <a:solidFill>
                  <a:schemeClr val="tx1"/>
                </a:solidFill>
              </a:rPr>
              <a:t>逻辑体积指针：判断粒子是否进入</a:t>
            </a:r>
            <a:r>
              <a:rPr kumimoji="1" lang="en-US" altLang="zh-CN" dirty="0">
                <a:solidFill>
                  <a:schemeClr val="tx1"/>
                </a:solidFill>
              </a:rPr>
              <a:t>volume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54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D01F7-844F-CDB0-2F14-113BD510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Main</a:t>
            </a:r>
            <a:r>
              <a:rPr kumimoji="1" lang="zh-CN" altLang="en-US" dirty="0"/>
              <a:t>函数开始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E0F3E0-3C94-8434-747B-2DF8A5C4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D0C6D41-70E2-CD91-69AF-B18E5B9A6F7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8914" y="1155666"/>
            <a:ext cx="8077200" cy="22826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3EBC5E-34F6-0994-585C-984444F3E83A}"/>
              </a:ext>
            </a:extLst>
          </p:cNvPr>
          <p:cNvSpPr txBox="1"/>
          <p:nvPr/>
        </p:nvSpPr>
        <p:spPr>
          <a:xfrm>
            <a:off x="762000" y="3810000"/>
            <a:ext cx="3962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 err="1">
                <a:latin typeface="Courier New" panose="02070309020205020404" pitchFamily="49" charset="0"/>
              </a:rPr>
              <a:t>argc</a:t>
            </a:r>
            <a:r>
              <a:rPr lang="en" altLang="zh-CN" dirty="0"/>
              <a:t> = </a:t>
            </a:r>
            <a:r>
              <a:rPr lang="en" altLang="zh-CN" b="1" dirty="0"/>
              <a:t>Argument Count</a:t>
            </a:r>
            <a:r>
              <a:rPr lang="zh-CN" altLang="en" dirty="0"/>
              <a:t>（</a:t>
            </a:r>
            <a:r>
              <a:rPr lang="zh-CN" altLang="en-US" dirty="0"/>
              <a:t>参数数量）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E178BB-CF8A-5758-348D-9AC4F8E63F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100" t="-65435" b="1"/>
          <a:stretch>
            <a:fillRect/>
          </a:stretch>
        </p:blipFill>
        <p:spPr>
          <a:xfrm>
            <a:off x="1066800" y="4111486"/>
            <a:ext cx="1511300" cy="63030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7B678AD-9A44-AA8A-8D16-824E33BF82DD}"/>
              </a:ext>
            </a:extLst>
          </p:cNvPr>
          <p:cNvSpPr txBox="1"/>
          <p:nvPr/>
        </p:nvSpPr>
        <p:spPr>
          <a:xfrm>
            <a:off x="2845259" y="4372461"/>
            <a:ext cx="111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 err="1">
                <a:latin typeface="Courier New" panose="02070309020205020404" pitchFamily="49" charset="0"/>
              </a:rPr>
              <a:t>argc</a:t>
            </a:r>
            <a:r>
              <a:rPr lang="en" altLang="zh-CN" dirty="0">
                <a:latin typeface="Courier New" panose="02070309020205020404" pitchFamily="49" charset="0"/>
              </a:rPr>
              <a:t>=1</a:t>
            </a:r>
            <a:r>
              <a:rPr lang="en" altLang="zh-CN" dirty="0"/>
              <a:t> 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E3AD34-2CEB-5CC9-381F-7F0BBDE4E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94" y="4922629"/>
            <a:ext cx="4254500" cy="2413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9A2ECC2-46DD-1BF3-F999-EE5056ACCCBF}"/>
              </a:ext>
            </a:extLst>
          </p:cNvPr>
          <p:cNvSpPr txBox="1"/>
          <p:nvPr/>
        </p:nvSpPr>
        <p:spPr>
          <a:xfrm>
            <a:off x="5460694" y="4858613"/>
            <a:ext cx="111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 err="1">
                <a:latin typeface="Courier New" panose="02070309020205020404" pitchFamily="49" charset="0"/>
              </a:rPr>
              <a:t>argc</a:t>
            </a:r>
            <a:r>
              <a:rPr lang="en" altLang="zh-CN" dirty="0">
                <a:latin typeface="Courier New" panose="02070309020205020404" pitchFamily="49" charset="0"/>
              </a:rPr>
              <a:t>=4</a:t>
            </a:r>
            <a:r>
              <a:rPr lang="en" altLang="zh-CN" dirty="0"/>
              <a:t> 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779851-77CC-D7CD-2409-6E3A68A43848}"/>
              </a:ext>
            </a:extLst>
          </p:cNvPr>
          <p:cNvSpPr txBox="1"/>
          <p:nvPr/>
        </p:nvSpPr>
        <p:spPr>
          <a:xfrm>
            <a:off x="762000" y="5359539"/>
            <a:ext cx="3962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dirty="0" err="1">
                <a:latin typeface="Courier New" panose="02070309020205020404" pitchFamily="49" charset="0"/>
              </a:rPr>
              <a:t>argv</a:t>
            </a:r>
            <a:r>
              <a:rPr lang="en" altLang="zh-CN" dirty="0"/>
              <a:t> = </a:t>
            </a:r>
            <a:r>
              <a:rPr lang="en" altLang="zh-CN" b="1" dirty="0"/>
              <a:t>Argument Vector</a:t>
            </a:r>
            <a:r>
              <a:rPr lang="zh-CN" altLang="en" dirty="0"/>
              <a:t>（</a:t>
            </a:r>
            <a:r>
              <a:rPr lang="zh-CN" altLang="en-US" dirty="0"/>
              <a:t>参数列表）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43CFA2-AD0F-5F3C-F46D-920C9B74226B}"/>
              </a:ext>
            </a:extLst>
          </p:cNvPr>
          <p:cNvSpPr txBox="1"/>
          <p:nvPr/>
        </p:nvSpPr>
        <p:spPr>
          <a:xfrm>
            <a:off x="1676400" y="578889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argv[0] = "./</a:t>
            </a:r>
            <a:r>
              <a:rPr lang="en-US" altLang="zh-CN" dirty="0"/>
              <a:t>exampleB1</a:t>
            </a:r>
            <a:r>
              <a:rPr lang="zh-CN" altLang="en-US" dirty="0"/>
              <a:t>"</a:t>
            </a:r>
          </a:p>
          <a:p>
            <a:r>
              <a:rPr lang="zh-CN" altLang="en-US" dirty="0"/>
              <a:t>argv[1] = ”</a:t>
            </a:r>
            <a:r>
              <a:rPr lang="en-US" altLang="zh-CN" dirty="0"/>
              <a:t>run1</a:t>
            </a:r>
            <a:r>
              <a:rPr lang="zh-CN" altLang="en-US" dirty="0"/>
              <a:t>.</a:t>
            </a:r>
            <a:r>
              <a:rPr lang="en-US" altLang="zh-CN" dirty="0"/>
              <a:t>mac</a:t>
            </a:r>
            <a:r>
              <a:rPr lang="zh-CN" altLang="en-US" dirty="0"/>
              <a:t>"</a:t>
            </a:r>
          </a:p>
          <a:p>
            <a:r>
              <a:rPr lang="zh-CN" altLang="en-US" dirty="0"/>
              <a:t>argv[2] = ”</a:t>
            </a:r>
            <a:r>
              <a:rPr lang="en-US" altLang="zh-CN" dirty="0"/>
              <a:t>-&gt;</a:t>
            </a:r>
            <a:r>
              <a:rPr lang="zh-CN" altLang="en-US" dirty="0"/>
              <a:t>”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CA361D-D0B3-AAD2-601C-6C589496314E}"/>
              </a:ext>
            </a:extLst>
          </p:cNvPr>
          <p:cNvSpPr txBox="1"/>
          <p:nvPr/>
        </p:nvSpPr>
        <p:spPr>
          <a:xfrm>
            <a:off x="3962400" y="63538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argv[</a:t>
            </a:r>
            <a:r>
              <a:rPr lang="en-US" altLang="zh-CN" dirty="0"/>
              <a:t>3</a:t>
            </a:r>
            <a:r>
              <a:rPr lang="zh-CN" altLang="en-US" dirty="0"/>
              <a:t>] = </a:t>
            </a:r>
            <a:r>
              <a:rPr lang="en-US" altLang="zh-CN" dirty="0" err="1"/>
              <a:t>input.txt</a:t>
            </a:r>
            <a:r>
              <a:rPr lang="zh-CN" altLang="en-US" dirty="0"/>
              <a:t>”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1D6146-72F8-563B-BCB7-AA501C461F9D}"/>
              </a:ext>
            </a:extLst>
          </p:cNvPr>
          <p:cNvSpPr txBox="1"/>
          <p:nvPr/>
        </p:nvSpPr>
        <p:spPr>
          <a:xfrm>
            <a:off x="5412954" y="2297009"/>
            <a:ext cx="3655764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当没有传入宏文件时（</a:t>
            </a:r>
            <a:r>
              <a:rPr lang="en" altLang="zh-CN" dirty="0" err="1"/>
              <a:t>argc</a:t>
            </a:r>
            <a:r>
              <a:rPr lang="en" altLang="zh-CN" dirty="0"/>
              <a:t>=1</a:t>
            </a:r>
            <a:r>
              <a:rPr lang="zh-CN" altLang="en" dirty="0"/>
              <a:t>） → </a:t>
            </a:r>
            <a:r>
              <a:rPr lang="zh-CN" altLang="en-US" dirty="0"/>
              <a:t>启动可视化交互 </a:t>
            </a:r>
            <a:r>
              <a:rPr lang="en" altLang="zh-CN" dirty="0"/>
              <a:t>UI</a:t>
            </a:r>
            <a:r>
              <a:rPr lang="zh-CN" altLang="en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当传入一个宏文件时（如 </a:t>
            </a:r>
            <a:r>
              <a:rPr lang="en-US" altLang="zh-CN" dirty="0">
                <a:latin typeface="Courier New" panose="02070309020205020404" pitchFamily="49" charset="0"/>
              </a:rPr>
              <a:t>./</a:t>
            </a:r>
            <a:r>
              <a:rPr lang="en" altLang="zh-CN" dirty="0">
                <a:latin typeface="Courier New" panose="02070309020205020404" pitchFamily="49" charset="0"/>
              </a:rPr>
              <a:t>exampleB1 </a:t>
            </a:r>
            <a:r>
              <a:rPr lang="en" altLang="zh-CN" dirty="0" err="1">
                <a:latin typeface="Courier New" panose="02070309020205020404" pitchFamily="49" charset="0"/>
              </a:rPr>
              <a:t>run.mac</a:t>
            </a:r>
            <a:r>
              <a:rPr lang="en" altLang="zh-CN" dirty="0"/>
              <a:t> </a:t>
            </a:r>
            <a:r>
              <a:rPr lang="zh-CN" altLang="en" dirty="0"/>
              <a:t>）→ </a:t>
            </a:r>
            <a:r>
              <a:rPr lang="zh-CN" altLang="en-US" dirty="0"/>
              <a:t>批处理，不创建 </a:t>
            </a:r>
            <a:r>
              <a:rPr lang="en" altLang="zh-CN" dirty="0"/>
              <a:t>UI</a:t>
            </a:r>
            <a:r>
              <a:rPr lang="zh-CN" altLang="en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6483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/>
      <p:bldP spid="14" grpId="0" animBg="1"/>
      <p:bldP spid="16" grpId="0"/>
      <p:bldP spid="18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D07E6-7B7C-7CF8-440A-24A6735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步长输出格式设置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73996D-48F5-B3C7-65F7-57075C7C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96BDBD4-42BF-4106-207E-E274280C8F4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89612" y="1081087"/>
            <a:ext cx="6261100" cy="1320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FE7015-73A6-BD51-C15B-B64AB196BD19}"/>
              </a:ext>
            </a:extLst>
          </p:cNvPr>
          <p:cNvSpPr txBox="1"/>
          <p:nvPr/>
        </p:nvSpPr>
        <p:spPr>
          <a:xfrm>
            <a:off x="1524000" y="3812956"/>
            <a:ext cx="22098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typedef int G4int;</a:t>
            </a:r>
            <a:endParaRPr lang="en-US" altLang="zh-CN" dirty="0"/>
          </a:p>
          <a:p>
            <a:r>
              <a:rPr lang="en" altLang="zh-CN" dirty="0"/>
              <a:t>G4int  ≡  int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35CA4E-3AEC-0521-4ECB-78129605D8B4}"/>
              </a:ext>
            </a:extLst>
          </p:cNvPr>
          <p:cNvSpPr txBox="1"/>
          <p:nvPr/>
        </p:nvSpPr>
        <p:spPr>
          <a:xfrm>
            <a:off x="889612" y="2971800"/>
            <a:ext cx="77971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G4int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自己定义的整数类型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，实际上就是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源码中（例如 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globals.hh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文件），有：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 err="1"/>
              <a:t>UseBestUnit</a:t>
            </a:r>
            <a:r>
              <a:rPr lang="en" altLang="zh-CN" dirty="0"/>
              <a:t>() </a:t>
            </a:r>
            <a:r>
              <a:rPr lang="zh-CN" altLang="en-US" dirty="0"/>
              <a:t>是 </a:t>
            </a:r>
            <a:r>
              <a:rPr lang="en" altLang="zh-CN" dirty="0"/>
              <a:t>Geant4 </a:t>
            </a:r>
            <a:r>
              <a:rPr lang="zh-CN" altLang="en-US" dirty="0"/>
              <a:t>的输出格式工具，用于在 </a:t>
            </a:r>
            <a:r>
              <a:rPr lang="en" altLang="zh-CN" dirty="0"/>
              <a:t>stepping verbose </a:t>
            </a:r>
            <a:r>
              <a:rPr lang="zh-CN" altLang="en-US" dirty="0"/>
              <a:t>输出中使用最佳单位（自动选择 </a:t>
            </a:r>
            <a:r>
              <a:rPr lang="en" altLang="zh-CN" dirty="0"/>
              <a:t>m/cm/mm </a:t>
            </a:r>
            <a:r>
              <a:rPr lang="zh-CN" altLang="en-US" dirty="0"/>
              <a:t>之类）。</a:t>
            </a:r>
            <a:endParaRPr lang="en-US" altLang="zh-CN" dirty="0"/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表示：</a:t>
            </a:r>
            <a:r>
              <a:rPr lang="zh-CN" altLang="en-US" dirty="0"/>
              <a:t>使用 </a:t>
            </a:r>
            <a:r>
              <a:rPr lang="en-US" altLang="zh-CN" dirty="0"/>
              <a:t>4 </a:t>
            </a:r>
            <a:r>
              <a:rPr lang="zh-CN" altLang="en-US" dirty="0"/>
              <a:t>位小数（或 </a:t>
            </a:r>
            <a:r>
              <a:rPr lang="en-US" altLang="zh-CN" dirty="0"/>
              <a:t>4 </a:t>
            </a:r>
            <a:r>
              <a:rPr lang="zh-CN" altLang="en-US" dirty="0"/>
              <a:t>个有效位）的显示精度。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1F8D7DA-B220-CB6C-7B70-B16A6DE3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70" y="5613017"/>
            <a:ext cx="3421336" cy="79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4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91413-420B-1E68-42EA-EC7ABA62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300882-AFB8-487B-0649-B429A370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D828F8A3-B638-FD7E-57A9-1B61CAB7909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18767347"/>
              </p:ext>
            </p:extLst>
          </p:nvPr>
        </p:nvGraphicFramePr>
        <p:xfrm>
          <a:off x="2285999" y="1600200"/>
          <a:ext cx="4724402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62201">
                  <a:extLst>
                    <a:ext uri="{9D8B030D-6E8A-4147-A177-3AD203B41FA5}">
                      <a16:colId xmlns:a16="http://schemas.microsoft.com/office/drawing/2014/main" val="1569828494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946383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Geant4 </a:t>
                      </a:r>
                      <a:r>
                        <a:rPr lang="zh-CN" altLang="en-US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实际意义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325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G4int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903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G4double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743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G4float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37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G4bool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bool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06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G4String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std::string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686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/>
                        <a:t>G4long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722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62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E3B55-7DB7-4136-29E5-6FD88B6F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zh-CN" dirty="0" err="1"/>
              <a:t>RunManager</a:t>
            </a:r>
            <a:r>
              <a:rPr lang="en" altLang="zh-CN" dirty="0"/>
              <a:t> </a:t>
            </a:r>
            <a:r>
              <a:rPr lang="zh-CN" altLang="en-US" dirty="0"/>
              <a:t>创建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7CC8DC9-B5DA-3D31-4B60-2DC6D7AA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9C900B-C7B0-3F8D-8F36-4B36D9ED93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" altLang="zh-CN" dirty="0"/>
              <a:t>G4RunManager </a:t>
            </a:r>
            <a:r>
              <a:rPr lang="zh-CN" altLang="en-US" dirty="0"/>
              <a:t>是 </a:t>
            </a:r>
            <a:r>
              <a:rPr lang="en" altLang="zh-CN" dirty="0"/>
              <a:t>Geant4 </a:t>
            </a:r>
            <a:r>
              <a:rPr lang="zh-CN" altLang="en-US" dirty="0"/>
              <a:t>最核心的“调度器”。</a:t>
            </a:r>
          </a:p>
          <a:p>
            <a:pPr marL="0" indent="0">
              <a:buNone/>
            </a:pPr>
            <a:r>
              <a:rPr lang="zh-CN" altLang="en-US" b="1" dirty="0"/>
              <a:t>它负责：</a:t>
            </a:r>
          </a:p>
          <a:p>
            <a:pPr lvl="1"/>
            <a:r>
              <a:rPr lang="zh-CN" altLang="en-US" dirty="0"/>
              <a:t>初始化 </a:t>
            </a:r>
            <a:r>
              <a:rPr lang="en" altLang="zh-CN" dirty="0" err="1"/>
              <a:t>DetectorConstruction</a:t>
            </a:r>
            <a:endParaRPr lang="en" altLang="zh-CN" dirty="0"/>
          </a:p>
          <a:p>
            <a:pPr lvl="1"/>
            <a:r>
              <a:rPr lang="zh-CN" altLang="en-US" dirty="0"/>
              <a:t>初始化 </a:t>
            </a:r>
            <a:r>
              <a:rPr lang="en" altLang="zh-CN" dirty="0" err="1"/>
              <a:t>PhysicsList</a:t>
            </a:r>
            <a:endParaRPr lang="en" altLang="zh-CN" dirty="0"/>
          </a:p>
          <a:p>
            <a:pPr lvl="1"/>
            <a:r>
              <a:rPr lang="zh-CN" altLang="en-US" dirty="0"/>
              <a:t>初始化 </a:t>
            </a:r>
            <a:r>
              <a:rPr lang="en" altLang="zh-CN" dirty="0" err="1"/>
              <a:t>ActionInitialization</a:t>
            </a:r>
            <a:endParaRPr lang="en" altLang="zh-CN" dirty="0"/>
          </a:p>
          <a:p>
            <a:pPr lvl="1"/>
            <a:r>
              <a:rPr lang="zh-CN" altLang="en-US" dirty="0"/>
              <a:t>建立几何</a:t>
            </a:r>
          </a:p>
          <a:p>
            <a:pPr lvl="1"/>
            <a:r>
              <a:rPr lang="zh-CN" altLang="en-US" dirty="0"/>
              <a:t>控制每个 </a:t>
            </a:r>
            <a:r>
              <a:rPr lang="en" altLang="zh-CN" dirty="0"/>
              <a:t>event </a:t>
            </a:r>
            <a:r>
              <a:rPr lang="zh-CN" altLang="en-US" dirty="0"/>
              <a:t>的运行</a:t>
            </a:r>
          </a:p>
          <a:p>
            <a:pPr lvl="1"/>
            <a:r>
              <a:rPr lang="zh-CN" altLang="en-US" dirty="0"/>
              <a:t>控制每个 </a:t>
            </a:r>
            <a:r>
              <a:rPr lang="en" altLang="zh-CN" dirty="0"/>
              <a:t>track </a:t>
            </a:r>
            <a:r>
              <a:rPr lang="zh-CN" altLang="en-US" dirty="0"/>
              <a:t>的追踪</a:t>
            </a:r>
          </a:p>
          <a:p>
            <a:pPr lvl="1"/>
            <a:r>
              <a:rPr lang="zh-CN" altLang="en-US" dirty="0"/>
              <a:t>控制每个 </a:t>
            </a:r>
            <a:r>
              <a:rPr lang="en" altLang="zh-CN" dirty="0"/>
              <a:t>step </a:t>
            </a:r>
            <a:r>
              <a:rPr lang="zh-CN" altLang="en-US" dirty="0"/>
              <a:t>的执行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674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60CBE-E0F4-623B-35ED-EC7A2294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4ECC3-4373-4F42-582C-64D1574C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zh-CN" dirty="0" err="1"/>
              <a:t>RunManager</a:t>
            </a:r>
            <a:r>
              <a:rPr lang="en" altLang="zh-CN" dirty="0"/>
              <a:t> </a:t>
            </a:r>
            <a:r>
              <a:rPr lang="zh-CN" altLang="en-US" dirty="0"/>
              <a:t>创建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CFEE3B-B9B0-FBB7-D591-1D02F0AB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49A433-7E29-9C0F-CE73-26879B386093}"/>
              </a:ext>
            </a:extLst>
          </p:cNvPr>
          <p:cNvSpPr txBox="1"/>
          <p:nvPr/>
        </p:nvSpPr>
        <p:spPr>
          <a:xfrm>
            <a:off x="850722" y="6121569"/>
            <a:ext cx="809143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CN" altLang="en" dirty="0"/>
              <a:t>旧</a:t>
            </a:r>
            <a:r>
              <a:rPr kumimoji="1" lang="zh-CN" altLang="en-US" dirty="0"/>
              <a:t>写法：</a:t>
            </a:r>
            <a:r>
              <a:rPr kumimoji="1" lang="en" altLang="zh-CN" dirty="0"/>
              <a:t>G4RunManager* </a:t>
            </a:r>
            <a:r>
              <a:rPr kumimoji="1" lang="en" altLang="zh-CN" dirty="0" err="1"/>
              <a:t>runManager</a:t>
            </a:r>
            <a:r>
              <a:rPr kumimoji="1" lang="en" altLang="zh-CN" dirty="0"/>
              <a:t> = new G4RunManager();</a:t>
            </a:r>
            <a:r>
              <a:rPr kumimoji="1" lang="zh-CN" altLang="en-US" dirty="0"/>
              <a:t>（强制单线程，不支持多线程）</a:t>
            </a:r>
            <a:endParaRPr kumimoji="1" lang="en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9CB1C1-5D11-E558-7D73-D1DBDDBD4D79}"/>
              </a:ext>
            </a:extLst>
          </p:cNvPr>
          <p:cNvSpPr txBox="1"/>
          <p:nvPr/>
        </p:nvSpPr>
        <p:spPr>
          <a:xfrm>
            <a:off x="711047" y="1082504"/>
            <a:ext cx="76962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</a:t>
            </a:r>
            <a:r>
              <a:rPr kumimoji="1"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G4RunManagerFactory::</a:t>
            </a:r>
            <a:r>
              <a:rPr kumimoji="1"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CreateRunManager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(G4RunManagerType::Default);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A938D1-C86E-B1FA-9FC8-62491CF764F5}"/>
              </a:ext>
            </a:extLst>
          </p:cNvPr>
          <p:cNvSpPr txBox="1"/>
          <p:nvPr/>
        </p:nvSpPr>
        <p:spPr>
          <a:xfrm>
            <a:off x="647700" y="1905000"/>
            <a:ext cx="784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G4RunManagerFactory::</a:t>
            </a:r>
            <a:r>
              <a:rPr kumimoji="1" lang="en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CreateRunManager</a:t>
            </a:r>
            <a:r>
              <a:rPr lang="zh-CN" altLang="en-US" dirty="0"/>
              <a:t>是一个 </a:t>
            </a:r>
            <a:r>
              <a:rPr lang="zh-CN" altLang="en-US" b="1" dirty="0"/>
              <a:t>工厂函数</a:t>
            </a:r>
            <a:endParaRPr lang="en-US" altLang="zh-CN" b="1" dirty="0"/>
          </a:p>
          <a:p>
            <a:r>
              <a:rPr lang="zh-CN" altLang="en-US" dirty="0"/>
              <a:t>用于根据不同的 </a:t>
            </a:r>
            <a:r>
              <a:rPr lang="en" altLang="zh-CN" dirty="0"/>
              <a:t>CPU/</a:t>
            </a:r>
            <a:r>
              <a:rPr lang="zh-CN" altLang="en-US" dirty="0"/>
              <a:t>线程模式创建合适的 </a:t>
            </a:r>
            <a:r>
              <a:rPr lang="en" altLang="zh-CN" dirty="0" err="1"/>
              <a:t>runManager</a:t>
            </a:r>
            <a:r>
              <a:rPr lang="zh-CN" altLang="e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" altLang="zh-CN" dirty="0">
                <a:highlight>
                  <a:srgbClr val="FFFF00"/>
                </a:highlight>
              </a:rPr>
              <a:t>G4RunManagerType::Default</a:t>
            </a:r>
            <a:r>
              <a:rPr lang="zh-CN" altLang="en-US" dirty="0"/>
              <a:t>的含义为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76077AC-0CA2-D6DD-E0E8-55813ACF8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261100"/>
              </p:ext>
            </p:extLst>
          </p:nvPr>
        </p:nvGraphicFramePr>
        <p:xfrm>
          <a:off x="875969" y="3213898"/>
          <a:ext cx="7537704" cy="1737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68852">
                  <a:extLst>
                    <a:ext uri="{9D8B030D-6E8A-4147-A177-3AD203B41FA5}">
                      <a16:colId xmlns:a16="http://schemas.microsoft.com/office/drawing/2014/main" val="541739463"/>
                    </a:ext>
                  </a:extLst>
                </a:gridCol>
                <a:gridCol w="3768852">
                  <a:extLst>
                    <a:ext uri="{9D8B030D-6E8A-4147-A177-3AD203B41FA5}">
                      <a16:colId xmlns:a16="http://schemas.microsoft.com/office/drawing/2014/main" val="2066230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 err="1"/>
                        <a:t>RunManagerType</a:t>
                      </a:r>
                      <a:endParaRPr lang="e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工作方式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888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SerialOnly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单线程（串行）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08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多线程（</a:t>
                      </a:r>
                      <a:r>
                        <a:rPr lang="en" b="1"/>
                        <a:t>multi-threading）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814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自动选择：如果 </a:t>
                      </a:r>
                      <a:r>
                        <a:rPr lang="en" b="1" dirty="0"/>
                        <a:t>Geant4 </a:t>
                      </a:r>
                      <a:r>
                        <a:rPr lang="zh-CN" altLang="en-US" b="1" dirty="0"/>
                        <a:t>以多线程编译 → 用 </a:t>
                      </a:r>
                      <a:r>
                        <a:rPr lang="en" b="1" dirty="0"/>
                        <a:t>MT，</a:t>
                      </a:r>
                      <a:r>
                        <a:rPr lang="zh-CN" altLang="en-US" b="1" dirty="0"/>
                        <a:t>否则用 </a:t>
                      </a:r>
                      <a:r>
                        <a:rPr lang="en" b="1" dirty="0"/>
                        <a:t>Serial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174280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273A5FF3-6824-628F-C417-66B9D28D2763}"/>
              </a:ext>
            </a:extLst>
          </p:cNvPr>
          <p:cNvSpPr txBox="1"/>
          <p:nvPr/>
        </p:nvSpPr>
        <p:spPr>
          <a:xfrm>
            <a:off x="727572" y="5198239"/>
            <a:ext cx="8191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 </a:t>
            </a:r>
            <a:r>
              <a:rPr kumimoji="1" lang="en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  <a:r>
              <a:rPr kumimoji="1"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优点：</a:t>
            </a:r>
            <a:r>
              <a:rPr lang="zh-CN" altLang="en-US" dirty="0"/>
              <a:t>编译器会根据返回的对象，自动推断 </a:t>
            </a:r>
            <a:r>
              <a:rPr lang="en" altLang="zh-CN" dirty="0" err="1"/>
              <a:t>runManager</a:t>
            </a:r>
            <a:r>
              <a:rPr lang="en" altLang="zh-CN" dirty="0"/>
              <a:t> </a:t>
            </a:r>
            <a:r>
              <a:rPr lang="zh-CN" altLang="en-US" dirty="0"/>
              <a:t>的类型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如果是单线程 → </a:t>
            </a:r>
            <a:r>
              <a:rPr lang="en" altLang="zh-CN" dirty="0"/>
              <a:t>G4RunManager*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如果是多线程 → </a:t>
            </a:r>
            <a:r>
              <a:rPr lang="en" altLang="zh-CN" dirty="0"/>
              <a:t>G4MTRunManager*</a:t>
            </a:r>
          </a:p>
        </p:txBody>
      </p:sp>
    </p:spTree>
    <p:extLst>
      <p:ext uri="{BB962C8B-B14F-4D97-AF65-F5344CB8AC3E}">
        <p14:creationId xmlns:p14="http://schemas.microsoft.com/office/powerpoint/2010/main" val="229471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uiExpand="1" build="p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9AA64-5B1E-BCE3-A264-BC3B11C21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" altLang="zh-CN" sz="2800" b="1" dirty="0" err="1"/>
              <a:t>RunManager</a:t>
            </a:r>
            <a:r>
              <a:rPr lang="en" altLang="zh-CN" sz="2800" b="1" dirty="0"/>
              <a:t> </a:t>
            </a:r>
            <a:r>
              <a:rPr lang="zh-CN" altLang="en-US" sz="2800" b="1" dirty="0"/>
              <a:t>注册几何、物理列表、用户动作</a:t>
            </a:r>
            <a:endParaRPr kumimoji="1" lang="zh-CN" altLang="en-US" sz="28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1DACE2-D55D-40DA-C172-3B974CAC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CAA452F-6D0D-A7E8-E5AB-60F38143243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1569" y="1219200"/>
            <a:ext cx="8077200" cy="321634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3BB9270A-7636-FDD8-1399-5B496B836409}"/>
              </a:ext>
            </a:extLst>
          </p:cNvPr>
          <p:cNvSpPr/>
          <p:nvPr/>
        </p:nvSpPr>
        <p:spPr>
          <a:xfrm>
            <a:off x="894202" y="2133600"/>
            <a:ext cx="5963798" cy="533400"/>
          </a:xfrm>
          <a:prstGeom prst="round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3A599B-16BB-A67B-9139-E9193A369423}"/>
              </a:ext>
            </a:extLst>
          </p:cNvPr>
          <p:cNvSpPr txBox="1"/>
          <p:nvPr/>
        </p:nvSpPr>
        <p:spPr>
          <a:xfrm>
            <a:off x="603504" y="4637805"/>
            <a:ext cx="8311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含义：告诉 </a:t>
            </a:r>
            <a:r>
              <a:rPr lang="en" altLang="zh-CN" dirty="0" err="1"/>
              <a:t>runManager</a:t>
            </a:r>
            <a:r>
              <a:rPr lang="zh-CN" altLang="en-US" dirty="0"/>
              <a:t>，几何结构由 </a:t>
            </a:r>
            <a:r>
              <a:rPr lang="en" altLang="zh-CN" dirty="0" err="1"/>
              <a:t>DetectorConstruction</a:t>
            </a:r>
            <a:r>
              <a:rPr lang="en" altLang="zh-CN" dirty="0"/>
              <a:t> </a:t>
            </a:r>
            <a:r>
              <a:rPr lang="zh-CN" altLang="en-US" dirty="0"/>
              <a:t>这个类来定义。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 err="1"/>
              <a:t>SetUserInitialization</a:t>
            </a:r>
            <a:r>
              <a:rPr lang="zh-CN" altLang="en-US" dirty="0"/>
              <a:t>（）</a:t>
            </a:r>
            <a:r>
              <a:rPr lang="zh-CN" altLang="en" dirty="0"/>
              <a:t>函数</a:t>
            </a:r>
            <a:r>
              <a:rPr lang="zh-CN" altLang="en-US" dirty="0"/>
              <a:t>是来自 类</a:t>
            </a:r>
            <a:r>
              <a:rPr lang="en" altLang="zh-CN" b="1" dirty="0"/>
              <a:t>G4RunManager</a:t>
            </a:r>
            <a:r>
              <a:rPr lang="en" altLang="zh-CN" dirty="0"/>
              <a:t> </a:t>
            </a:r>
            <a:r>
              <a:rPr lang="zh-CN" altLang="en-US" dirty="0"/>
              <a:t>，用于初始化模块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623480-AFA4-4E8A-66DD-B79747881411}"/>
              </a:ext>
            </a:extLst>
          </p:cNvPr>
          <p:cNvSpPr txBox="1"/>
          <p:nvPr/>
        </p:nvSpPr>
        <p:spPr>
          <a:xfrm>
            <a:off x="1197166" y="5284136"/>
            <a:ext cx="74716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运行步骤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接收到 </a:t>
            </a:r>
            <a:r>
              <a:rPr lang="en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DetectorConstruction</a:t>
            </a:r>
            <a:endParaRPr lang="en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后面 </a:t>
            </a:r>
            <a:r>
              <a:rPr lang="en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-&gt;Initialize()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时调用：</a:t>
            </a:r>
            <a:r>
              <a:rPr lang="en" altLang="zh-CN" sz="16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DetectorConstruction</a:t>
            </a:r>
            <a:r>
              <a:rPr lang="en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::Construct()</a:t>
            </a:r>
          </a:p>
          <a:p>
            <a:pPr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也就是你在 </a:t>
            </a:r>
            <a:r>
              <a:rPr lang="en" altLang="zh-CN" sz="16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DetectorConstruction.cc</a:t>
            </a:r>
            <a:r>
              <a:rPr lang="en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里写的几何构造代码。</a:t>
            </a:r>
          </a:p>
          <a:p>
            <a:pPr>
              <a:buNone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Construct()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被执行：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全部 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20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2CFA9-3D76-44A1-4608-A24962F4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FE7CC-C148-B61C-B5CC-3B45EF75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" altLang="zh-CN" sz="2800" b="1" dirty="0" err="1"/>
              <a:t>RunManager</a:t>
            </a:r>
            <a:r>
              <a:rPr lang="en" altLang="zh-CN" sz="2800" b="1" dirty="0"/>
              <a:t> </a:t>
            </a:r>
            <a:r>
              <a:rPr lang="zh-CN" altLang="en-US" sz="2800" b="1" dirty="0"/>
              <a:t>注册几何、物理列表、用户动作</a:t>
            </a:r>
            <a:endParaRPr kumimoji="1" lang="zh-CN" altLang="en-US" sz="28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5E89CD6-1D61-F914-2947-A3A0FE54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A33E666-DC38-7E6F-ECC8-0A63C03CA06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1569" y="1219200"/>
            <a:ext cx="8077200" cy="321634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041FE175-CC3B-3642-A500-3003F8A98207}"/>
              </a:ext>
            </a:extLst>
          </p:cNvPr>
          <p:cNvSpPr/>
          <p:nvPr/>
        </p:nvSpPr>
        <p:spPr>
          <a:xfrm>
            <a:off x="914400" y="2829206"/>
            <a:ext cx="4800600" cy="980793"/>
          </a:xfrm>
          <a:prstGeom prst="round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D473C3-CA84-A757-4557-A54930D6F207}"/>
              </a:ext>
            </a:extLst>
          </p:cNvPr>
          <p:cNvSpPr txBox="1"/>
          <p:nvPr/>
        </p:nvSpPr>
        <p:spPr>
          <a:xfrm>
            <a:off x="762000" y="4648200"/>
            <a:ext cx="792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QBBC </a:t>
            </a:r>
            <a:r>
              <a:rPr lang="zh-CN" altLang="en-US" dirty="0"/>
              <a:t>是 </a:t>
            </a:r>
            <a:r>
              <a:rPr lang="en" altLang="zh-CN" dirty="0"/>
              <a:t>Geant4 </a:t>
            </a:r>
            <a:r>
              <a:rPr lang="zh-CN" altLang="en-US" dirty="0"/>
              <a:t>提供的一种 </a:t>
            </a:r>
            <a:r>
              <a:rPr lang="zh-CN" altLang="en-US" b="1" dirty="0"/>
              <a:t>标准参考物理列表（</a:t>
            </a:r>
            <a:r>
              <a:rPr lang="en" altLang="zh-CN" b="1" dirty="0"/>
              <a:t>Physics List</a:t>
            </a:r>
            <a:r>
              <a:rPr lang="zh-CN" altLang="en" b="1" dirty="0"/>
              <a:t>）</a:t>
            </a:r>
            <a:r>
              <a:rPr lang="zh-CN" altLang="e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包含：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电磁物理 </a:t>
            </a:r>
            <a:r>
              <a:rPr lang="en" altLang="zh-CN" dirty="0"/>
              <a:t>EM Physics</a:t>
            </a:r>
            <a:r>
              <a:rPr lang="zh-CN" altLang="en-US" dirty="0"/>
              <a:t>、强相互作用（</a:t>
            </a:r>
            <a:r>
              <a:rPr lang="en" altLang="zh-CN" dirty="0"/>
              <a:t>hadronic</a:t>
            </a:r>
            <a:r>
              <a:rPr lang="zh-CN" altLang="en" dirty="0"/>
              <a:t>）</a:t>
            </a:r>
            <a:r>
              <a:rPr lang="zh-CN" altLang="en-US" dirty="0"/>
              <a:t>、衰变（</a:t>
            </a:r>
            <a:r>
              <a:rPr lang="en" altLang="zh-CN" dirty="0"/>
              <a:t>decay</a:t>
            </a:r>
            <a:r>
              <a:rPr lang="zh-CN" altLang="en" dirty="0"/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中子过程、低能核反应、屏蔽模型等等</a:t>
            </a:r>
          </a:p>
          <a:p>
            <a:endParaRPr lang="en-US" altLang="zh-CN" dirty="0"/>
          </a:p>
          <a:p>
            <a:r>
              <a:rPr lang="en-US" altLang="zh-CN" b="1" dirty="0"/>
              <a:t>71:</a:t>
            </a:r>
            <a:r>
              <a:rPr lang="zh-CN" altLang="en-US" b="1" dirty="0"/>
              <a:t> 创建了一个 </a:t>
            </a:r>
            <a:r>
              <a:rPr lang="en" altLang="zh-CN" b="1" dirty="0"/>
              <a:t>QBBC </a:t>
            </a:r>
            <a:r>
              <a:rPr lang="zh-CN" altLang="en-US" b="1" dirty="0"/>
              <a:t>对象用来告诉 </a:t>
            </a:r>
            <a:r>
              <a:rPr lang="en" altLang="zh-CN" b="1" dirty="0"/>
              <a:t>Geant4 </a:t>
            </a:r>
            <a:r>
              <a:rPr lang="zh-CN" altLang="en-US" b="1" dirty="0"/>
              <a:t>应该使用哪些物理过程</a:t>
            </a:r>
          </a:p>
        </p:txBody>
      </p:sp>
    </p:spTree>
    <p:extLst>
      <p:ext uri="{BB962C8B-B14F-4D97-AF65-F5344CB8AC3E}">
        <p14:creationId xmlns:p14="http://schemas.microsoft.com/office/powerpoint/2010/main" val="22639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311F3-2CD3-D7BA-4A50-FB94EB9B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zh-CN" dirty="0" err="1"/>
              <a:t>physicsList</a:t>
            </a:r>
            <a:r>
              <a:rPr lang="en" altLang="zh-CN" dirty="0"/>
              <a:t>-&gt;</a:t>
            </a:r>
            <a:r>
              <a:rPr lang="en" altLang="zh-CN" dirty="0" err="1"/>
              <a:t>SetVerboseLevel</a:t>
            </a:r>
            <a:r>
              <a:rPr lang="en" altLang="zh-CN" dirty="0"/>
              <a:t>(1);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6F25B2-4EEC-723D-581F-B545712C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EF2A43-2700-2265-A315-D105774024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/>
              <a:t>设定物理过程模型的“输出等级”。</a:t>
            </a:r>
            <a:endParaRPr lang="zh-CN" altLang="en-US" dirty="0"/>
          </a:p>
          <a:p>
            <a:r>
              <a:rPr lang="en" altLang="zh-CN" dirty="0" err="1"/>
              <a:t>VerboseLevel</a:t>
            </a:r>
            <a:r>
              <a:rPr lang="en" altLang="zh-CN" dirty="0"/>
              <a:t> = </a:t>
            </a:r>
            <a:r>
              <a:rPr lang="zh-CN" altLang="en-US" dirty="0"/>
              <a:t>冗余输出等级（控制屏幕打印多少信息）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8C9D514-49BF-1880-C7EA-92F932E65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33174"/>
              </p:ext>
            </p:extLst>
          </p:nvPr>
        </p:nvGraphicFramePr>
        <p:xfrm>
          <a:off x="1447800" y="2362200"/>
          <a:ext cx="62484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67747238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224271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verbose </a:t>
                      </a:r>
                      <a:r>
                        <a:rPr lang="zh-CN" altLang="en-US" b="1"/>
                        <a:t>等级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意义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782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不输出过程信息（最干净）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11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输出基本信息（常用）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97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输出详细过程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3+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极为详细（调试用）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62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641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8A953-3567-83A5-6C9F-D6F156CE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639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为什么可以把 </a:t>
            </a:r>
            <a:r>
              <a:rPr lang="en" altLang="zh-CN" dirty="0" err="1"/>
              <a:t>physicsList</a:t>
            </a:r>
            <a:r>
              <a:rPr lang="zh-CN" altLang="en" dirty="0"/>
              <a:t>（</a:t>
            </a:r>
            <a:r>
              <a:rPr lang="en" altLang="zh-CN" dirty="0"/>
              <a:t>QBBC</a:t>
            </a:r>
            <a:r>
              <a:rPr lang="zh-CN" altLang="en" dirty="0"/>
              <a:t>）</a:t>
            </a:r>
            <a:r>
              <a:rPr lang="zh-CN" altLang="en-US" dirty="0"/>
              <a:t>直接传给 </a:t>
            </a:r>
            <a:r>
              <a:rPr lang="en" altLang="zh-CN" dirty="0" err="1"/>
              <a:t>SetUserInitialization</a:t>
            </a:r>
            <a:r>
              <a:rPr lang="zh-CN" altLang="en" dirty="0"/>
              <a:t>？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71155B-0FBB-5B4D-6CD2-10A413CC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F49F94-1FBF-AFF5-4F62-91F93BA727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1752600"/>
            <a:ext cx="8077200" cy="3352800"/>
          </a:xfrm>
        </p:spPr>
        <p:txBody>
          <a:bodyPr/>
          <a:lstStyle/>
          <a:p>
            <a:r>
              <a:rPr lang="en" altLang="zh-CN" dirty="0" err="1"/>
              <a:t>PhysicsList</a:t>
            </a:r>
            <a:r>
              <a:rPr lang="zh-CN" altLang="en" dirty="0"/>
              <a:t>（</a:t>
            </a:r>
            <a:r>
              <a:rPr lang="en" altLang="zh-CN" dirty="0"/>
              <a:t>QBBC</a:t>
            </a:r>
            <a:r>
              <a:rPr lang="zh-CN" altLang="en" dirty="0"/>
              <a:t>）</a:t>
            </a:r>
            <a:r>
              <a:rPr lang="zh-CN" altLang="en-US" dirty="0"/>
              <a:t>告诉 </a:t>
            </a:r>
            <a:r>
              <a:rPr lang="en" altLang="zh-CN" dirty="0" err="1"/>
              <a:t>runManager</a:t>
            </a:r>
            <a:r>
              <a:rPr lang="zh-CN" altLang="en" dirty="0"/>
              <a:t>，</a:t>
            </a:r>
            <a:r>
              <a:rPr lang="zh-CN" altLang="en-US" dirty="0"/>
              <a:t>以便进行初始化</a:t>
            </a:r>
            <a:endParaRPr lang="en-US" altLang="zh-CN" dirty="0"/>
          </a:p>
          <a:p>
            <a:r>
              <a:rPr kumimoji="1" lang="zh-CN" altLang="en-US" dirty="0"/>
              <a:t>因为继承关系：</a:t>
            </a:r>
            <a:r>
              <a:rPr lang="zh-CN" altLang="en-US" dirty="0"/>
              <a:t>父类指针（</a:t>
            </a:r>
            <a:r>
              <a:rPr lang="en" altLang="zh-CN" dirty="0"/>
              <a:t>G4VUserPhysicsList*</a:t>
            </a:r>
            <a:r>
              <a:rPr lang="zh-CN" altLang="en" dirty="0"/>
              <a:t>）</a:t>
            </a:r>
            <a:r>
              <a:rPr lang="zh-CN" altLang="en-US" dirty="0"/>
              <a:t>可以指向子类（</a:t>
            </a:r>
            <a:r>
              <a:rPr lang="en" altLang="zh-CN" dirty="0"/>
              <a:t>QBBC</a:t>
            </a:r>
            <a:r>
              <a:rPr lang="zh-CN" altLang="en" dirty="0"/>
              <a:t>）。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50572E-7DFE-C72E-A727-BA87099C45D1}"/>
              </a:ext>
            </a:extLst>
          </p:cNvPr>
          <p:cNvSpPr txBox="1"/>
          <p:nvPr/>
        </p:nvSpPr>
        <p:spPr>
          <a:xfrm>
            <a:off x="1828800" y="3441858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G4VUserPhysicsList</a:t>
            </a:r>
          </a:p>
          <a:p>
            <a:r>
              <a:rPr lang="zh-CN" altLang="en-US" dirty="0"/>
              <a:t>        ↑</a:t>
            </a:r>
          </a:p>
          <a:p>
            <a:r>
              <a:rPr lang="zh-CN" altLang="en-US" dirty="0"/>
              <a:t>  G4VModularPhysicsList</a:t>
            </a:r>
          </a:p>
          <a:p>
            <a:r>
              <a:rPr lang="zh-CN" altLang="en-US" dirty="0"/>
              <a:t>        ↑</a:t>
            </a:r>
          </a:p>
          <a:p>
            <a:r>
              <a:rPr lang="zh-CN" altLang="en-US" dirty="0"/>
              <a:t>      QBBC</a:t>
            </a:r>
          </a:p>
        </p:txBody>
      </p:sp>
    </p:spTree>
    <p:extLst>
      <p:ext uri="{BB962C8B-B14F-4D97-AF65-F5344CB8AC3E}">
        <p14:creationId xmlns:p14="http://schemas.microsoft.com/office/powerpoint/2010/main" val="3957665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6085-BE45-160C-1715-09DFB430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3A100-C003-4F47-5AED-DE735817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" altLang="zh-CN" sz="2800" b="1" dirty="0" err="1"/>
              <a:t>RunManager</a:t>
            </a:r>
            <a:r>
              <a:rPr lang="en" altLang="zh-CN" sz="2800" b="1" dirty="0"/>
              <a:t> </a:t>
            </a:r>
            <a:r>
              <a:rPr lang="zh-CN" altLang="en-US" sz="2800" b="1" dirty="0"/>
              <a:t>注册几何、物理列表、用户动作</a:t>
            </a:r>
            <a:endParaRPr kumimoji="1" lang="zh-CN" altLang="en-US" sz="28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F29D0A-1B99-38DC-22CD-8B0C3E02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3F20E4-4D9A-D8C5-EC10-824E673B012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91569" y="1219200"/>
            <a:ext cx="8077200" cy="321634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6E6A66E1-B2B1-ABDD-96E3-49CD928CFC71}"/>
              </a:ext>
            </a:extLst>
          </p:cNvPr>
          <p:cNvSpPr/>
          <p:nvPr/>
        </p:nvSpPr>
        <p:spPr>
          <a:xfrm>
            <a:off x="914400" y="3759549"/>
            <a:ext cx="5943600" cy="675993"/>
          </a:xfrm>
          <a:prstGeom prst="round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D9C046-8E36-344C-3013-38C7324064DF}"/>
              </a:ext>
            </a:extLst>
          </p:cNvPr>
          <p:cNvSpPr txBox="1"/>
          <p:nvPr/>
        </p:nvSpPr>
        <p:spPr>
          <a:xfrm>
            <a:off x="685800" y="4953589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使用 </a:t>
            </a:r>
            <a:r>
              <a:rPr lang="en" altLang="zh-CN" b="1" dirty="0" err="1"/>
              <a:t>ActionInitialization</a:t>
            </a:r>
            <a:r>
              <a:rPr lang="en" altLang="zh-CN" b="1" dirty="0"/>
              <a:t> </a:t>
            </a:r>
            <a:r>
              <a:rPr lang="zh-CN" altLang="en-US" b="1" dirty="0"/>
              <a:t>这个类来定义所有“用户动作（</a:t>
            </a:r>
            <a:r>
              <a:rPr lang="en" altLang="zh-CN" b="1" dirty="0"/>
              <a:t>User Actions</a:t>
            </a:r>
            <a:r>
              <a:rPr lang="zh-CN" altLang="en" b="1" dirty="0"/>
              <a:t>）”。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4835E5-7DDC-F7A6-CD12-0C292E760D60}"/>
              </a:ext>
            </a:extLst>
          </p:cNvPr>
          <p:cNvSpPr txBox="1"/>
          <p:nvPr/>
        </p:nvSpPr>
        <p:spPr>
          <a:xfrm>
            <a:off x="721605" y="5470281"/>
            <a:ext cx="5462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dirty="0">
                <a:solidFill>
                  <a:schemeClr val="accent6">
                    <a:lumMod val="75000"/>
                  </a:schemeClr>
                </a:solidFill>
              </a:rPr>
              <a:t>Geant4 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运行时会调用：</a:t>
            </a:r>
            <a:r>
              <a:rPr lang="en" altLang="zh-CN" sz="2000" dirty="0" err="1">
                <a:solidFill>
                  <a:schemeClr val="accent6">
                    <a:lumMod val="75000"/>
                  </a:schemeClr>
                </a:solidFill>
              </a:rPr>
              <a:t>ActionInitialization</a:t>
            </a:r>
            <a:r>
              <a:rPr lang="en" altLang="zh-CN" sz="2000" dirty="0">
                <a:solidFill>
                  <a:schemeClr val="accent6">
                    <a:lumMod val="75000"/>
                  </a:schemeClr>
                </a:solidFill>
              </a:rPr>
              <a:t>::Build()</a:t>
            </a:r>
          </a:p>
          <a:p>
            <a:r>
              <a:rPr kumimoji="1" lang="zh-CN" altLang="en-US" sz="2000" dirty="0">
                <a:solidFill>
                  <a:schemeClr val="accent6">
                    <a:lumMod val="75000"/>
                  </a:schemeClr>
                </a:solidFill>
              </a:rPr>
              <a:t>也就是在</a:t>
            </a:r>
            <a:r>
              <a:rPr lang="en" altLang="zh-CN" sz="2000" dirty="0" err="1">
                <a:solidFill>
                  <a:schemeClr val="accent6">
                    <a:lumMod val="75000"/>
                  </a:schemeClr>
                </a:solidFill>
              </a:rPr>
              <a:t>ActionInitialization.cc</a:t>
            </a:r>
            <a:r>
              <a:rPr kumimoji="1" lang="zh-CN" altLang="en-US" sz="2000" dirty="0">
                <a:solidFill>
                  <a:schemeClr val="accent6">
                    <a:lumMod val="75000"/>
                  </a:schemeClr>
                </a:solidFill>
              </a:rPr>
              <a:t>中构建的代码</a:t>
            </a:r>
            <a:endParaRPr lang="en" altLang="zh-CN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36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2C782-5683-7F14-CF44-387D3581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需要初始化的用户动作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E2ADD1-59F6-2E63-2FE4-18DAC58A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5841916-7E91-A259-909D-E48E624DD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14672"/>
              </p:ext>
            </p:extLst>
          </p:nvPr>
        </p:nvGraphicFramePr>
        <p:xfrm>
          <a:off x="603504" y="1828800"/>
          <a:ext cx="8077200" cy="2834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150236566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32610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作用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169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PrimaryGeneratorAction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粒子源（发射粒子）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869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RunAction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每个 </a:t>
                      </a:r>
                      <a:r>
                        <a:rPr lang="en" b="1"/>
                        <a:t>run </a:t>
                      </a:r>
                      <a:r>
                        <a:rPr lang="zh-CN" altLang="en-US" b="1"/>
                        <a:t>开始</a:t>
                      </a:r>
                      <a:r>
                        <a:rPr lang="en-US" altLang="zh-CN" b="1"/>
                        <a:t>/</a:t>
                      </a:r>
                      <a:r>
                        <a:rPr lang="zh-CN" altLang="en-US" b="1"/>
                        <a:t>结束做什么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EventAction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每个 </a:t>
                      </a:r>
                      <a:r>
                        <a:rPr lang="en" b="1"/>
                        <a:t>event </a:t>
                      </a:r>
                      <a:r>
                        <a:rPr lang="zh-CN" altLang="en-US" b="1"/>
                        <a:t>开始</a:t>
                      </a:r>
                      <a:r>
                        <a:rPr lang="en-US" altLang="zh-CN" b="1"/>
                        <a:t>/</a:t>
                      </a:r>
                      <a:r>
                        <a:rPr lang="zh-CN" altLang="en-US" b="1"/>
                        <a:t>结束做什么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214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SteppingAction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每一步 </a:t>
                      </a:r>
                      <a:r>
                        <a:rPr lang="en" b="1"/>
                        <a:t>step </a:t>
                      </a:r>
                      <a:r>
                        <a:rPr lang="zh-CN" altLang="en-US" b="1"/>
                        <a:t>要做什么（如能量沉积、打分）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984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TrackingAction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粒子跟踪开始</a:t>
                      </a:r>
                      <a:r>
                        <a:rPr lang="en-US" altLang="zh-CN" b="1"/>
                        <a:t>/</a:t>
                      </a:r>
                      <a:r>
                        <a:rPr lang="zh-CN" altLang="en-US" b="1"/>
                        <a:t>结束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900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 err="1"/>
                        <a:t>StackingAction</a:t>
                      </a:r>
                      <a:endParaRPr lang="e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控制次级粒子加入 </a:t>
                      </a:r>
                      <a:r>
                        <a:rPr lang="en" b="1" dirty="0"/>
                        <a:t>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849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720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3E42D-25A2-6C6F-EB2A-41DE56E8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初始化</a:t>
            </a:r>
            <a:r>
              <a:rPr lang="en-US" altLang="zh-CN" dirty="0"/>
              <a:t>——</a:t>
            </a:r>
            <a:r>
              <a:rPr lang="zh-CN" altLang="en-US" dirty="0"/>
              <a:t> 可视化系统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029FC7-879F-C4FD-5E4B-BE6AB732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07D0469-1C8E-CC58-876F-9BF39E4DA9D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8781" y="1219200"/>
            <a:ext cx="8077200" cy="26887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A2FB8B0-F17C-A9A8-C324-5D8E1C971913}"/>
              </a:ext>
            </a:extLst>
          </p:cNvPr>
          <p:cNvSpPr txBox="1"/>
          <p:nvPr/>
        </p:nvSpPr>
        <p:spPr>
          <a:xfrm>
            <a:off x="762000" y="4201754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</a:rPr>
              <a:t>G4VisExecutive</a:t>
            </a:r>
            <a:r>
              <a:rPr lang="en" altLang="zh-CN" dirty="0"/>
              <a:t> </a:t>
            </a:r>
            <a:r>
              <a:rPr lang="zh-CN" altLang="en-US" dirty="0"/>
              <a:t>是 </a:t>
            </a:r>
            <a:r>
              <a:rPr lang="en" altLang="zh-CN" b="1" dirty="0"/>
              <a:t>Geant4 </a:t>
            </a:r>
            <a:r>
              <a:rPr lang="zh-CN" altLang="en-US" b="1" dirty="0"/>
              <a:t>可视化系统的总管理器</a:t>
            </a:r>
            <a:endParaRPr lang="en-US" altLang="zh-CN" b="1" dirty="0"/>
          </a:p>
          <a:p>
            <a:r>
              <a:rPr lang="zh-CN" altLang="en-US" b="1" dirty="0"/>
              <a:t>  </a:t>
            </a:r>
            <a:r>
              <a:rPr lang="en-US" altLang="zh-CN" b="1" dirty="0"/>
              <a:t>——</a:t>
            </a:r>
            <a:r>
              <a:rPr lang="zh-CN" altLang="en-US" dirty="0"/>
              <a:t>启用 </a:t>
            </a:r>
            <a:r>
              <a:rPr lang="en" altLang="zh-CN" dirty="0"/>
              <a:t>Geant4 </a:t>
            </a:r>
            <a:r>
              <a:rPr lang="zh-CN" altLang="en-US" dirty="0"/>
              <a:t>的图形系统，比如 </a:t>
            </a:r>
            <a:r>
              <a:rPr lang="en" altLang="zh-CN" dirty="0"/>
              <a:t>OpenGL</a:t>
            </a:r>
            <a:r>
              <a:rPr lang="zh-CN" altLang="en" dirty="0"/>
              <a:t>、</a:t>
            </a:r>
            <a:r>
              <a:rPr lang="en" altLang="zh-CN" dirty="0"/>
              <a:t>VRML</a:t>
            </a:r>
            <a:r>
              <a:rPr lang="zh-CN" altLang="en" dirty="0"/>
              <a:t>、</a:t>
            </a:r>
            <a:r>
              <a:rPr lang="en" altLang="zh-CN" dirty="0" err="1"/>
              <a:t>RayTracer</a:t>
            </a:r>
            <a:r>
              <a:rPr lang="zh-CN" altLang="en" dirty="0"/>
              <a:t>、</a:t>
            </a:r>
            <a:r>
              <a:rPr lang="en" altLang="zh-CN" dirty="0"/>
              <a:t>DAWN 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传入 </a:t>
            </a:r>
            <a:r>
              <a:rPr lang="en" altLang="zh-CN" dirty="0" err="1"/>
              <a:t>argc</a:t>
            </a:r>
            <a:r>
              <a:rPr lang="en" altLang="zh-CN" dirty="0"/>
              <a:t> </a:t>
            </a:r>
            <a:r>
              <a:rPr lang="zh-CN" altLang="en-US" dirty="0"/>
              <a:t>和 </a:t>
            </a:r>
            <a:r>
              <a:rPr lang="en" altLang="zh-CN" dirty="0" err="1"/>
              <a:t>argv</a:t>
            </a:r>
            <a:r>
              <a:rPr lang="zh-CN" altLang="en-US" dirty="0"/>
              <a:t>：让可视化系统也可以处理命令行参数；比如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0F1850-B82D-97FD-5701-69057E6DB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738" y="5405755"/>
            <a:ext cx="1694395" cy="7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81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4C408-033C-90AE-5174-EB05C4C2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273116-DE34-635C-B395-4BFC43EE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A20651-A841-8118-283C-59C980A1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66800"/>
            <a:ext cx="7006937" cy="5334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51817E4-492D-6B89-93E8-80A890CB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352295"/>
              </p:ext>
            </p:extLst>
          </p:nvPr>
        </p:nvGraphicFramePr>
        <p:xfrm>
          <a:off x="1295400" y="2305050"/>
          <a:ext cx="7006938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187291436"/>
                    </a:ext>
                  </a:extLst>
                </a:gridCol>
                <a:gridCol w="4644738">
                  <a:extLst>
                    <a:ext uri="{9D8B030D-6E8A-4147-A177-3AD203B41FA5}">
                      <a16:colId xmlns:a16="http://schemas.microsoft.com/office/drawing/2014/main" val="2112661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Verbose </a:t>
                      </a:r>
                      <a:r>
                        <a:rPr lang="zh-CN" altLang="en-US" b="1"/>
                        <a:t>字符串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001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"Quiet"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几乎不打印任何可视化信息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656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"Normal"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默认输出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69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"Verbose"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更多调试信息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346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"All"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非常详细（一般不需要）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5769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539B7D2-C7BC-CD12-BDF1-35D4681A007A}"/>
                  </a:ext>
                </a:extLst>
              </p14:cNvPr>
              <p14:cNvContentPartPr/>
              <p14:nvPr/>
            </p14:nvContentPartPr>
            <p14:xfrm>
              <a:off x="6483938" y="1117175"/>
              <a:ext cx="978120" cy="6793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539B7D2-C7BC-CD12-BDF1-35D4681A00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6298" y="1099535"/>
                <a:ext cx="1013760" cy="71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B015EAD-3C13-2E8E-2D20-A0CB7626D0E3}"/>
                  </a:ext>
                </a:extLst>
              </p14:cNvPr>
              <p14:cNvContentPartPr/>
              <p14:nvPr/>
            </p14:nvContentPartPr>
            <p14:xfrm>
              <a:off x="6990458" y="2649335"/>
              <a:ext cx="298800" cy="2574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B015EAD-3C13-2E8E-2D20-A0CB7626D0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2458" y="2631335"/>
                <a:ext cx="334440" cy="29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87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F691A-AE5D-29C0-562D-14A5137D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获取 </a:t>
            </a:r>
            <a:r>
              <a:rPr lang="en" altLang="zh-CN" dirty="0"/>
              <a:t>UI </a:t>
            </a:r>
            <a:r>
              <a:rPr lang="zh-CN" altLang="en-US" dirty="0"/>
              <a:t>管理器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27762A-C63F-0028-813A-16EC65F3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29B06E4-B7CC-CA55-852B-A3D6702FCE6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77900" y="1447800"/>
            <a:ext cx="7188200" cy="939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8FE6E46-1DA3-0CCB-67D4-E5ADC3DF1EDE}"/>
              </a:ext>
            </a:extLst>
          </p:cNvPr>
          <p:cNvSpPr txBox="1"/>
          <p:nvPr/>
        </p:nvSpPr>
        <p:spPr>
          <a:xfrm>
            <a:off x="457200" y="2921000"/>
            <a:ext cx="83820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含义：</a:t>
            </a:r>
          </a:p>
          <a:p>
            <a:pPr marL="342900" indent="-3429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全局唯一的用户界面管理器，将其赋值给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UImanager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</a:p>
          <a:p>
            <a:pPr marL="342900" indent="-3429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允许在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中用代码执行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</a:p>
          <a:p>
            <a:pPr marL="342900" indent="-3429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之后的所有宏命令（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ApplyCommand</a:t>
            </a:r>
            <a:r>
              <a:rPr lang="zh-CN" alt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都通过它执行</a:t>
            </a:r>
          </a:p>
          <a:p>
            <a:pPr marL="342900" indent="-342900"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和宏系统的核心入口</a:t>
            </a:r>
          </a:p>
          <a:p>
            <a:pPr marL="342900" indent="-342900">
              <a:spcBef>
                <a:spcPts val="600"/>
              </a:spcBef>
              <a:buFont typeface="+mj-ea"/>
              <a:buAutoNum type="circleNumDbPlain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自动推导类型（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G4UImanager*</a:t>
            </a:r>
            <a:r>
              <a:rPr lang="zh-CN" alt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B7C83E-0737-E9DC-1930-3CF6AD120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36999"/>
            <a:ext cx="8596058" cy="68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03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4C512-6852-25BE-0D6E-BAE11245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交互</a:t>
            </a:r>
            <a:r>
              <a:rPr lang="en-US" altLang="zh-CN" dirty="0"/>
              <a:t>/</a:t>
            </a:r>
            <a:r>
              <a:rPr lang="zh-CN" altLang="en-US" dirty="0"/>
              <a:t>批处理模式分支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A98E06-27E0-7E97-5AD8-EDC5A028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08753B2-7C74-5168-5B94-E6DBCA3282F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600" y="1173315"/>
            <a:ext cx="8077200" cy="46637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3E521F3-D61F-CA22-8404-DEE0FDB81960}"/>
              </a:ext>
            </a:extLst>
          </p:cNvPr>
          <p:cNvSpPr txBox="1"/>
          <p:nvPr/>
        </p:nvSpPr>
        <p:spPr>
          <a:xfrm>
            <a:off x="4648200" y="1752600"/>
            <a:ext cx="1447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批处理模式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52E127-CA66-A2E4-9366-AE404C943290}"/>
              </a:ext>
            </a:extLst>
          </p:cNvPr>
          <p:cNvSpPr txBox="1"/>
          <p:nvPr/>
        </p:nvSpPr>
        <p:spPr>
          <a:xfrm>
            <a:off x="4724400" y="3794842"/>
            <a:ext cx="1447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交互模式</a:t>
            </a:r>
          </a:p>
        </p:txBody>
      </p:sp>
    </p:spTree>
    <p:extLst>
      <p:ext uri="{BB962C8B-B14F-4D97-AF65-F5344CB8AC3E}">
        <p14:creationId xmlns:p14="http://schemas.microsoft.com/office/powerpoint/2010/main" val="3523151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8B88-E483-5CD6-0171-66726B7A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A1D24-B327-B5C8-5A60-93324D1B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交互</a:t>
            </a:r>
            <a:r>
              <a:rPr lang="en-US" altLang="zh-CN" dirty="0"/>
              <a:t>/</a:t>
            </a:r>
            <a:r>
              <a:rPr lang="zh-CN" altLang="en-US" dirty="0"/>
              <a:t>批处理模式分支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BFDD09-2B3C-3653-3F77-1DFE2729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00F3536-BF91-4F30-43FA-E85F0E0722D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b="46732"/>
          <a:stretch>
            <a:fillRect/>
          </a:stretch>
        </p:blipFill>
        <p:spPr>
          <a:xfrm>
            <a:off x="609600" y="1173315"/>
            <a:ext cx="8077200" cy="24842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E4063E-4DD3-7DFB-D9AC-602657784F81}"/>
              </a:ext>
            </a:extLst>
          </p:cNvPr>
          <p:cNvSpPr txBox="1"/>
          <p:nvPr/>
        </p:nvSpPr>
        <p:spPr>
          <a:xfrm>
            <a:off x="4648200" y="1752600"/>
            <a:ext cx="2667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批处理模式 （</a:t>
            </a:r>
            <a:r>
              <a:rPr lang="en" altLang="zh-CN" dirty="0" err="1">
                <a:highlight>
                  <a:srgbClr val="FFFF00"/>
                </a:highlight>
              </a:rPr>
              <a:t>argc</a:t>
            </a:r>
            <a:r>
              <a:rPr lang="en" altLang="zh-CN" dirty="0">
                <a:highlight>
                  <a:srgbClr val="FFFF00"/>
                </a:highlight>
              </a:rPr>
              <a:t> &gt; 1</a:t>
            </a:r>
            <a:r>
              <a:rPr lang="zh-CN" altLang="en-US" dirty="0">
                <a:highlight>
                  <a:srgbClr val="FFFF00"/>
                </a:highlight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BBF47C-9BAF-2475-989C-CAA128531B29}"/>
              </a:ext>
            </a:extLst>
          </p:cNvPr>
          <p:cNvSpPr txBox="1"/>
          <p:nvPr/>
        </p:nvSpPr>
        <p:spPr>
          <a:xfrm>
            <a:off x="762000" y="4002926"/>
            <a:ext cx="73914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ts val="600"/>
              </a:spcBef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定义命令字符串：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en" altLang="zh-CN" dirty="0">
                <a:solidFill>
                  <a:srgbClr val="FF0000"/>
                </a:solidFill>
              </a:rPr>
              <a:t>control/execute 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把你输入的宏文件名取出来：→ </a:t>
            </a:r>
            <a:r>
              <a:rPr lang="en" altLang="zh-CN" dirty="0" err="1"/>
              <a:t>argv</a:t>
            </a:r>
            <a:r>
              <a:rPr lang="en" altLang="zh-CN" dirty="0"/>
              <a:t>[1] = "</a:t>
            </a:r>
            <a:r>
              <a:rPr lang="en" altLang="zh-CN" dirty="0" err="1">
                <a:solidFill>
                  <a:schemeClr val="accent6">
                    <a:lumMod val="75000"/>
                  </a:schemeClr>
                </a:solidFill>
              </a:rPr>
              <a:t>example.mac</a:t>
            </a:r>
            <a:r>
              <a:rPr lang="en" altLang="zh-CN" dirty="0"/>
              <a:t>"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拼成一个完整命令：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en" altLang="zh-CN" dirty="0">
                <a:solidFill>
                  <a:srgbClr val="FF0000"/>
                </a:solidFill>
              </a:rPr>
              <a:t>control/execute </a:t>
            </a:r>
            <a:r>
              <a:rPr lang="en" altLang="zh-CN" dirty="0" err="1">
                <a:solidFill>
                  <a:schemeClr val="accent6">
                    <a:lumMod val="75000"/>
                  </a:schemeClr>
                </a:solidFill>
              </a:rPr>
              <a:t>example.mac</a:t>
            </a:r>
            <a:endParaRPr lang="en" altLang="zh-CN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让 </a:t>
            </a:r>
            <a:r>
              <a:rPr lang="en" altLang="zh-CN" dirty="0"/>
              <a:t>Geant4 </a:t>
            </a:r>
            <a:r>
              <a:rPr lang="zh-CN" altLang="en-US" dirty="0"/>
              <a:t>执行它：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B276E79-2955-5077-AD6C-7D6C0E7E5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62" y="5634336"/>
            <a:ext cx="7241076" cy="5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63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8973-1A7B-D963-882A-74BED45A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EA62C-12D1-6521-3A97-FC90E1F7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交互</a:t>
            </a:r>
            <a:r>
              <a:rPr lang="en-US" altLang="zh-CN" dirty="0"/>
              <a:t>/</a:t>
            </a:r>
            <a:r>
              <a:rPr lang="zh-CN" altLang="en-US" dirty="0"/>
              <a:t>批处理模式分支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A3F78F-6DF5-8BAF-36FE-4BE36846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DD4F163-E9D0-0611-04B5-6F04B1DE7CF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t="53268"/>
          <a:stretch>
            <a:fillRect/>
          </a:stretch>
        </p:blipFill>
        <p:spPr>
          <a:xfrm>
            <a:off x="609600" y="1066800"/>
            <a:ext cx="8077200" cy="21794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4238921-A452-359B-5B18-9A9D6F8D1942}"/>
              </a:ext>
            </a:extLst>
          </p:cNvPr>
          <p:cNvSpPr txBox="1"/>
          <p:nvPr/>
        </p:nvSpPr>
        <p:spPr>
          <a:xfrm>
            <a:off x="4724400" y="1204043"/>
            <a:ext cx="1447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交互模式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B3EB066-75A1-A54B-C009-260BE9B2D6FA}"/>
                  </a:ext>
                </a:extLst>
              </p14:cNvPr>
              <p14:cNvContentPartPr/>
              <p14:nvPr/>
            </p14:nvContentPartPr>
            <p14:xfrm>
              <a:off x="6789480" y="1413815"/>
              <a:ext cx="1744920" cy="8874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B3EB066-75A1-A54B-C009-260BE9B2D6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1480" y="1396175"/>
                <a:ext cx="1780560" cy="9230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0B224DE-A527-56E9-7CF7-B4E5F1EA3964}"/>
              </a:ext>
            </a:extLst>
          </p:cNvPr>
          <p:cNvSpPr txBox="1"/>
          <p:nvPr/>
        </p:nvSpPr>
        <p:spPr>
          <a:xfrm>
            <a:off x="1017467" y="3639244"/>
            <a:ext cx="2133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dirty="0"/>
              <a:t>文件通常包含：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打开 </a:t>
            </a:r>
            <a:r>
              <a:rPr lang="en" altLang="zh-CN" dirty="0"/>
              <a:t>OpenGL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设置视角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绘制世界体积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开启轨迹显示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E410E59-7E07-3BA2-2643-D2C0DDBF9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869" y="3886200"/>
            <a:ext cx="5383333" cy="145798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6F4A92B-921C-7DBE-5AB7-CB67A5627E13}"/>
              </a:ext>
            </a:extLst>
          </p:cNvPr>
          <p:cNvSpPr txBox="1"/>
          <p:nvPr/>
        </p:nvSpPr>
        <p:spPr>
          <a:xfrm>
            <a:off x="4038600" y="2027075"/>
            <a:ext cx="190500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启动 </a:t>
            </a:r>
            <a:r>
              <a:rPr lang="en" altLang="zh-CN" dirty="0"/>
              <a:t>UI </a:t>
            </a:r>
            <a:r>
              <a:rPr lang="zh-CN" altLang="en-US" dirty="0"/>
              <a:t>交互会话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0C1329-3D03-2E39-7F87-3901751DC5FA}"/>
              </a:ext>
            </a:extLst>
          </p:cNvPr>
          <p:cNvSpPr txBox="1"/>
          <p:nvPr/>
        </p:nvSpPr>
        <p:spPr>
          <a:xfrm>
            <a:off x="1036747" y="56906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交互结束后程序执行到这里，清理 </a:t>
            </a:r>
            <a:r>
              <a:rPr lang="en" altLang="zh-CN" dirty="0">
                <a:solidFill>
                  <a:schemeClr val="accent6">
                    <a:lumMod val="75000"/>
                  </a:schemeClr>
                </a:solidFill>
              </a:rPr>
              <a:t>UI 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对象。</a:t>
            </a:r>
          </a:p>
        </p:txBody>
      </p:sp>
    </p:spTree>
    <p:extLst>
      <p:ext uri="{BB962C8B-B14F-4D97-AF65-F5344CB8AC3E}">
        <p14:creationId xmlns:p14="http://schemas.microsoft.com/office/powerpoint/2010/main" val="60799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D1E24-951D-6D85-C1F9-65FC83C6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main</a:t>
            </a:r>
            <a:r>
              <a:rPr kumimoji="1" lang="zh-CN" altLang="en-US" dirty="0"/>
              <a:t>函数执行完毕，清理内存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4134F4-FAAC-4E4E-C847-12C3795B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D2CE107-4001-83C5-9E56-947B3097987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28880" y="1540146"/>
            <a:ext cx="8077200" cy="19062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3AD79F9-8C55-069E-00DE-0D3102647C29}"/>
              </a:ext>
            </a:extLst>
          </p:cNvPr>
          <p:cNvSpPr txBox="1"/>
          <p:nvPr/>
        </p:nvSpPr>
        <p:spPr>
          <a:xfrm>
            <a:off x="762000" y="3886200"/>
            <a:ext cx="8458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" altLang="zh-CN" sz="2000" b="1" dirty="0" err="1"/>
              <a:t>visManager</a:t>
            </a:r>
            <a:r>
              <a:rPr lang="en" altLang="zh-CN" sz="2000" b="1" dirty="0"/>
              <a:t> </a:t>
            </a:r>
            <a:r>
              <a:rPr lang="zh-CN" altLang="en-US" sz="2000" b="1" dirty="0"/>
              <a:t>必须手动释放。</a:t>
            </a:r>
          </a:p>
          <a:p>
            <a:pPr>
              <a:spcBef>
                <a:spcPts val="600"/>
              </a:spcBef>
              <a:buNone/>
            </a:pPr>
            <a:r>
              <a:rPr lang="en" altLang="zh-CN" sz="2000" b="1" dirty="0" err="1"/>
              <a:t>runManager</a:t>
            </a:r>
            <a:r>
              <a:rPr lang="en" altLang="zh-CN" sz="2000" b="1" dirty="0"/>
              <a:t> </a:t>
            </a:r>
            <a:r>
              <a:rPr lang="zh-CN" altLang="en-US" sz="2000" b="1" dirty="0"/>
              <a:t>会自动删除用户注册的类（</a:t>
            </a:r>
            <a:r>
              <a:rPr lang="en" altLang="zh-CN" sz="2000" b="1" dirty="0"/>
              <a:t>Detector</a:t>
            </a:r>
            <a:r>
              <a:rPr lang="zh-CN" altLang="en" sz="2000" b="1" dirty="0"/>
              <a:t>、</a:t>
            </a:r>
            <a:r>
              <a:rPr lang="en" altLang="zh-CN" sz="2000" b="1" dirty="0"/>
              <a:t>Physics</a:t>
            </a:r>
            <a:r>
              <a:rPr lang="zh-CN" altLang="en" sz="2000" b="1" dirty="0"/>
              <a:t>、</a:t>
            </a:r>
            <a:r>
              <a:rPr lang="en" altLang="zh-CN" sz="2000" b="1" dirty="0"/>
              <a:t>Action</a:t>
            </a:r>
            <a:r>
              <a:rPr lang="zh-CN" altLang="en" sz="2000" b="1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4272660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A800-1642-D21B-4132-C1370B2F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kumimoji="1" lang="zh-CN" altLang="en-US" dirty="0"/>
              <a:t>注意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028706-2179-DEE7-42CD-2ED31743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1A98B8-0F90-90AF-AA03-25E5D44019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7961" y="1162050"/>
            <a:ext cx="8077200" cy="1600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只把用户动作的“入口”注册给 </a:t>
            </a:r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Geant4</a:t>
            </a:r>
            <a:r>
              <a:rPr lang="zh-CN" alt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具体实现分布在各自的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</a:t>
            </a:r>
            <a:endParaRPr kumimoji="1"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46126E-E132-EC5B-0DFC-3DCB88CF1CB4}"/>
              </a:ext>
            </a:extLst>
          </p:cNvPr>
          <p:cNvSpPr txBox="1"/>
          <p:nvPr/>
        </p:nvSpPr>
        <p:spPr>
          <a:xfrm>
            <a:off x="1524000" y="236220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main.cc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 注册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 调用</a:t>
            </a:r>
          </a:p>
          <a:p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DetectorConstruction.cc</a:t>
            </a:r>
          </a:p>
          <a:p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 调用</a:t>
            </a:r>
          </a:p>
          <a:p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ActionInitialization.cc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创建</a:t>
            </a:r>
          </a:p>
          <a:p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PrimaryGeneratorAction.cc</a:t>
            </a:r>
          </a:p>
          <a:p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RunAction.cc</a:t>
            </a:r>
          </a:p>
          <a:p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EventAction.cc</a:t>
            </a:r>
          </a:p>
          <a:p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SteppingAction.cc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7E6C6A9-1FC8-414F-95B1-D68A923C150A}"/>
                  </a:ext>
                </a:extLst>
              </p14:cNvPr>
              <p14:cNvContentPartPr/>
              <p14:nvPr/>
            </p14:nvContentPartPr>
            <p14:xfrm>
              <a:off x="4197938" y="4396055"/>
              <a:ext cx="737640" cy="1629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7E6C6A9-1FC8-414F-95B1-D68A923C15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0298" y="4378415"/>
                <a:ext cx="773280" cy="1665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BA6CD88A-FF8C-2F63-FACB-E2F390DB3C6D}"/>
              </a:ext>
            </a:extLst>
          </p:cNvPr>
          <p:cNvSpPr txBox="1"/>
          <p:nvPr/>
        </p:nvSpPr>
        <p:spPr>
          <a:xfrm>
            <a:off x="4219993" y="3334430"/>
            <a:ext cx="382353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注意：物理过程是官方提供，不需要自己编写</a:t>
            </a:r>
            <a:r>
              <a:rPr kumimoji="1" lang="en-US" altLang="zh-CN" dirty="0"/>
              <a:t>.cc</a:t>
            </a:r>
            <a:r>
              <a:rPr kumimoji="1" lang="zh-CN" altLang="en-US" dirty="0"/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251586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49D1A-D240-3876-3D08-E0C03C75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课堂作业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06CEDD2-F53A-E8AD-7C2E-A5CCC782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7ABF39-B34D-B112-FC3F-5BBB5EEDC38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熟悉</a:t>
            </a:r>
            <a:r>
              <a:rPr kumimoji="1" lang="en-US" altLang="zh-CN" dirty="0"/>
              <a:t>/basic/B1/exampleB1.cc </a:t>
            </a:r>
            <a:r>
              <a:rPr kumimoji="1" lang="zh-CN" altLang="en-US" dirty="0"/>
              <a:t>的</a:t>
            </a:r>
            <a:r>
              <a:rPr kumimoji="1" lang="en-US" altLang="zh-CN" dirty="0"/>
              <a:t> main </a:t>
            </a:r>
            <a:r>
              <a:rPr kumimoji="1" lang="zh-CN" altLang="en-US" dirty="0"/>
              <a:t>函数，并梳理例题的运行逻辑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小组互相讨论</a:t>
            </a:r>
          </a:p>
        </p:txBody>
      </p:sp>
    </p:spTree>
    <p:extLst>
      <p:ext uri="{BB962C8B-B14F-4D97-AF65-F5344CB8AC3E}">
        <p14:creationId xmlns:p14="http://schemas.microsoft.com/office/powerpoint/2010/main" val="3506945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DE147FC2-1F03-656B-A796-8E3462F53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A0D71FC-0448-7388-DCC9-03C70436B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err="1"/>
              <a:t>BackUp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670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D22FD-2622-2DE3-57A0-5C08B80A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宏文件：以</a:t>
            </a:r>
            <a:r>
              <a:rPr kumimoji="1" lang="en-US" altLang="zh-CN" dirty="0"/>
              <a:t>.mac</a:t>
            </a:r>
            <a:r>
              <a:rPr kumimoji="1" lang="zh-CN" altLang="en-US" dirty="0"/>
              <a:t>结尾的文件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168924-6A35-8D52-8CE3-2CD16464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6E8B3D-99EC-5EF0-F980-06DDE580C4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077200" cy="2438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这里没有 </a:t>
            </a:r>
            <a:r>
              <a:rPr lang="en" altLang="zh-CN" dirty="0"/>
              <a:t>C++ </a:t>
            </a:r>
            <a:r>
              <a:rPr lang="zh-CN" altLang="en-US" dirty="0"/>
              <a:t>代码，但可以通过命令告诉 </a:t>
            </a:r>
            <a:r>
              <a:rPr lang="en" altLang="zh-CN" dirty="0"/>
              <a:t>Geant4</a:t>
            </a:r>
            <a:r>
              <a:rPr lang="zh-CN" altLang="en" dirty="0"/>
              <a:t>：</a:t>
            </a:r>
          </a:p>
          <a:p>
            <a:r>
              <a:rPr lang="zh-CN" altLang="en-US" dirty="0"/>
              <a:t>粒子是什么</a:t>
            </a:r>
          </a:p>
          <a:p>
            <a:r>
              <a:rPr lang="zh-CN" altLang="en-US" dirty="0"/>
              <a:t>能量是多少</a:t>
            </a:r>
          </a:p>
          <a:p>
            <a:r>
              <a:rPr lang="zh-CN" altLang="en-US" dirty="0"/>
              <a:t>方向从哪里来</a:t>
            </a:r>
          </a:p>
          <a:p>
            <a:r>
              <a:rPr lang="zh-CN" altLang="en-US" dirty="0"/>
              <a:t>发射次数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7529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37D00-2AAA-28DA-AFE9-21B6208C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粒子源有两种设置方式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0D168E-AA3F-0E7D-4A17-DC4CD7CE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C62F642-FBC7-1802-CBAB-F952F1A55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74464"/>
              </p:ext>
            </p:extLst>
          </p:nvPr>
        </p:nvGraphicFramePr>
        <p:xfrm>
          <a:off x="603504" y="1143000"/>
          <a:ext cx="8077200" cy="1798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3116788753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934497795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666701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粒子源方式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指令前缀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使用范围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984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/>
                        <a:t>G4ParticleGun</a:t>
                      </a:r>
                      <a:endParaRPr lang="e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/gun/...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简单粒子源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173879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/>
                        <a:t>G4GeneralParticleSource (GPS)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/gps/...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复杂粒子源（能量光谱、角分布、面积源等）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48974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6EF4247-7843-639E-14E2-58570A5FE75D}"/>
              </a:ext>
            </a:extLst>
          </p:cNvPr>
          <p:cNvSpPr txBox="1"/>
          <p:nvPr/>
        </p:nvSpPr>
        <p:spPr>
          <a:xfrm>
            <a:off x="1201335" y="3137329"/>
            <a:ext cx="244449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/gun/particle gamma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/gun/energy 1 MeV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/gun/position 0 0 -10 cm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/gun/direction 0 0 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593034-A67F-56F0-5E8A-EC67079B6CAD}"/>
              </a:ext>
            </a:extLst>
          </p:cNvPr>
          <p:cNvSpPr txBox="1"/>
          <p:nvPr/>
        </p:nvSpPr>
        <p:spPr>
          <a:xfrm>
            <a:off x="4953002" y="3137329"/>
            <a:ext cx="22860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/gps/particle proton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/gps/energy 50 MeV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/gps/pos/type Plane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/gps/pos/shape Circle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/gps/pos/radius 5 cm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/gps/direction 0 0 -1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FC2AA4-1B24-2119-6062-3D89882AC38B}"/>
              </a:ext>
            </a:extLst>
          </p:cNvPr>
          <p:cNvSpPr txBox="1"/>
          <p:nvPr/>
        </p:nvSpPr>
        <p:spPr>
          <a:xfrm>
            <a:off x="4953002" y="5139674"/>
            <a:ext cx="2133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GPS </a:t>
            </a:r>
            <a:r>
              <a:rPr lang="zh-CN" altLang="en-US" dirty="0"/>
              <a:t>的功能更丰富：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面源、体源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能量谱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角分布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随机位置</a:t>
            </a:r>
          </a:p>
        </p:txBody>
      </p:sp>
    </p:spTree>
    <p:extLst>
      <p:ext uri="{BB962C8B-B14F-4D97-AF65-F5344CB8AC3E}">
        <p14:creationId xmlns:p14="http://schemas.microsoft.com/office/powerpoint/2010/main" val="20453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F8770CDC-93AA-2F8F-C082-67952C609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介绍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863C528-BCF7-0583-4D44-5F1511D6B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Geant4</a:t>
            </a:r>
            <a:r>
              <a:rPr kumimoji="1" lang="zh-CN" altLang="en-US" dirty="0"/>
              <a:t> 模块化架构</a:t>
            </a:r>
          </a:p>
        </p:txBody>
      </p:sp>
    </p:spTree>
    <p:extLst>
      <p:ext uri="{BB962C8B-B14F-4D97-AF65-F5344CB8AC3E}">
        <p14:creationId xmlns:p14="http://schemas.microsoft.com/office/powerpoint/2010/main" val="152617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Geant4</a:t>
            </a:r>
            <a:r>
              <a:rPr lang="zh-CN" altLang="en-US" b="1" dirty="0"/>
              <a:t>使用的几个重要方面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60212"/>
            <a:ext cx="3859147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615287" y="1460212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整体框架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7085725" y="1473761"/>
            <a:ext cx="10086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几何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7337071" y="3038901"/>
            <a:ext cx="10086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物质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288214" y="3048000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初始粒子</a:t>
            </a:r>
            <a:endParaRPr lang="en-US" sz="3200" b="1" dirty="0">
              <a:latin typeface="Franklin Gothic Book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0185" y="4419600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可视化</a:t>
            </a:r>
            <a:endParaRPr lang="en-US" sz="3200" b="1" dirty="0">
              <a:latin typeface="Franklin Gothic Book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2800" y="4559587"/>
            <a:ext cx="10086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运行</a:t>
            </a:r>
            <a:endParaRPr lang="en-US" sz="1400" dirty="0"/>
          </a:p>
        </p:txBody>
      </p:sp>
      <p:cxnSp>
        <p:nvCxnSpPr>
          <p:cNvPr id="7" name="Straight Arrow Connector 6"/>
          <p:cNvCxnSpPr>
            <a:stCxn id="8" idx="2"/>
          </p:cNvCxnSpPr>
          <p:nvPr/>
        </p:nvCxnSpPr>
        <p:spPr>
          <a:xfrm>
            <a:off x="1531564" y="2044987"/>
            <a:ext cx="916276" cy="3172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1"/>
          </p:cNvCxnSpPr>
          <p:nvPr/>
        </p:nvCxnSpPr>
        <p:spPr>
          <a:xfrm flipH="1">
            <a:off x="5561726" y="1766149"/>
            <a:ext cx="1523999" cy="1066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1"/>
          </p:cNvCxnSpPr>
          <p:nvPr/>
        </p:nvCxnSpPr>
        <p:spPr>
          <a:xfrm flipH="1">
            <a:off x="5890146" y="3331289"/>
            <a:ext cx="1446925" cy="1391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1"/>
          </p:cNvCxnSpPr>
          <p:nvPr/>
        </p:nvCxnSpPr>
        <p:spPr>
          <a:xfrm flipH="1" flipV="1">
            <a:off x="5638802" y="4267200"/>
            <a:ext cx="1523998" cy="5847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3"/>
          </p:cNvCxnSpPr>
          <p:nvPr/>
        </p:nvCxnSpPr>
        <p:spPr>
          <a:xfrm>
            <a:off x="2120767" y="3340388"/>
            <a:ext cx="32707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2109630" y="4419600"/>
            <a:ext cx="327073" cy="2923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149301" y="5715000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物理模型</a:t>
            </a:r>
            <a:endParaRPr lang="en-US" sz="3200" b="1" dirty="0">
              <a:latin typeface="Franklin Gothic Book"/>
              <a:cs typeface="+mj-cs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2436703" y="4114801"/>
            <a:ext cx="1678097" cy="16001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614823" y="5973168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粒子输运</a:t>
            </a:r>
            <a:endParaRPr lang="en-US" sz="3200" b="1" dirty="0">
              <a:latin typeface="Franklin Gothic Book"/>
              <a:cs typeface="+mj-cs"/>
            </a:endParaRPr>
          </a:p>
        </p:txBody>
      </p:sp>
      <p:cxnSp>
        <p:nvCxnSpPr>
          <p:cNvPr id="38" name="Straight Arrow Connector 37"/>
          <p:cNvCxnSpPr>
            <a:stCxn id="35" idx="0"/>
          </p:cNvCxnSpPr>
          <p:nvPr/>
        </p:nvCxnSpPr>
        <p:spPr>
          <a:xfrm flipH="1" flipV="1">
            <a:off x="4520373" y="4114800"/>
            <a:ext cx="10727" cy="18583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867400" y="5816025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Franklin Gothic Book"/>
                <a:cs typeface="+mj-cs"/>
              </a:rPr>
              <a:t>用户干预</a:t>
            </a:r>
            <a:endParaRPr lang="en-US" sz="3200" b="1" dirty="0">
              <a:latin typeface="Franklin Gothic Book"/>
              <a:cs typeface="+mj-cs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H="1" flipV="1">
            <a:off x="5292920" y="4545939"/>
            <a:ext cx="1336480" cy="11690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20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4" grpId="0"/>
      <p:bldP spid="32" grpId="0"/>
      <p:bldP spid="35" grpId="0"/>
      <p:bldP spid="4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整体框架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3962400" cy="50292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err="1"/>
              <a:t>PreInit</a:t>
            </a:r>
            <a:r>
              <a:rPr lang="en-US" altLang="zh-CN" b="1" dirty="0"/>
              <a:t> – </a:t>
            </a:r>
            <a:r>
              <a:rPr lang="zh-CN" altLang="en-US" b="1" dirty="0"/>
              <a:t>材料，几何，粒子，物理过程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b="1" dirty="0" err="1"/>
              <a:t>Idel</a:t>
            </a:r>
            <a:r>
              <a:rPr lang="en-US" altLang="zh-CN" b="1" dirty="0"/>
              <a:t> – </a:t>
            </a:r>
            <a:r>
              <a:rPr lang="zh-CN" altLang="en-US" b="1" dirty="0"/>
              <a:t>可以开始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b="1" dirty="0" err="1"/>
              <a:t>GeomClosed</a:t>
            </a:r>
            <a:r>
              <a:rPr lang="en-US" altLang="zh-CN" b="1" dirty="0"/>
              <a:t> – </a:t>
            </a:r>
            <a:r>
              <a:rPr lang="zh-CN" altLang="en-US" b="1" dirty="0"/>
              <a:t>几何关闭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b="1" dirty="0" err="1"/>
              <a:t>EventProc</a:t>
            </a:r>
            <a:r>
              <a:rPr lang="en-US" altLang="zh-CN" b="1" dirty="0"/>
              <a:t> – </a:t>
            </a:r>
            <a:r>
              <a:rPr lang="zh-CN" altLang="en-US" b="1" dirty="0"/>
              <a:t>事例循环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b="1" dirty="0"/>
              <a:t>Quit – </a:t>
            </a:r>
            <a:r>
              <a:rPr lang="zh-CN" altLang="en-US" b="1" dirty="0"/>
              <a:t>正常退出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b="1" dirty="0"/>
              <a:t>Abort – </a:t>
            </a:r>
            <a:r>
              <a:rPr lang="zh-CN" altLang="en-US" b="1" dirty="0"/>
              <a:t>异常中断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990600"/>
            <a:ext cx="4175125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71448" y="3352800"/>
            <a:ext cx="1600200" cy="1828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8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Run, Event, Track, Step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426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Geant4</a:t>
            </a:r>
            <a:r>
              <a:rPr lang="zh-CN" altLang="en-US" b="1" dirty="0"/>
              <a:t>继承了加速器实验概念</a:t>
            </a:r>
            <a:endParaRPr lang="en-US" b="1" dirty="0"/>
          </a:p>
          <a:p>
            <a:r>
              <a:rPr lang="en-US" dirty="0"/>
              <a:t>Run</a:t>
            </a:r>
            <a:r>
              <a:rPr lang="zh-CN" altLang="en-US" dirty="0"/>
              <a:t>来自于加速器实验的概念，指束流打开，采集一段时间的数据</a:t>
            </a:r>
            <a:endParaRPr lang="en-US" altLang="zh-CN" dirty="0"/>
          </a:p>
          <a:p>
            <a:r>
              <a:rPr lang="zh-CN" altLang="en-US" dirty="0"/>
              <a:t>对于对撞机物理，或打固定靶实验，截面足够小，或电子学足够快，基本保证每次电子学得到触发信号，只能够采集到一次对撞，称为</a:t>
            </a:r>
            <a:r>
              <a:rPr lang="en-US" altLang="zh-CN" dirty="0"/>
              <a:t>Event</a:t>
            </a:r>
          </a:p>
          <a:p>
            <a:r>
              <a:rPr lang="zh-CN" altLang="en-US" dirty="0"/>
              <a:t>对撞后生成许多新粒子，每个粒子可以是一根径迹，称为</a:t>
            </a:r>
            <a:r>
              <a:rPr lang="en-US" altLang="zh-CN" dirty="0"/>
              <a:t>Track</a:t>
            </a:r>
          </a:p>
          <a:p>
            <a:r>
              <a:rPr lang="en-US" altLang="zh-CN" dirty="0"/>
              <a:t>Step</a:t>
            </a:r>
            <a:r>
              <a:rPr lang="zh-CN" altLang="en-US" dirty="0"/>
              <a:t>为</a:t>
            </a:r>
            <a:r>
              <a:rPr lang="en-US" altLang="zh-CN" dirty="0"/>
              <a:t>Track</a:t>
            </a:r>
            <a:r>
              <a:rPr lang="zh-CN" altLang="en-US" dirty="0"/>
              <a:t>上的步，可以认为是一个粒子的两次相互作用之间一段距离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609601" y="4971871"/>
            <a:ext cx="8077200" cy="1200329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Run</a:t>
            </a:r>
            <a:r>
              <a:rPr lang="zh-CN" altLang="en-US" sz="2400" dirty="0">
                <a:solidFill>
                  <a:prstClr val="black"/>
                </a:solidFill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</a:rPr>
              <a:t>Event</a:t>
            </a:r>
            <a:r>
              <a:rPr lang="zh-CN" altLang="en-US" sz="2400" dirty="0">
                <a:solidFill>
                  <a:prstClr val="black"/>
                </a:solidFill>
              </a:rPr>
              <a:t>的概念在现代有些模糊，例如一个暗物质实验，没有打开束流的概念，或者中微子实验，经常有延迟信号，并和各种本底在时间上交叠，</a:t>
            </a:r>
            <a:r>
              <a:rPr lang="en-US" altLang="zh-CN" sz="2400" dirty="0">
                <a:solidFill>
                  <a:prstClr val="black"/>
                </a:solidFill>
              </a:rPr>
              <a:t>Event</a:t>
            </a:r>
            <a:r>
              <a:rPr lang="zh-CN" altLang="en-US" sz="2400" dirty="0">
                <a:solidFill>
                  <a:prstClr val="black"/>
                </a:solidFill>
              </a:rPr>
              <a:t>的概念也不清晰。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414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b="1" dirty="0"/>
              <a:t>C++</a:t>
            </a:r>
            <a:r>
              <a:rPr lang="zh-CN" altLang="en-US" sz="3600" b="1" dirty="0"/>
              <a:t>语法，虚函数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762000"/>
            <a:ext cx="8077200" cy="2438400"/>
          </a:xfrm>
        </p:spPr>
        <p:txBody>
          <a:bodyPr>
            <a:normAutofit/>
          </a:bodyPr>
          <a:lstStyle/>
          <a:p>
            <a:r>
              <a:rPr lang="zh-CN" altLang="en-US" dirty="0"/>
              <a:t>虚函数是</a:t>
            </a:r>
            <a:r>
              <a:rPr lang="en-US" altLang="zh-CN" dirty="0"/>
              <a:t>C++</a:t>
            </a:r>
            <a:r>
              <a:rPr lang="zh-CN" altLang="en-US" dirty="0"/>
              <a:t>中用于实现多态</a:t>
            </a:r>
            <a:r>
              <a:rPr lang="en-US" altLang="zh-CN" dirty="0"/>
              <a:t>(polymorphism)</a:t>
            </a:r>
            <a:r>
              <a:rPr lang="zh-CN" altLang="en-US" dirty="0"/>
              <a:t>的机制</a:t>
            </a:r>
            <a:endParaRPr lang="en-US" altLang="zh-CN" dirty="0"/>
          </a:p>
          <a:p>
            <a:r>
              <a:rPr lang="zh-CN" altLang="en-US" dirty="0"/>
              <a:t>翻译一：通过基类访问派生类定义的函数</a:t>
            </a:r>
            <a:endParaRPr lang="en-US" altLang="zh-CN" dirty="0"/>
          </a:p>
          <a:p>
            <a:r>
              <a:rPr lang="zh-CN" altLang="en-US" dirty="0"/>
              <a:t>翻译二： 我用来规范派生类的行为，实际上就是所谓的“</a:t>
            </a:r>
            <a:r>
              <a:rPr lang="zh-CN" altLang="en-US" dirty="0">
                <a:hlinkClick r:id="rId2"/>
              </a:rPr>
              <a:t>接口</a:t>
            </a:r>
            <a:r>
              <a:rPr lang="zh-CN" altLang="en-US" dirty="0"/>
              <a:t>”。告诉使用者，我的派生类都会有这个函数。</a:t>
            </a:r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08" y="2930310"/>
            <a:ext cx="6781800" cy="3546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26908" y="5862977"/>
            <a:ext cx="3216892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会发现输出是</a:t>
            </a:r>
            <a:r>
              <a:rPr lang="en-US" altLang="zh-CN" b="1" dirty="0">
                <a:solidFill>
                  <a:schemeClr val="bg1"/>
                </a:solidFill>
              </a:rPr>
              <a:t>B::foo() called.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25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E2D0FF-B0C8-41C8-861E-C4D62BEFE762}" type="slidenum">
              <a:rPr lang="zh-CN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b="1" dirty="0">
                <a:ea typeface="宋体" pitchFamily="2" charset="-122"/>
              </a:rPr>
              <a:t>最基本的主函数（</a:t>
            </a:r>
            <a:r>
              <a:rPr lang="en-US" altLang="zh-CN" b="1" dirty="0">
                <a:ea typeface="宋体" pitchFamily="2" charset="-122"/>
              </a:rPr>
              <a:t>N01</a:t>
            </a:r>
            <a:r>
              <a:rPr lang="zh-CN" altLang="en-US" b="1" dirty="0">
                <a:ea typeface="宋体" pitchFamily="2" charset="-122"/>
              </a:rPr>
              <a:t>）</a:t>
            </a:r>
            <a:endParaRPr lang="en-US" altLang="zh-CN" b="1" dirty="0">
              <a:ea typeface="宋体" pitchFamily="2" charset="-122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47650" y="914400"/>
            <a:ext cx="8820150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#include "G4RunManager.hh"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#include "G4UImanager.hh"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#include "ExN01DetectorConstruction.hh"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#include "ExN01PhysicsList.hh"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#include "ExN01PrimaryGeneratorAction.hh"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 err="1">
                <a:ea typeface="宋体" pitchFamily="2" charset="-122"/>
              </a:rPr>
              <a:t>int</a:t>
            </a:r>
            <a:r>
              <a:rPr lang="en-US" altLang="zh-CN" sz="1600" b="1" dirty="0">
                <a:ea typeface="宋体" pitchFamily="2" charset="-122"/>
              </a:rPr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>
                <a:solidFill>
                  <a:srgbClr val="0000FF"/>
                </a:solidFill>
                <a:ea typeface="宋体" pitchFamily="2" charset="-122"/>
              </a:rPr>
              <a:t>G4RunManager* </a:t>
            </a:r>
            <a:r>
              <a:rPr lang="en-US" altLang="zh-CN" sz="1600" b="1" dirty="0" err="1">
                <a:solidFill>
                  <a:srgbClr val="0000FF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0000FF"/>
                </a:solidFill>
                <a:ea typeface="宋体" pitchFamily="2" charset="-122"/>
              </a:rPr>
              <a:t> = new G4RunManager;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400" b="1" dirty="0">
                <a:ea typeface="宋体" pitchFamily="2" charset="-122"/>
              </a:rPr>
              <a:t>G4VUserDetectorConstruction* detector = new ExN01DetectorConstruction;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-&gt;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SetUserInitialization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(detector);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</a:t>
            </a:r>
            <a:endParaRPr lang="en-US" altLang="zh-CN" sz="1600" b="1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G4VUserPhysicsList* physics = new ExN01PhysicsList;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-&gt;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SetUserInitialization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(physics);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400" b="1" dirty="0">
                <a:ea typeface="宋体" pitchFamily="2" charset="-122"/>
              </a:rPr>
              <a:t>G4VUserPrimaryGeneratorAction* </a:t>
            </a:r>
            <a:r>
              <a:rPr lang="en-US" altLang="zh-CN" sz="1400" b="1" dirty="0" err="1">
                <a:ea typeface="宋体" pitchFamily="2" charset="-122"/>
              </a:rPr>
              <a:t>gen_action</a:t>
            </a:r>
            <a:r>
              <a:rPr lang="en-US" altLang="zh-CN" sz="1400" b="1" dirty="0">
                <a:ea typeface="宋体" pitchFamily="2" charset="-122"/>
              </a:rPr>
              <a:t> = new ExN01PrimaryGeneratorAction;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-&gt;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SetUserAction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gen_action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//.....</a:t>
            </a:r>
            <a:r>
              <a:rPr lang="zh-CN" altLang="en-US" sz="1600" b="1" dirty="0">
                <a:ea typeface="宋体" pitchFamily="2" charset="-122"/>
              </a:rPr>
              <a:t>接下页</a:t>
            </a:r>
          </a:p>
        </p:txBody>
      </p:sp>
      <p:sp>
        <p:nvSpPr>
          <p:cNvPr id="14343" name="Rectangle 1"/>
          <p:cNvSpPr>
            <a:spLocks noChangeArrowheads="1"/>
          </p:cNvSpPr>
          <p:nvPr/>
        </p:nvSpPr>
        <p:spPr bwMode="auto">
          <a:xfrm>
            <a:off x="6477000" y="152400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itchFamily="2" charset="-122"/>
              </a:rPr>
              <a:t>例子</a:t>
            </a:r>
            <a:r>
              <a:rPr lang="en-US" altLang="zh-CN" sz="2400" dirty="0">
                <a:ea typeface="宋体" pitchFamily="2" charset="-122"/>
              </a:rPr>
              <a:t>N01</a:t>
            </a:r>
            <a:r>
              <a:rPr lang="zh-CN" altLang="en-US" sz="2400" dirty="0">
                <a:ea typeface="宋体" pitchFamily="2" charset="-122"/>
              </a:rPr>
              <a:t>课程附件</a:t>
            </a: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itchFamily="2" charset="-122"/>
              </a:rPr>
              <a:t>下午一起来读</a:t>
            </a:r>
            <a:endParaRPr lang="en-US" alt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381000" y="2875002"/>
            <a:ext cx="3645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ea typeface="宋体" pitchFamily="2" charset="-122"/>
              </a:rPr>
              <a:t>// 1. </a:t>
            </a:r>
            <a:r>
              <a:rPr lang="zh-CN" altLang="en-US" b="1" dirty="0">
                <a:ea typeface="宋体" pitchFamily="2" charset="-122"/>
              </a:rPr>
              <a:t>构造默认的运行管理器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3623481"/>
            <a:ext cx="3232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宋体" pitchFamily="2" charset="-122"/>
              </a:rPr>
              <a:t> // 2. </a:t>
            </a:r>
            <a:r>
              <a:rPr lang="zh-CN" altLang="en-US" b="1" dirty="0">
                <a:ea typeface="宋体" pitchFamily="2" charset="-122"/>
              </a:rPr>
              <a:t>初始化探测器模型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5744" y="4343400"/>
            <a:ext cx="3051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宋体" pitchFamily="2" charset="-122"/>
              </a:rPr>
              <a:t> // 3. </a:t>
            </a:r>
            <a:r>
              <a:rPr lang="zh-CN" altLang="en-US" b="1" dirty="0">
                <a:ea typeface="宋体" pitchFamily="2" charset="-122"/>
              </a:rPr>
              <a:t>初始化物理模型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6711" y="5334000"/>
            <a:ext cx="2767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宋体" pitchFamily="2" charset="-122"/>
              </a:rPr>
              <a:t> // 4. </a:t>
            </a:r>
            <a:r>
              <a:rPr lang="zh-CN" altLang="en-US" b="1" dirty="0">
                <a:ea typeface="宋体" pitchFamily="2" charset="-122"/>
              </a:rPr>
              <a:t>设置起始粒子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853752" y="1909465"/>
            <a:ext cx="3200400" cy="1200329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ea typeface="宋体" pitchFamily="2" charset="-122"/>
              </a:rPr>
              <a:t>问题</a:t>
            </a:r>
            <a:r>
              <a:rPr lang="en-US" altLang="zh-CN" b="1" dirty="0">
                <a:solidFill>
                  <a:srgbClr val="FFFF00"/>
                </a:solidFill>
                <a:ea typeface="宋体" pitchFamily="2" charset="-122"/>
              </a:rPr>
              <a:t>. </a:t>
            </a:r>
            <a:r>
              <a:rPr lang="zh-CN" altLang="en-US" b="1" dirty="0">
                <a:solidFill>
                  <a:srgbClr val="FFFF00"/>
                </a:solidFill>
                <a:ea typeface="宋体" pitchFamily="2" charset="-122"/>
              </a:rPr>
              <a:t>这个过程是不是和你想象的是一致的？是不是和你的直觉是一致的？这个过程还缺少什么？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01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195347-41C8-445B-823C-DC37419191BA}" type="slidenum">
              <a:rPr lang="zh-CN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40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68313" y="1125538"/>
            <a:ext cx="7704137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ea typeface="宋体" pitchFamily="2" charset="-122"/>
              </a:rPr>
              <a:t>  </a:t>
            </a:r>
            <a:r>
              <a:rPr lang="en-US" altLang="zh-CN" sz="1600" b="1" dirty="0">
                <a:ea typeface="宋体" pitchFamily="2" charset="-122"/>
              </a:rPr>
              <a:t>//</a:t>
            </a:r>
            <a:r>
              <a:rPr lang="zh-CN" altLang="en-US" sz="1600" b="1" dirty="0">
                <a:ea typeface="宋体" pitchFamily="2" charset="-122"/>
              </a:rPr>
              <a:t>接上页</a:t>
            </a:r>
            <a:r>
              <a:rPr lang="en-US" altLang="zh-CN" sz="1600" b="1" dirty="0">
                <a:ea typeface="宋体" pitchFamily="2" charset="-122"/>
              </a:rPr>
              <a:t>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</a:t>
            </a:r>
            <a:endParaRPr lang="zh-CN" altLang="en-US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 err="1">
                <a:solidFill>
                  <a:srgbClr val="0000FF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0000FF"/>
                </a:solidFill>
                <a:ea typeface="宋体" pitchFamily="2" charset="-122"/>
              </a:rPr>
              <a:t>-&gt;Initialize();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solidFill>
                <a:srgbClr val="0000FF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// </a:t>
            </a:r>
            <a:r>
              <a:rPr lang="zh-CN" altLang="en-US" sz="1600" b="1" dirty="0">
                <a:ea typeface="宋体" pitchFamily="2" charset="-122"/>
              </a:rPr>
              <a:t>获取</a:t>
            </a:r>
            <a:r>
              <a:rPr lang="en-US" altLang="zh-CN" sz="1600" b="1" dirty="0">
                <a:ea typeface="宋体" pitchFamily="2" charset="-122"/>
              </a:rPr>
              <a:t>UI</a:t>
            </a:r>
            <a:r>
              <a:rPr lang="zh-CN" altLang="en-US" sz="1600" b="1" dirty="0">
                <a:ea typeface="宋体" pitchFamily="2" charset="-122"/>
              </a:rPr>
              <a:t>管理器的指针，并设置</a:t>
            </a:r>
            <a:r>
              <a:rPr lang="en-US" altLang="zh-CN" sz="1600" b="1" dirty="0">
                <a:ea typeface="宋体" pitchFamily="2" charset="-122"/>
              </a:rPr>
              <a:t>verbosities</a:t>
            </a:r>
            <a:r>
              <a:rPr lang="zh-CN" altLang="en-US" sz="1600" b="1" dirty="0">
                <a:ea typeface="宋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>
                <a:solidFill>
                  <a:srgbClr val="990099"/>
                </a:solidFill>
                <a:ea typeface="宋体" pitchFamily="2" charset="-122"/>
              </a:rPr>
              <a:t>G4UImanager* UI = G4UImanager::</a:t>
            </a:r>
            <a:r>
              <a:rPr lang="en-US" altLang="zh-CN" sz="1600" b="1" dirty="0" err="1">
                <a:solidFill>
                  <a:srgbClr val="990099"/>
                </a:solidFill>
                <a:ea typeface="宋体" pitchFamily="2" charset="-122"/>
              </a:rPr>
              <a:t>GetUIpointer</a:t>
            </a:r>
            <a:r>
              <a:rPr lang="en-US" altLang="zh-CN" sz="1600" b="1" dirty="0">
                <a:solidFill>
                  <a:srgbClr val="990099"/>
                </a:solidFill>
                <a:ea typeface="宋体" pitchFamily="2" charset="-122"/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UI-&gt;</a:t>
            </a:r>
            <a:r>
              <a:rPr lang="en-US" altLang="zh-CN" sz="1600" b="1" dirty="0" err="1">
                <a:ea typeface="宋体" pitchFamily="2" charset="-122"/>
              </a:rPr>
              <a:t>ApplyCommand</a:t>
            </a:r>
            <a:r>
              <a:rPr lang="en-US" altLang="zh-CN" sz="1600" b="1" dirty="0">
                <a:ea typeface="宋体" pitchFamily="2" charset="-122"/>
              </a:rPr>
              <a:t>("/run/verbose 1");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UI-&gt;</a:t>
            </a:r>
            <a:r>
              <a:rPr lang="en-US" altLang="zh-CN" sz="1600" b="1" dirty="0" err="1">
                <a:ea typeface="宋体" pitchFamily="2" charset="-122"/>
              </a:rPr>
              <a:t>ApplyCommand</a:t>
            </a:r>
            <a:r>
              <a:rPr lang="en-US" altLang="zh-CN" sz="1600" b="1" dirty="0">
                <a:ea typeface="宋体" pitchFamily="2" charset="-122"/>
              </a:rPr>
              <a:t>("/event/verbose 1");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UI-&gt;</a:t>
            </a:r>
            <a:r>
              <a:rPr lang="en-US" altLang="zh-CN" sz="1600" b="1" dirty="0" err="1">
                <a:ea typeface="宋体" pitchFamily="2" charset="-122"/>
              </a:rPr>
              <a:t>ApplyCommand</a:t>
            </a:r>
            <a:r>
              <a:rPr lang="en-US" altLang="zh-CN" sz="1600" b="1" dirty="0">
                <a:ea typeface="宋体" pitchFamily="2" charset="-122"/>
              </a:rPr>
              <a:t>("/tracking/verbose 1");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</a:t>
            </a:r>
            <a:endParaRPr lang="zh-CN" altLang="en-US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G4int </a:t>
            </a:r>
            <a:r>
              <a:rPr lang="en-US" altLang="zh-CN" sz="1600" b="1" dirty="0" err="1">
                <a:ea typeface="宋体" pitchFamily="2" charset="-122"/>
              </a:rPr>
              <a:t>numberOfEvent</a:t>
            </a:r>
            <a:r>
              <a:rPr lang="en-US" altLang="zh-CN" sz="1600" b="1" dirty="0">
                <a:ea typeface="宋体" pitchFamily="2" charset="-122"/>
              </a:rPr>
              <a:t> = 3;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 err="1">
                <a:solidFill>
                  <a:srgbClr val="0000FF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0000FF"/>
                </a:solidFill>
                <a:ea typeface="宋体" pitchFamily="2" charset="-122"/>
              </a:rPr>
              <a:t>-&gt;</a:t>
            </a:r>
            <a:r>
              <a:rPr lang="en-US" altLang="zh-CN" sz="1600" b="1" dirty="0" err="1">
                <a:solidFill>
                  <a:srgbClr val="0000FF"/>
                </a:solidFill>
                <a:ea typeface="宋体" pitchFamily="2" charset="-122"/>
              </a:rPr>
              <a:t>BeamOn</a:t>
            </a:r>
            <a:r>
              <a:rPr lang="en-US" altLang="zh-CN" sz="1600" b="1" dirty="0">
                <a:solidFill>
                  <a:srgbClr val="0000FF"/>
                </a:solidFill>
                <a:ea typeface="宋体" pitchFamily="2" charset="-122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ea typeface="宋体" pitchFamily="2" charset="-122"/>
              </a:rPr>
              <a:t>numberOfEvent</a:t>
            </a:r>
            <a:r>
              <a:rPr lang="en-US" altLang="zh-CN" sz="1600" b="1" dirty="0">
                <a:solidFill>
                  <a:srgbClr val="0000FF"/>
                </a:solidFill>
                <a:ea typeface="宋体" pitchFamily="2" charset="-122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solidFill>
                <a:srgbClr val="0000FF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1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</a:t>
            </a:r>
            <a:r>
              <a:rPr lang="en-US" altLang="zh-CN" sz="1600" b="1" dirty="0">
                <a:solidFill>
                  <a:srgbClr val="990099"/>
                </a:solidFill>
                <a:ea typeface="宋体" pitchFamily="2" charset="-122"/>
              </a:rPr>
              <a:t>delete </a:t>
            </a:r>
            <a:r>
              <a:rPr lang="en-US" altLang="zh-CN" sz="1600" b="1" dirty="0" err="1">
                <a:solidFill>
                  <a:srgbClr val="990099"/>
                </a:solidFill>
                <a:ea typeface="宋体" pitchFamily="2" charset="-122"/>
              </a:rPr>
              <a:t>runManager</a:t>
            </a:r>
            <a:r>
              <a:rPr lang="en-US" altLang="zh-CN" sz="1600" b="1" dirty="0">
                <a:solidFill>
                  <a:srgbClr val="990099"/>
                </a:solidFill>
                <a:ea typeface="宋体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dirty="0">
              <a:solidFill>
                <a:srgbClr val="990099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  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}</a:t>
            </a:r>
            <a:endParaRPr lang="zh-CN" altLang="en-US" sz="1600" b="1" dirty="0">
              <a:ea typeface="宋体" pitchFamily="2" charset="-122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b="1" dirty="0">
                <a:ea typeface="宋体" pitchFamily="2" charset="-122"/>
              </a:rPr>
              <a:t>最基本的主函数</a:t>
            </a:r>
            <a:r>
              <a:rPr lang="en-US" altLang="zh-CN" b="1" dirty="0">
                <a:ea typeface="宋体" pitchFamily="2" charset="-122"/>
              </a:rPr>
              <a:t>(N01)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477000" y="152400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itchFamily="2" charset="-122"/>
              </a:rPr>
              <a:t>例子</a:t>
            </a:r>
            <a:r>
              <a:rPr lang="en-US" altLang="zh-CN" sz="2400" dirty="0">
                <a:ea typeface="宋体" pitchFamily="2" charset="-122"/>
              </a:rPr>
              <a:t>N01</a:t>
            </a:r>
            <a:r>
              <a:rPr lang="zh-CN" altLang="en-US" sz="2400" dirty="0">
                <a:ea typeface="宋体" pitchFamily="2" charset="-122"/>
              </a:rPr>
              <a:t>课程附件</a:t>
            </a: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itchFamily="2" charset="-122"/>
              </a:rPr>
              <a:t>下午一起来读</a:t>
            </a:r>
            <a:endParaRPr lang="en-US" alt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603803" y="1371600"/>
            <a:ext cx="2825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宋体" pitchFamily="2" charset="-122"/>
              </a:rPr>
              <a:t> // 5. </a:t>
            </a:r>
            <a:r>
              <a:rPr lang="zh-CN" altLang="en-US" b="1" dirty="0">
                <a:ea typeface="宋体" pitchFamily="2" charset="-122"/>
              </a:rPr>
              <a:t>初始化</a:t>
            </a:r>
            <a:r>
              <a:rPr lang="en-US" altLang="zh-CN" b="1" dirty="0">
                <a:ea typeface="宋体" pitchFamily="2" charset="-122"/>
              </a:rPr>
              <a:t>G4 </a:t>
            </a:r>
            <a:r>
              <a:rPr lang="zh-CN" altLang="en-US" b="1" dirty="0">
                <a:ea typeface="宋体" pitchFamily="2" charset="-122"/>
              </a:rPr>
              <a:t>内核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579334" y="3557812"/>
            <a:ext cx="2302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宋体" pitchFamily="2" charset="-122"/>
              </a:rPr>
              <a:t> // 6. </a:t>
            </a:r>
            <a:r>
              <a:rPr lang="zh-CN" altLang="en-US" b="1" dirty="0">
                <a:ea typeface="宋体" pitchFamily="2" charset="-122"/>
              </a:rPr>
              <a:t>开始运行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7603" y="4446896"/>
            <a:ext cx="85401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ea typeface="宋体" pitchFamily="2" charset="-122"/>
              </a:rPr>
              <a:t> // 7. </a:t>
            </a:r>
            <a:r>
              <a:rPr lang="zh-CN" altLang="en-US" b="1" dirty="0">
                <a:ea typeface="宋体" pitchFamily="2" charset="-122"/>
              </a:rPr>
              <a:t>结束作业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zh-CN" altLang="en-US" b="1" dirty="0">
                <a:ea typeface="宋体" pitchFamily="2" charset="-122"/>
              </a:rPr>
              <a:t>强制</a:t>
            </a:r>
            <a:r>
              <a:rPr lang="en-US" altLang="zh-CN" b="1" dirty="0">
                <a:ea typeface="宋体" pitchFamily="2" charset="-122"/>
              </a:rPr>
              <a:t>)</a:t>
            </a:r>
            <a:endParaRPr lang="zh-CN" altLang="en-US" b="1" dirty="0"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b="1" dirty="0">
                <a:ea typeface="宋体" pitchFamily="2" charset="-122"/>
              </a:rPr>
              <a:t>  // </a:t>
            </a:r>
            <a:r>
              <a:rPr lang="zh-CN" altLang="en-US" b="1" dirty="0">
                <a:ea typeface="宋体" pitchFamily="2" charset="-122"/>
              </a:rPr>
              <a:t>释放内存：用户行为、物理过程以及探测器描述属于运行管理器，</a:t>
            </a:r>
          </a:p>
          <a:p>
            <a:pPr>
              <a:spcBef>
                <a:spcPct val="0"/>
              </a:spcBef>
            </a:pPr>
            <a:r>
              <a:rPr lang="zh-CN" altLang="en-US" b="1" dirty="0">
                <a:ea typeface="宋体" pitchFamily="2" charset="-122"/>
              </a:rPr>
              <a:t>  </a:t>
            </a:r>
            <a:r>
              <a:rPr lang="en-US" altLang="zh-CN" b="1" dirty="0">
                <a:ea typeface="宋体" pitchFamily="2" charset="-122"/>
              </a:rPr>
              <a:t>// </a:t>
            </a:r>
            <a:r>
              <a:rPr lang="zh-CN" altLang="en-US" b="1" dirty="0">
                <a:ea typeface="宋体" pitchFamily="2" charset="-122"/>
              </a:rPr>
              <a:t>将被运行管理器自动删除，所以不应该在主函数中删除之。</a:t>
            </a:r>
          </a:p>
          <a:p>
            <a:pPr>
              <a:spcBef>
                <a:spcPct val="0"/>
              </a:spcBef>
            </a:pPr>
            <a:r>
              <a:rPr lang="en-US" altLang="zh-CN" b="1" dirty="0">
                <a:ea typeface="宋体" pitchFamily="2" charset="-122"/>
              </a:rPr>
              <a:t>  // </a:t>
            </a:r>
            <a:r>
              <a:rPr lang="zh-CN" altLang="en-US" b="1" dirty="0">
                <a:ea typeface="宋体" pitchFamily="2" charset="-122"/>
              </a:rPr>
              <a:t>只需要删除运行管理器和其它动态指针即可。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852615" y="1125538"/>
            <a:ext cx="3200400" cy="923330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ea typeface="宋体" pitchFamily="2" charset="-122"/>
              </a:rPr>
              <a:t>问题</a:t>
            </a:r>
            <a:r>
              <a:rPr lang="en-US" altLang="zh-CN" b="1" dirty="0">
                <a:solidFill>
                  <a:srgbClr val="FFFF00"/>
                </a:solidFill>
                <a:ea typeface="宋体" pitchFamily="2" charset="-122"/>
              </a:rPr>
              <a:t>. </a:t>
            </a:r>
            <a:r>
              <a:rPr lang="zh-CN" altLang="en-US" b="1" dirty="0">
                <a:solidFill>
                  <a:srgbClr val="FFFF00"/>
                </a:solidFill>
                <a:ea typeface="宋体" pitchFamily="2" charset="-122"/>
              </a:rPr>
              <a:t>这个过程是不是和你想象的是一致的？是不是和你的直觉是一致的？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44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077200" cy="639762"/>
          </a:xfrm>
        </p:spPr>
        <p:txBody>
          <a:bodyPr>
            <a:normAutofit fontScale="90000"/>
          </a:bodyPr>
          <a:lstStyle/>
          <a:p>
            <a:r>
              <a:rPr lang="zh-CN" altLang="en-US" b="1" dirty="0"/>
              <a:t>几何，物质各类的概念层次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762000"/>
            <a:ext cx="8153400" cy="3124199"/>
          </a:xfrm>
        </p:spPr>
        <p:txBody>
          <a:bodyPr>
            <a:normAutofit/>
          </a:bodyPr>
          <a:lstStyle/>
          <a:p>
            <a:r>
              <a:rPr lang="en-US" altLang="zh-CN" dirty="0"/>
              <a:t>Solid</a:t>
            </a:r>
            <a:r>
              <a:rPr lang="zh-CN" altLang="en-US" dirty="0"/>
              <a:t>：几何，</a:t>
            </a:r>
            <a:r>
              <a:rPr lang="en-US" altLang="zh-CN" dirty="0"/>
              <a:t>Box</a:t>
            </a:r>
            <a:r>
              <a:rPr lang="zh-CN" altLang="en-US" dirty="0"/>
              <a:t>，</a:t>
            </a:r>
            <a:r>
              <a:rPr lang="en-US" altLang="zh-CN" dirty="0"/>
              <a:t>Tube…</a:t>
            </a:r>
            <a:br>
              <a:rPr lang="en-US" altLang="zh-CN" dirty="0"/>
            </a:br>
            <a:r>
              <a:rPr lang="en-US" altLang="zh-CN" sz="2400" dirty="0">
                <a:solidFill>
                  <a:srgbClr val="0000FF"/>
                </a:solidFill>
              </a:rPr>
              <a:t>Solid</a:t>
            </a:r>
            <a:r>
              <a:rPr lang="zh-CN" altLang="en-US" sz="2400" dirty="0">
                <a:solidFill>
                  <a:srgbClr val="0000FF"/>
                </a:solidFill>
              </a:rPr>
              <a:t>描述了几何的抽象概念，无绝对坐标，无物质填充，与粒子无任何关系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dirty="0" err="1"/>
              <a:t>LogicVolume</a:t>
            </a:r>
            <a:r>
              <a:rPr lang="zh-CN" altLang="en-US" dirty="0"/>
              <a:t>：逻辑体</a:t>
            </a:r>
            <a:br>
              <a:rPr lang="en-US" altLang="zh-CN" dirty="0"/>
            </a:br>
            <a:r>
              <a:rPr lang="zh-CN" altLang="en-US" sz="2400" dirty="0">
                <a:solidFill>
                  <a:srgbClr val="0000FF"/>
                </a:solidFill>
              </a:rPr>
              <a:t>逻辑体和物质，可视化属性关联，可定义为敏感探测器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dirty="0" err="1"/>
              <a:t>PhysicalVolume</a:t>
            </a:r>
            <a:r>
              <a:rPr lang="zh-CN" altLang="en-US" dirty="0"/>
              <a:t>：实体</a:t>
            </a:r>
            <a:br>
              <a:rPr lang="en-US" altLang="zh-CN" dirty="0"/>
            </a:br>
            <a:r>
              <a:rPr lang="zh-CN" altLang="en-US" sz="2400" dirty="0">
                <a:solidFill>
                  <a:srgbClr val="0000FF"/>
                </a:solidFill>
              </a:rPr>
              <a:t>可复制，旋转，参数化，被放置到绝对坐标的逻辑体</a:t>
            </a:r>
            <a:endParaRPr lang="en-US" altLang="zh-CN" dirty="0">
              <a:solidFill>
                <a:srgbClr val="0000FF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639325"/>
            <a:ext cx="7270507" cy="268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105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几何的层次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4267200" cy="5029200"/>
          </a:xfrm>
        </p:spPr>
        <p:txBody>
          <a:bodyPr>
            <a:normAutofit/>
          </a:bodyPr>
          <a:lstStyle/>
          <a:p>
            <a:r>
              <a:rPr lang="zh-CN" altLang="en-US" dirty="0"/>
              <a:t>第一个为</a:t>
            </a:r>
            <a:r>
              <a:rPr lang="en-US" altLang="zh-CN" dirty="0"/>
              <a:t>World</a:t>
            </a:r>
            <a:r>
              <a:rPr lang="zh-CN" altLang="en-US" dirty="0"/>
              <a:t>，包含全部子探测器</a:t>
            </a:r>
            <a:endParaRPr lang="en-US" altLang="zh-CN" dirty="0"/>
          </a:p>
          <a:p>
            <a:r>
              <a:rPr lang="zh-CN" altLang="en-US" dirty="0"/>
              <a:t>其他的子探测器可以放在</a:t>
            </a:r>
            <a:r>
              <a:rPr lang="en-US" altLang="zh-CN" dirty="0"/>
              <a:t>World</a:t>
            </a:r>
            <a:r>
              <a:rPr lang="zh-CN" altLang="en-US" dirty="0"/>
              <a:t>之中</a:t>
            </a:r>
            <a:endParaRPr lang="en-US" altLang="zh-CN" dirty="0"/>
          </a:p>
          <a:p>
            <a:r>
              <a:rPr lang="zh-CN" altLang="en-US" dirty="0"/>
              <a:t>子探测器中可以继续做母探测器，放入子探测器，形成一系列包含关系</a:t>
            </a:r>
            <a:endParaRPr lang="en-US" altLang="zh-CN" dirty="0"/>
          </a:p>
          <a:p>
            <a:r>
              <a:rPr lang="zh-CN" altLang="en-US" dirty="0"/>
              <a:t>放置时声明的相对位置为相对母探测器中心，比如</a:t>
            </a:r>
            <a:r>
              <a:rPr lang="en-US" altLang="zh-CN" dirty="0"/>
              <a:t>Box</a:t>
            </a:r>
            <a:r>
              <a:rPr lang="zh-CN" altLang="en-US" dirty="0"/>
              <a:t>的几何中心</a:t>
            </a:r>
            <a:endParaRPr lang="en-US" dirty="0"/>
          </a:p>
        </p:txBody>
      </p:sp>
      <p:pic>
        <p:nvPicPr>
          <p:cNvPr id="4098" name="Picture 2" descr="C:\Home\wangzhe_files\Teaching\Weihai-SummerSchool\Volumn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385" y="452643"/>
            <a:ext cx="3567511" cy="575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628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物质的声明与定义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68313" y="990600"/>
            <a:ext cx="8424861" cy="22860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对微观粒子来讲，分子结构及以上的尺度的结构是不敏感的</a:t>
            </a:r>
            <a:endParaRPr lang="en-US" altLang="zh-CN" sz="2400" dirty="0"/>
          </a:p>
          <a:p>
            <a:r>
              <a:rPr lang="zh-CN" altLang="en-US" sz="2400" dirty="0"/>
              <a:t>对原子该尺度以下的结构，原则上已知质子数，中子数，电子数，微观粒子和物质的相互作用已经确定</a:t>
            </a:r>
            <a:endParaRPr lang="en-US" altLang="zh-CN" sz="2400" dirty="0"/>
          </a:p>
          <a:p>
            <a:r>
              <a:rPr lang="zh-CN" altLang="en-US" sz="2400" dirty="0"/>
              <a:t>对于一些特殊物质，如等离子体，应注意定制</a:t>
            </a:r>
            <a:endParaRPr lang="en-US" altLang="zh-CN" sz="2400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66048" y="2743200"/>
            <a:ext cx="8812212" cy="10795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double density = 1.390*g/cm3;//</a:t>
            </a:r>
            <a:r>
              <a:rPr lang="zh-CN" altLang="en-US" sz="1600" b="1" dirty="0">
                <a:ea typeface="宋体" pitchFamily="2" charset="-122"/>
              </a:rPr>
              <a:t>密度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double a = 39.95*g/mole;        //</a:t>
            </a:r>
            <a:r>
              <a:rPr lang="zh-CN" altLang="en-US" sz="1600" b="1" dirty="0">
                <a:ea typeface="宋体" pitchFamily="2" charset="-122"/>
              </a:rPr>
              <a:t>原子量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double z=18.;                            //</a:t>
            </a:r>
            <a:r>
              <a:rPr lang="zh-CN" altLang="en-US" sz="1600" b="1" dirty="0">
                <a:ea typeface="宋体" pitchFamily="2" charset="-122"/>
              </a:rPr>
              <a:t>原子序数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G4Material*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lAr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 = new G4Material(“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liquidArgon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”,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z,a,dentsity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);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66048" y="3899137"/>
            <a:ext cx="8812212" cy="206210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G4Element* H  = new G4Element(name="</a:t>
            </a:r>
            <a:r>
              <a:rPr lang="en-US" altLang="zh-CN" sz="1600" b="1" dirty="0" err="1">
                <a:ea typeface="宋体" pitchFamily="2" charset="-122"/>
              </a:rPr>
              <a:t>Hydrogen",symbol</a:t>
            </a:r>
            <a:r>
              <a:rPr lang="en-US" altLang="zh-CN" sz="1600" b="1" dirty="0">
                <a:ea typeface="宋体" pitchFamily="2" charset="-122"/>
              </a:rPr>
              <a:t>="H" , z= 1., 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G4Element* O  = new G4Element(name="Oxygen"  ,symbol="O" , z= 8., 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ea typeface="宋体" pitchFamily="2" charset="-122"/>
              </a:rPr>
              <a:t>density = 1.000*g/cm3;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G4Material* H2O = new G4Material(name="Water", density,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ncomponents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=2);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H2O-&gt;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AddElement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(H,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natoms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=2);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H2O-&gt;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AddElement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(O, </a:t>
            </a:r>
            <a:r>
              <a:rPr lang="en-US" altLang="zh-CN" sz="1600" b="1" dirty="0" err="1">
                <a:solidFill>
                  <a:srgbClr val="FF0000"/>
                </a:solidFill>
                <a:ea typeface="宋体" pitchFamily="2" charset="-122"/>
              </a:rPr>
              <a:t>natoms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=1);  //</a:t>
            </a:r>
            <a:r>
              <a:rPr lang="zh-CN" altLang="en-US" sz="1600" b="1" dirty="0">
                <a:solidFill>
                  <a:srgbClr val="FF0000"/>
                </a:solidFill>
                <a:ea typeface="宋体" pitchFamily="2" charset="-122"/>
              </a:rPr>
              <a:t>定义水，给定密度、元素种类数目、添加元素</a:t>
            </a:r>
          </a:p>
        </p:txBody>
      </p:sp>
    </p:spTree>
    <p:extLst>
      <p:ext uri="{BB962C8B-B14F-4D97-AF65-F5344CB8AC3E}">
        <p14:creationId xmlns:p14="http://schemas.microsoft.com/office/powerpoint/2010/main" val="378422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最简单的几何定义例子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55694" y="1828800"/>
            <a:ext cx="8412163" cy="424731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G4double </a:t>
            </a:r>
            <a:r>
              <a:rPr lang="en-US" altLang="zh-CN" sz="1800" dirty="0" err="1">
                <a:ea typeface="宋体" pitchFamily="2" charset="-122"/>
              </a:rPr>
              <a:t>expHall_x</a:t>
            </a:r>
            <a:r>
              <a:rPr lang="en-US" altLang="zh-CN" sz="1800" dirty="0">
                <a:ea typeface="宋体" pitchFamily="2" charset="-122"/>
              </a:rPr>
              <a:t> = 3.0*m;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G4double </a:t>
            </a:r>
            <a:r>
              <a:rPr lang="en-US" altLang="zh-CN" sz="1800" dirty="0" err="1">
                <a:ea typeface="宋体" pitchFamily="2" charset="-122"/>
              </a:rPr>
              <a:t>expHall_y</a:t>
            </a:r>
            <a:r>
              <a:rPr lang="en-US" altLang="zh-CN" sz="1800" dirty="0">
                <a:ea typeface="宋体" pitchFamily="2" charset="-122"/>
              </a:rPr>
              <a:t> = 1.0*m;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G4double </a:t>
            </a:r>
            <a:r>
              <a:rPr lang="en-US" altLang="zh-CN" sz="1800" dirty="0" err="1">
                <a:ea typeface="宋体" pitchFamily="2" charset="-122"/>
              </a:rPr>
              <a:t>expHall_z</a:t>
            </a:r>
            <a:r>
              <a:rPr lang="en-US" altLang="zh-CN" sz="1800" dirty="0">
                <a:ea typeface="宋体" pitchFamily="2" charset="-122"/>
              </a:rPr>
              <a:t> = 1.0*m;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//Solid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，指定几何形状和尺寸</a:t>
            </a:r>
            <a:endParaRPr lang="zh-CN" altLang="en-US" sz="1800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G4Box* </a:t>
            </a:r>
            <a:r>
              <a:rPr lang="en-US" altLang="zh-CN" sz="1800" dirty="0" err="1">
                <a:ea typeface="宋体" pitchFamily="2" charset="-122"/>
              </a:rPr>
              <a:t>experimentalHall_box</a:t>
            </a:r>
            <a:endParaRPr lang="en-US" altLang="zh-CN" sz="18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  = new G4Box(“expHall_box”,</a:t>
            </a:r>
            <a:r>
              <a:rPr lang="en-US" altLang="zh-CN" sz="1800" dirty="0" err="1">
                <a:ea typeface="宋体" pitchFamily="2" charset="-122"/>
              </a:rPr>
              <a:t>expHall_x,expHall_y,expHall_z</a:t>
            </a:r>
            <a:r>
              <a:rPr lang="en-US" altLang="zh-CN" sz="1800" dirty="0">
                <a:ea typeface="宋体" pitchFamily="2" charset="-122"/>
              </a:rPr>
              <a:t>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//Logical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，指定具体物理特性，如其中物质为</a:t>
            </a:r>
            <a:r>
              <a:rPr lang="en-US" altLang="zh-CN" sz="2400" dirty="0" err="1">
                <a:solidFill>
                  <a:srgbClr val="FF0000"/>
                </a:solidFill>
                <a:ea typeface="宋体" pitchFamily="2" charset="-122"/>
              </a:rPr>
              <a:t>Ar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气</a:t>
            </a:r>
            <a:endParaRPr lang="zh-CN" altLang="en-US" sz="18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err="1">
                <a:ea typeface="宋体" pitchFamily="2" charset="-122"/>
              </a:rPr>
              <a:t>experimentalHall_log</a:t>
            </a:r>
            <a:r>
              <a:rPr lang="en-US" altLang="zh-CN" sz="1800" dirty="0">
                <a:ea typeface="宋体" pitchFamily="2" charset="-122"/>
              </a:rPr>
              <a:t> = new G4LogicalVolume(</a:t>
            </a:r>
            <a:r>
              <a:rPr lang="en-US" altLang="zh-CN" sz="1800" dirty="0" err="1">
                <a:solidFill>
                  <a:srgbClr val="0000FF"/>
                </a:solidFill>
                <a:ea typeface="宋体" pitchFamily="2" charset="-122"/>
              </a:rPr>
              <a:t>experimentalHall_box</a:t>
            </a:r>
            <a:r>
              <a:rPr lang="en-US" altLang="zh-CN" sz="1800" dirty="0">
                <a:ea typeface="宋体" pitchFamily="2" charset="-122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                                           Ar,"expHall_log",0,0,0);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//Physical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，指定放置位置以及旋转角度等</a:t>
            </a:r>
            <a:endParaRPr lang="zh-CN" altLang="en-US" sz="18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err="1">
                <a:ea typeface="宋体" pitchFamily="2" charset="-122"/>
              </a:rPr>
              <a:t>experimentalHall_phys</a:t>
            </a:r>
            <a:r>
              <a:rPr lang="en-US" altLang="zh-CN" sz="1800" dirty="0">
                <a:ea typeface="宋体" pitchFamily="2" charset="-122"/>
              </a:rPr>
              <a:t> = new G4PVPlacement(0,G4ThreeVector(),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                                    </a:t>
            </a:r>
            <a:r>
              <a:rPr lang="en-US" altLang="zh-CN" sz="1800" dirty="0">
                <a:solidFill>
                  <a:srgbClr val="0000FF"/>
                </a:solidFill>
                <a:ea typeface="宋体" pitchFamily="2" charset="-122"/>
              </a:rPr>
              <a:t>experimentalHall_log</a:t>
            </a:r>
            <a:r>
              <a:rPr lang="en-US" altLang="zh-CN" sz="1800" dirty="0">
                <a:ea typeface="宋体" pitchFamily="2" charset="-122"/>
              </a:rPr>
              <a:t>,"expHall",0,false,0);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694" y="1143000"/>
            <a:ext cx="749290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prstClr val="black"/>
                </a:solidFill>
              </a:rPr>
              <a:t>定义一个方形的实验厅，里面充满了氩气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39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探测器显示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3" y="884406"/>
            <a:ext cx="7359534" cy="5391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7156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几个用户宏命令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37338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Interactive</a:t>
            </a:r>
            <a:r>
              <a:rPr lang="zh-CN" altLang="en-US" dirty="0"/>
              <a:t>模式 </a:t>
            </a:r>
            <a:r>
              <a:rPr lang="en-US" altLang="zh-CN" i="1" dirty="0"/>
              <a:t>vs.</a:t>
            </a:r>
            <a:r>
              <a:rPr lang="en-US" altLang="zh-CN" dirty="0"/>
              <a:t> Batch</a:t>
            </a:r>
            <a:r>
              <a:rPr lang="zh-CN" altLang="en-US" dirty="0"/>
              <a:t>模式（交互式 </a:t>
            </a:r>
            <a:r>
              <a:rPr lang="en-US" altLang="zh-CN" i="1" dirty="0"/>
              <a:t>vs.</a:t>
            </a:r>
            <a:r>
              <a:rPr lang="en-US" altLang="zh-CN" dirty="0"/>
              <a:t> </a:t>
            </a:r>
            <a:r>
              <a:rPr lang="zh-CN" altLang="en-US" dirty="0"/>
              <a:t>批处理）</a:t>
            </a:r>
            <a:endParaRPr lang="en-US" altLang="zh-CN" dirty="0"/>
          </a:p>
          <a:p>
            <a:r>
              <a:rPr lang="zh-CN" altLang="en-US" dirty="0"/>
              <a:t>常用的几个命令：</a:t>
            </a:r>
            <a:br>
              <a:rPr lang="en-US" altLang="zh-CN" dirty="0"/>
            </a:br>
            <a:r>
              <a:rPr lang="en-US" altLang="zh-CN" dirty="0"/>
              <a:t>/</a:t>
            </a:r>
            <a:r>
              <a:rPr lang="en-US" altLang="zh-CN" dirty="0" err="1"/>
              <a:t>vis</a:t>
            </a:r>
            <a:r>
              <a:rPr lang="en-US" altLang="zh-CN" dirty="0"/>
              <a:t>/open OGL</a:t>
            </a:r>
            <a:br>
              <a:rPr lang="en-US" altLang="zh-CN" dirty="0"/>
            </a:br>
            <a:r>
              <a:rPr lang="en-US" altLang="zh-CN" dirty="0"/>
              <a:t>/</a:t>
            </a:r>
            <a:r>
              <a:rPr lang="en-US" altLang="zh-CN" dirty="0" err="1"/>
              <a:t>vis</a:t>
            </a:r>
            <a:r>
              <a:rPr lang="en-US" altLang="zh-CN" dirty="0"/>
              <a:t>/</a:t>
            </a:r>
            <a:r>
              <a:rPr lang="en-US" altLang="zh-CN" dirty="0" err="1"/>
              <a:t>drawVolume</a:t>
            </a:r>
            <a:br>
              <a:rPr lang="en-US" altLang="zh-CN" dirty="0"/>
            </a:br>
            <a:r>
              <a:rPr lang="en-US" altLang="zh-CN" dirty="0"/>
              <a:t>/gun/particle mu+</a:t>
            </a:r>
            <a:br>
              <a:rPr lang="en-US" altLang="zh-CN" dirty="0"/>
            </a:br>
            <a:r>
              <a:rPr lang="en-US" altLang="zh-CN" dirty="0"/>
              <a:t>	(</a:t>
            </a:r>
            <a:r>
              <a:rPr lang="zh-CN" altLang="en-US" dirty="0"/>
              <a:t>其他粒子，</a:t>
            </a:r>
            <a:r>
              <a:rPr lang="en-US" altLang="zh-CN" dirty="0"/>
              <a:t>gamma</a:t>
            </a:r>
            <a:r>
              <a:rPr lang="zh-CN" altLang="en-US" dirty="0"/>
              <a:t>，</a:t>
            </a:r>
            <a:r>
              <a:rPr lang="en-US" altLang="zh-CN" dirty="0"/>
              <a:t>proton</a:t>
            </a:r>
            <a:r>
              <a:rPr lang="zh-CN" altLang="en-US" dirty="0"/>
              <a:t>，</a:t>
            </a:r>
            <a:r>
              <a:rPr lang="en-US" altLang="zh-CN" dirty="0"/>
              <a:t>e+</a:t>
            </a:r>
            <a:r>
              <a:rPr lang="zh-CN" altLang="en-US" dirty="0"/>
              <a:t>，</a:t>
            </a:r>
            <a:r>
              <a:rPr lang="en-US" altLang="zh-CN" dirty="0"/>
              <a:t>neutron</a:t>
            </a:r>
            <a:r>
              <a:rPr lang="zh-CN" altLang="en-US" dirty="0"/>
              <a:t>，</a:t>
            </a:r>
            <a:r>
              <a:rPr lang="en-US" altLang="zh-CN" dirty="0"/>
              <a:t>	photon</a:t>
            </a:r>
            <a:r>
              <a:rPr lang="zh-CN" altLang="en-US" dirty="0"/>
              <a:t>，</a:t>
            </a:r>
            <a:r>
              <a:rPr lang="en-US" altLang="zh-CN" dirty="0"/>
              <a:t>pi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dirty="0"/>
              <a:t>/run/</a:t>
            </a:r>
            <a:r>
              <a:rPr lang="en-US" altLang="zh-CN" dirty="0" err="1"/>
              <a:t>beamOn</a:t>
            </a:r>
            <a:r>
              <a:rPr lang="en-US" altLang="zh-CN" dirty="0"/>
              <a:t> 10</a:t>
            </a:r>
            <a:br>
              <a:rPr lang="en-US" altLang="zh-CN" dirty="0"/>
            </a:br>
            <a:r>
              <a:rPr lang="en-US" altLang="zh-CN" dirty="0"/>
              <a:t>/gun/energy 10 </a:t>
            </a:r>
            <a:r>
              <a:rPr lang="en-US" altLang="zh-CN" dirty="0" err="1"/>
              <a:t>GeV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02" y="3054955"/>
            <a:ext cx="4294909" cy="3187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0200" y="4876800"/>
            <a:ext cx="1743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虚拟实验</a:t>
            </a:r>
            <a:endParaRPr lang="en-US" altLang="zh-CN" sz="2400" b="1" dirty="0"/>
          </a:p>
          <a:p>
            <a:r>
              <a:rPr lang="zh-CN" altLang="en-US" sz="2400" b="1" dirty="0"/>
              <a:t>什么样的厚度合适？</a:t>
            </a:r>
            <a:endParaRPr lang="en-US" sz="2400" b="1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429000" y="5029200"/>
            <a:ext cx="838200" cy="4477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999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93928"/>
            <a:ext cx="7696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多线程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7620000" cy="5029200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zh-CN" altLang="en-US" b="1" dirty="0">
                <a:solidFill>
                  <a:schemeClr val="bg1"/>
                </a:solidFill>
              </a:rPr>
              <a:t>现代电脑，（个人笔记本）</a:t>
            </a:r>
            <a:endParaRPr lang="en-US" altLang="zh-CN" b="1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</a:pPr>
            <a:r>
              <a:rPr lang="zh-CN" altLang="en-US" b="1" dirty="0">
                <a:solidFill>
                  <a:schemeClr val="bg1"/>
                </a:solidFill>
              </a:rPr>
              <a:t>经常包括多个子核，并支持多线程</a:t>
            </a:r>
            <a:endParaRPr lang="en-US" altLang="zh-CN" b="1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</a:pPr>
            <a:r>
              <a:rPr lang="zh-CN" altLang="en-US" b="1" dirty="0">
                <a:solidFill>
                  <a:schemeClr val="bg1"/>
                </a:solidFill>
              </a:rPr>
              <a:t>多内存，</a:t>
            </a:r>
            <a:r>
              <a:rPr lang="en-US" altLang="zh-CN" b="1" dirty="0">
                <a:solidFill>
                  <a:schemeClr val="bg1"/>
                </a:solidFill>
              </a:rPr>
              <a:t>32G</a:t>
            </a:r>
          </a:p>
          <a:p>
            <a:pPr>
              <a:buClr>
                <a:schemeClr val="bg1"/>
              </a:buClr>
            </a:pPr>
            <a:endParaRPr lang="en-US" altLang="zh-CN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zh-CN" altLang="en-US" b="1" dirty="0">
                <a:solidFill>
                  <a:schemeClr val="bg1"/>
                </a:solidFill>
              </a:rPr>
              <a:t>而如果一个</a:t>
            </a:r>
            <a:r>
              <a:rPr lang="en-US" altLang="zh-CN" b="1" dirty="0">
                <a:solidFill>
                  <a:schemeClr val="bg1"/>
                </a:solidFill>
              </a:rPr>
              <a:t>Geant4</a:t>
            </a:r>
            <a:r>
              <a:rPr lang="zh-CN" altLang="en-US" b="1" dirty="0">
                <a:solidFill>
                  <a:schemeClr val="bg1"/>
                </a:solidFill>
              </a:rPr>
              <a:t>作业只能使用一个线程，只能使用</a:t>
            </a:r>
            <a:r>
              <a:rPr lang="en-US" altLang="zh-CN" b="1" dirty="0">
                <a:solidFill>
                  <a:schemeClr val="bg1"/>
                </a:solidFill>
              </a:rPr>
              <a:t>2G</a:t>
            </a:r>
            <a:r>
              <a:rPr lang="zh-CN" altLang="en-US" b="1" dirty="0">
                <a:solidFill>
                  <a:schemeClr val="bg1"/>
                </a:solidFill>
              </a:rPr>
              <a:t>内存，显然浪费了很多的资源。</a:t>
            </a:r>
            <a:endParaRPr lang="en-US" altLang="zh-CN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altLang="zh-CN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zh-CN" altLang="en-US" b="1" dirty="0">
                <a:solidFill>
                  <a:schemeClr val="bg1"/>
                </a:solidFill>
              </a:rPr>
              <a:t>多线程是解决该问题的首选方案</a:t>
            </a:r>
            <a:endParaRPr lang="en-US" altLang="zh-CN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altLang="zh-CN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zh-CN" altLang="en-US" b="1" dirty="0">
                <a:solidFill>
                  <a:schemeClr val="bg1"/>
                </a:solidFill>
              </a:rPr>
              <a:t>在安装阶段，我们已经使用了</a:t>
            </a:r>
            <a:r>
              <a:rPr lang="en-US" altLang="zh-CN" b="1" dirty="0">
                <a:solidFill>
                  <a:schemeClr val="bg1"/>
                </a:solidFill>
              </a:rPr>
              <a:t>make –j 4</a:t>
            </a:r>
          </a:p>
          <a:p>
            <a:endParaRPr lang="en-US" altLang="zh-C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645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多线程的基本思路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3352800" cy="5029200"/>
          </a:xfrm>
        </p:spPr>
        <p:txBody>
          <a:bodyPr/>
          <a:lstStyle/>
          <a:p>
            <a:r>
              <a:rPr lang="zh-CN" altLang="en-US" b="1" dirty="0"/>
              <a:t>预先准备好随机种子的序列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每个线程竞争完成全部的模拟事例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最后将生成的结果组合在一起</a:t>
            </a:r>
            <a:endParaRPr lang="en-US" altLang="zh-CN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066800"/>
            <a:ext cx="4664646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7565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使用多线程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 err="1"/>
              <a:t>cmake</a:t>
            </a:r>
            <a:r>
              <a:rPr lang="zh-CN" altLang="en-US" b="1" dirty="0"/>
              <a:t>时加入</a:t>
            </a:r>
            <a:r>
              <a:rPr lang="en-US" b="1" dirty="0"/>
              <a:t>‐DGEANT4_BUILD_MULTITHREADED=ON</a:t>
            </a:r>
          </a:p>
          <a:p>
            <a:endParaRPr lang="en-US" b="1" dirty="0"/>
          </a:p>
          <a:p>
            <a:r>
              <a:rPr lang="zh-CN" altLang="en-US" b="1" dirty="0"/>
              <a:t>使用时：</a:t>
            </a:r>
            <a:endParaRPr lang="en-US" altLang="zh-CN" b="1" dirty="0"/>
          </a:p>
          <a:p>
            <a:pPr lvl="1"/>
            <a:r>
              <a:rPr lang="en-US" sz="2600" b="1" dirty="0"/>
              <a:t>/run/</a:t>
            </a:r>
            <a:r>
              <a:rPr lang="en-US" sz="2600" b="1" dirty="0" err="1"/>
              <a:t>numberOfThreads</a:t>
            </a:r>
            <a:endParaRPr lang="en-US" sz="2600" b="1" dirty="0"/>
          </a:p>
          <a:p>
            <a:pPr lvl="1"/>
            <a:r>
              <a:rPr lang="zh-CN" altLang="en-US" sz="2600" b="1" dirty="0"/>
              <a:t>或者 </a:t>
            </a:r>
            <a:r>
              <a:rPr lang="en-US" sz="2600" b="1" dirty="0"/>
              <a:t>G4MTRunManager::</a:t>
            </a:r>
            <a:r>
              <a:rPr lang="en-US" sz="2600" b="1" dirty="0" err="1"/>
              <a:t>SetNumberOfThreads</a:t>
            </a:r>
            <a:r>
              <a:rPr lang="en-US" sz="2600" b="1" dirty="0"/>
              <a:t>()</a:t>
            </a:r>
          </a:p>
          <a:p>
            <a:pPr lvl="1"/>
            <a:r>
              <a:rPr lang="zh-CN" altLang="en-US" sz="2600" b="1" dirty="0"/>
              <a:t>或者 环境变量</a:t>
            </a:r>
            <a:r>
              <a:rPr lang="en-US" sz="2600" b="1" dirty="0"/>
              <a:t>G4FORCENUMBEROFTHREADS=… </a:t>
            </a:r>
            <a:br>
              <a:rPr lang="en-US" sz="2600" b="1" dirty="0"/>
            </a:br>
            <a:r>
              <a:rPr lang="en-US" sz="2600" b="1" dirty="0"/>
              <a:t>(</a:t>
            </a:r>
            <a:r>
              <a:rPr lang="zh-CN" altLang="en-US" sz="2600" b="1" dirty="0"/>
              <a:t>可以用</a:t>
            </a:r>
            <a:r>
              <a:rPr lang="en-US" altLang="zh-CN" sz="2600" b="1" dirty="0"/>
              <a:t>max</a:t>
            </a:r>
            <a:r>
              <a:rPr lang="zh-CN" altLang="en-US" sz="2600" b="1" dirty="0"/>
              <a:t>代表系统允许的最大值）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994351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多线程的问题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用户程序必须有清晰的</a:t>
            </a:r>
            <a:r>
              <a:rPr lang="en-US" altLang="zh-CN" dirty="0"/>
              <a:t>Event</a:t>
            </a:r>
            <a:r>
              <a:rPr lang="zh-CN" altLang="en-US" dirty="0"/>
              <a:t>概念，如需要事例混合，前后关联，则用户一定要把这些关系处理好</a:t>
            </a:r>
            <a:endParaRPr lang="en-US" altLang="zh-CN" dirty="0"/>
          </a:p>
          <a:p>
            <a:r>
              <a:rPr lang="zh-CN" altLang="en-US" dirty="0"/>
              <a:t>有一定的随机性，因为多线程的竞争能力受其他因素影响</a:t>
            </a:r>
            <a:endParaRPr lang="en-US" altLang="zh-CN" dirty="0"/>
          </a:p>
          <a:p>
            <a:r>
              <a:rPr lang="zh-CN" altLang="en-US" dirty="0"/>
              <a:t>不能保证两次运行的结果全同，所以错误也有随机性，不容易差错，由多线程引起的错误很难找到</a:t>
            </a:r>
            <a:endParaRPr lang="en-US" altLang="zh-CN" dirty="0"/>
          </a:p>
          <a:p>
            <a:r>
              <a:rPr lang="zh-CN" altLang="en-US" dirty="0"/>
              <a:t>在程序调试成熟后可以尝试使用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7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Geant4</a:t>
            </a:r>
            <a:r>
              <a:rPr lang="zh-CN" altLang="en-US" b="1" dirty="0"/>
              <a:t>例子的运行方法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Content Placeholder 5"/>
          <p:cNvSpPr>
            <a:spLocks noGrp="1" noChangeArrowheads="1"/>
          </p:cNvSpPr>
          <p:nvPr>
            <p:ph sz="quarter" idx="1"/>
          </p:nvPr>
        </p:nvSpPr>
        <p:spPr bwMode="auto">
          <a:xfrm>
            <a:off x="228600" y="1295400"/>
            <a:ext cx="86868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&gt; cd </a:t>
            </a:r>
            <a:r>
              <a:rPr lang="en-US" altLang="zh-CN" sz="2400" dirty="0" err="1">
                <a:ea typeface="宋体" pitchFamily="2" charset="-122"/>
              </a:rPr>
              <a:t>path_to_exampleXYZ</a:t>
            </a:r>
            <a:r>
              <a:rPr lang="en-US" altLang="zh-CN" sz="2400" dirty="0">
                <a:ea typeface="宋体" pitchFamily="2" charset="-122"/>
              </a:rPr>
              <a:t>    </a:t>
            </a:r>
            <a:r>
              <a:rPr lang="en-US" altLang="en-US" sz="2400" dirty="0">
                <a:solidFill>
                  <a:srgbClr val="0000FF"/>
                </a:solidFill>
              </a:rPr>
              <a:t>\ 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即例子的父目录，注意替换</a:t>
            </a:r>
            <a:endParaRPr lang="en-US" altLang="zh-CN" sz="2400" dirty="0">
              <a:solidFill>
                <a:srgbClr val="0000FF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ea typeface="宋体" pitchFamily="2" charset="-122"/>
              </a:rPr>
              <a:t>&gt; </a:t>
            </a:r>
            <a:r>
              <a:rPr lang="en-US" altLang="zh-CN" sz="2400" dirty="0" err="1">
                <a:ea typeface="宋体" pitchFamily="2" charset="-122"/>
              </a:rPr>
              <a:t>mkdir</a:t>
            </a:r>
            <a:r>
              <a:rPr lang="en-US" altLang="zh-CN" sz="2400" dirty="0">
                <a:ea typeface="宋体" pitchFamily="2" charset="-122"/>
              </a:rPr>
              <a:t> </a:t>
            </a:r>
            <a:r>
              <a:rPr lang="en-US" altLang="zh-CN" sz="2400" dirty="0" err="1">
                <a:ea typeface="宋体" pitchFamily="2" charset="-122"/>
              </a:rPr>
              <a:t>exampleXYZ_build</a:t>
            </a:r>
            <a:r>
              <a:rPr lang="en-US" altLang="zh-CN" sz="2400" dirty="0">
                <a:ea typeface="宋体" pitchFamily="2" charset="-122"/>
              </a:rPr>
              <a:t>   </a:t>
            </a:r>
            <a:r>
              <a:rPr lang="en-US" altLang="en-US" sz="2400" dirty="0">
                <a:solidFill>
                  <a:srgbClr val="0000FF"/>
                </a:solidFill>
              </a:rPr>
              <a:t>\ 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与例子的目录平行</a:t>
            </a: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&gt; cd </a:t>
            </a:r>
            <a:r>
              <a:rPr lang="en-US" altLang="zh-CN" sz="2400" dirty="0" err="1">
                <a:ea typeface="宋体" pitchFamily="2" charset="-122"/>
              </a:rPr>
              <a:t>exampleXYZ_build</a:t>
            </a: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&gt; </a:t>
            </a:r>
            <a:r>
              <a:rPr lang="en-US" altLang="zh-CN" sz="2400" dirty="0" err="1">
                <a:ea typeface="宋体" pitchFamily="2" charset="-122"/>
              </a:rPr>
              <a:t>cmake</a:t>
            </a:r>
            <a:r>
              <a:rPr lang="en-US" altLang="zh-CN" sz="2400" dirty="0">
                <a:ea typeface="宋体" pitchFamily="2" charset="-122"/>
              </a:rPr>
              <a:t> -DGeant4_DIR=</a:t>
            </a: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path_to_Geant4_</a:t>
            </a:r>
            <a:r>
              <a:rPr lang="en-US" altLang="zh-CN" sz="2400" dirty="0">
                <a:ea typeface="宋体" pitchFamily="2" charset="-122"/>
              </a:rPr>
              <a:t> \ </a:t>
            </a:r>
            <a:br>
              <a:rPr lang="en-US" altLang="zh-CN" sz="2400" dirty="0">
                <a:ea typeface="宋体" pitchFamily="2" charset="-122"/>
              </a:rPr>
            </a:br>
            <a:r>
              <a:rPr lang="en-US" altLang="zh-CN" sz="2400" dirty="0">
                <a:ea typeface="宋体" pitchFamily="2" charset="-122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installation</a:t>
            </a:r>
            <a:r>
              <a:rPr lang="en-US" altLang="zh-CN" sz="2400" dirty="0">
                <a:ea typeface="宋体" pitchFamily="2" charset="-122"/>
              </a:rPr>
              <a:t>/lib[64]/Geant4-10.0.0/ ../</a:t>
            </a:r>
            <a:r>
              <a:rPr lang="en-US" altLang="zh-CN" sz="2400" dirty="0" err="1">
                <a:ea typeface="宋体" pitchFamily="2" charset="-122"/>
              </a:rPr>
              <a:t>exampleXYZ</a:t>
            </a: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ea typeface="宋体" pitchFamily="2" charset="-122"/>
              </a:rPr>
              <a:t>                        </a:t>
            </a:r>
            <a:r>
              <a:rPr lang="en-US" altLang="en-US" sz="2400" dirty="0">
                <a:solidFill>
                  <a:srgbClr val="0000FF"/>
                </a:solidFill>
              </a:rPr>
              <a:t>\ 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注意替换</a:t>
            </a: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path_to_Geant4_installation</a:t>
            </a: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&gt; make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itchFamily="2" charset="-122"/>
              </a:rPr>
              <a:t>&gt; ./</a:t>
            </a:r>
            <a:r>
              <a:rPr lang="en-US" altLang="zh-CN" sz="2400" dirty="0" err="1">
                <a:ea typeface="宋体" pitchFamily="2" charset="-122"/>
              </a:rPr>
              <a:t>exampleXYZ</a:t>
            </a:r>
            <a:endParaRPr lang="en-US" altLang="zh-CN" sz="24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266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练习运行</a:t>
            </a:r>
            <a:r>
              <a:rPr lang="en-US" altLang="zh-CN" b="1" dirty="0"/>
              <a:t>N01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  <a:endParaRPr lang="en-US" altLang="zh-CN" dirty="0"/>
          </a:p>
          <a:p>
            <a:r>
              <a:rPr lang="zh-CN" altLang="en-US" dirty="0"/>
              <a:t>运行</a:t>
            </a:r>
            <a:br>
              <a:rPr lang="en-US" altLang="zh-CN" dirty="0"/>
            </a:br>
            <a:r>
              <a:rPr lang="zh-CN" altLang="en-US" dirty="0"/>
              <a:t>将看到类似如下信息：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7200" y="2438400"/>
            <a:ext cx="86868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*********************************************************************************************************</a:t>
            </a:r>
          </a:p>
          <a:p>
            <a:r>
              <a:rPr lang="en-US" sz="1200" b="1" dirty="0"/>
              <a:t>* G4Track Information:   Particle = </a:t>
            </a:r>
            <a:r>
              <a:rPr lang="en-US" sz="1200" b="1" dirty="0" err="1"/>
              <a:t>geantino</a:t>
            </a:r>
            <a:r>
              <a:rPr lang="en-US" sz="1200" b="1" dirty="0"/>
              <a:t>,   Track ID = 1,   Parent ID = 0</a:t>
            </a:r>
          </a:p>
          <a:p>
            <a:r>
              <a:rPr lang="en-US" sz="1200" b="1" dirty="0"/>
              <a:t>*********************************************************************************************************</a:t>
            </a:r>
          </a:p>
          <a:p>
            <a:endParaRPr lang="en-US" sz="1200" b="1" dirty="0"/>
          </a:p>
          <a:p>
            <a:r>
              <a:rPr lang="en-US" sz="1200" b="1" dirty="0"/>
              <a:t>Step#    X(mm)    Y(mm)    Z(mm) </a:t>
            </a:r>
            <a:r>
              <a:rPr lang="en-US" sz="1200" b="1" dirty="0" err="1"/>
              <a:t>KinE</a:t>
            </a:r>
            <a:r>
              <a:rPr lang="en-US" sz="1200" b="1" dirty="0"/>
              <a:t>(MeV)  </a:t>
            </a:r>
            <a:r>
              <a:rPr lang="en-US" sz="1200" b="1" dirty="0" err="1"/>
              <a:t>dE</a:t>
            </a:r>
            <a:r>
              <a:rPr lang="en-US" sz="1200" b="1" dirty="0"/>
              <a:t>(MeV) </a:t>
            </a:r>
            <a:r>
              <a:rPr lang="en-US" sz="1200" b="1" dirty="0" err="1"/>
              <a:t>StepLeng</a:t>
            </a:r>
            <a:r>
              <a:rPr lang="en-US" sz="1200" b="1" dirty="0"/>
              <a:t> </a:t>
            </a:r>
            <a:r>
              <a:rPr lang="en-US" sz="1200" b="1" dirty="0" err="1"/>
              <a:t>TrackLeng</a:t>
            </a:r>
            <a:r>
              <a:rPr lang="en-US" sz="1200" b="1" dirty="0"/>
              <a:t>  </a:t>
            </a:r>
            <a:r>
              <a:rPr lang="en-US" sz="1200" b="1" dirty="0" err="1"/>
              <a:t>NextVolume</a:t>
            </a:r>
            <a:r>
              <a:rPr lang="en-US" sz="1200" b="1" dirty="0"/>
              <a:t> </a:t>
            </a:r>
            <a:r>
              <a:rPr lang="en-US" sz="1200" b="1" dirty="0" err="1"/>
              <a:t>ProcName</a:t>
            </a:r>
            <a:endParaRPr lang="en-US" sz="1200" b="1" dirty="0"/>
          </a:p>
          <a:p>
            <a:r>
              <a:rPr lang="en-US" sz="1200" b="1" dirty="0"/>
              <a:t>    0   -2e+03        0        0     1e+03        0        0         0     </a:t>
            </a:r>
            <a:r>
              <a:rPr lang="en-US" sz="1200" b="1" dirty="0" err="1"/>
              <a:t>expHall</a:t>
            </a:r>
            <a:r>
              <a:rPr lang="en-US" sz="1200" b="1" dirty="0"/>
              <a:t> </a:t>
            </a:r>
            <a:r>
              <a:rPr lang="en-US" sz="1200" b="1" dirty="0" err="1"/>
              <a:t>initStep</a:t>
            </a:r>
            <a:endParaRPr lang="en-US" sz="1200" b="1" dirty="0"/>
          </a:p>
          <a:p>
            <a:r>
              <a:rPr lang="en-US" sz="1200" b="1" dirty="0"/>
              <a:t>    1 -1.6e+03        0       40     1e+03        0      402       402     tracker Transportation</a:t>
            </a:r>
          </a:p>
          <a:p>
            <a:r>
              <a:rPr lang="en-US" sz="1200" b="1" dirty="0"/>
              <a:t>    2     -400        0      160     1e+03        0 1.21e+03  1.61e+03     </a:t>
            </a:r>
            <a:r>
              <a:rPr lang="en-US" sz="1200" b="1" dirty="0" err="1"/>
              <a:t>expHall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3 -7.27e-14        0      200     1e+03        0      402  2.01e+03   </a:t>
            </a:r>
            <a:r>
              <a:rPr lang="en-US" sz="1200" b="1" dirty="0" err="1"/>
              <a:t>caloBlock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4       90        0      209     1e+03        0     90.4   2.1e+03   </a:t>
            </a:r>
            <a:r>
              <a:rPr lang="en-US" sz="1200" b="1" dirty="0" err="1"/>
              <a:t>caloLayer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5      110        0      211     1e+03        0     20.1  2.12e+03   </a:t>
            </a:r>
            <a:r>
              <a:rPr lang="en-US" sz="1200" b="1" dirty="0" err="1"/>
              <a:t>caloBlock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6      190        0      219     1e+03        0     80.4   2.2e+03   </a:t>
            </a:r>
            <a:r>
              <a:rPr lang="en-US" sz="1200" b="1" dirty="0" err="1"/>
              <a:t>caloLayer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7      210        0      221     1e+03        0     20.1  2.22e+03   </a:t>
            </a:r>
            <a:r>
              <a:rPr lang="en-US" sz="1200" b="1" dirty="0" err="1"/>
              <a:t>caloBlock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8      290        0      229     1e+03        0     80.4   2.3e+03   </a:t>
            </a:r>
            <a:r>
              <a:rPr lang="en-US" sz="1200" b="1" dirty="0" err="1"/>
              <a:t>caloLayer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 9      310        0      231     1e+03        0     20.1  2.32e+03   </a:t>
            </a:r>
            <a:r>
              <a:rPr lang="en-US" sz="1200" b="1" dirty="0" err="1"/>
              <a:t>caloBlock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10      390        0      239     1e+03        0     80.4   2.4e+03   </a:t>
            </a:r>
            <a:r>
              <a:rPr lang="en-US" sz="1200" b="1" dirty="0" err="1"/>
              <a:t>caloLayer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11      410        0      241     1e+03        0     20.1  2.42e+03   </a:t>
            </a:r>
            <a:r>
              <a:rPr lang="en-US" sz="1200" b="1" dirty="0" err="1"/>
              <a:t>caloBlock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12      490        0      249     1e+03        0     80.4   2.5e+03   </a:t>
            </a:r>
            <a:r>
              <a:rPr lang="en-US" sz="1200" b="1" dirty="0" err="1"/>
              <a:t>caloLayer</a:t>
            </a:r>
            <a:r>
              <a:rPr lang="en-US" sz="1200" b="1" dirty="0"/>
              <a:t> Transportation</a:t>
            </a:r>
          </a:p>
          <a:p>
            <a:r>
              <a:rPr lang="en-US" sz="1200" b="1" dirty="0"/>
              <a:t>   13      510        0      251     1e+03        0     20.1  2.52e+03   </a:t>
            </a:r>
            <a:r>
              <a:rPr lang="en-US" sz="1200" b="1" dirty="0" err="1"/>
              <a:t>caloBlock</a:t>
            </a:r>
            <a:r>
              <a:rPr lang="en-US" sz="1200" b="1" dirty="0"/>
              <a:t>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1963117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练习运行</a:t>
            </a:r>
            <a:r>
              <a:rPr lang="en-US" altLang="zh-CN" b="1" dirty="0"/>
              <a:t>N02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  <a:endParaRPr lang="en-US" altLang="zh-CN" dirty="0"/>
          </a:p>
          <a:p>
            <a:r>
              <a:rPr lang="zh-CN" altLang="en-US" dirty="0"/>
              <a:t>运行，将看到这样的结果</a:t>
            </a:r>
            <a:endParaRPr lang="en-US" altLang="zh-CN" dirty="0"/>
          </a:p>
          <a:p>
            <a:r>
              <a:rPr lang="zh-CN" altLang="en-US" dirty="0"/>
              <a:t>观察打入不同</a:t>
            </a:r>
            <a:br>
              <a:rPr lang="en-US" altLang="zh-CN" dirty="0"/>
            </a:br>
            <a:r>
              <a:rPr lang="zh-CN" altLang="en-US" dirty="0"/>
              <a:t>粒子的结果：</a:t>
            </a:r>
            <a:br>
              <a:rPr lang="en-US" altLang="zh-CN" dirty="0"/>
            </a:br>
            <a:r>
              <a:rPr lang="en-US" altLang="zh-CN" dirty="0"/>
              <a:t>mu+</a:t>
            </a:r>
            <a:r>
              <a:rPr lang="zh-CN" altLang="en-US" dirty="0"/>
              <a:t>，</a:t>
            </a:r>
            <a:r>
              <a:rPr lang="en-US" altLang="zh-CN" dirty="0"/>
              <a:t>gamma</a:t>
            </a:r>
            <a:br>
              <a:rPr lang="en-US" altLang="zh-CN" dirty="0"/>
            </a:br>
            <a:r>
              <a:rPr lang="en-US" altLang="zh-CN" dirty="0"/>
              <a:t>proton</a:t>
            </a:r>
            <a:r>
              <a:rPr lang="zh-CN" altLang="en-US" dirty="0"/>
              <a:t>，</a:t>
            </a:r>
            <a:r>
              <a:rPr lang="en-US" altLang="zh-CN" dirty="0"/>
              <a:t>neutron</a:t>
            </a:r>
            <a:br>
              <a:rPr lang="en-US" altLang="zh-CN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981200"/>
            <a:ext cx="5219700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1893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练习运行</a:t>
            </a:r>
            <a:r>
              <a:rPr lang="en-US" altLang="zh-CN" b="1" dirty="0"/>
              <a:t>B1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  <a:endParaRPr lang="en-US" altLang="zh-CN" dirty="0"/>
          </a:p>
          <a:p>
            <a:r>
              <a:rPr lang="zh-CN" altLang="en-US" dirty="0"/>
              <a:t>运行，将看到这样的结果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09800"/>
            <a:ext cx="4672012" cy="406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892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练习调整</a:t>
            </a:r>
            <a:r>
              <a:rPr lang="en-US" altLang="zh-CN" b="1" dirty="0"/>
              <a:t>N02</a:t>
            </a:r>
            <a:r>
              <a:rPr lang="zh-CN" altLang="en-US" b="1" dirty="0"/>
              <a:t>，</a:t>
            </a:r>
            <a:r>
              <a:rPr lang="en-US" altLang="zh-CN" b="1" dirty="0"/>
              <a:t>B1</a:t>
            </a:r>
            <a:r>
              <a:rPr lang="zh-CN" altLang="en-US" b="1" dirty="0"/>
              <a:t>的事例显示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角度旋转</a:t>
            </a:r>
            <a:endParaRPr lang="en-US" altLang="zh-CN" dirty="0"/>
          </a:p>
          <a:p>
            <a:r>
              <a:rPr lang="zh-CN" altLang="en-US" dirty="0"/>
              <a:t>生成</a:t>
            </a:r>
            <a:r>
              <a:rPr lang="en-US" altLang="zh-CN" dirty="0"/>
              <a:t>postscript</a:t>
            </a:r>
            <a:r>
              <a:rPr lang="zh-CN" altLang="en-US" dirty="0"/>
              <a:t>矢量图文件</a:t>
            </a:r>
            <a:br>
              <a:rPr lang="en-US" altLang="zh-CN" dirty="0"/>
            </a:br>
            <a:r>
              <a:rPr lang="zh-CN" altLang="en-US" dirty="0"/>
              <a:t>矢量图：</a:t>
            </a:r>
            <a:r>
              <a:rPr lang="zh-CN" altLang="en-US" dirty="0">
                <a:hlinkClick r:id="rId2"/>
              </a:rPr>
              <a:t>矢量图</a:t>
            </a:r>
            <a:r>
              <a:rPr lang="zh-CN" altLang="en-US" dirty="0"/>
              <a:t>也称为</a:t>
            </a:r>
            <a:r>
              <a:rPr lang="zh-CN" altLang="en-US" dirty="0">
                <a:hlinkClick r:id="rId3"/>
              </a:rPr>
              <a:t>面向对象</a:t>
            </a:r>
            <a:r>
              <a:rPr lang="zh-CN" altLang="en-US" dirty="0"/>
              <a:t>的图像或绘图图像，是计算机图形学中用点、</a:t>
            </a:r>
            <a:r>
              <a:rPr lang="zh-CN" altLang="en-US" dirty="0">
                <a:hlinkClick r:id="rId4"/>
              </a:rPr>
              <a:t>直线</a:t>
            </a:r>
            <a:r>
              <a:rPr lang="zh-CN" altLang="en-US" dirty="0"/>
              <a:t>或者多边形等基于</a:t>
            </a:r>
            <a:r>
              <a:rPr lang="zh-CN" altLang="en-US" dirty="0">
                <a:hlinkClick r:id="rId5"/>
              </a:rPr>
              <a:t>数学</a:t>
            </a:r>
            <a:r>
              <a:rPr lang="zh-CN" altLang="en-US" dirty="0"/>
              <a:t>方程的几何图元表示图像。</a:t>
            </a:r>
            <a:endParaRPr lang="en-US" altLang="zh-CN" dirty="0"/>
          </a:p>
          <a:p>
            <a:r>
              <a:rPr lang="zh-CN" altLang="en-US" dirty="0">
                <a:hlinkClick r:id="rId2"/>
              </a:rPr>
              <a:t>矢量图</a:t>
            </a:r>
            <a:r>
              <a:rPr lang="zh-CN" altLang="en-US" dirty="0"/>
              <a:t>形最大的优点是无论放大、缩小或旋转等不会失真。一般</a:t>
            </a:r>
            <a:r>
              <a:rPr lang="zh-CN" altLang="en-US" dirty="0">
                <a:hlinkClick r:id="rId6" action="ppaction://hlinkfile"/>
              </a:rPr>
              <a:t>发表文章</a:t>
            </a:r>
            <a:r>
              <a:rPr lang="zh-CN" altLang="en-US" dirty="0"/>
              <a:t>时必须使用矢量图。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4846050"/>
            <a:ext cx="7571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提示，这里要去看一下各种资源，尝试自己找到帮助。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练习深入</a:t>
            </a:r>
            <a:r>
              <a:rPr lang="en-US" altLang="zh-CN" b="1" dirty="0"/>
              <a:t>N01</a:t>
            </a:r>
            <a:r>
              <a:rPr lang="zh-CN" altLang="en-US" b="1" dirty="0"/>
              <a:t>，</a:t>
            </a:r>
            <a:r>
              <a:rPr lang="en-US" altLang="zh-CN" b="1" dirty="0"/>
              <a:t>N02</a:t>
            </a:r>
            <a:r>
              <a:rPr lang="zh-CN" altLang="en-US" b="1" dirty="0"/>
              <a:t>例子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作业：</a:t>
            </a:r>
            <a:endParaRPr lang="en-US" altLang="zh-CN" b="1" dirty="0"/>
          </a:p>
          <a:p>
            <a:r>
              <a:rPr lang="zh-CN" altLang="en-US" dirty="0"/>
              <a:t>尝试读懂</a:t>
            </a:r>
            <a:r>
              <a:rPr lang="en-US" altLang="zh-CN" dirty="0"/>
              <a:t>N01</a:t>
            </a:r>
          </a:p>
          <a:p>
            <a:r>
              <a:rPr lang="zh-CN" altLang="en-US" dirty="0"/>
              <a:t>略读</a:t>
            </a:r>
            <a:r>
              <a:rPr lang="en-US" altLang="zh-CN" dirty="0"/>
              <a:t>N02</a:t>
            </a:r>
            <a:r>
              <a:rPr lang="zh-CN" altLang="en-US" dirty="0"/>
              <a:t>和</a:t>
            </a:r>
            <a:r>
              <a:rPr lang="en-US" altLang="zh-CN" dirty="0"/>
              <a:t>B1</a:t>
            </a:r>
          </a:p>
          <a:p>
            <a:r>
              <a:rPr lang="zh-CN" altLang="en-US" dirty="0"/>
              <a:t>目标：找到在哪里程序设定了几何形状和物质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5685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重点回顾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介绍</a:t>
            </a:r>
            <a:endParaRPr lang="en-US" altLang="zh-CN" dirty="0"/>
          </a:p>
          <a:p>
            <a:r>
              <a:rPr lang="en-US" altLang="zh-CN" dirty="0"/>
              <a:t>Geant4</a:t>
            </a:r>
            <a:r>
              <a:rPr lang="zh-CN" altLang="en-US" dirty="0"/>
              <a:t>的重要性，依赖程度</a:t>
            </a:r>
            <a:endParaRPr lang="en-US" altLang="zh-CN" dirty="0"/>
          </a:p>
          <a:p>
            <a:r>
              <a:rPr lang="zh-CN" altLang="en-US" dirty="0"/>
              <a:t>整体框架</a:t>
            </a:r>
            <a:endParaRPr lang="en-US" altLang="zh-CN" dirty="0"/>
          </a:p>
          <a:p>
            <a:r>
              <a:rPr lang="zh-CN" altLang="en-US" dirty="0"/>
              <a:t>第一个</a:t>
            </a:r>
            <a:r>
              <a:rPr lang="en-US" altLang="zh-CN" dirty="0"/>
              <a:t>main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几何、材料的构造</a:t>
            </a:r>
            <a:endParaRPr lang="en-US" altLang="zh-CN" dirty="0"/>
          </a:p>
          <a:p>
            <a:r>
              <a:rPr lang="zh-CN" altLang="en-US" dirty="0"/>
              <a:t>运行实例</a:t>
            </a:r>
            <a:endParaRPr lang="en-US" altLang="zh-CN" dirty="0"/>
          </a:p>
          <a:p>
            <a:r>
              <a:rPr lang="zh-CN" altLang="en-US" dirty="0"/>
              <a:t>多线程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704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4052</TotalTime>
  <Words>3618</Words>
  <Application>Microsoft Macintosh PowerPoint</Application>
  <PresentationFormat>全屏显示(4:3)</PresentationFormat>
  <Paragraphs>510</Paragraphs>
  <Slides>52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宋体</vt:lpstr>
      <vt:lpstr>Microsoft YaHei</vt:lpstr>
      <vt:lpstr>Arial</vt:lpstr>
      <vt:lpstr>Calibri</vt:lpstr>
      <vt:lpstr>Courier New</vt:lpstr>
      <vt:lpstr>Franklin Gothic Book</vt:lpstr>
      <vt:lpstr>Perpetua</vt:lpstr>
      <vt:lpstr>Times New Roman</vt:lpstr>
      <vt:lpstr>Wingdings 2</vt:lpstr>
      <vt:lpstr>Equity</vt:lpstr>
      <vt:lpstr>如何编写main（）函数</vt:lpstr>
      <vt:lpstr>许可证与免责声明，不需要关心</vt:lpstr>
      <vt:lpstr>头文件</vt:lpstr>
      <vt:lpstr>（A）用户自定义的 Geant4 类ActionInitialization.hh</vt:lpstr>
      <vt:lpstr>（A）用户自定义的 Geant4 类 DetectorConstruction.hh</vt:lpstr>
      <vt:lpstr>Main函数开始</vt:lpstr>
      <vt:lpstr>步长输出格式设置</vt:lpstr>
      <vt:lpstr>PowerPoint 演示文稿</vt:lpstr>
      <vt:lpstr>RunManager 创建</vt:lpstr>
      <vt:lpstr>RunManager 创建</vt:lpstr>
      <vt:lpstr>RunManager 注册几何、物理列表、用户动作</vt:lpstr>
      <vt:lpstr>RunManager 注册几何、物理列表、用户动作</vt:lpstr>
      <vt:lpstr>physicsList-&gt;SetVerboseLevel(1);</vt:lpstr>
      <vt:lpstr>为什么可以把 physicsList（QBBC）直接传给 SetUserInitialization？</vt:lpstr>
      <vt:lpstr>RunManager 注册几何、物理列表、用户动作</vt:lpstr>
      <vt:lpstr>需要初始化的用户动作</vt:lpstr>
      <vt:lpstr>初始化—— 可视化系统</vt:lpstr>
      <vt:lpstr>PowerPoint 演示文稿</vt:lpstr>
      <vt:lpstr>获取 UI 管理器</vt:lpstr>
      <vt:lpstr>交互/批处理模式分支</vt:lpstr>
      <vt:lpstr>交互/批处理模式分支</vt:lpstr>
      <vt:lpstr>交互/批处理模式分支</vt:lpstr>
      <vt:lpstr>main函数执行完毕，清理内存</vt:lpstr>
      <vt:lpstr>注意</vt:lpstr>
      <vt:lpstr>课堂作业</vt:lpstr>
      <vt:lpstr>BackUp</vt:lpstr>
      <vt:lpstr>宏文件：以.mac结尾的文件</vt:lpstr>
      <vt:lpstr>粒子源有两种设置方式</vt:lpstr>
      <vt:lpstr>Geant4 模块化架构</vt:lpstr>
      <vt:lpstr>Geant4使用的几个重要方面</vt:lpstr>
      <vt:lpstr>整体框架</vt:lpstr>
      <vt:lpstr>Run, Event, Track, Step</vt:lpstr>
      <vt:lpstr>C++语法，虚函数</vt:lpstr>
      <vt:lpstr>最基本的主函数（N01）</vt:lpstr>
      <vt:lpstr>最基本的主函数(N01)</vt:lpstr>
      <vt:lpstr>几何，物质各类的概念层次</vt:lpstr>
      <vt:lpstr>几何的层次</vt:lpstr>
      <vt:lpstr>物质的声明与定义</vt:lpstr>
      <vt:lpstr>最简单的几何定义例子</vt:lpstr>
      <vt:lpstr>探测器显示</vt:lpstr>
      <vt:lpstr>几个用户宏命令</vt:lpstr>
      <vt:lpstr>多线程</vt:lpstr>
      <vt:lpstr>多线程的基本思路</vt:lpstr>
      <vt:lpstr>使用多线程</vt:lpstr>
      <vt:lpstr>多线程的问题</vt:lpstr>
      <vt:lpstr>Geant4例子的运行方法</vt:lpstr>
      <vt:lpstr>练习运行N01</vt:lpstr>
      <vt:lpstr>练习运行N02</vt:lpstr>
      <vt:lpstr>练习运行B1</vt:lpstr>
      <vt:lpstr>练习调整N02，B1的事例显示</vt:lpstr>
      <vt:lpstr>练习深入N01，N02例子</vt:lpstr>
      <vt:lpstr>重点回顾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Geant4 —— 第一讲 入门                   粒子物理暑期学校·威海2014</dc:title>
  <dc:creator>wangzhe</dc:creator>
  <cp:lastModifiedBy>office</cp:lastModifiedBy>
  <cp:revision>306</cp:revision>
  <dcterms:created xsi:type="dcterms:W3CDTF">2006-08-16T00:00:00Z</dcterms:created>
  <dcterms:modified xsi:type="dcterms:W3CDTF">2025-11-20T08:39:45Z</dcterms:modified>
</cp:coreProperties>
</file>