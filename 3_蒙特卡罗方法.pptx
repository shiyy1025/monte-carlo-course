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42"/>
  </p:notesMasterIdLst>
  <p:handoutMasterIdLst>
    <p:handoutMasterId r:id="rId43"/>
  </p:handoutMasterIdLst>
  <p:sldIdLst>
    <p:sldId id="262" r:id="rId2"/>
    <p:sldId id="266" r:id="rId3"/>
    <p:sldId id="267" r:id="rId4"/>
    <p:sldId id="268" r:id="rId5"/>
    <p:sldId id="269" r:id="rId6"/>
    <p:sldId id="304" r:id="rId7"/>
    <p:sldId id="270" r:id="rId8"/>
    <p:sldId id="271" r:id="rId9"/>
    <p:sldId id="272" r:id="rId10"/>
    <p:sldId id="305" r:id="rId11"/>
    <p:sldId id="273" r:id="rId12"/>
    <p:sldId id="274" r:id="rId13"/>
    <p:sldId id="309" r:id="rId14"/>
    <p:sldId id="275" r:id="rId15"/>
    <p:sldId id="276" r:id="rId16"/>
    <p:sldId id="277" r:id="rId17"/>
    <p:sldId id="278" r:id="rId18"/>
    <p:sldId id="303" r:id="rId19"/>
    <p:sldId id="279" r:id="rId20"/>
    <p:sldId id="310" r:id="rId21"/>
    <p:sldId id="280" r:id="rId22"/>
    <p:sldId id="281" r:id="rId23"/>
    <p:sldId id="306" r:id="rId24"/>
    <p:sldId id="313" r:id="rId25"/>
    <p:sldId id="323" r:id="rId26"/>
    <p:sldId id="324" r:id="rId27"/>
    <p:sldId id="282" r:id="rId28"/>
    <p:sldId id="314" r:id="rId29"/>
    <p:sldId id="315" r:id="rId30"/>
    <p:sldId id="316" r:id="rId31"/>
    <p:sldId id="319" r:id="rId32"/>
    <p:sldId id="307" r:id="rId33"/>
    <p:sldId id="317" r:id="rId34"/>
    <p:sldId id="283" r:id="rId35"/>
    <p:sldId id="318" r:id="rId36"/>
    <p:sldId id="320" r:id="rId37"/>
    <p:sldId id="322" r:id="rId38"/>
    <p:sldId id="321" r:id="rId39"/>
    <p:sldId id="285" r:id="rId40"/>
    <p:sldId id="301" r:id="rId41"/>
  </p:sldIdLst>
  <p:sldSz cx="9144000" cy="6858000" type="overhead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2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 autoAdjust="0"/>
    <p:restoredTop sz="90988"/>
  </p:normalViewPr>
  <p:slideViewPr>
    <p:cSldViewPr>
      <p:cViewPr varScale="1">
        <p:scale>
          <a:sx n="118" d="100"/>
          <a:sy n="118" d="100"/>
        </p:scale>
        <p:origin x="10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EF54FE0-0A67-9F82-208C-97741F9412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D1684B3-780A-8758-35DF-9911574A15C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0C3D97AD-D226-6BB6-CB7C-2A2F86D101C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zh-CN" altLang="en-US"/>
              <a:t>蒙特卡罗方法</a:t>
            </a: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31AF8E66-1AD4-9A36-C754-F05C1C69F42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7DF12EF9-A2B1-4847-81AC-8D52AE88BE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9T13:45:13.9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0,'72'0,"24"0,-27 0,5 0,16 0,4 0,-23 0,1 0,2 0,6 0,0 0,1 0,0 0,1 0,-1 0,-2 0,-1 0,0 0,-5 0,0 0,-2 0,28 0,-3 0,-2 0,-2 0,-5 0,-1 0,-3 0,0 0,-2 0,-1 0,-3 0,-2 0,-3 0,-2 0,-3 0,-1 0,-4 0,0 0,-5 0,-1 0,-2 0,-2 0,43 0,-10 0,-12 0,-10 0,-7 0,-2 0,-2 0,-1 0,-3 0,3 0,0 0,2 0,3 0,-1 0,6 0,2 0,1 0,0 0,-4 0,-4 0,-5 0,0 0,6 0,3 0,5 0,-2 0,-3 0,-4 0,-1 0,3 0,3 0,4 0,0 0,1 0,-1 0,-3 0,-3 0,-4 0,-4 0,1 0,0 0,3 0,1 0,-3 0,-5 0,-6 3,-2 0,0 0,7-1,5-2,5 0,-5 0,-7 0,-4 0,-4 0,3 0,0 0,-3 0,-2 0,-6 0,-4 0,-5 0,-1 0,0 0,0 0,-3 0,-1 0,-3 0,-1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4:13:23.657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0 105 16383,'31'0'0,"39"0"0,-8 0 0,8 0 0,-6 0 0,4 0 0,3 0 0,15 0 0,4 0 0,2 0 0,-16 0 0,2 0 0,2 0 0,-2 0 0,1 0 0,-1 0 0,1 0 0,-1 0 0,0 0 0,0 0 0,-1 0 0,0 0 0,22 0 0,-2 0 0,-1 0 0,-6 0 0,-2 0 0,-1 0 0,-1 1 0,-2 0 0,-1 1 0,-7 0 0,-1 1 0,-2 1 0,27 1 0,-3 1 0,-8 1 0,-3-1 0,-7-1 0,-3-2 0,-7 1 0,-1-2 0,-5 1 0,-1 0 0,-2-1 0,-1-1 0,-4 2 0,-1 0 0,-3 0 0,-2-1 0,41 5 0,-15 2 0,-9 0 0,-7 3 0,-8-2 0,3 0 0,0-1 0,-2-3 0,3-1 0,7-4 0,12-1 0,16 0 0,-40 0 0,2 0 0,4 0 0,1 0 0,2 0 0,1 0 0,2 0 0,2 0 0,3 0 0,2 0 0,2 0 0,1 0 0,4-2 0,0 0 0,2 0 0,1-1 0,-2 1 0,0-1 0,3 1 0,1 0 0,-2 2 0,0 0 0,0 0 0,-1 0 0,0-1 0,-3-1 0,-6-1 0,-3 0 0,-4-1 0,-1-1 0,-6-1 0,0-1 0,-1 1 0,-1-1 0,2-1 0,-1 0 0,2 0 0,0 0 0,-2 0 0,-1 1 0,42-5 0,-13 2 0,-12 2 0,-4 1 0,-5 1 0,-2 3 0,-8 1 0,-11 2 0,-9 0 0,-9 0 0,-7-2 0,-5-2 0,-5-9 0,-20-21 0,11 18 0,-11-12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4:13:25.856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0 233 16383,'49'0'0,"11"0"0,13 0 0,2 0 0,8 0 0,7 0 0,1 0 0,6 0 0,4 0 0,2 0 0,-12 0 0,3 0 0,1 0 0,3 0 0,1 0 0,-5 0 0,3 0 0,2 0 0,0 0 0,0 0 0,-1 0 0,-2 0 0,1 0 0,0 0 0,0 0 0,-2 0 0,0 0 0,-6 0 0,-1 0 0,0 0 0,-1 0 0,-1 0 0,0 0 0,11 0 0,0 0 0,-1 0 0,-3 0 0,-1 0 0,6 0 0,-3 0 0,-2 0 0,1 0 0,2 0 0,1 0 0,-1 0 0,-1 0 0,-3 0 0,-1 0 0,0 0 0,-1 0 0,-3 0 0,-2 0 0,0 0 0,-1-1 0,18 0 0,-2-1 0,-3 1 0,-7-1 0,-3 0 0,-2 0 0,-5 0 0,-2 0 0,-2 0 0,-3 1 0,-2-1 0,0 0 0,-3 0 0,0 0 0,-2-1 0,30-1 0,-3-1 0,-10-2 0,-3 1 0,-13-1 0,-3 0 0,-10 1 0,-3 0 0,40-8 0,3-4 0,-44 8 0,2 0 0,4 0 0,2-1 0,1 0 0,-1 0 0,-3 3 0,-2 0 0,-3 1 0,-1 0 0,35-2 0,-9 5 0,-1 1 0,1 3 0,5 0 0,0 0 0,-1 0 0,-4 0 0,2 0 0,7 0 0,2 0 0,4 0 0,-6 0 0,-14 0 0,-11 0 0,-10 0 0,-7 0 0,0 0 0,-2 0 0,-4 0 0,-3 0 0,-5 0 0,-2 0 0,-4 0 0,0 0 0,-3 0 0,-2 0 0,-4 0 0,-6-7 0,-4 6 0,-2-6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4:14:20.909"/>
    </inkml:context>
    <inkml:brush xml:id="br0">
      <inkml:brushProperty name="width" value="0.05" units="cm"/>
      <inkml:brushProperty name="height" value="0.3" units="cm"/>
      <inkml:brushProperty name="color" value="#FF0066"/>
      <inkml:brushProperty name="inkEffects" value="pencil"/>
    </inkml:brush>
  </inkml:definitions>
  <inkml:trace contextRef="#ctx0" brushRef="#br0">1 1 16383,'0'0'0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6:00:40.3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314 112 24575,'-21'0'0,"-4"0"0,0 0 0,-2 0 0,-2 2 0,4 3 0,2 1 0,4 0 0,5-1 0,2 0 0,3 0 0,-1-1 0,1 0 0,1 2 0,1 0 0,4 1 0,0-1 0,1 2 0,0 0 0,-3 4 0,2 0 0,-1 2 0,0 0 0,0-1 0,0 3 0,1 1 0,0 2 0,2-1 0,1 1 0,-2-1 0,-1-2 0,1-1 0,0-1 0,2-1 0,0 0 0,0-2 0,0 0 0,0 1 0,0 1 0,0-1 0,2-1 0,4 0 0,4 1 0,3 0 0,4 0 0,-1 0 0,3 0 0,0 0 0,0-1 0,3 0 0,0-2 0,1-1 0,-1-1 0,-4-2 0,2-1 0,2 1 0,4-3 0,1 0 0,3 0 0,-1 1 0,0 0 0,1 0 0,1-1 0,1 1 0,1-1 0,-1 0 0,-3-2 0,-1 0 0,1 0 0,2 0 0,4 0 0,3 0 0,0 2 0,-1 1 0,-1 0 0,0-1 0,5-2 0,0 0 0,2 0 0,-3 0 0,-3 0 0,0 0 0,-3-3 0,3-3 0,-1-4 0,1-3 0,-4-1 0,-4 1 0,-2 1 0,-5 0 0,0 1 0,-3-1 0,-2 2 0,-3 1 0,-4-1 0,-4 0 0,-3 0 0,-3-3 0,0-5 0,0-5 0,0-2 0,0 2 0,0 3 0,-1 6 0,-5 2 0,-5 0 0,-8-1 0,-9-4 0,-4-3 0,-8-2 0,-2-1 0,-2 0 0,-2 0 0,3 0 0,8 2 0,5 2 0,5 5 0,2 3 0,1 3 0,-1 2 0,0-1 0,-3 0 0,-3 2 0,-2-3 0,-4 1 0,-2 0 0,-2-2 0,-1-1 0,2 2 0,3-1 0,6 0 0,6 1 0,3-1 0,3 2 0,1 2 0,0 1 0,1 2 0,1-1 0,1 1 0,2 2 0,-3 0 0,-2 0 0,0 0 0,-1 0 0,3 0 0,2 0 0,1 0 0,1 0 0,4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6:00:46.8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24575,'25'0'0,"7"0"0,5 0 0,7 0 0,0 0 0,-4 0 0,-4 0 0,-6 0 0,-4 0 0,-5 0 0,-2 0 0,0 0 0,0 0 0,0 0 0,-1 0 0,1 0 0,0 0 0,0 0 0,0 0 0,0 0 0,-1 0 0,1 0 0,0 0 0,0 0 0,-4 0 0,-1 0 0,-2 0 0,0 0 0,4 0 0,2 0 0,-2 0 0,-2 0 0,-3 0 0,-4 0 0,0 0 0,1 0 0,0 0 0,-3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9T16:00:49.6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24575,'41'0'0,"14"0"0,27 0 0,14 0 0,-1 0 0,-11 0 0,-18 0 0,-16 0 0,-12 0 0,-5 0 0,-3 0 0,1 0 0,2 0 0,0 0 0,1 0 0,2 0 0,1 0 0,2 0 0,-2 0 0,-5 0 0,-4 0 0,-7 0 0,-5 0 0,-4 0 0,-4 0 0,-2 0 0,2 0 0,-5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C786B48-DB03-CD83-3059-5A9286A049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B7053D5-C0A0-A225-E56F-38616B499E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244B7F-1620-C760-3FE7-B1E37C069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5B6EE457-7916-C00A-787E-F56B2B740F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D44C2E3A-C21A-FBFC-0AFA-CA54B12364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C3E0B8F7-078E-8CA4-5455-E8A29C94DB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76C15EC0-7DB1-0C47-9345-260FB73332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D7CDC51-277D-1EE6-0A8E-6D7F57A62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B46CEA-5BC1-BB4B-9C2E-7F6A1969C1A2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BE4C08D8-7172-FDF7-46C9-43196A5FC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0FEB2F6-63F2-D261-8507-B70EEFF01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A09E-6A26-E81F-2CF1-6B298EB1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3F4DB6F9-2394-D0D7-B3F5-D33E7EDE3D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B46CEA-5BC1-BB4B-9C2E-7F6A1969C1A2}" type="slidenum">
              <a:rPr lang="en-US" altLang="zh-CN" sz="1200" smtClean="0"/>
              <a:pPr/>
              <a:t>20</a:t>
            </a:fld>
            <a:endParaRPr lang="en-US" altLang="zh-CN" sz="12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400CB0A-F317-A627-7F0F-0C2D477B1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9D5A642-D123-4825-8EA0-F2BD6D1DC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35176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疑问：为什么运行这么多次？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C15EC0-7DB1-0C47-9345-260FB73332D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399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E82D256-3C95-6B98-DE69-20BC0DD02556}"/>
              </a:ext>
            </a:extLst>
          </p:cNvPr>
          <p:cNvGrpSpPr>
            <a:grpSpLocks/>
          </p:cNvGrpSpPr>
          <p:nvPr/>
        </p:nvGrpSpPr>
        <p:grpSpPr bwMode="auto">
          <a:xfrm>
            <a:off x="-7758113" y="1463675"/>
            <a:ext cx="16902113" cy="10795000"/>
            <a:chOff x="-4887" y="922"/>
            <a:chExt cx="10647" cy="6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C35DC07-B5F7-4196-4AD5-24E4BAA5F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4" name="Arc 4">
              <a:extLst>
                <a:ext uri="{FF2B5EF4-FFF2-40B4-BE49-F238E27FC236}">
                  <a16:creationId xmlns:a16="http://schemas.microsoft.com/office/drawing/2014/main" id="{B54D3F9A-1EDD-A5B5-22F1-BDFD1A318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887" y="922"/>
              <a:ext cx="8474" cy="6800"/>
            </a:xfrm>
            <a:custGeom>
              <a:avLst/>
              <a:gdLst>
                <a:gd name="T0" fmla="*/ 13 w 43200"/>
                <a:gd name="T1" fmla="*/ 2 h 43200"/>
                <a:gd name="T2" fmla="*/ 7 w 43200"/>
                <a:gd name="T3" fmla="*/ 0 h 43200"/>
                <a:gd name="T4" fmla="*/ 6 w 43200"/>
                <a:gd name="T5" fmla="*/ 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731" y="0"/>
                    <a:pt x="23861" y="88"/>
                    <a:pt x="24979" y="265"/>
                  </a:cubicBezTo>
                </a:path>
                <a:path w="43200" h="43200" stroke="0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731" y="0"/>
                    <a:pt x="23861" y="88"/>
                    <a:pt x="24979" y="265"/>
                  </a:cubicBezTo>
                  <a:lnTo>
                    <a:pt x="21600" y="21600"/>
                  </a:lnTo>
                  <a:lnTo>
                    <a:pt x="43200" y="21600"/>
                  </a:lnTo>
                  <a:close/>
                </a:path>
              </a:pathLst>
            </a:custGeom>
            <a:noFill/>
            <a:ln w="12700" cap="sq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9000" y="2085975"/>
            <a:ext cx="5638800" cy="1038225"/>
          </a:xfrm>
        </p:spPr>
        <p:txBody>
          <a:bodyPr lIns="92075" rIns="92075"/>
          <a:lstStyle>
            <a:lvl1pPr marL="0" indent="0">
              <a:lnSpc>
                <a:spcPct val="70000"/>
              </a:lnSpc>
              <a:defRPr/>
            </a:lvl1pPr>
          </a:lstStyle>
          <a:p>
            <a:pPr lvl="0"/>
            <a:r>
              <a:rPr lang="zh-CN" altLang="en-US" noProof="0"/>
              <a:t>单击此处编辑母版样式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67AF4E-C113-822F-73CE-4CF06B853E9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809E99-7F6B-C04F-9F8B-39693506C740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4AAD1E2-AD96-B245-C6C1-B92B6400E6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295400" y="6365875"/>
            <a:ext cx="426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747D0B9-BE47-42C4-6A50-F282627AC7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2pPr lvl="1">
              <a:defRPr>
                <a:latin typeface="+mn-lt"/>
              </a:defRPr>
            </a:lvl2pPr>
          </a:lstStyle>
          <a:p>
            <a:pPr lvl="1">
              <a:defRPr/>
            </a:pPr>
            <a:fld id="{4E8C0CB5-D0F6-9E4A-A70A-28A8DF56CD60}" type="slidenum">
              <a:rPr lang="en-US" altLang="zh-CN"/>
              <a:pPr lvl="1"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76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3168A0C-B5E2-AEBD-1FFA-DD2EA0CF98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DD539-2A8A-D546-9B22-F389AB644E23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4AD0088-510E-42BC-3235-E9027F0BC6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D2EECA63-0950-BC26-9BD0-A6DC55D9C2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BC27EED1-37F4-254B-A888-BC9D4AF20D6B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17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31247D-5448-2153-7447-E231E2284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FE3F9-E438-DB49-B405-F2E4E138714B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4EA842F-5811-1FEA-E4B2-91BBA32F87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F79E47C-DB94-ECEF-400B-008616F31B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F1E1A1A-D625-C04A-9434-32033EF0464C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85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A8E0C7A-C486-6570-B010-9C233EDF6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E0882-5134-C342-8396-B41B9AE78F2A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D876566-6BB4-CACF-94EC-BCC9ABBD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7405509-CCE2-4985-8C1F-2024D903EF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39458EC5-3BD9-434A-BBDA-1FBD8BC48317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786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483CCEE-314C-B3A5-9E57-94168EDB41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A4C627-CD5B-624F-8DDE-3475C4FE6690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E9A288D-4AAB-2CD6-A86D-2D8C3DD93F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20EA006-1ED1-3738-C677-E08079476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7ADC1875-2F71-5143-B7AC-62944BA34298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009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653CB8D-5F38-DA71-A544-0AA9182B3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13A93-323A-CA48-8232-906D8A125644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8A53FDC-05C3-0112-4C80-DFCD64A3A3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40375D8-246B-2BD2-D3CB-09DCED37C9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3875F276-12AE-5046-9166-D19F09BA590F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29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252DB6F-7CA2-A1CE-6479-2E9A07675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F536C-0846-FE41-B07F-4972D842CAAE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9D2F6CC-9323-1C73-DE92-9C18A8A8A0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3115E25-128C-2D00-38A8-79DD81EEF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469C395E-D530-EF43-8157-6FEB8FDC7DE4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330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5E92978-C889-21B0-436F-83D2CD8963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A77C3-0BBE-B146-B095-E58B2E7FC05F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488CD37-925D-02F5-A1D3-83F412C6D8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117A99C4-1D83-7B61-8A27-46F2436F4C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2B6B7C11-0097-AB4E-9734-F8BEC13E161C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374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2E24232-1F14-725A-53C7-CCDC52847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5DBA0-39C0-0E4F-8991-9954C4947A5F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5F49D6-FC15-355F-57FF-3E03FA083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8460129-A55D-A710-525D-F2F224D3BF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8E18B82E-9F82-CB48-95A2-54D2593ADB3D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542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59258C-6FA9-F584-1C42-ED45089F41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2BE83-765A-7D4D-A135-A49C9A0FDC2B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4339F04-85FD-7453-421F-B24FB0574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862B860-E3D8-442B-A683-5345F51EE6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FD35E7D0-81B0-084A-9988-A7110EAE75A3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082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609600"/>
            <a:ext cx="20193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2626" y="609600"/>
            <a:ext cx="5908675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A9BBAAF-E470-F9E6-9E3C-7C560FED9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7A326-CA4C-9C49-98D6-BE9B93E3302A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7694FFE-E664-2E38-84F0-895AD6762E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D37167F-2928-A3F3-CC1A-620272584E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158B64BC-B9CC-2948-A4C3-CBA888EC1C20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2548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625" y="609600"/>
            <a:ext cx="8080375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51FE24C-E6CD-66BB-BF38-DDD5DF301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DB39F-F4B5-5B4D-B738-0218318637A5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4232301-01F6-86E6-7A4A-BA41B2878E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9D5060A-7DF7-492A-0372-9E43B16F25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7AB97D4E-5B8B-8141-834D-929F6130E8D2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484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5">
            <a:extLst>
              <a:ext uri="{FF2B5EF4-FFF2-40B4-BE49-F238E27FC236}">
                <a16:creationId xmlns:a16="http://schemas.microsoft.com/office/drawing/2014/main" id="{60BBD614-AEB3-41AC-EC15-5A73E00BD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228600"/>
            <a:ext cx="8080375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单击此处编辑母版样式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35D6DE61-6C6B-34E4-7D66-F2ABE18C6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2625" y="1484313"/>
            <a:ext cx="8080375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46038" rIns="182562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单击此处编辑幻灯片母版样式</a:t>
            </a:r>
          </a:p>
          <a:p>
            <a:pPr lvl="1"/>
            <a:r>
              <a:rPr lang="zh-CN" altLang="en-US"/>
              <a:t>第二层</a:t>
            </a:r>
          </a:p>
          <a:p>
            <a:pPr lvl="2"/>
            <a:r>
              <a:rPr lang="zh-CN" altLang="en-US"/>
              <a:t>第三层</a:t>
            </a:r>
          </a:p>
          <a:p>
            <a:pPr lvl="3"/>
            <a:r>
              <a:rPr lang="zh-CN" altLang="en-US"/>
              <a:t>第四层</a:t>
            </a:r>
          </a:p>
          <a:p>
            <a:pPr lvl="4"/>
            <a:r>
              <a:rPr lang="zh-CN" altLang="en-US"/>
              <a:t>第五层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A4B8960F-08F1-6A8F-3B3A-762112F837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15188" y="6442075"/>
            <a:ext cx="19050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9F38343C-E2AA-F340-90C8-21AAE60BF84C}" type="datetime1">
              <a:rPr lang="zh-CN" altLang="en-US"/>
              <a:pPr>
                <a:defRPr/>
              </a:pPr>
              <a:t>2025/3/20</a:t>
            </a:fld>
            <a:endParaRPr lang="en-US" altLang="zh-CN"/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C157E5FF-F906-6B2B-4EAC-78F8EFCB17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2625" y="6365875"/>
            <a:ext cx="4267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A307D24A-54ED-FE76-A353-E07559403C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0" rIns="92075" bIns="0" numCol="1" anchor="b" anchorCtr="0" compatLnSpc="1">
            <a:prstTxWarp prst="textNoShape">
              <a:avLst/>
            </a:prstTxWarp>
          </a:bodyPr>
          <a:lstStyle>
            <a:lvl2pPr lvl="1"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latin typeface="+mj-lt"/>
              </a:defRPr>
            </a:lvl2pPr>
          </a:lstStyle>
          <a:p>
            <a:pPr lvl="1">
              <a:defRPr/>
            </a:pPr>
            <a:fld id="{484C1E82-E59E-2645-85E1-313B40F67E3B}" type="slidenum">
              <a:rPr lang="en-US" altLang="zh-CN"/>
              <a:pPr lvl="1">
                <a:defRPr/>
              </a:pPr>
              <a:t>‹#›</a:t>
            </a:fld>
            <a:endParaRPr lang="en-US" altLang="zh-CN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audio" Target="../media/audio1.wav"/><Relationship Id="rId7" Type="http://schemas.openxmlformats.org/officeDocument/2006/relationships/slide" Target="slide3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hyperlink" Target="&#33945;&#29305;&#21345;&#32599;&#26041;&#27861;.ppt#-1,2,&#30446;  &#24405; 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hyperlink" Target="&#33945;&#29305;&#21345;&#32599;&#26041;&#27861;.ppt#-1,2,&#30446;  &#24405; 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4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&#33945;&#29305;&#21345;&#32599;&#26041;&#27861;.ppt#-1,2,&#30446;  &#24405; " TargetMode="External"/><Relationship Id="rId7" Type="http://schemas.openxmlformats.org/officeDocument/2006/relationships/image" Target="../media/image7.emf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hyperlink" Target="&#33945;&#29305;&#21345;&#32599;&#26041;&#27861;.ppt#-1,2,&#30446;  &#24405; " TargetMode="Externa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14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hyperlink" Target="&#33945;&#29305;&#21345;&#32599;&#26041;&#27861;.ppt#-1,2,&#30446;  &#24405; " TargetMode="External"/><Relationship Id="rId5" Type="http://schemas.openxmlformats.org/officeDocument/2006/relationships/slide" Target="slide3.xml"/><Relationship Id="rId4" Type="http://schemas.openxmlformats.org/officeDocument/2006/relationships/slide" Target="slide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6.e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0.emf"/><Relationship Id="rId10" Type="http://schemas.openxmlformats.org/officeDocument/2006/relationships/image" Target="../media/image22.e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0.emf"/><Relationship Id="rId7" Type="http://schemas.openxmlformats.org/officeDocument/2006/relationships/image" Target="../media/image25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hyperlink" Target="&#33945;&#29305;&#21345;&#32599;&#26041;&#27861;.ppt#-1,2,&#30446;  &#24405; " TargetMode="External"/><Relationship Id="rId10" Type="http://schemas.openxmlformats.org/officeDocument/2006/relationships/image" Target="../media/image28.png"/><Relationship Id="rId4" Type="http://schemas.openxmlformats.org/officeDocument/2006/relationships/slide" Target="slide14.xml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audio" Target="../media/audio1.wav"/><Relationship Id="rId7" Type="http://schemas.openxmlformats.org/officeDocument/2006/relationships/slide" Target="slide3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1.xml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hyperlink" Target="&#33945;&#29305;&#21345;&#32599;&#26041;&#27861;.ppt#-1,2,&#30446;  &#24405; 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7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slide" Target="slide39.xml"/><Relationship Id="rId4" Type="http://schemas.openxmlformats.org/officeDocument/2006/relationships/slide" Target="slide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8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1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customXml" Target="../ink/ink3.xml"/><Relationship Id="rId12" Type="http://schemas.openxmlformats.org/officeDocument/2006/relationships/image" Target="../media/image39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oleObject" Target="../embeddings/oleObject20.bin"/><Relationship Id="rId5" Type="http://schemas.openxmlformats.org/officeDocument/2006/relationships/customXml" Target="../ink/ink2.xml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customXml" Target="../ink/ink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5.emf"/><Relationship Id="rId7" Type="http://schemas.openxmlformats.org/officeDocument/2006/relationships/customXml" Target="../ink/ink5.xml"/><Relationship Id="rId12" Type="http://schemas.openxmlformats.org/officeDocument/2006/relationships/image" Target="../media/image63.png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11" Type="http://schemas.openxmlformats.org/officeDocument/2006/relationships/customXml" Target="../ink/ink7.xml"/><Relationship Id="rId5" Type="http://schemas.openxmlformats.org/officeDocument/2006/relationships/image" Target="../media/image56.e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24.bin"/><Relationship Id="rId9" Type="http://schemas.openxmlformats.org/officeDocument/2006/relationships/customXml" Target="../ink/ink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&#33945;&#29305;&#21345;&#32599;&#26041;&#27861;.ppt#-1,2,&#30446;  &#24405; " TargetMode="Externa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36628E2-CB37-FAD4-E0D7-8AA9106931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latin typeface="Times New Roman" panose="02020603050405020304" pitchFamily="18" charset="0"/>
              </a:rPr>
              <a:t>第一章  </a:t>
            </a:r>
            <a:r>
              <a:rPr lang="zh-CN" altLang="en-US" b="1">
                <a:latin typeface="Times New Roman" panose="02020603050405020304" pitchFamily="18" charset="0"/>
                <a:hlinkClick r:id="rId4" action="ppaction://hlinksldjump"/>
              </a:rPr>
              <a:t>蒙特卡罗方法概述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097FDD1-E4AC-8F38-7270-51E681C57A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>
                <a:hlinkClick r:id="rId5" action="ppaction://hlinksldjump"/>
              </a:rPr>
              <a:t>蒙特卡罗方法的基本思想</a:t>
            </a:r>
            <a:endParaRPr lang="zh-CN" altLang="en-US" sz="3200" b="1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>
                <a:hlinkClick r:id="rId6" action="ppaction://hlinksldjump"/>
              </a:rPr>
              <a:t>蒙特卡罗方法的收敛性，误差</a:t>
            </a:r>
            <a:endParaRPr lang="zh-CN" altLang="en-US" sz="3200" b="1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>
                <a:hlinkClick r:id="rId7" action="ppaction://hlinksldjump"/>
              </a:rPr>
              <a:t>蒙特卡罗方法的特点</a:t>
            </a:r>
            <a:endParaRPr lang="zh-CN" altLang="en-US" sz="3200" b="1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>
                <a:hlinkClick r:id="" action="ppaction://noaction"/>
              </a:rPr>
              <a:t>蒙特卡罗方法的主要应用范围</a:t>
            </a:r>
            <a:endParaRPr lang="zh-CN" altLang="en-US" sz="3200" b="1"/>
          </a:p>
          <a:p>
            <a:pPr marL="609600" indent="-609600" eaLnBrk="1" hangingPunct="1">
              <a:buSzTx/>
            </a:pPr>
            <a:endParaRPr lang="zh-CN" altLang="en-US" sz="3200" b="1"/>
          </a:p>
          <a:p>
            <a:pPr marL="609600" indent="-609600" eaLnBrk="1" hangingPunct="1">
              <a:buFont typeface="Wingdings" pitchFamily="2" charset="2"/>
              <a:buChar char="Ø"/>
            </a:pPr>
            <a:r>
              <a:rPr lang="zh-CN" altLang="en-US" sz="3200" b="1">
                <a:hlinkClick r:id="rId8" action="ppaction://hlinksldjump"/>
              </a:rPr>
              <a:t>作 业</a:t>
            </a:r>
            <a:endParaRPr lang="zh-CN" altLang="en-US" sz="3200" b="1"/>
          </a:p>
        </p:txBody>
      </p:sp>
      <p:sp>
        <p:nvSpPr>
          <p:cNvPr id="16387" name="AutoShape 6">
            <a:hlinkClick r:id="rId9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23923D48-6D46-E9BD-F307-A15344C7D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A8CD8B-2258-22D8-DE4D-C6CCBD7F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23BB0B74-5374-BC4A-A6EC-5E8B5B6D3E3F}" type="slidenum">
              <a:rPr lang="en-US" altLang="zh-CN"/>
              <a:pPr lvl="1">
                <a:defRPr/>
              </a:pPr>
              <a:t>1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E2E1CC3-5F48-928E-5612-48F7CDF12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Times New Roman" panose="02020603050405020304" pitchFamily="18" charset="0"/>
              </a:rPr>
              <a:t>第一章  蒙特卡罗方法概述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2F7C97CC-1324-CD9B-C7F0-A828C2679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3300"/>
                </a:solidFill>
              </a:rPr>
              <a:t>蒙特卡罗方法</a:t>
            </a:r>
            <a:r>
              <a:rPr lang="zh-CN" altLang="en-US"/>
              <a:t>又称</a:t>
            </a:r>
            <a:r>
              <a:rPr lang="zh-CN" altLang="en-US">
                <a:solidFill>
                  <a:srgbClr val="FF3300"/>
                </a:solidFill>
              </a:rPr>
              <a:t>随机抽样技巧</a:t>
            </a:r>
            <a:r>
              <a:rPr lang="zh-CN" altLang="en-US"/>
              <a:t>或</a:t>
            </a:r>
            <a:r>
              <a:rPr lang="zh-CN" altLang="en-US">
                <a:solidFill>
                  <a:srgbClr val="FF3300"/>
                </a:solidFill>
              </a:rPr>
              <a:t>统计试验方法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/>
              <a:t>半个多世纪以来，由于科学技术的发展和电子计算机的</a:t>
            </a:r>
            <a:r>
              <a:rPr lang="zh-CN" altLang="en-US">
                <a:solidFill>
                  <a:srgbClr val="000000"/>
                </a:solidFill>
              </a:rPr>
              <a:t>发明</a:t>
            </a:r>
            <a:r>
              <a:rPr lang="zh-CN" altLang="en-US"/>
              <a:t> ，这种方法作为一种独立的方法被提出来，并首先在核武器的试验与研制中得到了应用。</a:t>
            </a:r>
            <a:endParaRPr lang="en-US" altLang="zh-CN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/>
              <a:t>蒙特卡罗方法是一种计算方法，但与一般数值计算方法有很大区别。它是以</a:t>
            </a:r>
            <a:r>
              <a:rPr lang="zh-CN" altLang="en-US">
                <a:solidFill>
                  <a:srgbClr val="FF0000"/>
                </a:solidFill>
              </a:rPr>
              <a:t>概率统计理论为基础</a:t>
            </a:r>
            <a:r>
              <a:rPr lang="zh-CN" altLang="en-US"/>
              <a:t>的一种方法。</a:t>
            </a:r>
            <a:endParaRPr lang="en-US" altLang="zh-CN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/>
              <a:t>由于蒙特卡罗方法能够</a:t>
            </a:r>
            <a:r>
              <a:rPr lang="zh-CN" altLang="en-US" u="sng"/>
              <a:t>比较逼真地描述事物的特点及物理实验过程，解决一些数值方法难以解决的问题</a:t>
            </a:r>
            <a:r>
              <a:rPr lang="zh-CN" altLang="en-US"/>
              <a:t>，因而该方法的应用领域日趋广泛。主要</a:t>
            </a:r>
            <a:r>
              <a:rPr lang="zh-CN" altLang="en-US" i="1">
                <a:solidFill>
                  <a:srgbClr val="222222"/>
                </a:solidFill>
                <a:latin typeface="-apple-system"/>
              </a:rPr>
              <a:t>是指</a:t>
            </a:r>
            <a:r>
              <a:rPr lang="zh-CN" altLang="en-US" i="1" u="sng">
                <a:solidFill>
                  <a:srgbClr val="222222"/>
                </a:solidFill>
                <a:latin typeface="-apple-system"/>
              </a:rPr>
              <a:t>使用</a:t>
            </a:r>
            <a:r>
              <a:rPr lang="zh-CN" altLang="en-US" i="1" u="sng">
                <a:solidFill>
                  <a:srgbClr val="FF0000"/>
                </a:solidFill>
                <a:latin typeface="-apple-system"/>
              </a:rPr>
              <a:t>随机数</a:t>
            </a:r>
            <a:r>
              <a:rPr lang="zh-CN" altLang="en-US" i="1" u="sng">
                <a:solidFill>
                  <a:srgbClr val="222222"/>
                </a:solidFill>
                <a:latin typeface="-apple-system"/>
              </a:rPr>
              <a:t>来解决很多计算问题的方法</a:t>
            </a:r>
            <a:endParaRPr lang="zh-CN" altLang="en-US" u="sng"/>
          </a:p>
        </p:txBody>
      </p:sp>
      <p:sp>
        <p:nvSpPr>
          <p:cNvPr id="18435" name="AutoShape 12">
            <a:hlinkClick r:id="rId2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87458A21-59DE-BFB3-5D13-70ACD01A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18436" name="AutoShape 1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2F93EA8-0DF0-3899-9710-1FE5AE44D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EABDCE-67E3-6930-B002-11A09240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029034E1-065D-AF4C-BF46-F27262BF6247}" type="slidenum">
              <a:rPr lang="en-US" altLang="zh-CN"/>
              <a:pPr lvl="1">
                <a:defRPr/>
              </a:pPr>
              <a:t>2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AA8C24AD-D165-B76A-B5A8-104C59CD7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1484784"/>
            <a:ext cx="8080375" cy="1143000"/>
          </a:xfrm>
        </p:spPr>
        <p:txBody>
          <a:bodyPr/>
          <a:lstStyle/>
          <a:p>
            <a:pPr marL="838200" indent="-838200" eaLnBrk="1" hangingPunct="1">
              <a:buFontTx/>
              <a:buAutoNum type="arabicPeriod"/>
              <a:defRPr/>
            </a:pPr>
            <a:r>
              <a:rPr lang="zh-CN" altLang="en-US" b="1" dirty="0"/>
              <a:t>蒙特卡罗方法的基本思想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F503650-E304-A0F2-13B8-5EFE0FB95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730902"/>
            <a:ext cx="7936359" cy="3240831"/>
          </a:xfrm>
        </p:spPr>
        <p:txBody>
          <a:bodyPr/>
          <a:lstStyle/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r>
              <a:rPr lang="zh-CN" altLang="en-US" sz="2800" dirty="0"/>
              <a:t>两个例子及其基本思想</a:t>
            </a:r>
            <a:endParaRPr lang="en-US" altLang="zh-CN" sz="2800" dirty="0"/>
          </a:p>
          <a:p>
            <a:pPr marL="914400" lvl="1" indent="-514350" eaLnBrk="1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800" dirty="0">
                <a:hlinkClick r:id="rId3" action="ppaction://hlinksldjump"/>
              </a:rPr>
              <a:t>例</a:t>
            </a:r>
            <a:r>
              <a:rPr lang="en-US" altLang="zh-CN" sz="2800" dirty="0">
                <a:hlinkClick r:id="rId3" action="ppaction://hlinksldjump"/>
              </a:rPr>
              <a:t>1. </a:t>
            </a:r>
            <a:r>
              <a:rPr lang="zh-CN" altLang="en-US" sz="2800" dirty="0">
                <a:hlinkClick r:id="rId3" action="ppaction://hlinksldjump"/>
              </a:rPr>
              <a:t>蒲丰氏问题</a:t>
            </a:r>
            <a:endParaRPr lang="en-US" altLang="zh-CN" sz="2800" dirty="0"/>
          </a:p>
          <a:p>
            <a:pPr marL="914400" lvl="1" indent="-514350" eaLnBrk="1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800" dirty="0">
                <a:hlinkClick r:id="rId4" action="ppaction://hlinksldjump"/>
              </a:rPr>
              <a:t>例</a:t>
            </a:r>
            <a:r>
              <a:rPr lang="en-US" altLang="zh-CN" sz="2800" dirty="0">
                <a:hlinkClick r:id="rId4" action="ppaction://hlinksldjump"/>
              </a:rPr>
              <a:t>2. </a:t>
            </a:r>
            <a:r>
              <a:rPr lang="zh-CN" altLang="en-US" sz="2800" dirty="0">
                <a:hlinkClick r:id="rId4" action="ppaction://hlinksldjump"/>
              </a:rPr>
              <a:t>射击问题（打靶游戏）</a:t>
            </a:r>
            <a:endParaRPr lang="zh-CN" altLang="en-US" sz="2800" dirty="0"/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endParaRPr lang="en-US" altLang="zh-CN" sz="2800" dirty="0">
              <a:solidFill>
                <a:srgbClr val="000000"/>
              </a:solidFill>
              <a:hlinkClick r:id="rId5" action="ppaction://hlinksldjump"/>
            </a:endParaRPr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000000"/>
                </a:solidFill>
                <a:hlinkClick r:id="rId5" action="ppaction://hlinksldjump"/>
              </a:rPr>
              <a:t>计算机模拟试验过程</a:t>
            </a:r>
            <a:endParaRPr lang="zh-CN" altLang="en-US" sz="2800" dirty="0"/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endParaRPr lang="en-US" altLang="zh-CN" sz="2800" dirty="0"/>
          </a:p>
        </p:txBody>
      </p:sp>
      <p:sp>
        <p:nvSpPr>
          <p:cNvPr id="19459" name="AutoShape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A77B058-06CA-710F-FAC0-E42F2141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19460" name="AutoShape 15">
            <a:hlinkClick r:id="rId7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2B8A8C4C-0584-D801-C6AA-AE1A308A8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3D0D3A-D036-7F53-4694-6EC3D287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461B6BE4-A9EC-004F-A149-BE85EB84C227}" type="slidenum">
              <a:rPr lang="en-US" altLang="zh-CN"/>
              <a:pPr lvl="1">
                <a:defRPr/>
              </a:pPr>
              <a:t>3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0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2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5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85277C5-7D5F-730E-1AAD-B04658F3D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1. </a:t>
            </a:r>
            <a:r>
              <a:rPr lang="zh-CN" altLang="en-US" dirty="0"/>
              <a:t>蒲丰氏问题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E6C21991-0AB1-5A77-B052-C5BB1E629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1268413"/>
            <a:ext cx="8080375" cy="4848225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           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为了求得圆周率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π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值</a:t>
            </a:r>
            <a:r>
              <a:rPr lang="zh-CN" altLang="en-US" dirty="0"/>
              <a:t>，在十九世纪后期，有很多人作了这样的试验：将长为</a:t>
            </a:r>
            <a:r>
              <a:rPr lang="en-US" altLang="zh-CN" i="1" dirty="0"/>
              <a:t>2l</a:t>
            </a:r>
            <a:r>
              <a:rPr lang="zh-CN" altLang="en-US" dirty="0"/>
              <a:t>的一根针任意投到地面上，用针与一组相间距离为</a:t>
            </a:r>
            <a:r>
              <a:rPr lang="en-US" altLang="zh-CN" i="1" dirty="0"/>
              <a:t>2a</a:t>
            </a:r>
            <a:r>
              <a:rPr lang="zh-CN" altLang="en-US" dirty="0"/>
              <a:t>（</a:t>
            </a:r>
            <a:r>
              <a:rPr lang="zh-CN" altLang="en-US" i="1" dirty="0"/>
              <a:t> </a:t>
            </a:r>
            <a:r>
              <a:rPr lang="en-US" altLang="zh-CN" i="1" dirty="0"/>
              <a:t>l</a:t>
            </a:r>
            <a:r>
              <a:rPr lang="zh-CN" altLang="en-US" dirty="0"/>
              <a:t>＜</a:t>
            </a:r>
            <a:r>
              <a:rPr lang="en-US" altLang="zh-CN" i="1" dirty="0"/>
              <a:t>a</a:t>
            </a:r>
            <a:r>
              <a:rPr lang="zh-CN" altLang="en-US" dirty="0"/>
              <a:t>）的平行线相交的频率代替概率</a:t>
            </a:r>
            <a:r>
              <a:rPr lang="en-US" altLang="zh-CN" i="1" dirty="0"/>
              <a:t>P</a:t>
            </a:r>
            <a:r>
              <a:rPr lang="zh-CN" altLang="en-US" dirty="0"/>
              <a:t>，再利用准确的关系式：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求出</a:t>
            </a:r>
            <a:r>
              <a:rPr lang="en-US" altLang="zh-CN" dirty="0">
                <a:solidFill>
                  <a:srgbClr val="000000"/>
                </a:solidFill>
              </a:rPr>
              <a:t>π</a:t>
            </a:r>
            <a:r>
              <a:rPr lang="zh-CN" altLang="en-US" dirty="0">
                <a:solidFill>
                  <a:srgbClr val="000000"/>
                </a:solidFill>
              </a:rPr>
              <a:t>值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  其中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为投计次数，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为针与平行线相交次数。这就是古典概率论中著名的蒲丰氏问题。</a:t>
            </a:r>
            <a:endParaRPr lang="zh-CN" altLang="en-US" dirty="0"/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5D93F147-00D3-B453-2FCF-B9FAAFA00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233738"/>
            <a:ext cx="91440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0484" name="Rectangle 8">
            <a:extLst>
              <a:ext uri="{FF2B5EF4-FFF2-40B4-BE49-F238E27FC236}">
                <a16:creationId xmlns:a16="http://schemas.microsoft.com/office/drawing/2014/main" id="{78CEAFB1-867D-6E0A-C6F2-DFE814C3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350" y="3233738"/>
            <a:ext cx="91440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0485" name="Object 7">
            <a:extLst>
              <a:ext uri="{FF2B5EF4-FFF2-40B4-BE49-F238E27FC236}">
                <a16:creationId xmlns:a16="http://schemas.microsoft.com/office/drawing/2014/main" id="{D0177783-D035-F975-FDC0-DF160B46ED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3335338"/>
          <a:ext cx="9652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12500" imgH="9067800" progId="Equation.3">
                  <p:embed/>
                </p:oleObj>
              </mc:Choice>
              <mc:Fallback>
                <p:oleObj name="Equation" r:id="rId2" imgW="11112500" imgH="906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335338"/>
                        <a:ext cx="9652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Rectangle 12">
            <a:extLst>
              <a:ext uri="{FF2B5EF4-FFF2-40B4-BE49-F238E27FC236}">
                <a16:creationId xmlns:a16="http://schemas.microsoft.com/office/drawing/2014/main" id="{97F240CC-824B-739A-6C27-6749820C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4313" y="3233738"/>
            <a:ext cx="91440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0487" name="Object 11">
            <a:extLst>
              <a:ext uri="{FF2B5EF4-FFF2-40B4-BE49-F238E27FC236}">
                <a16:creationId xmlns:a16="http://schemas.microsoft.com/office/drawing/2014/main" id="{E85EF64C-A534-58C8-74A4-6DB6820C5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324350"/>
          <a:ext cx="218757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158700" imgH="9067800" progId="Equation.3">
                  <p:embed/>
                </p:oleObj>
              </mc:Choice>
              <mc:Fallback>
                <p:oleObj r:id="rId4" imgW="25158700" imgH="9067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324350"/>
                        <a:ext cx="218757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AutoShape 2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DBFDC1-4E95-D11F-28DC-14716D897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6291263"/>
            <a:ext cx="522288" cy="522287"/>
          </a:xfrm>
          <a:prstGeom prst="actionButtonForwardNex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0489" name="AutoShape 2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238E6B9-9327-7050-FE2A-140E51DD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291263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0490" name="AutoShape 23">
            <a:hlinkClick r:id="rId7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A8BC3356-FABE-BD45-5408-420733224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291263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60299D-F6F9-8B7D-C9C1-26B5F7A0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B74C413-C210-9C4B-BE7C-D6DC136F23E6}" type="slidenum">
              <a:rPr lang="en-US" altLang="zh-CN"/>
              <a:pPr lvl="1">
                <a:defRPr/>
              </a:pPr>
              <a:t>4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3">
            <a:extLst>
              <a:ext uri="{FF2B5EF4-FFF2-40B4-BE49-F238E27FC236}">
                <a16:creationId xmlns:a16="http://schemas.microsoft.com/office/drawing/2014/main" id="{08E9DF95-4192-E856-C228-B370A736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7772400" cy="5486400"/>
          </a:xfrm>
        </p:spPr>
        <p:txBody>
          <a:bodyPr/>
          <a:lstStyle/>
          <a:p>
            <a:pPr eaLnBrk="1" hangingPunct="1"/>
            <a:endParaRPr lang="en-US" altLang="zh-CN" sz="18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      </a:t>
            </a:r>
            <a:r>
              <a:rPr lang="zh-CN" altLang="en-US" sz="2800">
                <a:solidFill>
                  <a:srgbClr val="000000"/>
                </a:solidFill>
              </a:rPr>
              <a:t>一些人进行了实验，其结果列于下表</a:t>
            </a:r>
            <a:r>
              <a:rPr lang="zh-CN" altLang="en-US" sz="2800"/>
              <a:t> ：</a:t>
            </a:r>
            <a:endParaRPr lang="zh-CN" altLang="en-US" sz="1800"/>
          </a:p>
        </p:txBody>
      </p:sp>
      <p:grpSp>
        <p:nvGrpSpPr>
          <p:cNvPr id="21506" name="Group 226">
            <a:extLst>
              <a:ext uri="{FF2B5EF4-FFF2-40B4-BE49-F238E27FC236}">
                <a16:creationId xmlns:a16="http://schemas.microsoft.com/office/drawing/2014/main" id="{D2EE2355-BD8C-1CF6-38BB-267F8E6E51F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905000"/>
            <a:ext cx="7200900" cy="4038600"/>
            <a:chOff x="-3" y="-3"/>
            <a:chExt cx="3024" cy="1945"/>
          </a:xfrm>
        </p:grpSpPr>
        <p:grpSp>
          <p:nvGrpSpPr>
            <p:cNvPr id="21511" name="Group 224">
              <a:extLst>
                <a:ext uri="{FF2B5EF4-FFF2-40B4-BE49-F238E27FC236}">
                  <a16:creationId xmlns:a16="http://schemas.microsoft.com/office/drawing/2014/main" id="{4D024488-E6CC-E127-173D-8A7DDF8137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018" cy="1939"/>
              <a:chOff x="0" y="0"/>
              <a:chExt cx="3018" cy="1939"/>
            </a:xfrm>
          </p:grpSpPr>
          <p:grpSp>
            <p:nvGrpSpPr>
              <p:cNvPr id="21513" name="Group 185">
                <a:extLst>
                  <a:ext uri="{FF2B5EF4-FFF2-40B4-BE49-F238E27FC236}">
                    <a16:creationId xmlns:a16="http://schemas.microsoft.com/office/drawing/2014/main" id="{C5B0B794-37DA-488E-7449-18CD74EA24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000" cy="403"/>
                <a:chOff x="0" y="0"/>
                <a:chExt cx="1000" cy="403"/>
              </a:xfrm>
            </p:grpSpPr>
            <p:sp>
              <p:nvSpPr>
                <p:cNvPr id="21571" name="Rectangle 164">
                  <a:extLst>
                    <a:ext uri="{FF2B5EF4-FFF2-40B4-BE49-F238E27FC236}">
                      <a16:creationId xmlns:a16="http://schemas.microsoft.com/office/drawing/2014/main" id="{AEC6EE92-8D87-CB33-EB7F-BBA2C5ED88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914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实验者</a:t>
                  </a:r>
                  <a:endParaRPr lang="zh-CN" altLang="en-US"/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72" name="Rectangle 184">
                  <a:extLst>
                    <a:ext uri="{FF2B5EF4-FFF2-40B4-BE49-F238E27FC236}">
                      <a16:creationId xmlns:a16="http://schemas.microsoft.com/office/drawing/2014/main" id="{22BF5610-D99E-63E6-0A9A-1C623EFF1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0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4" name="Group 187">
                <a:extLst>
                  <a:ext uri="{FF2B5EF4-FFF2-40B4-BE49-F238E27FC236}">
                    <a16:creationId xmlns:a16="http://schemas.microsoft.com/office/drawing/2014/main" id="{5FF23651-B04B-257F-54F8-B68D6D83F2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" y="0"/>
                <a:ext cx="478" cy="403"/>
                <a:chOff x="1000" y="0"/>
                <a:chExt cx="478" cy="403"/>
              </a:xfrm>
            </p:grpSpPr>
            <p:sp>
              <p:nvSpPr>
                <p:cNvPr id="21569" name="Rectangle 165">
                  <a:extLst>
                    <a:ext uri="{FF2B5EF4-FFF2-40B4-BE49-F238E27FC236}">
                      <a16:creationId xmlns:a16="http://schemas.microsoft.com/office/drawing/2014/main" id="{AAFEA66B-3D5A-D1A5-0727-7B75525B4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" y="0"/>
                  <a:ext cx="392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年份</a:t>
                  </a:r>
                  <a:endParaRPr lang="zh-CN" altLang="en-US"/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70" name="Rectangle 186">
                  <a:extLst>
                    <a:ext uri="{FF2B5EF4-FFF2-40B4-BE49-F238E27FC236}">
                      <a16:creationId xmlns:a16="http://schemas.microsoft.com/office/drawing/2014/main" id="{D2ED41E2-CEFD-989D-4E02-CE3C5CF09C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0"/>
                  <a:ext cx="478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5" name="Group 189">
                <a:extLst>
                  <a:ext uri="{FF2B5EF4-FFF2-40B4-BE49-F238E27FC236}">
                    <a16:creationId xmlns:a16="http://schemas.microsoft.com/office/drawing/2014/main" id="{2DA9AF96-2CC4-4B51-81A9-996C3C4693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0"/>
                <a:ext cx="734" cy="403"/>
                <a:chOff x="1478" y="0"/>
                <a:chExt cx="734" cy="403"/>
              </a:xfrm>
            </p:grpSpPr>
            <p:sp>
              <p:nvSpPr>
                <p:cNvPr id="21567" name="Rectangle 166">
                  <a:extLst>
                    <a:ext uri="{FF2B5EF4-FFF2-40B4-BE49-F238E27FC236}">
                      <a16:creationId xmlns:a16="http://schemas.microsoft.com/office/drawing/2014/main" id="{5405EADE-4656-24A8-2541-F01215AFA0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0"/>
                  <a:ext cx="648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投计次数</a:t>
                  </a:r>
                  <a:endParaRPr lang="zh-CN" altLang="en-US"/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68" name="Rectangle 188">
                  <a:extLst>
                    <a:ext uri="{FF2B5EF4-FFF2-40B4-BE49-F238E27FC236}">
                      <a16:creationId xmlns:a16="http://schemas.microsoft.com/office/drawing/2014/main" id="{3565ECA4-D276-4622-CBF7-7066BDA54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0"/>
                  <a:ext cx="734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6" name="Group 191">
                <a:extLst>
                  <a:ext uri="{FF2B5EF4-FFF2-40B4-BE49-F238E27FC236}">
                    <a16:creationId xmlns:a16="http://schemas.microsoft.com/office/drawing/2014/main" id="{60F83049-7299-A148-1E97-D9DA9F1E0D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2" y="0"/>
                <a:ext cx="806" cy="403"/>
                <a:chOff x="2212" y="0"/>
                <a:chExt cx="806" cy="403"/>
              </a:xfrm>
            </p:grpSpPr>
            <p:sp>
              <p:nvSpPr>
                <p:cNvPr id="21565" name="Rectangle 167">
                  <a:extLst>
                    <a:ext uri="{FF2B5EF4-FFF2-40B4-BE49-F238E27FC236}">
                      <a16:creationId xmlns:a16="http://schemas.microsoft.com/office/drawing/2014/main" id="{3B5642A7-9A77-888C-C101-3D5C07842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0"/>
                  <a:ext cx="720" cy="4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π</a:t>
                  </a:r>
                  <a:r>
                    <a:rPr lang="zh-CN" altLang="en-US">
                      <a:solidFill>
                        <a:srgbClr val="000000"/>
                      </a:solidFill>
                    </a:rPr>
                    <a:t>的实验值</a:t>
                  </a:r>
                  <a:endParaRPr lang="zh-CN" altLang="en-US"/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66" name="Rectangle 190">
                  <a:extLst>
                    <a:ext uri="{FF2B5EF4-FFF2-40B4-BE49-F238E27FC236}">
                      <a16:creationId xmlns:a16="http://schemas.microsoft.com/office/drawing/2014/main" id="{54706127-B7B2-E75D-C376-70389E9D0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2" y="0"/>
                  <a:ext cx="806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7" name="Group 193">
                <a:extLst>
                  <a:ext uri="{FF2B5EF4-FFF2-40B4-BE49-F238E27FC236}">
                    <a16:creationId xmlns:a16="http://schemas.microsoft.com/office/drawing/2014/main" id="{98855A3B-B317-E119-A801-4A15E5D7C5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1000" cy="384"/>
                <a:chOff x="0" y="403"/>
                <a:chExt cx="1000" cy="384"/>
              </a:xfrm>
            </p:grpSpPr>
            <p:sp>
              <p:nvSpPr>
                <p:cNvPr id="21563" name="Rectangle 168">
                  <a:extLst>
                    <a:ext uri="{FF2B5EF4-FFF2-40B4-BE49-F238E27FC236}">
                      <a16:creationId xmlns:a16="http://schemas.microsoft.com/office/drawing/2014/main" id="{CA16186E-C8DA-D3D3-3199-567D5186E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03"/>
                  <a:ext cx="914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沃尔弗</a:t>
                  </a:r>
                  <a:r>
                    <a:rPr lang="en-US" altLang="zh-CN">
                      <a:solidFill>
                        <a:srgbClr val="000000"/>
                      </a:solidFill>
                    </a:rPr>
                    <a:t>(Wolf)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64" name="Rectangle 192">
                  <a:extLst>
                    <a:ext uri="{FF2B5EF4-FFF2-40B4-BE49-F238E27FC236}">
                      <a16:creationId xmlns:a16="http://schemas.microsoft.com/office/drawing/2014/main" id="{A154DB34-CCE0-30DA-2C8E-A5EAC2408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100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8" name="Group 195">
                <a:extLst>
                  <a:ext uri="{FF2B5EF4-FFF2-40B4-BE49-F238E27FC236}">
                    <a16:creationId xmlns:a16="http://schemas.microsoft.com/office/drawing/2014/main" id="{622CA69E-F89B-0D7F-C7F9-5408C9115C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" y="403"/>
                <a:ext cx="478" cy="384"/>
                <a:chOff x="1000" y="403"/>
                <a:chExt cx="478" cy="384"/>
              </a:xfrm>
            </p:grpSpPr>
            <p:sp>
              <p:nvSpPr>
                <p:cNvPr id="21561" name="Rectangle 169">
                  <a:extLst>
                    <a:ext uri="{FF2B5EF4-FFF2-40B4-BE49-F238E27FC236}">
                      <a16:creationId xmlns:a16="http://schemas.microsoft.com/office/drawing/2014/main" id="{52A30CA6-686B-4D65-3FE1-304337A79A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" y="403"/>
                  <a:ext cx="3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1850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62" name="Rectangle 194">
                  <a:extLst>
                    <a:ext uri="{FF2B5EF4-FFF2-40B4-BE49-F238E27FC236}">
                      <a16:creationId xmlns:a16="http://schemas.microsoft.com/office/drawing/2014/main" id="{A5A888B3-FAC6-58A3-90D9-517CFF0D5B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403"/>
                  <a:ext cx="4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19" name="Group 197">
                <a:extLst>
                  <a:ext uri="{FF2B5EF4-FFF2-40B4-BE49-F238E27FC236}">
                    <a16:creationId xmlns:a16="http://schemas.microsoft.com/office/drawing/2014/main" id="{FDEDAA28-CFE2-D1C8-2C74-1A8707D249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403"/>
                <a:ext cx="734" cy="384"/>
                <a:chOff x="1478" y="403"/>
                <a:chExt cx="734" cy="384"/>
              </a:xfrm>
            </p:grpSpPr>
            <p:sp>
              <p:nvSpPr>
                <p:cNvPr id="21559" name="Rectangle 170">
                  <a:extLst>
                    <a:ext uri="{FF2B5EF4-FFF2-40B4-BE49-F238E27FC236}">
                      <a16:creationId xmlns:a16="http://schemas.microsoft.com/office/drawing/2014/main" id="{19E73481-35DC-D174-0A27-369EBE126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403"/>
                  <a:ext cx="648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5000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60" name="Rectangle 196">
                  <a:extLst>
                    <a:ext uri="{FF2B5EF4-FFF2-40B4-BE49-F238E27FC236}">
                      <a16:creationId xmlns:a16="http://schemas.microsoft.com/office/drawing/2014/main" id="{9DC39E01-1860-6E7D-0DD1-C2FF55D5D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403"/>
                  <a:ext cx="73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0" name="Group 199">
                <a:extLst>
                  <a:ext uri="{FF2B5EF4-FFF2-40B4-BE49-F238E27FC236}">
                    <a16:creationId xmlns:a16="http://schemas.microsoft.com/office/drawing/2014/main" id="{78D3B575-0593-8921-31CF-0CC50F0BDA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2" y="403"/>
                <a:ext cx="806" cy="384"/>
                <a:chOff x="2212" y="403"/>
                <a:chExt cx="806" cy="384"/>
              </a:xfrm>
            </p:grpSpPr>
            <p:sp>
              <p:nvSpPr>
                <p:cNvPr id="21557" name="Rectangle 171">
                  <a:extLst>
                    <a:ext uri="{FF2B5EF4-FFF2-40B4-BE49-F238E27FC236}">
                      <a16:creationId xmlns:a16="http://schemas.microsoft.com/office/drawing/2014/main" id="{1981DC1B-E6BF-1EF2-9580-AAC82B5C0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403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3.1596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58" name="Rectangle 198">
                  <a:extLst>
                    <a:ext uri="{FF2B5EF4-FFF2-40B4-BE49-F238E27FC236}">
                      <a16:creationId xmlns:a16="http://schemas.microsoft.com/office/drawing/2014/main" id="{5D13C5F2-760D-D499-3E41-6DF9C5D93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2" y="403"/>
                  <a:ext cx="80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1" name="Group 201">
                <a:extLst>
                  <a:ext uri="{FF2B5EF4-FFF2-40B4-BE49-F238E27FC236}">
                    <a16:creationId xmlns:a16="http://schemas.microsoft.com/office/drawing/2014/main" id="{68BB1936-933F-29FE-3017-2364284119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87"/>
                <a:ext cx="1000" cy="384"/>
                <a:chOff x="0" y="787"/>
                <a:chExt cx="1000" cy="384"/>
              </a:xfrm>
            </p:grpSpPr>
            <p:sp>
              <p:nvSpPr>
                <p:cNvPr id="21555" name="Rectangle 172">
                  <a:extLst>
                    <a:ext uri="{FF2B5EF4-FFF2-40B4-BE49-F238E27FC236}">
                      <a16:creationId xmlns:a16="http://schemas.microsoft.com/office/drawing/2014/main" id="{A76F371F-A23C-6830-9366-8C1965FB8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787"/>
                  <a:ext cx="914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斯密思</a:t>
                  </a:r>
                  <a:r>
                    <a:rPr lang="en-US" altLang="zh-CN">
                      <a:solidFill>
                        <a:srgbClr val="000000"/>
                      </a:solidFill>
                    </a:rPr>
                    <a:t>(Smith)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56" name="Rectangle 200">
                  <a:extLst>
                    <a:ext uri="{FF2B5EF4-FFF2-40B4-BE49-F238E27FC236}">
                      <a16:creationId xmlns:a16="http://schemas.microsoft.com/office/drawing/2014/main" id="{DC69F029-EBDF-270C-3FF4-CF7E69D400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87"/>
                  <a:ext cx="100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2" name="Group 203">
                <a:extLst>
                  <a:ext uri="{FF2B5EF4-FFF2-40B4-BE49-F238E27FC236}">
                    <a16:creationId xmlns:a16="http://schemas.microsoft.com/office/drawing/2014/main" id="{A934F472-9D89-10FD-07E9-A9FE7EF2A9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" y="787"/>
                <a:ext cx="478" cy="384"/>
                <a:chOff x="1000" y="787"/>
                <a:chExt cx="478" cy="384"/>
              </a:xfrm>
            </p:grpSpPr>
            <p:sp>
              <p:nvSpPr>
                <p:cNvPr id="21553" name="Rectangle 173">
                  <a:extLst>
                    <a:ext uri="{FF2B5EF4-FFF2-40B4-BE49-F238E27FC236}">
                      <a16:creationId xmlns:a16="http://schemas.microsoft.com/office/drawing/2014/main" id="{978657D6-4577-DD17-A101-5F2FE535B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" y="787"/>
                  <a:ext cx="3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1855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54" name="Rectangle 202">
                  <a:extLst>
                    <a:ext uri="{FF2B5EF4-FFF2-40B4-BE49-F238E27FC236}">
                      <a16:creationId xmlns:a16="http://schemas.microsoft.com/office/drawing/2014/main" id="{F276647D-BF12-4577-41D0-34E14083BB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787"/>
                  <a:ext cx="4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3" name="Group 205">
                <a:extLst>
                  <a:ext uri="{FF2B5EF4-FFF2-40B4-BE49-F238E27FC236}">
                    <a16:creationId xmlns:a16="http://schemas.microsoft.com/office/drawing/2014/main" id="{CB4C449E-ECCB-6AC7-DC3E-6B7294D319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787"/>
                <a:ext cx="734" cy="384"/>
                <a:chOff x="1478" y="787"/>
                <a:chExt cx="734" cy="384"/>
              </a:xfrm>
            </p:grpSpPr>
            <p:sp>
              <p:nvSpPr>
                <p:cNvPr id="21551" name="Rectangle 174">
                  <a:extLst>
                    <a:ext uri="{FF2B5EF4-FFF2-40B4-BE49-F238E27FC236}">
                      <a16:creationId xmlns:a16="http://schemas.microsoft.com/office/drawing/2014/main" id="{199E566C-6B84-A055-7641-50BC8F1FC8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787"/>
                  <a:ext cx="648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3204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52" name="Rectangle 204">
                  <a:extLst>
                    <a:ext uri="{FF2B5EF4-FFF2-40B4-BE49-F238E27FC236}">
                      <a16:creationId xmlns:a16="http://schemas.microsoft.com/office/drawing/2014/main" id="{79A89800-74E4-185E-890A-7997F5CFF3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787"/>
                  <a:ext cx="73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4" name="Group 207">
                <a:extLst>
                  <a:ext uri="{FF2B5EF4-FFF2-40B4-BE49-F238E27FC236}">
                    <a16:creationId xmlns:a16="http://schemas.microsoft.com/office/drawing/2014/main" id="{C8121985-7A8C-2E34-CA0F-ABD53EE7CE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2" y="787"/>
                <a:ext cx="806" cy="384"/>
                <a:chOff x="2212" y="787"/>
                <a:chExt cx="806" cy="384"/>
              </a:xfrm>
            </p:grpSpPr>
            <p:sp>
              <p:nvSpPr>
                <p:cNvPr id="21549" name="Rectangle 175">
                  <a:extLst>
                    <a:ext uri="{FF2B5EF4-FFF2-40B4-BE49-F238E27FC236}">
                      <a16:creationId xmlns:a16="http://schemas.microsoft.com/office/drawing/2014/main" id="{1AC9BF65-A8BB-8634-E075-EB96CB90E5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787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3.1553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50" name="Rectangle 206">
                  <a:extLst>
                    <a:ext uri="{FF2B5EF4-FFF2-40B4-BE49-F238E27FC236}">
                      <a16:creationId xmlns:a16="http://schemas.microsoft.com/office/drawing/2014/main" id="{A97EBF46-89C5-E993-5F62-5393FD2781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2" y="787"/>
                  <a:ext cx="80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5" name="Group 209">
                <a:extLst>
                  <a:ext uri="{FF2B5EF4-FFF2-40B4-BE49-F238E27FC236}">
                    <a16:creationId xmlns:a16="http://schemas.microsoft.com/office/drawing/2014/main" id="{DC2213C0-6963-AF1A-8FEC-65EE8C85CE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71"/>
                <a:ext cx="1000" cy="384"/>
                <a:chOff x="0" y="1171"/>
                <a:chExt cx="1000" cy="384"/>
              </a:xfrm>
            </p:grpSpPr>
            <p:sp>
              <p:nvSpPr>
                <p:cNvPr id="21547" name="Rectangle 176">
                  <a:extLst>
                    <a:ext uri="{FF2B5EF4-FFF2-40B4-BE49-F238E27FC236}">
                      <a16:creationId xmlns:a16="http://schemas.microsoft.com/office/drawing/2014/main" id="{CB3B339E-34B4-9D09-FD86-B62D737BDB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171"/>
                  <a:ext cx="914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福克斯</a:t>
                  </a:r>
                  <a:r>
                    <a:rPr lang="en-US" altLang="zh-CN">
                      <a:solidFill>
                        <a:srgbClr val="000000"/>
                      </a:solidFill>
                    </a:rPr>
                    <a:t>(Fox)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48" name="Rectangle 208">
                  <a:extLst>
                    <a:ext uri="{FF2B5EF4-FFF2-40B4-BE49-F238E27FC236}">
                      <a16:creationId xmlns:a16="http://schemas.microsoft.com/office/drawing/2014/main" id="{903B3B11-0B54-ECDE-097D-A8C9D4BB0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71"/>
                  <a:ext cx="100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6" name="Group 211">
                <a:extLst>
                  <a:ext uri="{FF2B5EF4-FFF2-40B4-BE49-F238E27FC236}">
                    <a16:creationId xmlns:a16="http://schemas.microsoft.com/office/drawing/2014/main" id="{F2F0114A-87C7-CEA8-4168-94BCD512ED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" y="1171"/>
                <a:ext cx="478" cy="384"/>
                <a:chOff x="1000" y="1171"/>
                <a:chExt cx="478" cy="384"/>
              </a:xfrm>
            </p:grpSpPr>
            <p:sp>
              <p:nvSpPr>
                <p:cNvPr id="21545" name="Rectangle 177">
                  <a:extLst>
                    <a:ext uri="{FF2B5EF4-FFF2-40B4-BE49-F238E27FC236}">
                      <a16:creationId xmlns:a16="http://schemas.microsoft.com/office/drawing/2014/main" id="{D02A6CFF-E7B5-B054-19F1-A2D548B12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" y="1171"/>
                  <a:ext cx="3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1894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46" name="Rectangle 210">
                  <a:extLst>
                    <a:ext uri="{FF2B5EF4-FFF2-40B4-BE49-F238E27FC236}">
                      <a16:creationId xmlns:a16="http://schemas.microsoft.com/office/drawing/2014/main" id="{8AAE215A-25A8-84B8-AA2F-C35D56B64A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1171"/>
                  <a:ext cx="4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7" name="Group 213">
                <a:extLst>
                  <a:ext uri="{FF2B5EF4-FFF2-40B4-BE49-F238E27FC236}">
                    <a16:creationId xmlns:a16="http://schemas.microsoft.com/office/drawing/2014/main" id="{6CDBCDC6-7D3C-7AAC-DC0C-83647D6484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1171"/>
                <a:ext cx="734" cy="384"/>
                <a:chOff x="1478" y="1171"/>
                <a:chExt cx="734" cy="384"/>
              </a:xfrm>
            </p:grpSpPr>
            <p:sp>
              <p:nvSpPr>
                <p:cNvPr id="21543" name="Rectangle 178">
                  <a:extLst>
                    <a:ext uri="{FF2B5EF4-FFF2-40B4-BE49-F238E27FC236}">
                      <a16:creationId xmlns:a16="http://schemas.microsoft.com/office/drawing/2014/main" id="{EC8FECF5-DB33-03F2-8831-79921C1C0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1171"/>
                  <a:ext cx="648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1120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44" name="Rectangle 212">
                  <a:extLst>
                    <a:ext uri="{FF2B5EF4-FFF2-40B4-BE49-F238E27FC236}">
                      <a16:creationId xmlns:a16="http://schemas.microsoft.com/office/drawing/2014/main" id="{F043DEBE-BDE4-885D-6632-FFC982E069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171"/>
                  <a:ext cx="73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8" name="Group 215">
                <a:extLst>
                  <a:ext uri="{FF2B5EF4-FFF2-40B4-BE49-F238E27FC236}">
                    <a16:creationId xmlns:a16="http://schemas.microsoft.com/office/drawing/2014/main" id="{176D5E55-A3D6-0697-FE6C-F9B453DC3E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2" y="1171"/>
                <a:ext cx="806" cy="384"/>
                <a:chOff x="2212" y="1171"/>
                <a:chExt cx="806" cy="384"/>
              </a:xfrm>
            </p:grpSpPr>
            <p:sp>
              <p:nvSpPr>
                <p:cNvPr id="21541" name="Rectangle 179">
                  <a:extLst>
                    <a:ext uri="{FF2B5EF4-FFF2-40B4-BE49-F238E27FC236}">
                      <a16:creationId xmlns:a16="http://schemas.microsoft.com/office/drawing/2014/main" id="{6C5754D5-B143-43E2-8F94-A5D158335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171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3.1419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42" name="Rectangle 214">
                  <a:extLst>
                    <a:ext uri="{FF2B5EF4-FFF2-40B4-BE49-F238E27FC236}">
                      <a16:creationId xmlns:a16="http://schemas.microsoft.com/office/drawing/2014/main" id="{6DB8783F-272D-08E1-CC66-438A4D466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2" y="1171"/>
                  <a:ext cx="80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29" name="Group 217">
                <a:extLst>
                  <a:ext uri="{FF2B5EF4-FFF2-40B4-BE49-F238E27FC236}">
                    <a16:creationId xmlns:a16="http://schemas.microsoft.com/office/drawing/2014/main" id="{29E9C2E9-69DB-94CD-0286-0C42B174B8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5"/>
                <a:ext cx="1000" cy="384"/>
                <a:chOff x="0" y="1555"/>
                <a:chExt cx="1000" cy="384"/>
              </a:xfrm>
            </p:grpSpPr>
            <p:sp>
              <p:nvSpPr>
                <p:cNvPr id="21539" name="Rectangle 180">
                  <a:extLst>
                    <a:ext uri="{FF2B5EF4-FFF2-40B4-BE49-F238E27FC236}">
                      <a16:creationId xmlns:a16="http://schemas.microsoft.com/office/drawing/2014/main" id="{5F350A40-2EE5-2227-39FE-8C2692F5A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55"/>
                  <a:ext cx="914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>
                      <a:solidFill>
                        <a:srgbClr val="000000"/>
                      </a:solidFill>
                    </a:rPr>
                    <a:t>拉查里尼</a:t>
                  </a:r>
                  <a:r>
                    <a:rPr lang="en-US" altLang="zh-CN">
                      <a:solidFill>
                        <a:srgbClr val="000000"/>
                      </a:solidFill>
                    </a:rPr>
                    <a:t>(Lazzarini)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40" name="Rectangle 216">
                  <a:extLst>
                    <a:ext uri="{FF2B5EF4-FFF2-40B4-BE49-F238E27FC236}">
                      <a16:creationId xmlns:a16="http://schemas.microsoft.com/office/drawing/2014/main" id="{858E545D-0E26-BE94-C45B-F27EFBD3C4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5"/>
                  <a:ext cx="100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30" name="Group 219">
                <a:extLst>
                  <a:ext uri="{FF2B5EF4-FFF2-40B4-BE49-F238E27FC236}">
                    <a16:creationId xmlns:a16="http://schemas.microsoft.com/office/drawing/2014/main" id="{A4743B2D-8BBF-385D-85DB-1DE52C51C3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" y="1555"/>
                <a:ext cx="478" cy="384"/>
                <a:chOff x="1000" y="1555"/>
                <a:chExt cx="478" cy="384"/>
              </a:xfrm>
            </p:grpSpPr>
            <p:sp>
              <p:nvSpPr>
                <p:cNvPr id="21537" name="Rectangle 181">
                  <a:extLst>
                    <a:ext uri="{FF2B5EF4-FFF2-40B4-BE49-F238E27FC236}">
                      <a16:creationId xmlns:a16="http://schemas.microsoft.com/office/drawing/2014/main" id="{CACFE73C-8FE8-D7CD-31C4-D9A4EF9D0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3" y="1555"/>
                  <a:ext cx="39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1901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38" name="Rectangle 218">
                  <a:extLst>
                    <a:ext uri="{FF2B5EF4-FFF2-40B4-BE49-F238E27FC236}">
                      <a16:creationId xmlns:a16="http://schemas.microsoft.com/office/drawing/2014/main" id="{0BA3A47D-C623-ADC6-6851-87B12C85C9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0" y="1555"/>
                  <a:ext cx="47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31" name="Group 221">
                <a:extLst>
                  <a:ext uri="{FF2B5EF4-FFF2-40B4-BE49-F238E27FC236}">
                    <a16:creationId xmlns:a16="http://schemas.microsoft.com/office/drawing/2014/main" id="{B153D150-7FC6-74BF-5F95-93F350EE49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8" y="1555"/>
                <a:ext cx="734" cy="384"/>
                <a:chOff x="1478" y="1555"/>
                <a:chExt cx="734" cy="384"/>
              </a:xfrm>
            </p:grpSpPr>
            <p:sp>
              <p:nvSpPr>
                <p:cNvPr id="21535" name="Rectangle 182">
                  <a:extLst>
                    <a:ext uri="{FF2B5EF4-FFF2-40B4-BE49-F238E27FC236}">
                      <a16:creationId xmlns:a16="http://schemas.microsoft.com/office/drawing/2014/main" id="{C443D15C-E244-B7A3-B8EE-6268449B97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1" y="1555"/>
                  <a:ext cx="648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3408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36" name="Rectangle 220">
                  <a:extLst>
                    <a:ext uri="{FF2B5EF4-FFF2-40B4-BE49-F238E27FC236}">
                      <a16:creationId xmlns:a16="http://schemas.microsoft.com/office/drawing/2014/main" id="{88FE5B22-65A5-EFBF-5802-3AC65BE267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8" y="1555"/>
                  <a:ext cx="734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  <p:grpSp>
            <p:nvGrpSpPr>
              <p:cNvPr id="21532" name="Group 223">
                <a:extLst>
                  <a:ext uri="{FF2B5EF4-FFF2-40B4-BE49-F238E27FC236}">
                    <a16:creationId xmlns:a16="http://schemas.microsoft.com/office/drawing/2014/main" id="{C977F6AF-8096-A146-0407-1E01610FE4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2" y="1555"/>
                <a:ext cx="806" cy="384"/>
                <a:chOff x="2212" y="1555"/>
                <a:chExt cx="806" cy="384"/>
              </a:xfrm>
            </p:grpSpPr>
            <p:sp>
              <p:nvSpPr>
                <p:cNvPr id="21533" name="Rectangle 183">
                  <a:extLst>
                    <a:ext uri="{FF2B5EF4-FFF2-40B4-BE49-F238E27FC236}">
                      <a16:creationId xmlns:a16="http://schemas.microsoft.com/office/drawing/2014/main" id="{AC04421B-3031-6358-43F2-EDA30E839F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5" y="1555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rgbClr val="000000"/>
                      </a:solidFill>
                    </a:rPr>
                    <a:t>3.1415929</a:t>
                  </a:r>
                  <a:endParaRPr lang="en-US" altLang="zh-CN"/>
                </a:p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/>
                </a:p>
              </p:txBody>
            </p:sp>
            <p:sp>
              <p:nvSpPr>
                <p:cNvPr id="21534" name="Rectangle 222">
                  <a:extLst>
                    <a:ext uri="{FF2B5EF4-FFF2-40B4-BE49-F238E27FC236}">
                      <a16:creationId xmlns:a16="http://schemas.microsoft.com/office/drawing/2014/main" id="{28A8ECE2-6529-D876-7CE3-D12C584FF3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2" y="1555"/>
                  <a:ext cx="80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CCFF"/>
                    </a:buClr>
                    <a:buSzPct val="65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120000"/>
                    </a:lnSpc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12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90000"/>
                    </a:lnSpc>
                  </a:pPr>
                  <a:endParaRPr lang="zh-CN" altLang="en-US"/>
                </a:p>
              </p:txBody>
            </p:sp>
          </p:grpSp>
        </p:grpSp>
        <p:sp>
          <p:nvSpPr>
            <p:cNvPr id="21512" name="Rectangle 225">
              <a:extLst>
                <a:ext uri="{FF2B5EF4-FFF2-40B4-BE49-F238E27FC236}">
                  <a16:creationId xmlns:a16="http://schemas.microsoft.com/office/drawing/2014/main" id="{9FC9A11E-B93D-2B77-4BCE-5F658CF2E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024" cy="1945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rgbClr val="00CCFF"/>
                </a:buClr>
                <a:buSzPct val="65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endParaRPr lang="zh-CN" altLang="en-US"/>
            </a:p>
          </p:txBody>
        </p:sp>
      </p:grpSp>
      <p:sp>
        <p:nvSpPr>
          <p:cNvPr id="21507" name="AutoShape 22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4092D09-4C03-5701-5023-2721EBE0B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6116638"/>
            <a:ext cx="522288" cy="522287"/>
          </a:xfrm>
          <a:prstGeom prst="actionButtonBackPrevious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1508" name="AutoShape 2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5E48B71-17F3-0903-407F-109C8A4DD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1509" name="AutoShape 232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05616FDA-941C-85DC-069F-DBD96593B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9E1D24-8C5F-6013-7A40-F8743574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E631BB04-0946-2E4D-A5B6-ADFDCBE2DB15}" type="slidenum">
              <a:rPr lang="en-US" altLang="zh-CN"/>
              <a:pPr lvl="1">
                <a:defRPr/>
              </a:pPr>
              <a:t>5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72F41-BCC1-2AAD-2064-D27662E3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l-GR" altLang="zh-CN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π</a:t>
            </a:r>
            <a:r>
              <a:rPr lang="zh-CN" altLang="en-US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计算的另一个方法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1EBE54-9910-141D-C38E-1E2A3B8204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2625" y="1484313"/>
            <a:ext cx="8080375" cy="1944687"/>
          </a:xfrm>
        </p:spPr>
        <p:txBody>
          <a:bodyPr/>
          <a:lstStyle/>
          <a:p>
            <a:pPr>
              <a:buFont typeface="Wingdings" pitchFamily="2" charset="2"/>
              <a:buChar char="l"/>
            </a:pPr>
            <a:r>
              <a:rPr lang="zh-CN" altLang="en-US">
                <a:solidFill>
                  <a:srgbClr val="111111"/>
                </a:solidFill>
                <a:latin typeface="Georgia" panose="02040502050405020303" pitchFamily="18" charset="0"/>
              </a:rPr>
              <a:t>正方形内部有一个相切的圆</a:t>
            </a:r>
            <a:endParaRPr lang="en-US" altLang="zh-CN">
              <a:solidFill>
                <a:srgbClr val="111111"/>
              </a:solidFill>
              <a:latin typeface="Georgia" panose="02040502050405020303" pitchFamily="18" charset="0"/>
            </a:endParaRPr>
          </a:p>
          <a:p>
            <a:pPr>
              <a:buFont typeface="Wingdings" pitchFamily="2" charset="2"/>
              <a:buChar char="l"/>
            </a:pPr>
            <a:r>
              <a:rPr lang="zh-CN" altLang="en-US">
                <a:solidFill>
                  <a:srgbClr val="111111"/>
                </a:solidFill>
                <a:latin typeface="Georgia" panose="02040502050405020303" pitchFamily="18" charset="0"/>
              </a:rPr>
              <a:t>现在，在这个正方形内部，随机产生</a:t>
            </a:r>
            <a:r>
              <a:rPr lang="en-US" altLang="zh-CN">
                <a:solidFill>
                  <a:srgbClr val="111111"/>
                </a:solidFill>
                <a:latin typeface="Georgia" panose="02040502050405020303" pitchFamily="18" charset="0"/>
              </a:rPr>
              <a:t>10000</a:t>
            </a:r>
            <a:r>
              <a:rPr lang="zh-CN" altLang="en-US">
                <a:solidFill>
                  <a:srgbClr val="111111"/>
                </a:solidFill>
                <a:latin typeface="Georgia" panose="02040502050405020303" pitchFamily="18" charset="0"/>
              </a:rPr>
              <a:t>个点（即</a:t>
            </a:r>
            <a:r>
              <a:rPr lang="en-US" altLang="zh-CN">
                <a:solidFill>
                  <a:srgbClr val="111111"/>
                </a:solidFill>
                <a:latin typeface="Georgia" panose="02040502050405020303" pitchFamily="18" charset="0"/>
              </a:rPr>
              <a:t>10000</a:t>
            </a:r>
            <a:r>
              <a:rPr lang="zh-CN" altLang="en-US">
                <a:solidFill>
                  <a:srgbClr val="111111"/>
                </a:solidFill>
                <a:latin typeface="Georgia" panose="02040502050405020303" pitchFamily="18" charset="0"/>
              </a:rPr>
              <a:t>个坐标对 </a:t>
            </a:r>
            <a:r>
              <a:rPr lang="en-US" altLang="zh-CN">
                <a:solidFill>
                  <a:srgbClr val="111111"/>
                </a:solidFill>
                <a:latin typeface="Georgia" panose="02040502050405020303" pitchFamily="18" charset="0"/>
              </a:rPr>
              <a:t>(x, y)</a:t>
            </a:r>
            <a:r>
              <a:rPr lang="zh-CN" altLang="en-US">
                <a:solidFill>
                  <a:srgbClr val="111111"/>
                </a:solidFill>
                <a:latin typeface="Georgia" panose="02040502050405020303" pitchFamily="18" charset="0"/>
              </a:rPr>
              <a:t>），计算它们与中心点的距离，从而判断是否落在圆的内部。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0BB997-EB5F-1674-3590-4F10EEFD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737E87C6-361A-7D41-997B-4DCB3F903C83}" type="slidenum">
              <a:rPr lang="en-US" altLang="zh-CN" smtClean="0"/>
              <a:pPr lvl="1">
                <a:defRPr/>
              </a:pPr>
              <a:t>6</a:t>
            </a:fld>
            <a:endParaRPr lang="en-US" altLang="zh-CN">
              <a:latin typeface="+mn-lt"/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C9530D47-C6B8-EA23-3D83-112A20411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573588"/>
            <a:ext cx="25590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Picture 4">
            <a:extLst>
              <a:ext uri="{FF2B5EF4-FFF2-40B4-BE49-F238E27FC236}">
                <a16:creationId xmlns:a16="http://schemas.microsoft.com/office/drawing/2014/main" id="{4951A1C4-12AF-64DE-2B3C-BA28C02D1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3429000"/>
            <a:ext cx="36496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6">
            <a:extLst>
              <a:ext uri="{FF2B5EF4-FFF2-40B4-BE49-F238E27FC236}">
                <a16:creationId xmlns:a16="http://schemas.microsoft.com/office/drawing/2014/main" id="{6AC4B915-198F-1914-01BC-8C8511491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550" y="4573588"/>
            <a:ext cx="1905000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167D80F-61D9-E0C8-6BFD-E5CBA8BF5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160963"/>
            <a:ext cx="2865438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>
                <a:solidFill>
                  <a:srgbClr val="111111"/>
                </a:solidFill>
                <a:latin typeface="Georgia" panose="02040502050405020303" pitchFamily="18" charset="0"/>
              </a:rPr>
              <a:t>随机模拟</a:t>
            </a:r>
            <a:r>
              <a:rPr lang="en-US" altLang="zh-CN" sz="2000">
                <a:solidFill>
                  <a:srgbClr val="111111"/>
                </a:solidFill>
                <a:latin typeface="Georgia" panose="02040502050405020303" pitchFamily="18" charset="0"/>
              </a:rPr>
              <a:t>30000</a:t>
            </a:r>
            <a:r>
              <a:rPr lang="zh-CN" altLang="en-US" sz="2000">
                <a:solidFill>
                  <a:srgbClr val="111111"/>
                </a:solidFill>
                <a:latin typeface="Georgia" panose="02040502050405020303" pitchFamily="18" charset="0"/>
              </a:rPr>
              <a:t>个点，</a:t>
            </a:r>
            <a:r>
              <a:rPr lang="el-GR" altLang="zh-CN" sz="2000">
                <a:solidFill>
                  <a:srgbClr val="111111"/>
                </a:solidFill>
                <a:latin typeface="Georgia" panose="02040502050405020303" pitchFamily="18" charset="0"/>
              </a:rPr>
              <a:t>π</a:t>
            </a:r>
            <a:r>
              <a:rPr lang="zh-CN" altLang="en-US" sz="2000">
                <a:solidFill>
                  <a:srgbClr val="111111"/>
                </a:solidFill>
                <a:latin typeface="Georgia" panose="02040502050405020303" pitchFamily="18" charset="0"/>
              </a:rPr>
              <a:t>的估算值与真实值相差</a:t>
            </a:r>
            <a:r>
              <a:rPr lang="en-US" altLang="zh-CN" sz="2000">
                <a:solidFill>
                  <a:srgbClr val="111111"/>
                </a:solidFill>
                <a:latin typeface="Georgia" panose="02040502050405020303" pitchFamily="18" charset="0"/>
              </a:rPr>
              <a:t>0.07%</a:t>
            </a:r>
            <a:r>
              <a:rPr lang="zh-CN" altLang="en-US" sz="2000">
                <a:solidFill>
                  <a:srgbClr val="111111"/>
                </a:solidFill>
                <a:latin typeface="Georgia" panose="02040502050405020303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37B8A33-4308-8524-F439-E1CBB6432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</a:rPr>
              <a:t>2.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射击问题（打靶游戏）</a:t>
            </a:r>
            <a:r>
              <a:rPr lang="zh-CN" altLang="en-US" sz="2800"/>
              <a:t> 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D647969B-D8A6-4DA2-90E7-1BA521641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1484313"/>
            <a:ext cx="8080375" cy="4211637"/>
          </a:xfrm>
        </p:spPr>
        <p:txBody>
          <a:bodyPr/>
          <a:lstStyle/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表示射击运动员的弹着点到靶心的距离（</a:t>
            </a:r>
            <a:r>
              <a:rPr lang="en-US" altLang="zh-CN" dirty="0">
                <a:solidFill>
                  <a:srgbClr val="000000"/>
                </a:solidFill>
              </a:rPr>
              <a:t>X=r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i="1" dirty="0">
                <a:solidFill>
                  <a:srgbClr val="000000"/>
                </a:solidFill>
              </a:rPr>
              <a:t>ｇ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表示击中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处相应的得分数（环数）</a:t>
            </a:r>
            <a:r>
              <a:rPr lang="en-US" altLang="zh-CN" dirty="0">
                <a:solidFill>
                  <a:srgbClr val="000000"/>
                </a:solidFill>
              </a:rPr>
              <a:t>(Y=g(r))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为该运动员的弹着点的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分布密度函数</a:t>
            </a:r>
            <a:r>
              <a:rPr lang="zh-CN" altLang="en-US" dirty="0">
                <a:solidFill>
                  <a:srgbClr val="000000"/>
                </a:solidFill>
              </a:rPr>
              <a:t>，它</a:t>
            </a:r>
            <a:r>
              <a:rPr lang="zh-CN" altLang="en-US" u="sng" dirty="0">
                <a:solidFill>
                  <a:schemeClr val="accent1">
                    <a:lumMod val="75000"/>
                  </a:schemeClr>
                </a:solidFill>
              </a:rPr>
              <a:t>反映运动员的射击水平</a:t>
            </a:r>
            <a:endParaRPr lang="en-US" altLang="zh-CN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该运动员的射击成绩为</a:t>
            </a:r>
            <a:r>
              <a:rPr lang="zh-CN" altLang="en-US" dirty="0"/>
              <a:t> </a:t>
            </a:r>
          </a:p>
          <a:p>
            <a:pPr eaLnBrk="1" hangingPunct="1">
              <a:buFont typeface="Wingdings" pitchFamily="2" charset="2"/>
              <a:buChar char="l"/>
              <a:defRPr/>
            </a:pPr>
            <a:endParaRPr lang="zh-CN" altLang="en-US" dirty="0"/>
          </a:p>
          <a:p>
            <a:pPr eaLnBrk="1" hangingPunct="1">
              <a:buFont typeface="Wingdings" pitchFamily="2" charset="2"/>
              <a:buChar char="l"/>
              <a:defRPr/>
            </a:pPr>
            <a:endParaRPr lang="zh-CN" altLang="en-US" dirty="0"/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  用概率语言来说，</a:t>
            </a:r>
            <a:r>
              <a:rPr lang="en-US" altLang="zh-CN" dirty="0">
                <a:solidFill>
                  <a:srgbClr val="000000"/>
                </a:solidFill>
              </a:rPr>
              <a:t>&lt;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&gt;</a:t>
            </a:r>
            <a:r>
              <a:rPr lang="zh-CN" altLang="en-US" dirty="0">
                <a:solidFill>
                  <a:srgbClr val="000000"/>
                </a:solidFill>
              </a:rPr>
              <a:t>是随机变量</a:t>
            </a:r>
            <a:r>
              <a:rPr lang="zh-CN" altLang="en-US" i="1" dirty="0">
                <a:solidFill>
                  <a:srgbClr val="000000"/>
                </a:solidFill>
              </a:rPr>
              <a:t>ｇ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的数学期望，即</a:t>
            </a:r>
            <a:endParaRPr lang="zh-CN" altLang="en-US" dirty="0"/>
          </a:p>
        </p:txBody>
      </p:sp>
      <p:sp>
        <p:nvSpPr>
          <p:cNvPr id="23555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466D46E-88D9-435C-EE10-12236BA22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6116638"/>
            <a:ext cx="522288" cy="522287"/>
          </a:xfrm>
          <a:prstGeom prst="actionButtonForwardNex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3556" name="AutoShape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DCE3AF5-E524-132A-1960-B2C35E027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3557" name="AutoShape 13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73C4C2F8-50F0-7A51-1EEA-93C8A8D62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pSp>
        <p:nvGrpSpPr>
          <p:cNvPr id="22534" name="Group 14">
            <a:extLst>
              <a:ext uri="{FF2B5EF4-FFF2-40B4-BE49-F238E27FC236}">
                <a16:creationId xmlns:a16="http://schemas.microsoft.com/office/drawing/2014/main" id="{8F774C72-6254-8391-2378-6B15025EBCF2}"/>
              </a:ext>
            </a:extLst>
          </p:cNvPr>
          <p:cNvGrpSpPr>
            <a:grpSpLocks/>
          </p:cNvGrpSpPr>
          <p:nvPr/>
        </p:nvGrpSpPr>
        <p:grpSpPr bwMode="auto">
          <a:xfrm>
            <a:off x="1933575" y="4076700"/>
            <a:ext cx="2741613" cy="2057400"/>
            <a:chOff x="1813" y="2153"/>
            <a:chExt cx="1727" cy="1296"/>
          </a:xfrm>
        </p:grpSpPr>
        <p:graphicFrame>
          <p:nvGraphicFramePr>
            <p:cNvPr id="23563" name="Object 6">
              <a:extLst>
                <a:ext uri="{FF2B5EF4-FFF2-40B4-BE49-F238E27FC236}">
                  <a16:creationId xmlns:a16="http://schemas.microsoft.com/office/drawing/2014/main" id="{084A6DCE-22E9-A734-9EF3-B05F9B23B4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3" y="3173"/>
            <a:ext cx="1211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2237700" imgH="4978400" progId="Equation.3">
                    <p:embed/>
                  </p:oleObj>
                </mc:Choice>
                <mc:Fallback>
                  <p:oleObj r:id="rId4" imgW="22237700" imgH="4978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3" y="3173"/>
                          <a:ext cx="1211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4">
              <a:extLst>
                <a:ext uri="{FF2B5EF4-FFF2-40B4-BE49-F238E27FC236}">
                  <a16:creationId xmlns:a16="http://schemas.microsoft.com/office/drawing/2014/main" id="{61EFD760-3B4F-E6E0-F638-A01892BBBF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3" y="2153"/>
            <a:ext cx="1727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1597600" imgH="7607300" progId="Equation.3">
                    <p:embed/>
                  </p:oleObj>
                </mc:Choice>
                <mc:Fallback>
                  <p:oleObj r:id="rId6" imgW="31597600" imgH="7607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3" y="2153"/>
                          <a:ext cx="1727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27C133-A8AB-9F45-B65E-9EA6BA28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90A2C899-5DA9-F740-B358-E3DE0591745E}" type="slidenum">
              <a:rPr lang="en-US" altLang="zh-CN"/>
              <a:pPr lvl="1">
                <a:defRPr/>
              </a:pPr>
              <a:t>7</a:t>
            </a:fld>
            <a:endParaRPr lang="en-US" altLang="zh-CN">
              <a:latin typeface="+mn-lt"/>
            </a:endParaRPr>
          </a:p>
        </p:txBody>
      </p:sp>
      <p:pic>
        <p:nvPicPr>
          <p:cNvPr id="22539" name="Picture 11" descr="Image result for 射击打靶">
            <a:extLst>
              <a:ext uri="{FF2B5EF4-FFF2-40B4-BE49-F238E27FC236}">
                <a16:creationId xmlns:a16="http://schemas.microsoft.com/office/drawing/2014/main" id="{AA70A70C-1AA4-6A93-F0C5-2352B4A5D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0" t="4688" r="13776" b="37399"/>
          <a:stretch>
            <a:fillRect/>
          </a:stretch>
        </p:blipFill>
        <p:spPr bwMode="auto">
          <a:xfrm>
            <a:off x="4838700" y="3157538"/>
            <a:ext cx="1885950" cy="154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13" descr="在这里插入图片描述">
            <a:extLst>
              <a:ext uri="{FF2B5EF4-FFF2-40B4-BE49-F238E27FC236}">
                <a16:creationId xmlns:a16="http://schemas.microsoft.com/office/drawing/2014/main" id="{0412CE17-30D7-F727-0704-639C4951D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r="52362"/>
          <a:stretch>
            <a:fillRect/>
          </a:stretch>
        </p:blipFill>
        <p:spPr bwMode="auto">
          <a:xfrm>
            <a:off x="6867525" y="3001963"/>
            <a:ext cx="2236788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34DC86-68D6-5075-A7AA-AB1E88E39114}"/>
              </a:ext>
            </a:extLst>
          </p:cNvPr>
          <p:cNvSpPr txBox="1"/>
          <p:nvPr/>
        </p:nvSpPr>
        <p:spPr>
          <a:xfrm>
            <a:off x="4189413" y="5732463"/>
            <a:ext cx="2262187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chemeClr val="accent1">
                    <a:lumMod val="75000"/>
                  </a:schemeClr>
                </a:solidFill>
              </a:rPr>
              <a:t>运动员的最理想成绩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uiExpand="1" build="p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>
            <a:extLst>
              <a:ext uri="{FF2B5EF4-FFF2-40B4-BE49-F238E27FC236}">
                <a16:creationId xmlns:a16="http://schemas.microsoft.com/office/drawing/2014/main" id="{69BA7E12-AD97-8070-92BC-EBC51EE9C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7772400" cy="5486400"/>
          </a:xfrm>
        </p:spPr>
        <p:txBody>
          <a:bodyPr/>
          <a:lstStyle/>
          <a:p>
            <a:pPr algn="just" eaLnBrk="1" hangingPunct="1">
              <a:defRPr/>
            </a:pPr>
            <a:endParaRPr lang="en-US" altLang="zh-CN" sz="1800" dirty="0">
              <a:solidFill>
                <a:srgbClr val="000000"/>
              </a:solidFill>
            </a:endParaRPr>
          </a:p>
          <a:p>
            <a:pPr algn="just"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 </a:t>
            </a:r>
            <a:r>
              <a:rPr lang="zh-CN" altLang="en-US" dirty="0">
                <a:solidFill>
                  <a:srgbClr val="000000"/>
                </a:solidFill>
              </a:rPr>
              <a:t>实际情况中：现假设该运动员进行了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次射击，每次射击的弹着点依次为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次得分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算术平均值</a:t>
            </a:r>
          </a:p>
          <a:p>
            <a:pPr algn="just" eaLnBrk="1" hangingPunct="1"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algn="just" eaLnBrk="1" hangingPunct="1"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algn="just" eaLnBrk="1" hangingPunct="1">
              <a:defRPr/>
            </a:pPr>
            <a:endParaRPr lang="zh-CN" altLang="en-US" dirty="0"/>
          </a:p>
          <a:p>
            <a:pPr algn="just" eaLnBrk="1" hangingPunct="1"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代表了该运动员的成绩</a:t>
            </a:r>
            <a:r>
              <a:rPr lang="zh-CN" altLang="en-US" dirty="0">
                <a:solidFill>
                  <a:srgbClr val="000000"/>
                </a:solidFill>
              </a:rPr>
              <a:t>。即</a:t>
            </a:r>
            <a:r>
              <a:rPr lang="en-US" altLang="zh-CN" dirty="0" err="1">
                <a:solidFill>
                  <a:srgbClr val="000000"/>
                </a:solidFill>
              </a:rPr>
              <a:t>g</a:t>
            </a:r>
            <a:r>
              <a:rPr lang="en-US" altLang="zh-CN" baseline="-25000" dirty="0" err="1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为积分</a:t>
            </a:r>
            <a:r>
              <a:rPr lang="en-US" altLang="zh-CN" dirty="0">
                <a:solidFill>
                  <a:srgbClr val="000000"/>
                </a:solidFill>
              </a:rPr>
              <a:t>&lt;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&gt;</a:t>
            </a:r>
            <a:r>
              <a:rPr lang="zh-CN" altLang="en-US" dirty="0">
                <a:solidFill>
                  <a:srgbClr val="000000"/>
                </a:solidFill>
              </a:rPr>
              <a:t>的估计值，或近似值。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     在该例中，用</a:t>
            </a:r>
            <a:r>
              <a:rPr lang="zh-CN" altLang="en-US" i="1" dirty="0">
                <a:solidFill>
                  <a:schemeClr val="accent1">
                    <a:lumMod val="75000"/>
                  </a:schemeClr>
                </a:solidFill>
              </a:rPr>
              <a:t>Ｎ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次试验所得成绩的算术平均值作为数学期望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的估计值（积分近似值）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r>
              <a:rPr lang="zh-CN" altLang="en-US" dirty="0"/>
              <a:t> </a:t>
            </a:r>
          </a:p>
        </p:txBody>
      </p:sp>
      <p:graphicFrame>
        <p:nvGraphicFramePr>
          <p:cNvPr id="23554" name="Object 4">
            <a:extLst>
              <a:ext uri="{FF2B5EF4-FFF2-40B4-BE49-F238E27FC236}">
                <a16:creationId xmlns:a16="http://schemas.microsoft.com/office/drawing/2014/main" id="{C53046BE-D5FB-AC2D-A728-E781CF965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2708275"/>
          <a:ext cx="21161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282400" imgH="9944100" progId="Equation.3">
                  <p:embed/>
                </p:oleObj>
              </mc:Choice>
              <mc:Fallback>
                <p:oleObj r:id="rId2" imgW="24282400" imgH="9944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708275"/>
                        <a:ext cx="21161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AutoShape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69C5DC0-C088-9D60-DA45-086409782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6116638"/>
            <a:ext cx="522288" cy="522287"/>
          </a:xfrm>
          <a:prstGeom prst="actionButtonBackPrevious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4580" name="AutoShape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8CFB617-1091-3E69-9E02-C705E181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4581" name="AutoShape 10">
            <a:hlinkClick r:id="rId5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D1D4BF60-A5B2-B884-3175-F95CE40D8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A95BE3-2AEC-4CC2-DFCF-CB65E92D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AACC867C-D8BA-B647-94E3-4B50E876E4A2}" type="slidenum">
              <a:rPr lang="en-US" altLang="zh-CN"/>
              <a:pPr lvl="1">
                <a:defRPr/>
              </a:pPr>
              <a:t>8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870E5A2-6CFA-2DCB-F919-0DD2A5476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 eaLnBrk="1" hangingPunct="1">
              <a:buFont typeface="Wingdings" pitchFamily="2" charset="2"/>
              <a:buChar char="Ø"/>
              <a:defRPr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基本思想</a:t>
            </a:r>
            <a:r>
              <a:rPr lang="zh-CN" altLang="en-US" sz="2800"/>
              <a:t> 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56C7504C-EBE4-BC65-A583-DD1235341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由以上两个例子可以看出，当所求问题的解是</a:t>
            </a:r>
            <a:r>
              <a:rPr lang="zh-CN" altLang="en-US" u="sng">
                <a:solidFill>
                  <a:srgbClr val="000000"/>
                </a:solidFill>
              </a:rPr>
              <a:t>某个事件的概率</a:t>
            </a:r>
            <a:r>
              <a:rPr lang="zh-CN" altLang="en-US">
                <a:solidFill>
                  <a:srgbClr val="000000"/>
                </a:solidFill>
              </a:rPr>
              <a:t>，或者是</a:t>
            </a:r>
            <a:r>
              <a:rPr lang="zh-CN" altLang="en-US" u="sng">
                <a:solidFill>
                  <a:srgbClr val="000000"/>
                </a:solidFill>
              </a:rPr>
              <a:t>某个随机变量的数</a:t>
            </a:r>
            <a:r>
              <a:rPr lang="zh-CN" altLang="en-US" u="sng"/>
              <a:t>学期望（射击打靶）</a:t>
            </a:r>
            <a:r>
              <a:rPr lang="zh-CN" altLang="en-US"/>
              <a:t>，或者是</a:t>
            </a:r>
            <a:r>
              <a:rPr lang="zh-CN" altLang="en-US" u="sng"/>
              <a:t>与概率、数学期望有关的量（</a:t>
            </a:r>
            <a:r>
              <a:rPr lang="en-US" altLang="zh-CN" u="sng"/>
              <a:t>Pi</a:t>
            </a:r>
            <a:r>
              <a:rPr lang="zh-CN" altLang="en-US" u="sng"/>
              <a:t>值估计）</a:t>
            </a:r>
            <a:r>
              <a:rPr lang="zh-CN" altLang="en-US"/>
              <a:t>时</a:t>
            </a:r>
            <a:endParaRPr lang="en-US" altLang="zh-CN"/>
          </a:p>
          <a:p>
            <a:pPr algn="just" eaLnBrk="1" hangingPunct="1">
              <a:buFont typeface="Wingdings" pitchFamily="2" charset="2"/>
              <a:buChar char="l"/>
            </a:pPr>
            <a:r>
              <a:rPr lang="zh-CN" altLang="en-US" b="1"/>
              <a:t>通过某种试验的方法</a:t>
            </a:r>
            <a:r>
              <a:rPr lang="zh-CN" altLang="en-US"/>
              <a:t>，得出该事件发生的频率，或者该随机变量若干个具体观察值的</a:t>
            </a:r>
            <a:r>
              <a:rPr lang="zh-CN" altLang="en-US" b="1"/>
              <a:t>算术平均值</a:t>
            </a:r>
            <a:r>
              <a:rPr lang="zh-CN" altLang="en-US"/>
              <a:t>，通过它得到问题的解。</a:t>
            </a:r>
            <a:r>
              <a:rPr lang="zh-CN" altLang="en-US" u="sng"/>
              <a:t>这就是蒙特卡罗方法的基本思想。 </a:t>
            </a:r>
            <a:endParaRPr lang="en-US" altLang="zh-CN" u="sng"/>
          </a:p>
          <a:p>
            <a:pPr algn="just" eaLnBrk="1" hangingPunct="1">
              <a:buFont typeface="Wingdings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当随机变量的取值仅为</a:t>
            </a:r>
            <a:r>
              <a:rPr lang="en-US" altLang="zh-CN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或</a:t>
            </a:r>
            <a:r>
              <a:rPr lang="en-US" altLang="zh-CN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</a:rPr>
              <a:t>时，它的数学期望就是某个事件的概率。或者说，某种事件的概率也是随机变量（仅取值为</a:t>
            </a:r>
            <a:r>
              <a:rPr lang="en-US" altLang="zh-CN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或</a:t>
            </a:r>
            <a:r>
              <a:rPr lang="en-US" altLang="zh-CN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</a:rPr>
              <a:t>）的数学期望。</a:t>
            </a:r>
            <a:r>
              <a:rPr lang="zh-CN" altLang="en-US"/>
              <a:t> </a:t>
            </a:r>
          </a:p>
        </p:txBody>
      </p:sp>
      <p:sp>
        <p:nvSpPr>
          <p:cNvPr id="25603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103B699-AA31-AEA9-5857-589B2D68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6116638"/>
            <a:ext cx="522288" cy="522287"/>
          </a:xfrm>
          <a:prstGeom prst="actionButtonForwardNex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5604" name="AutoShap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DE62740-39D6-27BA-907F-68EB7C73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5605" name="AutoShape 8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BD830E69-772A-1851-00CB-B9F4BD49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CDCF45-B904-44DA-1EA8-68BABB85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D79CCEE5-F304-7C4C-8F86-F8DEAA9FBF32}" type="slidenum">
              <a:rPr lang="en-US" altLang="zh-CN"/>
              <a:pPr lvl="1">
                <a:defRPr/>
              </a:pPr>
              <a:t>9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E4957-A160-5C0A-C806-8AF30E83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证明过程</a:t>
            </a:r>
          </a:p>
        </p:txBody>
      </p:sp>
      <p:sp>
        <p:nvSpPr>
          <p:cNvPr id="55298" name="内容占位符 2">
            <a:extLst>
              <a:ext uri="{FF2B5EF4-FFF2-40B4-BE49-F238E27FC236}">
                <a16:creationId xmlns:a16="http://schemas.microsoft.com/office/drawing/2014/main" id="{DFC83DAE-86C9-198E-D0CB-23B75F1492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当随机变量 </a:t>
            </a:r>
            <a:r>
              <a:rPr lang="en-US" altLang="zh-CN"/>
              <a:t>X </a:t>
            </a:r>
            <a:r>
              <a:rPr lang="zh-CN" altLang="en-US"/>
              <a:t>只取值 </a:t>
            </a:r>
            <a:r>
              <a:rPr lang="en-US" altLang="zh-CN"/>
              <a:t>0</a:t>
            </a:r>
            <a:r>
              <a:rPr lang="zh-CN" altLang="en-US"/>
              <a:t>或 </a:t>
            </a:r>
            <a:r>
              <a:rPr lang="en-US" altLang="zh-CN"/>
              <a:t>1 </a:t>
            </a:r>
            <a:r>
              <a:rPr lang="zh-CN" altLang="en-US"/>
              <a:t>时，</a:t>
            </a:r>
            <a:r>
              <a:rPr lang="zh-CN" altLang="en-US">
                <a:solidFill>
                  <a:srgbClr val="000000"/>
                </a:solidFill>
              </a:rPr>
              <a:t>数学期望就是某个事件的概率</a:t>
            </a:r>
            <a:endParaRPr lang="en-US" altLang="zh-CN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随机变量 </a:t>
            </a:r>
            <a:r>
              <a:rPr lang="en-US" altLang="zh-CN"/>
              <a:t>X </a:t>
            </a:r>
            <a:r>
              <a:rPr lang="zh-CN" altLang="en-US"/>
              <a:t>服从</a:t>
            </a:r>
            <a:r>
              <a:rPr lang="zh-CN" altLang="en-US" b="1"/>
              <a:t>两点分布</a:t>
            </a:r>
            <a:r>
              <a:rPr lang="zh-CN" altLang="en-US"/>
              <a:t>（即伯努利分布）</a:t>
            </a:r>
            <a:endParaRPr lang="en-US" altLang="zh-CN"/>
          </a:p>
          <a:p>
            <a:pPr>
              <a:buFont typeface="Arial" panose="020B0604020202020204" pitchFamily="34" charset="0"/>
              <a:buChar char="•"/>
            </a:pPr>
            <a:endParaRPr lang="en-US" altLang="zh-CN"/>
          </a:p>
          <a:p>
            <a:pPr>
              <a:buFont typeface="Arial" panose="020B0604020202020204" pitchFamily="34" charset="0"/>
              <a:buChar char="•"/>
            </a:pPr>
            <a:endParaRPr lang="en-US" altLang="zh-CN"/>
          </a:p>
          <a:p>
            <a:pPr>
              <a:buFont typeface="Arial" panose="020B0604020202020204" pitchFamily="34" charset="0"/>
              <a:buChar char="•"/>
            </a:pPr>
            <a:endParaRPr lang="en-US" altLang="zh-CN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数学期望：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5AABB-5FF3-5F1B-7916-CDF9CF69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601137AD-C7B0-D04A-A0BB-B4B82C8E784A}" type="slidenum">
              <a:rPr lang="en-US" altLang="zh-CN" smtClean="0"/>
              <a:pPr lvl="1">
                <a:defRPr/>
              </a:pPr>
              <a:t>10</a:t>
            </a:fld>
            <a:endParaRPr lang="en-US" altLang="zh-CN">
              <a:latin typeface="+mn-lt"/>
            </a:endParaRPr>
          </a:p>
        </p:txBody>
      </p:sp>
      <p:pic>
        <p:nvPicPr>
          <p:cNvPr id="55300" name="图片 4">
            <a:extLst>
              <a:ext uri="{FF2B5EF4-FFF2-40B4-BE49-F238E27FC236}">
                <a16:creationId xmlns:a16="http://schemas.microsoft.com/office/drawing/2014/main" id="{E125E7EF-B07E-E2E9-954B-9394BA56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3089275"/>
            <a:ext cx="38735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图片 5">
            <a:extLst>
              <a:ext uri="{FF2B5EF4-FFF2-40B4-BE49-F238E27FC236}">
                <a16:creationId xmlns:a16="http://schemas.microsoft.com/office/drawing/2014/main" id="{4E36D298-112F-1595-8E4A-6AD0E248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4370388"/>
            <a:ext cx="38481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图片 6">
            <a:extLst>
              <a:ext uri="{FF2B5EF4-FFF2-40B4-BE49-F238E27FC236}">
                <a16:creationId xmlns:a16="http://schemas.microsoft.com/office/drawing/2014/main" id="{2D480F43-836D-4AC1-B215-CCA5C2C8D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5475288"/>
            <a:ext cx="45974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>
            <a:extLst>
              <a:ext uri="{FF2B5EF4-FFF2-40B4-BE49-F238E27FC236}">
                <a16:creationId xmlns:a16="http://schemas.microsoft.com/office/drawing/2014/main" id="{6A693E9C-FD61-DA2B-FF6A-A8D66B64E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77724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</a:t>
            </a:r>
            <a:r>
              <a:rPr lang="zh-CN" altLang="en-US" dirty="0">
                <a:solidFill>
                  <a:srgbClr val="000000"/>
                </a:solidFill>
              </a:rPr>
              <a:t>因此，可以通俗地说，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蒙特卡罗方法是用随机试验的方法计算积分</a:t>
            </a:r>
            <a:r>
              <a:rPr lang="zh-CN" altLang="en-US" dirty="0">
                <a:solidFill>
                  <a:srgbClr val="000000"/>
                </a:solidFill>
              </a:rPr>
              <a:t>，即将</a:t>
            </a:r>
            <a:r>
              <a:rPr lang="zh-CN" altLang="en-US" u="sng" dirty="0">
                <a:solidFill>
                  <a:srgbClr val="000000"/>
                </a:solidFill>
              </a:rPr>
              <a:t>所要计算的积分</a:t>
            </a:r>
            <a:r>
              <a:rPr lang="zh-CN" altLang="en-US" dirty="0">
                <a:solidFill>
                  <a:srgbClr val="000000"/>
                </a:solidFill>
              </a:rPr>
              <a:t>看作</a:t>
            </a:r>
            <a:r>
              <a:rPr lang="zh-CN" altLang="en-US" u="sng" dirty="0">
                <a:solidFill>
                  <a:srgbClr val="000000"/>
                </a:solidFill>
              </a:rPr>
              <a:t>服从某种分布密度函数</a:t>
            </a:r>
            <a:r>
              <a:rPr lang="en-US" altLang="zh-CN" i="1" u="sng" dirty="0">
                <a:solidFill>
                  <a:srgbClr val="000000"/>
                </a:solidFill>
              </a:rPr>
              <a:t>f</a:t>
            </a:r>
            <a:r>
              <a:rPr lang="en-US" altLang="zh-CN" u="sng" dirty="0">
                <a:solidFill>
                  <a:srgbClr val="000000"/>
                </a:solidFill>
              </a:rPr>
              <a:t>(</a:t>
            </a:r>
            <a:r>
              <a:rPr lang="en-US" altLang="zh-CN" i="1" u="sng" dirty="0">
                <a:solidFill>
                  <a:srgbClr val="000000"/>
                </a:solidFill>
              </a:rPr>
              <a:t>r</a:t>
            </a:r>
            <a:r>
              <a:rPr lang="en-US" altLang="zh-CN" u="sng" dirty="0">
                <a:solidFill>
                  <a:srgbClr val="000000"/>
                </a:solidFill>
              </a:rPr>
              <a:t>)</a:t>
            </a:r>
            <a:r>
              <a:rPr lang="zh-CN" altLang="en-US" u="sng" dirty="0">
                <a:solidFill>
                  <a:srgbClr val="000000"/>
                </a:solidFill>
              </a:rPr>
              <a:t>的随机变量</a:t>
            </a:r>
            <a:r>
              <a:rPr lang="zh-CN" altLang="en-US" i="1" u="sng" dirty="0">
                <a:solidFill>
                  <a:srgbClr val="000000"/>
                </a:solidFill>
              </a:rPr>
              <a:t>ｇ</a:t>
            </a:r>
            <a:r>
              <a:rPr lang="en-US" altLang="zh-CN" u="sng" dirty="0">
                <a:solidFill>
                  <a:srgbClr val="000000"/>
                </a:solidFill>
              </a:rPr>
              <a:t>(</a:t>
            </a:r>
            <a:r>
              <a:rPr lang="en-US" altLang="zh-CN" i="1" u="sng" dirty="0">
                <a:solidFill>
                  <a:srgbClr val="000000"/>
                </a:solidFill>
              </a:rPr>
              <a:t>r</a:t>
            </a:r>
            <a:r>
              <a:rPr lang="en-US" altLang="zh-CN" u="sng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的</a:t>
            </a:r>
            <a:r>
              <a:rPr lang="zh-CN" altLang="en-US" b="1" dirty="0">
                <a:solidFill>
                  <a:srgbClr val="000000"/>
                </a:solidFill>
              </a:rPr>
              <a:t>数学期望</a:t>
            </a:r>
            <a:r>
              <a:rPr lang="zh-CN" altLang="en-US" b="1" dirty="0"/>
              <a:t> </a:t>
            </a:r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</a:rPr>
              <a:t> 通过某种试验，得到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个观察值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endParaRPr lang="en-US" altLang="zh-CN" i="1" baseline="-30000" dirty="0">
              <a:solidFill>
                <a:srgbClr val="000000"/>
              </a:solidFill>
            </a:endParaRPr>
          </a:p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</a:rPr>
              <a:t>（用概率语言来说，从分布密度函数</a:t>
            </a:r>
            <a:r>
              <a:rPr lang="en-US" altLang="zh-CN" i="1" dirty="0">
                <a:solidFill>
                  <a:srgbClr val="000000"/>
                </a:solidFill>
              </a:rPr>
              <a:t>f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中抽取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个子样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，）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00"/>
                </a:solidFill>
              </a:rPr>
              <a:t>将相应的</a:t>
            </a:r>
            <a:r>
              <a:rPr lang="zh-CN" altLang="en-US" i="1" dirty="0">
                <a:solidFill>
                  <a:srgbClr val="000000"/>
                </a:solidFill>
              </a:rPr>
              <a:t>Ｎ</a:t>
            </a:r>
            <a:r>
              <a:rPr lang="zh-CN" altLang="en-US" dirty="0">
                <a:solidFill>
                  <a:srgbClr val="000000"/>
                </a:solidFill>
              </a:rPr>
              <a:t>个随机变量的值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算术平均值</a:t>
            </a:r>
          </a:p>
          <a:p>
            <a:pPr algn="just"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作为积分的估计值（近似值）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r>
              <a:rPr lang="zh-CN" altLang="en-US" dirty="0"/>
              <a:t> </a:t>
            </a:r>
          </a:p>
        </p:txBody>
      </p:sp>
      <p:graphicFrame>
        <p:nvGraphicFramePr>
          <p:cNvPr id="26626" name="Object 4">
            <a:extLst>
              <a:ext uri="{FF2B5EF4-FFF2-40B4-BE49-F238E27FC236}">
                <a16:creationId xmlns:a16="http://schemas.microsoft.com/office/drawing/2014/main" id="{BD0EC56C-B018-C89F-BCF3-A14382C6C1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9963" y="5013325"/>
          <a:ext cx="21161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282400" imgH="9944100" progId="Equation.3">
                  <p:embed/>
                </p:oleObj>
              </mc:Choice>
              <mc:Fallback>
                <p:oleObj r:id="rId2" imgW="24282400" imgH="9944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3" y="5013325"/>
                        <a:ext cx="21161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6">
            <a:extLst>
              <a:ext uri="{FF2B5EF4-FFF2-40B4-BE49-F238E27FC236}">
                <a16:creationId xmlns:a16="http://schemas.microsoft.com/office/drawing/2014/main" id="{A3022FBE-FEE6-E904-4103-E371CCB4A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7225" y="2022475"/>
          <a:ext cx="27416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1597600" imgH="7607300" progId="Equation.3">
                  <p:embed/>
                </p:oleObj>
              </mc:Choice>
              <mc:Fallback>
                <p:oleObj r:id="rId4" imgW="31597600" imgH="7607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25" y="2022475"/>
                        <a:ext cx="274161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6F674C-32AD-6939-6323-E2AADF8E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9226098B-BA31-6F48-B44B-BB85DB77E5FF}" type="slidenum">
              <a:rPr lang="en-US" altLang="zh-CN"/>
              <a:pPr lvl="1">
                <a:defRPr/>
              </a:pPr>
              <a:t>11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">
            <a:extLst>
              <a:ext uri="{FF2B5EF4-FFF2-40B4-BE49-F238E27FC236}">
                <a16:creationId xmlns:a16="http://schemas.microsoft.com/office/drawing/2014/main" id="{CCC02B7B-D332-D092-6948-E68BA0BEF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7772400" cy="5486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为了得到具有一定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精确度的近似解，所需试验的次数是很多的</a:t>
            </a:r>
            <a:r>
              <a:rPr lang="zh-CN" altLang="en-US" dirty="0">
                <a:solidFill>
                  <a:srgbClr val="000000"/>
                </a:solidFill>
              </a:rPr>
              <a:t>，通过</a:t>
            </a:r>
            <a:r>
              <a:rPr lang="zh-CN" altLang="en-US" b="1" dirty="0">
                <a:solidFill>
                  <a:srgbClr val="000000"/>
                </a:solidFill>
              </a:rPr>
              <a:t>人工方法作大量的试验相当困难</a:t>
            </a:r>
            <a:r>
              <a:rPr lang="zh-CN" altLang="en-US" dirty="0">
                <a:solidFill>
                  <a:srgbClr val="000000"/>
                </a:solidFill>
              </a:rPr>
              <a:t>，甚至是不可能的。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因此，蒙特卡罗方法的基本思想虽然早已被人们提出，却很少被使用。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l"/>
              <a:defRPr/>
            </a:pPr>
            <a:r>
              <a:rPr lang="zh-CN" altLang="en-US" dirty="0">
                <a:solidFill>
                  <a:srgbClr val="000000"/>
                </a:solidFill>
              </a:rPr>
              <a:t>本世纪四十年代以来，由于电子计算机的出现，使得人们可以通过电子计算机来模拟随机试验过程，把巨大数目的随机试验交由计算机完成，使得蒙特卡罗方法得以广泛地应用，在现代化的科学技术中发挥应有的作用。</a:t>
            </a:r>
            <a:r>
              <a:rPr lang="zh-CN" altLang="en-US" dirty="0"/>
              <a:t> </a:t>
            </a:r>
          </a:p>
        </p:txBody>
      </p:sp>
      <p:sp>
        <p:nvSpPr>
          <p:cNvPr id="27650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01156D7-C24E-2990-3431-363E9ACDC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6116638"/>
            <a:ext cx="522288" cy="522287"/>
          </a:xfrm>
          <a:prstGeom prst="actionButtonBackPrevious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7651" name="AutoShap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4590FB6-2F07-4AAB-EB79-00D8CEE26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7652" name="AutoShape 8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B6F5005B-C3FC-F448-9BBD-355BD7977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35C635-525D-341F-2B4E-2A4070F9F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720D8B72-B7ED-C84E-B99C-06E966E3D354}" type="slidenum">
              <a:rPr lang="en-US" altLang="zh-CN"/>
              <a:pPr lvl="1">
                <a:defRPr/>
              </a:pPr>
              <a:t>12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322D74A-ED55-3429-4363-C8829246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DFE2BD7-AE2D-2C69-CEE2-CB21B779F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1484784"/>
            <a:ext cx="8080375" cy="1143000"/>
          </a:xfrm>
        </p:spPr>
        <p:txBody>
          <a:bodyPr/>
          <a:lstStyle/>
          <a:p>
            <a:pPr marL="838200" indent="-838200" eaLnBrk="1" hangingPunct="1">
              <a:buFontTx/>
              <a:buAutoNum type="arabicPeriod"/>
              <a:defRPr/>
            </a:pPr>
            <a:r>
              <a:rPr lang="zh-CN" altLang="en-US" b="1" dirty="0"/>
              <a:t>蒙特卡罗方法的基本思想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FD063B9-C0D7-1F53-BDCA-9337B0A86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730902"/>
            <a:ext cx="7936359" cy="3240831"/>
          </a:xfrm>
        </p:spPr>
        <p:txBody>
          <a:bodyPr/>
          <a:lstStyle/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r>
              <a:rPr lang="zh-CN" altLang="en-US" sz="2800" dirty="0"/>
              <a:t>两个例子及其基本思想</a:t>
            </a:r>
            <a:endParaRPr lang="en-US" altLang="zh-CN" sz="2800" dirty="0"/>
          </a:p>
          <a:p>
            <a:pPr marL="914400" lvl="1" indent="-514350" eaLnBrk="1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800" dirty="0">
                <a:hlinkClick r:id="rId3" action="ppaction://hlinksldjump"/>
              </a:rPr>
              <a:t>例</a:t>
            </a:r>
            <a:r>
              <a:rPr lang="en-US" altLang="zh-CN" sz="2800" dirty="0">
                <a:hlinkClick r:id="rId3" action="ppaction://hlinksldjump"/>
              </a:rPr>
              <a:t>1. </a:t>
            </a:r>
            <a:r>
              <a:rPr lang="zh-CN" altLang="en-US" sz="2800" dirty="0">
                <a:hlinkClick r:id="rId3" action="ppaction://hlinksldjump"/>
              </a:rPr>
              <a:t>蒲丰氏问题</a:t>
            </a:r>
            <a:endParaRPr lang="en-US" altLang="zh-CN" sz="2800" dirty="0"/>
          </a:p>
          <a:p>
            <a:pPr marL="914400" lvl="1" indent="-514350" eaLnBrk="1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800" dirty="0">
                <a:hlinkClick r:id="rId4" action="ppaction://hlinksldjump"/>
              </a:rPr>
              <a:t>例</a:t>
            </a:r>
            <a:r>
              <a:rPr lang="en-US" altLang="zh-CN" sz="2800" dirty="0">
                <a:hlinkClick r:id="rId4" action="ppaction://hlinksldjump"/>
              </a:rPr>
              <a:t>2. </a:t>
            </a:r>
            <a:r>
              <a:rPr lang="zh-CN" altLang="en-US" sz="2800" dirty="0">
                <a:hlinkClick r:id="rId4" action="ppaction://hlinksldjump"/>
              </a:rPr>
              <a:t>射击问题（打靶游戏）</a:t>
            </a:r>
            <a:endParaRPr lang="zh-CN" altLang="en-US" sz="2800" dirty="0"/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endParaRPr lang="en-US" altLang="zh-CN" sz="2800" dirty="0">
              <a:solidFill>
                <a:srgbClr val="000000"/>
              </a:solidFill>
              <a:hlinkClick r:id="rId5" action="ppaction://hlinksldjump"/>
            </a:endParaRPr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000000"/>
                </a:solidFill>
                <a:hlinkClick r:id="rId5" action="ppaction://hlinksldjump"/>
              </a:rPr>
              <a:t>计算机模拟试验过程</a:t>
            </a:r>
            <a:endParaRPr lang="zh-CN" altLang="en-US" sz="2800" dirty="0"/>
          </a:p>
          <a:p>
            <a:pPr marL="514350" indent="-514350" eaLnBrk="1" hangingPunct="1">
              <a:lnSpc>
                <a:spcPct val="100000"/>
              </a:lnSpc>
              <a:buFont typeface="Wingdings" pitchFamily="2" charset="2"/>
              <a:buChar char="n"/>
            </a:pPr>
            <a:endParaRPr lang="en-US" altLang="zh-CN" sz="2800" dirty="0"/>
          </a:p>
        </p:txBody>
      </p:sp>
      <p:sp>
        <p:nvSpPr>
          <p:cNvPr id="19459" name="AutoShape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0AEFFEF-3C74-4C6F-F256-AA198DACA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19460" name="AutoShape 15">
            <a:hlinkClick r:id="rId7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5E6D98FF-5586-0932-19E8-9C732ACB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215663-551A-500F-EAA5-0C649561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461B6BE4-A9EC-004F-A149-BE85EB84C227}" type="slidenum">
              <a:rPr lang="en-US" altLang="zh-CN"/>
              <a:pPr lvl="1">
                <a:defRPr/>
              </a:pPr>
              <a:t>13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948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53280CD-B331-15DC-7A30-CE2C858F5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 typeface="Wingdings" pitchFamily="2" charset="2"/>
              <a:buChar char="Ø"/>
              <a:defRPr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计算机模拟试验过程</a:t>
            </a:r>
            <a:r>
              <a:rPr lang="zh-CN" altLang="en-US"/>
              <a:t> 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C354A1E-24F4-95AE-553F-0AC53CD98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 </a:t>
            </a:r>
            <a:r>
              <a:rPr lang="zh-CN" altLang="en-US" b="1" dirty="0">
                <a:solidFill>
                  <a:srgbClr val="000000"/>
                </a:solidFill>
              </a:rPr>
              <a:t>计算机模拟试验过程</a:t>
            </a:r>
            <a:r>
              <a:rPr lang="zh-CN" altLang="en-US" dirty="0">
                <a:solidFill>
                  <a:srgbClr val="000000"/>
                </a:solidFill>
              </a:rPr>
              <a:t>，就是</a:t>
            </a:r>
            <a:r>
              <a:rPr lang="zh-CN" altLang="en-US" u="sng" dirty="0">
                <a:solidFill>
                  <a:schemeClr val="accent1">
                    <a:lumMod val="75000"/>
                  </a:schemeClr>
                </a:solidFill>
              </a:rPr>
              <a:t>将试验过程（如投针，射击）化为数学问题，在计算机上实现</a:t>
            </a:r>
            <a:r>
              <a:rPr lang="zh-CN" altLang="en-US" dirty="0">
                <a:solidFill>
                  <a:srgbClr val="000000"/>
                </a:solidFill>
              </a:rPr>
              <a:t>。以上述两个问题为例，分别加以说明。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    例</a:t>
            </a:r>
            <a:r>
              <a:rPr lang="en-US" altLang="zh-CN" dirty="0"/>
              <a:t>1. </a:t>
            </a:r>
            <a:r>
              <a:rPr lang="zh-CN" altLang="en-US" dirty="0">
                <a:hlinkClick r:id="rId3" action="ppaction://hlinksldjump"/>
              </a:rPr>
              <a:t>蒲丰氏问题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/>
              <a:t>    例</a:t>
            </a:r>
            <a:r>
              <a:rPr lang="en-US" altLang="zh-CN" dirty="0"/>
              <a:t>2. </a:t>
            </a:r>
            <a:r>
              <a:rPr lang="zh-CN" altLang="en-US" dirty="0">
                <a:hlinkClick r:id="rId4" action="ppaction://hlinksldjump"/>
              </a:rPr>
              <a:t>射击问题（打靶游戏）</a:t>
            </a:r>
            <a:endParaRPr lang="zh-CN" altLang="en-US" dirty="0">
              <a:solidFill>
                <a:srgbClr val="000000"/>
              </a:solidFill>
            </a:endParaRPr>
          </a:p>
          <a:p>
            <a:pPr algn="just" eaLnBrk="1" hangingPunct="1">
              <a:defRPr/>
            </a:pPr>
            <a:r>
              <a:rPr lang="zh-CN" altLang="en-US" dirty="0"/>
              <a:t>            由上面两个例题看出，蒙特卡罗方法常以一个“概率模型”为基础，按照它所描述的过程，使用由已知分布抽样的方法，得到部分试验结果的观察值，求得问题的近似解。 </a:t>
            </a:r>
          </a:p>
        </p:txBody>
      </p:sp>
      <p:sp>
        <p:nvSpPr>
          <p:cNvPr id="28675" name="AutoShape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79FD00F-E25B-5610-042A-03CE685F8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8676" name="AutoShape 8">
            <a:hlinkClick r:id="rId6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208AAA69-E11F-73B3-3231-FC6E0462C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8121D1-E93C-3A7D-EDD2-C9C58182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CF6C4895-4AFA-0D4C-A438-8CC203420A05}" type="slidenum">
              <a:rPr lang="en-US" altLang="zh-CN"/>
              <a:pPr lvl="1">
                <a:defRPr/>
              </a:pPr>
              <a:t>14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4EF7618-B40F-5623-D17F-1797E4347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rgbClr val="000000"/>
                </a:solidFill>
              </a:rPr>
              <a:t>例１．蒲丰氏问题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3AB62634-5EDE-867A-13BD-38B5B0EB3F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1981200"/>
            <a:ext cx="4346575" cy="411480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</a:t>
            </a:r>
            <a:r>
              <a:rPr lang="zh-CN" altLang="en-US" dirty="0">
                <a:solidFill>
                  <a:srgbClr val="000000"/>
                </a:solidFill>
              </a:rPr>
              <a:t>设针投到地面上的位置可以用一组参数（</a:t>
            </a:r>
            <a:r>
              <a:rPr lang="en-US" altLang="zh-CN" i="1" dirty="0" err="1">
                <a:solidFill>
                  <a:srgbClr val="000000"/>
                </a:solidFill>
              </a:rPr>
              <a:t>x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θ</a:t>
            </a:r>
            <a:r>
              <a:rPr lang="zh-CN" altLang="en-US" dirty="0">
                <a:solidFill>
                  <a:srgbClr val="000000"/>
                </a:solidFill>
              </a:rPr>
              <a:t>）来描述，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为针中心的坐标，</a:t>
            </a:r>
            <a:r>
              <a:rPr lang="en-US" altLang="zh-CN" i="1" dirty="0" err="1">
                <a:solidFill>
                  <a:srgbClr val="000000"/>
                </a:solidFill>
              </a:rPr>
              <a:t>θ</a:t>
            </a:r>
            <a:r>
              <a:rPr lang="zh-CN" altLang="en-US" dirty="0">
                <a:solidFill>
                  <a:srgbClr val="000000"/>
                </a:solidFill>
              </a:rPr>
              <a:t>为针与平行线的夹角，如图所示。</a:t>
            </a:r>
          </a:p>
          <a:p>
            <a:pPr marL="0" indent="0" eaLnBrk="1" hangingPunct="1"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 任意投针，就是意味着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i="1" dirty="0" err="1">
                <a:solidFill>
                  <a:srgbClr val="000000"/>
                </a:solidFill>
              </a:rPr>
              <a:t>θ</a:t>
            </a:r>
            <a:r>
              <a:rPr lang="zh-CN" altLang="en-US" dirty="0">
                <a:solidFill>
                  <a:srgbClr val="000000"/>
                </a:solidFill>
              </a:rPr>
              <a:t>都是任意取的，但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的范围限于［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］，夹角</a:t>
            </a:r>
            <a:r>
              <a:rPr lang="en-US" altLang="zh-CN" i="1" dirty="0" err="1">
                <a:solidFill>
                  <a:schemeClr val="accent1">
                    <a:lumMod val="75000"/>
                  </a:schemeClr>
                </a:solidFill>
              </a:rPr>
              <a:t>θ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的范围限于［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π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］</a:t>
            </a:r>
            <a:r>
              <a:rPr lang="zh-CN" altLang="en-US" dirty="0">
                <a:solidFill>
                  <a:srgbClr val="000000"/>
                </a:solidFill>
              </a:rPr>
              <a:t>。在此情况下，针与平行线相交的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数学条件是</a:t>
            </a:r>
          </a:p>
          <a:p>
            <a:pPr marL="0" indent="0" algn="just" eaLnBrk="1" hangingPunct="1">
              <a:defRPr/>
            </a:pPr>
            <a:endParaRPr lang="zh-CN" altLang="en-US" dirty="0"/>
          </a:p>
          <a:p>
            <a:pPr marL="0" indent="0" eaLnBrk="1" hangingPunct="1">
              <a:defRPr/>
            </a:pPr>
            <a:endParaRPr lang="en-US" altLang="zh-CN" dirty="0"/>
          </a:p>
        </p:txBody>
      </p:sp>
      <p:grpSp>
        <p:nvGrpSpPr>
          <p:cNvPr id="29699" name="Group 15">
            <a:extLst>
              <a:ext uri="{FF2B5EF4-FFF2-40B4-BE49-F238E27FC236}">
                <a16:creationId xmlns:a16="http://schemas.microsoft.com/office/drawing/2014/main" id="{5A4B115E-88B9-1D69-2921-4A54E6E4DE5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057400"/>
            <a:ext cx="3667125" cy="3505200"/>
            <a:chOff x="3168" y="1296"/>
            <a:chExt cx="2310" cy="2208"/>
          </a:xfrm>
        </p:grpSpPr>
        <p:pic>
          <p:nvPicPr>
            <p:cNvPr id="29701" name="Picture 8">
              <a:extLst>
                <a:ext uri="{FF2B5EF4-FFF2-40B4-BE49-F238E27FC236}">
                  <a16:creationId xmlns:a16="http://schemas.microsoft.com/office/drawing/2014/main" id="{A6A66F53-4169-93DB-EFCD-9AC5CC195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296"/>
              <a:ext cx="2310" cy="19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2" name="Text Box 9">
              <a:extLst>
                <a:ext uri="{FF2B5EF4-FFF2-40B4-BE49-F238E27FC236}">
                  <a16:creationId xmlns:a16="http://schemas.microsoft.com/office/drawing/2014/main" id="{F5F11777-17FB-7897-F862-E784FE7E7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16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Clr>
                  <a:srgbClr val="00CCFF"/>
                </a:buClr>
                <a:buSzPct val="65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>
                  <a:ea typeface="仿宋_GB2312" pitchFamily="49" charset="-122"/>
                </a:rPr>
                <a:t>针在平行线间的位置</a:t>
              </a:r>
              <a:r>
                <a:rPr lang="zh-CN" altLang="en-US"/>
                <a:t> </a:t>
              </a:r>
            </a:p>
          </p:txBody>
        </p:sp>
      </p:grpSp>
      <p:graphicFrame>
        <p:nvGraphicFramePr>
          <p:cNvPr id="29700" name="Object 10">
            <a:extLst>
              <a:ext uri="{FF2B5EF4-FFF2-40B4-BE49-F238E27FC236}">
                <a16:creationId xmlns:a16="http://schemas.microsoft.com/office/drawing/2014/main" id="{FFC6BD02-421A-910D-93DB-594168CE42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488" y="6192838"/>
          <a:ext cx="13890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090900" imgH="4102100" progId="Equation.3">
                  <p:embed/>
                </p:oleObj>
              </mc:Choice>
              <mc:Fallback>
                <p:oleObj r:id="rId3" imgW="16090900" imgH="4102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488" y="6192838"/>
                        <a:ext cx="13890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>
            <a:extLst>
              <a:ext uri="{FF2B5EF4-FFF2-40B4-BE49-F238E27FC236}">
                <a16:creationId xmlns:a16="http://schemas.microsoft.com/office/drawing/2014/main" id="{7C23576D-3D34-211D-7076-0CB8166FA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4641850" cy="5919788"/>
          </a:xfrm>
        </p:spPr>
        <p:txBody>
          <a:bodyPr/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b="1" dirty="0"/>
              <a:t>如何产生任意的</a:t>
            </a: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i="1" dirty="0" err="1">
                <a:solidFill>
                  <a:srgbClr val="000000"/>
                </a:solidFill>
              </a:rPr>
              <a:t>x</a:t>
            </a:r>
            <a:r>
              <a:rPr lang="en-US" altLang="zh-CN" b="1" dirty="0" err="1">
                <a:solidFill>
                  <a:srgbClr val="000000"/>
                </a:solidFill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</a:rPr>
              <a:t>θ</a:t>
            </a:r>
            <a:r>
              <a:rPr lang="zh-CN" altLang="en-US" b="1" dirty="0">
                <a:solidFill>
                  <a:srgbClr val="000000"/>
                </a:solidFill>
              </a:rPr>
              <a:t>）</a:t>
            </a:r>
            <a:r>
              <a:rPr lang="zh-CN" altLang="en-US" b="1" dirty="0"/>
              <a:t>？</a:t>
            </a:r>
            <a:endParaRPr lang="en-US" altLang="zh-CN" b="1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zh-CN" altLang="en-US" dirty="0">
                <a:solidFill>
                  <a:srgbClr val="000000"/>
                </a:solidFill>
              </a:rPr>
              <a:t>［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］</a:t>
            </a:r>
            <a:r>
              <a:rPr lang="zh-CN" altLang="en-US" dirty="0"/>
              <a:t>上任意取值，表示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在［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en-US" altLang="zh-CN" i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］上是均匀分布的，</a:t>
            </a:r>
            <a:r>
              <a:rPr lang="zh-CN" altLang="en-US" dirty="0"/>
              <a:t>其分布密度函数为：</a:t>
            </a:r>
            <a:endParaRPr lang="en-US" altLang="zh-CN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类似地，</a:t>
            </a:r>
            <a:r>
              <a:rPr lang="en-US" altLang="zh-CN" i="1" dirty="0" err="1">
                <a:solidFill>
                  <a:srgbClr val="000000"/>
                </a:solidFill>
              </a:rPr>
              <a:t>θ</a:t>
            </a:r>
            <a:r>
              <a:rPr lang="zh-CN" altLang="en-US" dirty="0"/>
              <a:t>的分布密度函数为：</a:t>
            </a:r>
            <a:endParaRPr lang="en-US" altLang="zh-CN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因此，</a:t>
            </a:r>
            <a:r>
              <a:rPr lang="zh-CN" altLang="en-US" b="1" dirty="0"/>
              <a:t>产生任意的</a:t>
            </a: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en-US" altLang="zh-CN" b="1" i="1" dirty="0" err="1">
                <a:solidFill>
                  <a:srgbClr val="000000"/>
                </a:solidFill>
              </a:rPr>
              <a:t>x</a:t>
            </a:r>
            <a:r>
              <a:rPr lang="en-US" altLang="zh-CN" b="1" dirty="0" err="1">
                <a:solidFill>
                  <a:srgbClr val="000000"/>
                </a:solidFill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</a:rPr>
              <a:t>θ</a:t>
            </a:r>
            <a:r>
              <a:rPr lang="zh-CN" altLang="en-US" b="1" dirty="0">
                <a:solidFill>
                  <a:srgbClr val="000000"/>
                </a:solidFill>
              </a:rPr>
              <a:t>）</a:t>
            </a:r>
            <a:r>
              <a:rPr lang="zh-CN" altLang="en-US" dirty="0"/>
              <a:t>的过程就变成了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由</a:t>
            </a:r>
            <a:r>
              <a:rPr lang="en-US" altLang="zh-CN" b="1" i="1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altLang="zh-CN" b="1" baseline="-30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zh-CN" b="1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抽样</a:t>
            </a:r>
            <a:r>
              <a:rPr lang="en-US" altLang="zh-CN" b="1" i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及由</a:t>
            </a:r>
            <a:r>
              <a:rPr lang="en-US" altLang="zh-CN" b="1" i="1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altLang="zh-CN" b="1" baseline="-30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altLang="zh-CN" b="1" i="1" dirty="0" err="1">
                <a:solidFill>
                  <a:schemeClr val="accent1">
                    <a:lumMod val="75000"/>
                  </a:schemeClr>
                </a:solidFill>
              </a:rPr>
              <a:t>θ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抽样</a:t>
            </a:r>
            <a:r>
              <a:rPr lang="en-US" altLang="zh-CN" b="1" i="1" dirty="0" err="1">
                <a:solidFill>
                  <a:schemeClr val="accent1">
                    <a:lumMod val="75000"/>
                  </a:schemeClr>
                </a:solidFill>
              </a:rPr>
              <a:t>θ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的过程</a:t>
            </a:r>
            <a:r>
              <a:rPr lang="zh-CN" altLang="en-US" dirty="0"/>
              <a:t>了。由此得到：</a:t>
            </a:r>
            <a:endParaRPr lang="en-US" altLang="zh-CN" dirty="0"/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其中</a:t>
            </a:r>
            <a:r>
              <a:rPr lang="en-US" altLang="zh-CN" i="1" dirty="0"/>
              <a:t>ξ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ξ</a:t>
            </a:r>
            <a:r>
              <a:rPr lang="en-US" altLang="zh-CN" baseline="-30000" dirty="0"/>
              <a:t>2</a:t>
            </a:r>
            <a:r>
              <a:rPr lang="zh-CN" altLang="en-US" dirty="0"/>
              <a:t>均为（</a:t>
            </a:r>
            <a:r>
              <a:rPr lang="en-US" altLang="zh-CN" dirty="0"/>
              <a:t>0,1</a:t>
            </a:r>
            <a:r>
              <a:rPr lang="zh-CN" altLang="en-US" dirty="0"/>
              <a:t>）上均匀分布的随机变量。 </a:t>
            </a:r>
          </a:p>
        </p:txBody>
      </p:sp>
      <p:graphicFrame>
        <p:nvGraphicFramePr>
          <p:cNvPr id="29700" name="Object 8">
            <a:extLst>
              <a:ext uri="{FF2B5EF4-FFF2-40B4-BE49-F238E27FC236}">
                <a16:creationId xmlns:a16="http://schemas.microsoft.com/office/drawing/2014/main" id="{8AB3FA79-C9B1-8593-B267-30EA569E5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5163" y="4473575"/>
          <a:ext cx="98583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04600" imgH="10528300" progId="Equation.3">
                  <p:embed/>
                </p:oleObj>
              </mc:Choice>
              <mc:Fallback>
                <p:oleObj name="Equation" r:id="rId2" imgW="11404600" imgH="10528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4473575"/>
                        <a:ext cx="985837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AutoShape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9392D22-FB74-BABE-D54B-F00DBBF1A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6116638"/>
            <a:ext cx="522288" cy="522287"/>
          </a:xfrm>
          <a:prstGeom prst="actionButtonBackPrevious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0724" name="AutoShap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1973302-C67B-274F-975E-FF8F9F236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6116638"/>
            <a:ext cx="522288" cy="522287"/>
          </a:xfrm>
          <a:prstGeom prst="actionButtonForwardNex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0725" name="AutoShape 1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1790B93-08A9-E31A-B9E3-DF5EA2B30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2DE86B-6F24-3BE0-5DB4-6E094B08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4074152F-9B85-0A47-A10D-4949C8659537}" type="slidenum">
              <a:rPr lang="en-US" altLang="zh-CN"/>
              <a:pPr lvl="1">
                <a:defRPr/>
              </a:pPr>
              <a:t>16</a:t>
            </a:fld>
            <a:endParaRPr lang="en-US" altLang="zh-CN">
              <a:latin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8F88242-EB7F-4405-026A-0FAA235A7E0A}"/>
              </a:ext>
            </a:extLst>
          </p:cNvPr>
          <p:cNvGrpSpPr>
            <a:grpSpLocks/>
          </p:cNvGrpSpPr>
          <p:nvPr/>
        </p:nvGrpSpPr>
        <p:grpSpPr bwMode="auto">
          <a:xfrm>
            <a:off x="5316538" y="1109663"/>
            <a:ext cx="3124200" cy="914400"/>
            <a:chOff x="4914113" y="1587455"/>
            <a:chExt cx="3124200" cy="914400"/>
          </a:xfrm>
        </p:grpSpPr>
        <p:graphicFrame>
          <p:nvGraphicFramePr>
            <p:cNvPr id="30731" name="Object 4">
              <a:extLst>
                <a:ext uri="{FF2B5EF4-FFF2-40B4-BE49-F238E27FC236}">
                  <a16:creationId xmlns:a16="http://schemas.microsoft.com/office/drawing/2014/main" id="{DF35CFDA-4F72-B3E7-509E-EBF0358A3C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14113" y="1587455"/>
            <a:ext cx="31242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5991800" imgH="10528300" progId="Equation.3">
                    <p:embed/>
                  </p:oleObj>
                </mc:Choice>
                <mc:Fallback>
                  <p:oleObj r:id="rId5" imgW="35991800" imgH="105283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4113" y="1587455"/>
                          <a:ext cx="3124200" cy="914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2" name="文本框 2">
              <a:extLst>
                <a:ext uri="{FF2B5EF4-FFF2-40B4-BE49-F238E27FC236}">
                  <a16:creationId xmlns:a16="http://schemas.microsoft.com/office/drawing/2014/main" id="{7578F5BF-F379-669E-D8D1-5D5B6FE2E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6833" y="2000597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/>
                <a:t>其他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D703B93-2297-D798-7C27-C78EF3CB23C3}"/>
              </a:ext>
            </a:extLst>
          </p:cNvPr>
          <p:cNvGrpSpPr>
            <a:grpSpLocks/>
          </p:cNvGrpSpPr>
          <p:nvPr/>
        </p:nvGrpSpPr>
        <p:grpSpPr bwMode="auto">
          <a:xfrm>
            <a:off x="5316538" y="2765425"/>
            <a:ext cx="3217862" cy="966788"/>
            <a:chOff x="5397502" y="2428875"/>
            <a:chExt cx="3217863" cy="967581"/>
          </a:xfrm>
        </p:grpSpPr>
        <p:graphicFrame>
          <p:nvGraphicFramePr>
            <p:cNvPr id="30729" name="Object 6">
              <a:extLst>
                <a:ext uri="{FF2B5EF4-FFF2-40B4-BE49-F238E27FC236}">
                  <a16:creationId xmlns:a16="http://schemas.microsoft.com/office/drawing/2014/main" id="{F84F39CC-BEB6-13CD-A521-61FE923108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97502" y="2428875"/>
            <a:ext cx="3217863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7160200" imgH="10528300" progId="Equation.3">
                    <p:embed/>
                  </p:oleObj>
                </mc:Choice>
                <mc:Fallback>
                  <p:oleObj r:id="rId7" imgW="37160200" imgH="10528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502" y="2428875"/>
                          <a:ext cx="3217863" cy="914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0" name="文本框 3">
              <a:extLst>
                <a:ext uri="{FF2B5EF4-FFF2-40B4-BE49-F238E27FC236}">
                  <a16:creationId xmlns:a16="http://schemas.microsoft.com/office/drawing/2014/main" id="{738F85F3-135A-4C66-8499-E434FDEA3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751" y="2934791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/>
                <a:t>其他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6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6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7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>
            <a:extLst>
              <a:ext uri="{FF2B5EF4-FFF2-40B4-BE49-F238E27FC236}">
                <a16:creationId xmlns:a16="http://schemas.microsoft.com/office/drawing/2014/main" id="{64A57DFD-7C65-AF2C-2D17-F594710B0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609600"/>
            <a:ext cx="7772400" cy="5486400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每次投针试验，实际上变成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在计算机上从两个均匀分布的随机变量中抽样得到（</a:t>
            </a:r>
            <a:r>
              <a:rPr lang="en-US" altLang="zh-CN" i="1" dirty="0" err="1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,</a:t>
            </a:r>
            <a:r>
              <a:rPr lang="en-US" altLang="zh-CN" i="1" dirty="0" err="1">
                <a:solidFill>
                  <a:schemeClr val="accent1">
                    <a:lumMod val="75000"/>
                  </a:schemeClr>
                </a:solidFill>
              </a:rPr>
              <a:t>θ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zh-CN" altLang="en-US" dirty="0"/>
              <a:t>然后定义描述针与平行线相交状况的随机变量</a:t>
            </a:r>
            <a:r>
              <a:rPr lang="en-US" altLang="zh-CN" i="1" dirty="0"/>
              <a:t>s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</a:rPr>
              <a:t>x</a:t>
            </a:r>
            <a:r>
              <a:rPr lang="en-US" altLang="zh-CN" dirty="0" err="1">
                <a:solidFill>
                  <a:srgbClr val="000000"/>
                </a:solidFill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</a:rPr>
              <a:t>θ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/>
              <a:t>，为</a:t>
            </a:r>
          </a:p>
          <a:p>
            <a:pPr algn="just" eaLnBrk="1" hangingPunct="1">
              <a:defRPr/>
            </a:pPr>
            <a:endParaRPr lang="zh-CN" altLang="en-US" dirty="0"/>
          </a:p>
          <a:p>
            <a:pPr algn="just" eaLnBrk="1" hangingPunct="1">
              <a:defRPr/>
            </a:pPr>
            <a:endParaRPr lang="zh-CN" altLang="en-US" dirty="0"/>
          </a:p>
          <a:p>
            <a:pPr algn="just" eaLnBrk="1" hangingPunct="1">
              <a:defRPr/>
            </a:pPr>
            <a:r>
              <a:rPr lang="zh-CN" altLang="en-US" dirty="0"/>
              <a:t>     如果投针</a:t>
            </a:r>
            <a:r>
              <a:rPr lang="zh-CN" altLang="en-US" i="1" dirty="0"/>
              <a:t>Ｎ</a:t>
            </a:r>
            <a:r>
              <a:rPr lang="zh-CN" altLang="en-US" dirty="0"/>
              <a:t>次，则</a:t>
            </a:r>
          </a:p>
          <a:p>
            <a:pPr algn="just" eaLnBrk="1" hangingPunct="1">
              <a:defRPr/>
            </a:pPr>
            <a:endParaRPr lang="zh-CN" altLang="en-US" dirty="0"/>
          </a:p>
          <a:p>
            <a:pPr algn="just"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     是针与平行线相交概率</a:t>
            </a:r>
            <a:r>
              <a:rPr lang="zh-CN" altLang="en-US" i="1" dirty="0"/>
              <a:t>Ｐ</a:t>
            </a:r>
            <a:r>
              <a:rPr lang="zh-CN" altLang="en-US" dirty="0"/>
              <a:t>的估计值。事实上， </a:t>
            </a:r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   于是有 </a:t>
            </a:r>
          </a:p>
        </p:txBody>
      </p:sp>
      <p:graphicFrame>
        <p:nvGraphicFramePr>
          <p:cNvPr id="30723" name="Object 6">
            <a:extLst>
              <a:ext uri="{FF2B5EF4-FFF2-40B4-BE49-F238E27FC236}">
                <a16:creationId xmlns:a16="http://schemas.microsoft.com/office/drawing/2014/main" id="{EAA2AE8C-DE92-898B-45A3-ECAC84A9DB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559175"/>
          <a:ext cx="24177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800300" imgH="9944100" progId="Equation.3">
                  <p:embed/>
                </p:oleObj>
              </mc:Choice>
              <mc:Fallback>
                <p:oleObj r:id="rId2" imgW="27800300" imgH="9944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59175"/>
                        <a:ext cx="24177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8">
            <a:extLst>
              <a:ext uri="{FF2B5EF4-FFF2-40B4-BE49-F238E27FC236}">
                <a16:creationId xmlns:a16="http://schemas.microsoft.com/office/drawing/2014/main" id="{F03D10C0-FAA8-E370-BA84-9C5583246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105150"/>
          <a:ext cx="3627437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833800" imgH="16383000" progId="Equation.3">
                  <p:embed/>
                </p:oleObj>
              </mc:Choice>
              <mc:Fallback>
                <p:oleObj name="Equation" r:id="rId4" imgW="41833800" imgH="16383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105150"/>
                        <a:ext cx="3627437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10">
            <a:extLst>
              <a:ext uri="{FF2B5EF4-FFF2-40B4-BE49-F238E27FC236}">
                <a16:creationId xmlns:a16="http://schemas.microsoft.com/office/drawing/2014/main" id="{7F0F0108-A41B-20A3-4EB1-3766CFF10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0" y="5334000"/>
          <a:ext cx="18494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361400" imgH="9944100" progId="Equation.3">
                  <p:embed/>
                </p:oleObj>
              </mc:Choice>
              <mc:Fallback>
                <p:oleObj r:id="rId6" imgW="21361400" imgH="9944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334000"/>
                        <a:ext cx="18494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AutoShape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01FC3FD-4EA4-5FEE-323F-9F55FFF45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6116638"/>
            <a:ext cx="522288" cy="522287"/>
          </a:xfrm>
          <a:prstGeom prst="actionButtonBackPrevious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1750" name="AutoShape 1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88A75AF2-37E0-9486-1335-7D2424E0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F4E4AA-B4AB-2270-609F-CBB301A4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C0BCF84F-94E7-CC44-95A0-E99878BA9E01}" type="slidenum">
              <a:rPr lang="en-US" altLang="zh-CN"/>
              <a:pPr lvl="1">
                <a:defRPr/>
              </a:pPr>
              <a:t>17</a:t>
            </a:fld>
            <a:endParaRPr lang="en-US" altLang="zh-CN">
              <a:latin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9B85F84-C413-5645-E3A3-36F4F0E41F49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1989138"/>
            <a:ext cx="3425825" cy="969962"/>
            <a:chOff x="3238502" y="1989138"/>
            <a:chExt cx="3425825" cy="969962"/>
          </a:xfrm>
        </p:grpSpPr>
        <p:graphicFrame>
          <p:nvGraphicFramePr>
            <p:cNvPr id="31753" name="Object 4">
              <a:extLst>
                <a:ext uri="{FF2B5EF4-FFF2-40B4-BE49-F238E27FC236}">
                  <a16:creationId xmlns:a16="http://schemas.microsoft.com/office/drawing/2014/main" id="{F2776053-0DA6-1318-2FB7-7B6F4B9F7B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8502" y="1989138"/>
            <a:ext cx="3425825" cy="969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9497000" imgH="11112500" progId="Equation.3">
                    <p:embed/>
                  </p:oleObj>
                </mc:Choice>
                <mc:Fallback>
                  <p:oleObj r:id="rId9" imgW="39497000" imgH="11112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502" y="1989138"/>
                          <a:ext cx="3425825" cy="969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4" name="文本框 2">
              <a:extLst>
                <a:ext uri="{FF2B5EF4-FFF2-40B4-BE49-F238E27FC236}">
                  <a16:creationId xmlns:a16="http://schemas.microsoft.com/office/drawing/2014/main" id="{80B56EF6-C5BC-0BF4-D546-E3FA99FE9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84" y="2058081"/>
              <a:ext cx="42030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b="1"/>
                <a:t>当</a:t>
              </a:r>
            </a:p>
          </p:txBody>
        </p:sp>
        <p:sp>
          <p:nvSpPr>
            <p:cNvPr id="31755" name="文本框 3">
              <a:extLst>
                <a:ext uri="{FF2B5EF4-FFF2-40B4-BE49-F238E27FC236}">
                  <a16:creationId xmlns:a16="http://schemas.microsoft.com/office/drawing/2014/main" id="{888AAB88-A27A-208A-75F6-C32AE8F99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266" y="2477646"/>
              <a:ext cx="65594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b="1"/>
                <a:t>其他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7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6B0F4-6EFF-3D15-926A-FE80E3B9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MATLAB</a:t>
            </a:r>
            <a:r>
              <a:rPr lang="zh-CN" altLang="en-US" dirty="0"/>
              <a:t>代码：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C2965294-4602-C627-7A7A-6F38C6BE94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A48BE3-5980-1A2D-F253-FA99B647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3850D594-AEDB-864C-90EB-4825820023DD}" type="slidenum">
              <a:rPr lang="en-US" altLang="zh-CN" smtClean="0"/>
              <a:pPr lvl="1">
                <a:defRPr/>
              </a:pPr>
              <a:t>18</a:t>
            </a:fld>
            <a:endParaRPr lang="en-US" altLang="zh-CN">
              <a:latin typeface="+mn-lt"/>
            </a:endParaRPr>
          </a:p>
        </p:txBody>
      </p:sp>
      <p:pic>
        <p:nvPicPr>
          <p:cNvPr id="32772" name="图片 4">
            <a:extLst>
              <a:ext uri="{FF2B5EF4-FFF2-40B4-BE49-F238E27FC236}">
                <a16:creationId xmlns:a16="http://schemas.microsoft.com/office/drawing/2014/main" id="{D56682C5-13F3-A634-370A-9B8A15C7E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1481138"/>
            <a:ext cx="8728075" cy="350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6AE7899-D820-4E35-2ADE-034F577F1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latin typeface="Times New Roman" panose="02020603050405020304" pitchFamily="18" charset="0"/>
              </a:rPr>
              <a:t>例２．射击问题</a:t>
            </a:r>
            <a:r>
              <a:rPr lang="zh-CN" altLang="en-US"/>
              <a:t> 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41264340-A6A3-3884-2B62-F1DBA8CF1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7213" y="1292225"/>
            <a:ext cx="5238750" cy="4824413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l"/>
              <a:defRPr/>
            </a:pPr>
            <a:r>
              <a:rPr lang="en-US" altLang="zh-CN" dirty="0"/>
              <a:t> </a:t>
            </a:r>
            <a:r>
              <a:rPr lang="zh-CN" altLang="en-US" dirty="0"/>
              <a:t>设射击运动员的弹着点分布为</a:t>
            </a:r>
            <a:endParaRPr lang="en-US" altLang="zh-CN" dirty="0"/>
          </a:p>
          <a:p>
            <a:pPr algn="just" eaLnBrk="1" hangingPunct="1">
              <a:buFont typeface="Wingdings" pitchFamily="2" charset="2"/>
              <a:buChar char="l"/>
              <a:defRPr/>
            </a:pPr>
            <a:endParaRPr lang="en-US" altLang="zh-CN" dirty="0"/>
          </a:p>
          <a:p>
            <a:pPr algn="just" eaLnBrk="1" hangingPunct="1">
              <a:buFont typeface="Wingdings" pitchFamily="2" charset="2"/>
              <a:buChar char="l"/>
              <a:defRPr/>
            </a:pPr>
            <a:endParaRPr lang="en-US" altLang="zh-CN" dirty="0"/>
          </a:p>
          <a:p>
            <a:pPr algn="just" eaLnBrk="1" hangingPunct="1">
              <a:buFont typeface="Wingdings" pitchFamily="2" charset="2"/>
              <a:buChar char="l"/>
              <a:defRPr/>
            </a:pPr>
            <a:r>
              <a:rPr lang="zh-CN" altLang="en-US" dirty="0"/>
              <a:t>用计算机作随机试验（射击）的方法为，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选取一个随机数</a:t>
            </a:r>
            <a:r>
              <a:rPr lang="en-US" altLang="zh-CN" i="1" dirty="0" err="1">
                <a:solidFill>
                  <a:schemeClr val="accent1">
                    <a:lumMod val="75000"/>
                  </a:schemeClr>
                </a:solidFill>
              </a:rPr>
              <a:t>ξ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，按右边所列方法判断得到成绩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 eaLnBrk="1" hangingPunct="1">
              <a:buFont typeface="Wingdings" pitchFamily="2" charset="2"/>
              <a:buChar char="l"/>
              <a:defRPr/>
            </a:pPr>
            <a:r>
              <a:rPr lang="zh-CN" altLang="en-US" dirty="0"/>
              <a:t>这样，就进行了一次随机试验（射击），得到了一次成绩 </a:t>
            </a:r>
            <a:r>
              <a:rPr lang="zh-CN" altLang="en-US" i="1" dirty="0">
                <a:solidFill>
                  <a:srgbClr val="000000"/>
                </a:solidFill>
              </a:rPr>
              <a:t>ｇ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/>
              <a:t>，作</a:t>
            </a:r>
            <a:r>
              <a:rPr lang="zh-CN" altLang="en-US" i="1" dirty="0"/>
              <a:t>Ｎ</a:t>
            </a:r>
            <a:r>
              <a:rPr lang="zh-CN" altLang="en-US" dirty="0"/>
              <a:t>次试验后，得到该运动员射击成绩的近似值  </a:t>
            </a:r>
          </a:p>
        </p:txBody>
      </p:sp>
      <p:graphicFrame>
        <p:nvGraphicFramePr>
          <p:cNvPr id="66610" name="Group 50">
            <a:extLst>
              <a:ext uri="{FF2B5EF4-FFF2-40B4-BE49-F238E27FC236}">
                <a16:creationId xmlns:a16="http://schemas.microsoft.com/office/drawing/2014/main" id="{D2228914-94D7-700B-D3BD-DD61EB5AF356}"/>
              </a:ext>
            </a:extLst>
          </p:cNvPr>
          <p:cNvGraphicFramePr>
            <a:graphicFrameLocks noGrp="1"/>
          </p:cNvGraphicFramePr>
          <p:nvPr/>
        </p:nvGraphicFramePr>
        <p:xfrm>
          <a:off x="1017588" y="1827213"/>
          <a:ext cx="4191000" cy="841376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88"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环数 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概率 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rgbClr val="00CCFF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792" name="Object 51">
            <a:extLst>
              <a:ext uri="{FF2B5EF4-FFF2-40B4-BE49-F238E27FC236}">
                <a16:creationId xmlns:a16="http://schemas.microsoft.com/office/drawing/2014/main" id="{CDFD1F99-F45F-E084-DD65-3A4D9ABA4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0650" y="4587875"/>
          <a:ext cx="21161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282400" imgH="9944100" progId="Equation.3">
                  <p:embed/>
                </p:oleObj>
              </mc:Choice>
              <mc:Fallback>
                <p:oleObj r:id="rId2" imgW="24282400" imgH="99441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0650" y="4587875"/>
                        <a:ext cx="21161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6" name="AutoShape 5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936DE1C-9442-2E35-C836-A9A3759A9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3817" name="AutoShape 57">
            <a:hlinkClick r:id="rId5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1ECD9A33-5912-60A7-C448-E5AEEAFE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6BB24F-E72B-19E9-6DEF-86D93951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1DE6ED0B-F2FA-F844-B8B0-EF257EB916BB}" type="slidenum">
              <a:rPr lang="en-US" altLang="zh-CN"/>
              <a:pPr lvl="1">
                <a:defRPr/>
              </a:pPr>
              <a:t>19</a:t>
            </a:fld>
            <a:endParaRPr lang="en-US" altLang="zh-CN">
              <a:latin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69E6776-A62A-1EA3-025C-CB203DD236F7}"/>
              </a:ext>
            </a:extLst>
          </p:cNvPr>
          <p:cNvGrpSpPr>
            <a:grpSpLocks/>
          </p:cNvGrpSpPr>
          <p:nvPr/>
        </p:nvGrpSpPr>
        <p:grpSpPr bwMode="auto">
          <a:xfrm>
            <a:off x="6116638" y="1016000"/>
            <a:ext cx="2613025" cy="2868613"/>
            <a:chOff x="6116640" y="1238675"/>
            <a:chExt cx="2613504" cy="286789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058D34A-2654-B40F-F41B-AB8CC1375CA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116640" y="1238675"/>
              <a:ext cx="2564292" cy="484556"/>
            </a:xfrm>
            <a:prstGeom prst="rect">
              <a:avLst/>
            </a:prstGeom>
            <a:blipFill>
              <a:blip r:embed="rId6"/>
              <a:stretch>
                <a:fillRect l="-3448" t="-15385" r="-3448" b="-69231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8D93D5F-1FB1-DF13-6540-A411601B246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116640" y="2074863"/>
              <a:ext cx="2564292" cy="484556"/>
            </a:xfrm>
            <a:prstGeom prst="rect">
              <a:avLst/>
            </a:prstGeom>
            <a:blipFill>
              <a:blip r:embed="rId7"/>
              <a:stretch>
                <a:fillRect l="-3448" t="-12821" r="-3448" b="-71795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D5EDCF7-719C-7B6E-3EA0-FF71BDE9DCD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165852" y="2904756"/>
              <a:ext cx="2564292" cy="484556"/>
            </a:xfrm>
            <a:prstGeom prst="rect">
              <a:avLst/>
            </a:prstGeom>
            <a:blipFill>
              <a:blip r:embed="rId8"/>
              <a:stretch>
                <a:fillRect l="-3448" t="-15385" r="-3448" b="-69231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ABA84EC-1522-CE38-8C68-B9130DCDB45C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47266" y="1706193"/>
              <a:ext cx="452047" cy="369332"/>
            </a:xfrm>
            <a:prstGeom prst="rect">
              <a:avLst/>
            </a:prstGeom>
            <a:blipFill>
              <a:blip r:embed="rId9"/>
              <a:stretch>
                <a:fillRect l="-16667" r="-11111" b="-10000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cxnSp>
          <p:nvCxnSpPr>
            <p:cNvPr id="33824" name="直线箭头连接符 7">
              <a:extLst>
                <a:ext uri="{FF2B5EF4-FFF2-40B4-BE49-F238E27FC236}">
                  <a16:creationId xmlns:a16="http://schemas.microsoft.com/office/drawing/2014/main" id="{DA2D142C-95FF-2965-74F2-5AA97DEE8EB9}"/>
                </a:ext>
              </a:extLst>
            </p:cNvPr>
            <p:cNvCxnSpPr>
              <a:cxnSpLocks noChangeShapeType="1"/>
              <a:stCxn id="6" idx="3"/>
            </p:cNvCxnSpPr>
            <p:nvPr/>
          </p:nvCxnSpPr>
          <p:spPr bwMode="auto">
            <a:xfrm>
              <a:off x="7199313" y="1786215"/>
              <a:ext cx="914400" cy="914400"/>
            </a:xfrm>
            <a:prstGeom prst="straightConnector1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3825" name="直线箭头连接符 8">
              <a:extLst>
                <a:ext uri="{FF2B5EF4-FFF2-40B4-BE49-F238E27FC236}">
                  <a16:creationId xmlns:a16="http://schemas.microsoft.com/office/drawing/2014/main" id="{111140D5-3151-F6EB-AE98-5A7AAC79C5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351713" y="1938615"/>
              <a:ext cx="914400" cy="914400"/>
            </a:xfrm>
            <a:prstGeom prst="straightConnector1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99570B1-D6A3-E926-9FE3-EB6A83321F1E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47266" y="2578894"/>
              <a:ext cx="452047" cy="369332"/>
            </a:xfrm>
            <a:prstGeom prst="rect">
              <a:avLst/>
            </a:prstGeom>
            <a:blipFill>
              <a:blip r:embed="rId10"/>
              <a:stretch>
                <a:fillRect l="-16667" r="-11111" b="-10000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24988DD-2577-D584-DB0A-7854DC9E130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47266" y="3342730"/>
              <a:ext cx="452047" cy="369332"/>
            </a:xfrm>
            <a:prstGeom prst="rect">
              <a:avLst/>
            </a:prstGeom>
            <a:blipFill>
              <a:blip r:embed="rId10"/>
              <a:stretch>
                <a:fillRect l="-16667" r="-11111" b="-6452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C286834-853B-27D8-7B94-92CC1504F7C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191748" y="3644901"/>
              <a:ext cx="1649412" cy="461665"/>
            </a:xfrm>
            <a:prstGeom prst="rect">
              <a:avLst/>
            </a:prstGeom>
            <a:blipFill>
              <a:blip r:embed="rId11"/>
              <a:stretch>
                <a:fillRect b="-10811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0C04BD0-2008-9FAD-1CB1-5B7C259D7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FCF107-A6BA-4FAF-3D77-F6DA9EBAF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latin typeface="Times New Roman" panose="02020603050405020304" pitchFamily="18" charset="0"/>
              </a:rPr>
              <a:t>第一章  </a:t>
            </a:r>
            <a:r>
              <a:rPr lang="zh-CN" altLang="en-US" b="1">
                <a:latin typeface="Times New Roman" panose="02020603050405020304" pitchFamily="18" charset="0"/>
                <a:hlinkClick r:id="rId4" action="ppaction://hlinksldjump"/>
              </a:rPr>
              <a:t>蒙特卡罗方法概述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5070E34-F9EE-FAD2-3C70-F7D3EAFA6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1484313"/>
            <a:ext cx="8421688" cy="4537075"/>
          </a:xfrm>
        </p:spPr>
        <p:txBody>
          <a:bodyPr/>
          <a:lstStyle/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 dirty="0">
                <a:hlinkClick r:id="rId5" action="ppaction://hlinksldjump"/>
              </a:rPr>
              <a:t>蒙特卡罗方法的基本思想</a:t>
            </a:r>
            <a:endParaRPr lang="zh-CN" altLang="en-US" sz="3200" b="1" dirty="0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 dirty="0">
                <a:hlinkClick r:id="rId6" action="ppaction://hlinksldjump"/>
              </a:rPr>
              <a:t>蒙特卡罗方法的收敛性，误差</a:t>
            </a:r>
            <a:endParaRPr lang="zh-CN" altLang="en-US" sz="3200" b="1" dirty="0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 dirty="0">
                <a:hlinkClick r:id="rId7" action="ppaction://hlinksldjump"/>
              </a:rPr>
              <a:t>蒙特卡罗方法的特点</a:t>
            </a:r>
            <a:endParaRPr lang="zh-CN" altLang="en-US" sz="3200" b="1" dirty="0"/>
          </a:p>
          <a:p>
            <a:pPr marL="609600" indent="-609600" eaLnBrk="1" hangingPunct="1">
              <a:buSzTx/>
              <a:buFont typeface="Wingdings" pitchFamily="2" charset="2"/>
              <a:buAutoNum type="arabicPeriod"/>
            </a:pPr>
            <a:r>
              <a:rPr lang="zh-CN" altLang="en-US" sz="3200" b="1" dirty="0">
                <a:hlinkClick r:id="" action="ppaction://noaction"/>
              </a:rPr>
              <a:t>蒙特卡罗方法的主要应用范围</a:t>
            </a:r>
            <a:endParaRPr lang="zh-CN" altLang="en-US" sz="3200" b="1" dirty="0"/>
          </a:p>
          <a:p>
            <a:pPr marL="609600" indent="-609600" eaLnBrk="1" hangingPunct="1">
              <a:buSzTx/>
            </a:pPr>
            <a:endParaRPr lang="zh-CN" altLang="en-US" sz="3200" b="1" dirty="0"/>
          </a:p>
          <a:p>
            <a:pPr marL="609600" indent="-609600" eaLnBrk="1" hangingPunct="1">
              <a:buFont typeface="Wingdings" pitchFamily="2" charset="2"/>
              <a:buChar char="Ø"/>
            </a:pPr>
            <a:r>
              <a:rPr lang="zh-CN" altLang="en-US" sz="3200" b="1" dirty="0">
                <a:hlinkClick r:id="rId8" action="ppaction://hlinksldjump"/>
              </a:rPr>
              <a:t>作 业</a:t>
            </a:r>
            <a:endParaRPr lang="zh-CN" altLang="en-US" sz="3200" b="1" dirty="0"/>
          </a:p>
        </p:txBody>
      </p:sp>
      <p:sp>
        <p:nvSpPr>
          <p:cNvPr id="16387" name="AutoShape 6">
            <a:hlinkClick r:id="rId9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6E9CB51D-3506-B6B2-7E28-EDA7B379E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3CF8B4-D3D0-4DD9-E04B-08CAAA25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23BB0B74-5374-BC4A-A6EC-5E8B5B6D3E3F}" type="slidenum">
              <a:rPr lang="en-US" altLang="zh-CN"/>
              <a:pPr lvl="1">
                <a:defRPr/>
              </a:pPr>
              <a:t>20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90427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9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CD0EE93-02C5-63F5-B63A-F92893A74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Tx/>
              <a:buAutoNum type="arabicPeriod" startAt="2"/>
              <a:defRPr/>
            </a:pPr>
            <a:r>
              <a:rPr lang="zh-CN" altLang="en-US" b="1">
                <a:latin typeface="Times New Roman" panose="02020603050405020304" pitchFamily="18" charset="0"/>
              </a:rPr>
              <a:t>蒙特卡罗方法的收敛性，误差</a:t>
            </a:r>
            <a:r>
              <a:rPr lang="zh-CN" altLang="en-US"/>
              <a:t> 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74B47D7-0C72-8DED-109B-0A76F092E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just" eaLnBrk="1" hangingPunct="1">
              <a:defRPr/>
            </a:pPr>
            <a:r>
              <a:rPr lang="zh-CN" altLang="en-US" dirty="0"/>
              <a:t>蒙特卡罗方法作为一种计算方法，其收敛性与误差是普遍关心的一个重要问题。</a:t>
            </a:r>
          </a:p>
          <a:p>
            <a:pPr marL="457200" indent="-457200" algn="just" eaLnBrk="1" hangingPunct="1">
              <a:defRPr/>
            </a:pPr>
            <a:endParaRPr lang="zh-CN" altLang="en-US" dirty="0"/>
          </a:p>
          <a:p>
            <a:pPr marL="457200" indent="-457200" eaLnBrk="1" hangingPunct="1">
              <a:buFont typeface="Wingdings" pitchFamily="2" charset="2"/>
              <a:buChar char="Ø"/>
              <a:defRPr/>
            </a:pPr>
            <a:r>
              <a:rPr lang="zh-CN" altLang="en-US" dirty="0">
                <a:hlinkClick r:id="rId3" action="ppaction://hlinksldjump"/>
              </a:rPr>
              <a:t>收敛性</a:t>
            </a:r>
            <a:endParaRPr lang="zh-CN" altLang="en-US" dirty="0"/>
          </a:p>
          <a:p>
            <a:pPr marL="457200" indent="-457200" eaLnBrk="1" hangingPunct="1">
              <a:buFont typeface="Wingdings" pitchFamily="2" charset="2"/>
              <a:buChar char="Ø"/>
              <a:defRPr/>
            </a:pPr>
            <a:r>
              <a:rPr lang="zh-CN" altLang="en-US" dirty="0">
                <a:hlinkClick r:id="rId4" action="ppaction://hlinksldjump"/>
              </a:rPr>
              <a:t>误差</a:t>
            </a:r>
            <a:endParaRPr lang="zh-CN" altLang="en-US" dirty="0"/>
          </a:p>
          <a:p>
            <a:pPr marL="457200" indent="-457200" eaLnBrk="1" hangingPunct="1">
              <a:buFont typeface="Wingdings" pitchFamily="2" charset="2"/>
              <a:buChar char="Ø"/>
              <a:defRPr/>
            </a:pPr>
            <a:r>
              <a:rPr lang="zh-CN" altLang="en-US" dirty="0">
                <a:hlinkClick r:id="rId5" action="ppaction://hlinksldjump"/>
              </a:rPr>
              <a:t>减小方差的各种技巧 </a:t>
            </a:r>
            <a:endParaRPr lang="zh-CN" altLang="en-US" dirty="0"/>
          </a:p>
        </p:txBody>
      </p:sp>
      <p:sp>
        <p:nvSpPr>
          <p:cNvPr id="34819" name="AutoShape 1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2D0B8E8C-9BF3-BD43-05CF-2C4878562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4820" name="AutoShape 13">
            <a:hlinkClick r:id="rId7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B2E77D25-7572-1242-C050-F8FBF16CD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3EEAFD-A472-BE7A-8254-2F807EF9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6179EDA7-7CE9-7348-B6FE-C8BA8044C666}" type="slidenum">
              <a:rPr lang="en-US" altLang="zh-CN"/>
              <a:pPr lvl="1">
                <a:defRPr/>
              </a:pPr>
              <a:t>21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uiExpand="1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857670A-B65D-AF92-7E01-EE3FBC074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 typeface="Wingdings" pitchFamily="2" charset="2"/>
              <a:buChar char="Ø"/>
              <a:defRPr/>
            </a:pPr>
            <a:r>
              <a:rPr lang="zh-CN" altLang="en-US">
                <a:latin typeface="Times New Roman" panose="02020603050405020304" pitchFamily="18" charset="0"/>
              </a:rPr>
              <a:t>收敛性</a:t>
            </a:r>
            <a:r>
              <a:rPr lang="zh-CN" altLang="en-US"/>
              <a:t> 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AA2A2871-3A5A-BE09-684E-F16C1ECA1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1196752"/>
            <a:ext cx="8080375" cy="514508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由前面介绍可知，蒙特卡罗方法是由随机变量</a:t>
            </a:r>
            <a:r>
              <a:rPr lang="en-US" altLang="zh-CN" dirty="0"/>
              <a:t>X</a:t>
            </a:r>
            <a:r>
              <a:rPr lang="zh-CN" altLang="en-US" dirty="0"/>
              <a:t>的简单子样</a:t>
            </a:r>
            <a:r>
              <a:rPr lang="en-US" altLang="zh-CN" dirty="0"/>
              <a:t>X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N</a:t>
            </a:r>
            <a:r>
              <a:rPr lang="zh-CN" altLang="en-US" dirty="0"/>
              <a:t>的算术平均值： </a:t>
            </a:r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r>
              <a:rPr lang="zh-CN" altLang="en-US" dirty="0">
                <a:solidFill>
                  <a:srgbClr val="352CF5"/>
                </a:solidFill>
              </a:rPr>
              <a:t>           算术平均值作为所求解的近似值。</a:t>
            </a:r>
            <a:endParaRPr lang="en-US" altLang="zh-CN" dirty="0">
              <a:solidFill>
                <a:srgbClr val="352CF5"/>
              </a:solidFill>
            </a:endParaRPr>
          </a:p>
          <a:p>
            <a:pPr eaLnBrk="1" hangingPunct="1">
              <a:defRPr/>
            </a:pPr>
            <a:r>
              <a:rPr lang="en-US" altLang="zh-CN" dirty="0"/>
              <a:t>		</a:t>
            </a:r>
            <a:r>
              <a:rPr lang="zh-CN" altLang="en-US" dirty="0"/>
              <a:t>由大数定律可知，如</a:t>
            </a:r>
            <a:r>
              <a:rPr lang="en-US" altLang="zh-CN" dirty="0"/>
              <a:t>X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N</a:t>
            </a:r>
            <a:r>
              <a:rPr lang="zh-CN" altLang="en-US" dirty="0"/>
              <a:t>独立同分布，且具有有限期望值（</a:t>
            </a:r>
            <a:r>
              <a:rPr lang="en-US" altLang="zh-CN" dirty="0"/>
              <a:t>E(X)&lt;∞</a:t>
            </a:r>
            <a:r>
              <a:rPr lang="zh-CN" altLang="en-US" dirty="0"/>
              <a:t>），则 </a:t>
            </a:r>
          </a:p>
          <a:p>
            <a:pPr eaLnBrk="1" hangingPunct="1">
              <a:defRPr/>
            </a:pPr>
            <a:endParaRPr lang="zh-CN" altLang="en-US" sz="1200" dirty="0"/>
          </a:p>
          <a:p>
            <a:pPr eaLnBrk="1" hangingPunct="1">
              <a:defRPr/>
            </a:pPr>
            <a:endParaRPr lang="zh-CN" altLang="en-US" sz="1200" dirty="0"/>
          </a:p>
          <a:p>
            <a:pPr eaLnBrk="1" hangingPunct="1">
              <a:defRPr/>
            </a:pPr>
            <a:endParaRPr lang="zh-CN" altLang="en-US" sz="1200" dirty="0"/>
          </a:p>
          <a:p>
            <a:pPr algn="just" eaLnBrk="1" hangingPunct="1">
              <a:defRPr/>
            </a:pPr>
            <a:r>
              <a:rPr lang="zh-CN" altLang="en-US" dirty="0"/>
              <a:t>            其中       即随机变量</a:t>
            </a:r>
            <a:r>
              <a:rPr lang="en-US" altLang="zh-CN" dirty="0"/>
              <a:t>X</a:t>
            </a:r>
            <a:r>
              <a:rPr lang="zh-CN" altLang="en-US" dirty="0"/>
              <a:t>的简单子样的算术平均值</a:t>
            </a:r>
            <a:endParaRPr lang="en-US" altLang="zh-CN" dirty="0">
              <a:solidFill>
                <a:srgbClr val="000000"/>
              </a:solidFill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当子样数</a:t>
            </a:r>
            <a:r>
              <a:rPr lang="zh-CN" altLang="en-US" b="1" i="1" dirty="0">
                <a:solidFill>
                  <a:schemeClr val="accent1">
                    <a:lumMod val="75000"/>
                  </a:schemeClr>
                </a:solidFill>
              </a:rPr>
              <a:t>Ｎ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充分大时，</a:t>
            </a:r>
            <a:r>
              <a:rPr lang="zh-CN" altLang="en-US" b="1" u="sng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以概率</a:t>
            </a:r>
            <a:r>
              <a:rPr lang="en-US" altLang="zh-CN" b="1" u="sng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zh-CN" altLang="en-US" b="1" u="sng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收敛于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它的期望值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E(X)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。</a:t>
            </a:r>
          </a:p>
        </p:txBody>
      </p:sp>
      <p:graphicFrame>
        <p:nvGraphicFramePr>
          <p:cNvPr id="34819" name="Object 4">
            <a:extLst>
              <a:ext uri="{FF2B5EF4-FFF2-40B4-BE49-F238E27FC236}">
                <a16:creationId xmlns:a16="http://schemas.microsoft.com/office/drawing/2014/main" id="{B989F702-6C79-EB45-55C8-00C95B43C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9975" y="2246313"/>
          <a:ext cx="19224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237700" imgH="9944100" progId="Equation.3">
                  <p:embed/>
                </p:oleObj>
              </mc:Choice>
              <mc:Fallback>
                <p:oleObj r:id="rId2" imgW="22237700" imgH="9944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975" y="2246313"/>
                        <a:ext cx="19224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6">
            <a:extLst>
              <a:ext uri="{FF2B5EF4-FFF2-40B4-BE49-F238E27FC236}">
                <a16:creationId xmlns:a16="http://schemas.microsoft.com/office/drawing/2014/main" id="{CF0EFF4F-F52E-8F63-A726-6B5B4E245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180295"/>
              </p:ext>
            </p:extLst>
          </p:nvPr>
        </p:nvGraphicFramePr>
        <p:xfrm>
          <a:off x="3276600" y="4581525"/>
          <a:ext cx="3101975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5699700" imgH="9944100" progId="Equation.3">
                  <p:embed/>
                </p:oleObj>
              </mc:Choice>
              <mc:Fallback>
                <p:oleObj r:id="rId4" imgW="35699700" imgH="9944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81525"/>
                        <a:ext cx="3101975" cy="85566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8">
            <a:extLst>
              <a:ext uri="{FF2B5EF4-FFF2-40B4-BE49-F238E27FC236}">
                <a16:creationId xmlns:a16="http://schemas.microsoft.com/office/drawing/2014/main" id="{25C72396-829A-D8BE-E876-BC239E772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2338" y="5451475"/>
          <a:ext cx="508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854700" imgH="5562600" progId="Equation.3">
                  <p:embed/>
                </p:oleObj>
              </mc:Choice>
              <mc:Fallback>
                <p:oleObj r:id="rId6" imgW="5854700" imgH="556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5451475"/>
                        <a:ext cx="508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8FFA8B-4DB3-E100-B4A7-AE6211E5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0109BF9E-484B-5642-91C3-ECD9CB9A0371}" type="slidenum">
              <a:rPr lang="en-US" altLang="zh-CN"/>
              <a:pPr lvl="1">
                <a:defRPr/>
              </a:pPr>
              <a:t>22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DE966-EEC0-FA3A-EBD4-18DDB5DB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强调 “以概率 </a:t>
            </a:r>
            <a:r>
              <a:rPr lang="en-US" altLang="zh-CN" dirty="0"/>
              <a:t>1” </a:t>
            </a:r>
            <a:r>
              <a:rPr lang="zh-CN" altLang="en-US" dirty="0"/>
              <a:t>收敛的含义？</a:t>
            </a:r>
          </a:p>
        </p:txBody>
      </p:sp>
      <p:sp>
        <p:nvSpPr>
          <p:cNvPr id="56322" name="内容占位符 2">
            <a:extLst>
              <a:ext uri="{FF2B5EF4-FFF2-40B4-BE49-F238E27FC236}">
                <a16:creationId xmlns:a16="http://schemas.microsoft.com/office/drawing/2014/main" id="{34CBE181-456D-5299-C661-B1E763070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8223250" cy="45370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dirty="0"/>
          </a:p>
          <a:p>
            <a:pPr lvl="1">
              <a:spcBef>
                <a:spcPts val="1825"/>
              </a:spcBef>
              <a:spcAft>
                <a:spcPts val="1800"/>
              </a:spcAft>
            </a:pPr>
            <a:r>
              <a:rPr lang="zh-CN" altLang="en-US" sz="2800" dirty="0"/>
              <a:t>这意味着，随着 </a:t>
            </a:r>
            <a:r>
              <a:rPr lang="en-US" altLang="zh-CN" sz="2800" dirty="0"/>
              <a:t>N </a:t>
            </a:r>
            <a:r>
              <a:rPr lang="zh-CN" altLang="en-US" sz="2800" dirty="0"/>
              <a:t>增大，</a:t>
            </a:r>
            <a:r>
              <a:rPr lang="zh-CN" altLang="en-US" sz="2800" dirty="0">
                <a:highlight>
                  <a:srgbClr val="FFFF00"/>
                </a:highlight>
              </a:rPr>
              <a:t>样本均值 </a:t>
            </a:r>
            <a:r>
              <a:rPr lang="zh-CN" altLang="en-US" sz="2800" b="1" dirty="0"/>
              <a:t>几乎一定会趋近于</a:t>
            </a:r>
            <a:r>
              <a:rPr lang="zh-CN" altLang="en-US" sz="2800" dirty="0"/>
              <a:t> </a:t>
            </a:r>
            <a:r>
              <a:rPr lang="zh-CN" altLang="en-US" sz="2800" dirty="0">
                <a:highlight>
                  <a:srgbClr val="FFFF00"/>
                </a:highlight>
              </a:rPr>
              <a:t>真实均值 </a:t>
            </a:r>
            <a:r>
              <a:rPr lang="en-US" altLang="zh-CN" sz="2800" dirty="0">
                <a:highlight>
                  <a:srgbClr val="FFFF00"/>
                </a:highlight>
              </a:rPr>
              <a:t>E(X) </a:t>
            </a:r>
          </a:p>
          <a:p>
            <a:pPr lvl="1">
              <a:spcBef>
                <a:spcPts val="1825"/>
              </a:spcBef>
              <a:spcAft>
                <a:spcPts val="1800"/>
              </a:spcAft>
            </a:pPr>
            <a:r>
              <a:rPr lang="zh-CN" altLang="en-US" sz="2800" dirty="0"/>
              <a:t>不会出现“有些情况下会偏离很远”的情况。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DE6F3B-6E7A-23D7-FD8C-9D1AAEEA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2FFFF2F2-911F-1942-9032-FB6461C15E52}" type="slidenum">
              <a:rPr lang="en-US" altLang="zh-CN" smtClean="0"/>
              <a:pPr lvl="1">
                <a:defRPr/>
              </a:pPr>
              <a:t>23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C7CEB-7F99-BB48-FCEE-AB7AC636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举例：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B2ECFF4-6F92-88EE-9EA4-12D86F56B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2625" y="1371600"/>
            <a:ext cx="5689600" cy="12446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FB113A-BA35-0213-D9CE-3DBAB28C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24</a:t>
            </a:fld>
            <a:endParaRPr lang="en-US" altLang="zh-CN">
              <a:latin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2F0F87-8BA7-86A5-B43D-7FEA81395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694" y="9238"/>
            <a:ext cx="3432827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17884E3-0EE8-3A9D-886F-28EFC6BF624A}"/>
                  </a:ext>
                </a:extLst>
              </p14:cNvPr>
              <p14:cNvContentPartPr/>
              <p14:nvPr/>
            </p14:nvContentPartPr>
            <p14:xfrm>
              <a:off x="823448" y="2395162"/>
              <a:ext cx="2427480" cy="43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17884E3-0EE8-3A9D-886F-28EFC6BF62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448" y="2323162"/>
                <a:ext cx="2499120" cy="1479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15B22FC0-38EC-032D-0644-2F9B0372A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448" y="2735905"/>
            <a:ext cx="4118206" cy="40122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547A580-8E3C-2F66-9C87-DB9CBE6EE60B}"/>
              </a:ext>
            </a:extLst>
          </p:cNvPr>
          <p:cNvSpPr txBox="1"/>
          <p:nvPr/>
        </p:nvSpPr>
        <p:spPr>
          <a:xfrm>
            <a:off x="2478869" y="4563070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>
                <a:solidFill>
                  <a:srgbClr val="352CF5"/>
                </a:solidFill>
                <a:highlight>
                  <a:srgbClr val="FFFF00"/>
                </a:highlight>
              </a:rPr>
              <a:t>在进行大量模拟时，还需要考虑实际的服务器算力</a:t>
            </a:r>
          </a:p>
        </p:txBody>
      </p:sp>
    </p:spTree>
    <p:extLst>
      <p:ext uri="{BB962C8B-B14F-4D97-AF65-F5344CB8AC3E}">
        <p14:creationId xmlns:p14="http://schemas.microsoft.com/office/powerpoint/2010/main" val="168146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63FFC-FE1F-3044-E744-9A531544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42" y="29154"/>
            <a:ext cx="8080375" cy="1143000"/>
          </a:xfrm>
        </p:spPr>
        <p:txBody>
          <a:bodyPr/>
          <a:lstStyle/>
          <a:p>
            <a:r>
              <a:rPr kumimoji="1" lang="zh-CN" altLang="en-US" dirty="0"/>
              <a:t>补充概念：随机变量的期望和方差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样本的期望和方差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0C284-F3F7-7FD4-1749-098A871EC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zh-CN" altLang="en-US" dirty="0">
                <a:highlight>
                  <a:srgbClr val="FFFF00"/>
                </a:highlight>
              </a:rPr>
              <a:t>随机变量的期望和方差</a:t>
            </a:r>
            <a:r>
              <a:rPr kumimoji="1" lang="zh-CN" altLang="en-US" dirty="0"/>
              <a:t>：</a:t>
            </a:r>
            <a:r>
              <a:rPr lang="zh-CN" altLang="en-US" dirty="0"/>
              <a:t>代表随机变量</a:t>
            </a:r>
            <a:r>
              <a:rPr lang="zh-CN" altLang="en-US" b="1" dirty="0"/>
              <a:t>长期稳定的平均值和离散程度</a:t>
            </a:r>
            <a:r>
              <a:rPr lang="zh-CN" altLang="en-US" dirty="0"/>
              <a:t>，无法直接观测，仅能通过理论推导或者大量的样本估计得到。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 </a:t>
            </a:r>
            <a:r>
              <a:rPr lang="en-US" altLang="zh-CN" dirty="0"/>
              <a:t>			</a:t>
            </a:r>
            <a:r>
              <a:rPr lang="zh-CN" altLang="en-US" dirty="0"/>
              <a:t>        是从随机变量 </a:t>
            </a:r>
            <a:r>
              <a:rPr lang="en-US" altLang="zh-CN" dirty="0"/>
              <a:t>X </a:t>
            </a:r>
            <a:r>
              <a:rPr lang="zh-CN" altLang="en-US" dirty="0"/>
              <a:t>的概率分布中实际抽取（或观测）的一组具体数值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</a:rPr>
              <a:t>样本的</a:t>
            </a:r>
            <a:r>
              <a:rPr lang="zh-CN" altLang="en-US" b="1" dirty="0">
                <a:highlight>
                  <a:srgbClr val="FFFF00"/>
                </a:highlight>
              </a:rPr>
              <a:t>样本均值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xˉ </a:t>
            </a:r>
            <a:r>
              <a:rPr lang="zh-CN" altLang="en-US" dirty="0">
                <a:highlight>
                  <a:srgbClr val="FFFF00"/>
                </a:highlight>
              </a:rPr>
              <a:t>和</a:t>
            </a:r>
            <a:r>
              <a:rPr lang="zh-CN" altLang="en-US" b="1" dirty="0">
                <a:highlight>
                  <a:srgbClr val="FFFF00"/>
                </a:highlight>
              </a:rPr>
              <a:t>样本方差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s</a:t>
            </a:r>
            <a:r>
              <a:rPr lang="en-US" altLang="zh-CN" baseline="30000" dirty="0">
                <a:highlight>
                  <a:srgbClr val="FFFF00"/>
                </a:highlight>
              </a:rPr>
              <a:t>2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zh-CN" altLang="en-US" dirty="0"/>
              <a:t>：都是对随机变量期望和方差的</a:t>
            </a:r>
            <a:r>
              <a:rPr lang="zh-CN" altLang="en-US" b="1" dirty="0"/>
              <a:t>估计</a:t>
            </a:r>
            <a:r>
              <a:rPr lang="zh-CN" altLang="en-US" dirty="0"/>
              <a:t>，是具体计算出来的观测量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CB08F7-AF0D-BD7D-6B29-0B7AAA6E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25</a:t>
            </a:fld>
            <a:endParaRPr lang="en-US" altLang="zh-CN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34208A-C163-5D08-EF65-61DC29650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429000"/>
            <a:ext cx="2870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90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987DB-44C9-37A9-4835-54BB386B1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3" y="20575"/>
            <a:ext cx="8080375" cy="1143000"/>
          </a:xfrm>
        </p:spPr>
        <p:txBody>
          <a:bodyPr/>
          <a:lstStyle/>
          <a:p>
            <a:r>
              <a:rPr lang="zh-CN" altLang="en-US" dirty="0"/>
              <a:t>举例：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CD14BE-9594-DD5B-863A-DBD9715AC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86" y="1163575"/>
            <a:ext cx="8261851" cy="51928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1582D5-C05E-C424-F818-D811E716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26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7912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26">
            <a:extLst>
              <a:ext uri="{FF2B5EF4-FFF2-40B4-BE49-F238E27FC236}">
                <a16:creationId xmlns:a16="http://schemas.microsoft.com/office/drawing/2014/main" id="{908C8294-E553-0686-F089-06FAF65A4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 typeface="Wingdings" pitchFamily="2" charset="2"/>
              <a:buChar char="Ø"/>
              <a:defRPr/>
            </a:pPr>
            <a:r>
              <a:rPr lang="zh-CN" altLang="en-US">
                <a:latin typeface="Times New Roman" panose="02020603050405020304" pitchFamily="18" charset="0"/>
              </a:rPr>
              <a:t>误差 </a:t>
            </a:r>
          </a:p>
        </p:txBody>
      </p:sp>
      <p:sp>
        <p:nvSpPr>
          <p:cNvPr id="35842" name="Rectangle 1027">
            <a:extLst>
              <a:ext uri="{FF2B5EF4-FFF2-40B4-BE49-F238E27FC236}">
                <a16:creationId xmlns:a16="http://schemas.microsoft.com/office/drawing/2014/main" id="{EC7614D7-35DC-3806-58FD-6CBA6FA6B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zh-CN" dirty="0"/>
              <a:t>         </a:t>
            </a:r>
            <a:r>
              <a:rPr lang="zh-CN" altLang="en-US" b="1" dirty="0"/>
              <a:t>蒙特卡罗方法的近似值与真值的误差问题</a:t>
            </a:r>
            <a:r>
              <a:rPr lang="zh-CN" altLang="en-US" dirty="0"/>
              <a:t>，概率论的</a:t>
            </a:r>
            <a:r>
              <a:rPr lang="zh-CN" altLang="en-US" u="sng" dirty="0"/>
              <a:t>中心极限定理给出了答案</a:t>
            </a:r>
            <a:r>
              <a:rPr lang="zh-CN" altLang="en-US" dirty="0"/>
              <a:t>。该定理指出，如果随机变量序列</a:t>
            </a:r>
            <a:r>
              <a:rPr lang="en-US" altLang="zh-CN" dirty="0"/>
              <a:t>X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en-US" altLang="zh-CN" baseline="-30000" dirty="0"/>
              <a:t>N</a:t>
            </a:r>
            <a:r>
              <a:rPr lang="zh-CN" altLang="en-US" dirty="0"/>
              <a:t>独立同分布，且具有有限非零的方差</a:t>
            </a:r>
            <a:r>
              <a:rPr lang="en-US" altLang="zh-CN" dirty="0"/>
              <a:t>σ</a:t>
            </a:r>
            <a:r>
              <a:rPr lang="en-US" altLang="zh-CN" baseline="30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，即</a:t>
            </a:r>
          </a:p>
          <a:p>
            <a:pPr algn="just" eaLnBrk="1" hangingPunct="1"/>
            <a:endParaRPr lang="zh-CN" altLang="en-US" i="1" dirty="0"/>
          </a:p>
          <a:p>
            <a:pPr algn="just" eaLnBrk="1" hangingPunct="1"/>
            <a:r>
              <a:rPr lang="zh-CN" altLang="en-US" i="1" dirty="0"/>
              <a:t>  </a:t>
            </a:r>
            <a:endParaRPr lang="en-US" altLang="zh-CN" i="1" dirty="0"/>
          </a:p>
          <a:p>
            <a:pPr algn="just" eaLnBrk="1" hangingPunct="1"/>
            <a:endParaRPr lang="en-US" altLang="zh-CN" i="1" dirty="0"/>
          </a:p>
          <a:p>
            <a:pPr algn="just" eaLnBrk="1" hangingPunct="1"/>
            <a:r>
              <a:rPr lang="en-US" altLang="zh-CN" i="1" dirty="0"/>
              <a:t>f</a:t>
            </a:r>
            <a:r>
              <a:rPr lang="en-US" altLang="zh-CN" dirty="0"/>
              <a:t>(X)</a:t>
            </a:r>
            <a:r>
              <a:rPr lang="zh-CN" altLang="en-US" dirty="0"/>
              <a:t>是</a:t>
            </a:r>
            <a:r>
              <a:rPr lang="en-US" altLang="zh-CN" dirty="0"/>
              <a:t>X</a:t>
            </a:r>
            <a:r>
              <a:rPr lang="zh-CN" altLang="en-US" dirty="0"/>
              <a:t>的分布密度函数。则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35843" name="Object 1028">
            <a:extLst>
              <a:ext uri="{FF2B5EF4-FFF2-40B4-BE49-F238E27FC236}">
                <a16:creationId xmlns:a16="http://schemas.microsoft.com/office/drawing/2014/main" id="{6455225A-3C41-29AC-F214-371D74F1FD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9425" y="5368925"/>
          <a:ext cx="594518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465700" imgH="11696700" progId="Equation.3">
                  <p:embed/>
                </p:oleObj>
              </mc:Choice>
              <mc:Fallback>
                <p:oleObj r:id="rId2" imgW="68465700" imgH="116967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5368925"/>
                        <a:ext cx="5945188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1030">
            <a:extLst>
              <a:ext uri="{FF2B5EF4-FFF2-40B4-BE49-F238E27FC236}">
                <a16:creationId xmlns:a16="http://schemas.microsoft.com/office/drawing/2014/main" id="{AA410817-A8DF-743F-96CE-69ADB226B2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024313"/>
          <a:ext cx="43624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317400" imgH="6438900" progId="Equation.3">
                  <p:embed/>
                </p:oleObj>
              </mc:Choice>
              <mc:Fallback>
                <p:oleObj r:id="rId4" imgW="50317400" imgH="64389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024313"/>
                        <a:ext cx="43624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BE936B-79BD-F72C-1095-4C9177F5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ADC81E9A-C1CF-594A-82D6-586DB14D7A07}" type="slidenum">
              <a:rPr lang="en-US" altLang="zh-CN"/>
              <a:pPr lvl="1">
                <a:defRPr/>
              </a:pPr>
              <a:t>27</a:t>
            </a:fld>
            <a:endParaRPr lang="en-US" altLang="zh-CN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720663-5676-276A-AE9A-AFB045E1711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50516" y="3204055"/>
            <a:ext cx="5945186" cy="582147"/>
          </a:xfrm>
          <a:prstGeom prst="rect">
            <a:avLst/>
          </a:prstGeom>
          <a:blipFill>
            <a:blip r:embed="rId6"/>
            <a:stretch>
              <a:fillRect b="-19149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E6912A-B168-2FB4-72D9-EA2B042A81A5}"/>
              </a:ext>
            </a:extLst>
          </p:cNvPr>
          <p:cNvSpPr txBox="1"/>
          <p:nvPr/>
        </p:nvSpPr>
        <p:spPr>
          <a:xfrm>
            <a:off x="3148013" y="629920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中心极限定理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CLT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5B9062-1CF2-EE48-9836-C6092BDA7FEC}"/>
              </a:ext>
            </a:extLst>
          </p:cNvPr>
          <p:cNvSpPr txBox="1"/>
          <p:nvPr/>
        </p:nvSpPr>
        <p:spPr>
          <a:xfrm>
            <a:off x="6444208" y="3298750"/>
            <a:ext cx="2816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, </a:t>
            </a:r>
            <a:r>
              <a:rPr kumimoji="1" lang="en-US" altLang="zh-CN" b="1" dirty="0">
                <a:solidFill>
                  <a:srgbClr val="352CF5"/>
                </a:solidFill>
              </a:rPr>
              <a:t>E </a:t>
            </a:r>
            <a:r>
              <a:rPr lang="en-US" altLang="zh-CN" b="1" dirty="0">
                <a:solidFill>
                  <a:srgbClr val="352CF5"/>
                </a:solidFill>
              </a:rPr>
              <a:t>( </a:t>
            </a:r>
            <a:r>
              <a:rPr kumimoji="1" lang="en-US" altLang="zh-CN" b="1" dirty="0">
                <a:solidFill>
                  <a:srgbClr val="352CF5"/>
                </a:solidFill>
              </a:rPr>
              <a:t>Y = </a:t>
            </a:r>
            <a:r>
              <a:rPr lang="en-US" altLang="zh-CN" b="1" dirty="0">
                <a:solidFill>
                  <a:srgbClr val="352CF5"/>
                </a:solidFill>
              </a:rPr>
              <a:t>(</a:t>
            </a:r>
            <a:r>
              <a:rPr kumimoji="1" lang="en-US" altLang="zh-CN" b="1" dirty="0">
                <a:solidFill>
                  <a:srgbClr val="352CF5"/>
                </a:solidFill>
              </a:rPr>
              <a:t>Z - E(Z))</a:t>
            </a:r>
            <a:r>
              <a:rPr kumimoji="1" lang="en-US" altLang="zh-CN" b="1" baseline="30000" dirty="0">
                <a:solidFill>
                  <a:srgbClr val="352CF5"/>
                </a:solidFill>
              </a:rPr>
              <a:t>2</a:t>
            </a:r>
            <a:r>
              <a:rPr lang="en-US" altLang="zh-CN" b="1" dirty="0">
                <a:solidFill>
                  <a:srgbClr val="352CF5"/>
                </a:solidFill>
              </a:rPr>
              <a:t>)</a:t>
            </a:r>
            <a:endParaRPr kumimoji="1" lang="en-US" altLang="zh-CN" b="1" baseline="30000" dirty="0">
              <a:solidFill>
                <a:srgbClr val="352CF5"/>
              </a:solidFill>
            </a:endParaRPr>
          </a:p>
          <a:p>
            <a:endParaRPr lang="en-US" altLang="zh-CN" b="1" baseline="30000" dirty="0">
              <a:solidFill>
                <a:srgbClr val="352CF5"/>
              </a:solidFill>
            </a:endParaRPr>
          </a:p>
          <a:p>
            <a:endParaRPr kumimoji="1" lang="en-US" altLang="zh-CN" b="1" baseline="30000" dirty="0">
              <a:solidFill>
                <a:srgbClr val="352CF5"/>
              </a:solidFill>
            </a:endParaRPr>
          </a:p>
          <a:p>
            <a:r>
              <a:rPr lang="en-US" altLang="zh-CN" b="1" baseline="30000" dirty="0">
                <a:solidFill>
                  <a:srgbClr val="352CF5"/>
                </a:solidFill>
              </a:rPr>
              <a:t>Y</a:t>
            </a:r>
            <a:r>
              <a:rPr lang="zh-CN" altLang="en-US" b="1" baseline="30000" dirty="0">
                <a:solidFill>
                  <a:srgbClr val="352CF5"/>
                </a:solidFill>
              </a:rPr>
              <a:t>的数学期望</a:t>
            </a:r>
            <a:endParaRPr lang="en-US" altLang="zh-CN" b="1" baseline="30000" dirty="0">
              <a:solidFill>
                <a:srgbClr val="352CF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uiExpand="1" build="p"/>
      <p:bldP spid="6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5102D-2F08-B911-8467-F6CFE369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补充：样本均值的方差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6E5A9-5234-F58C-196E-382EE8C8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28</a:t>
            </a:fld>
            <a:endParaRPr lang="en-US" altLang="zh-CN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0056E1-9809-25E1-9300-0F5D1726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6" y="2928160"/>
            <a:ext cx="7772400" cy="19210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CDE354-0A7D-5217-8E4B-6B3F5ABDF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7" y="4897243"/>
            <a:ext cx="7772400" cy="166186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3AC330-DAE1-99FA-E42F-3EA508740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17" y="1337601"/>
            <a:ext cx="7772400" cy="154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048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2900B-0656-B40F-6020-8856F9D5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A3FA2-122C-2AE1-8123-4C475BA4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ECA7AA-B90E-F96F-DD8B-EF3CABDF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29</a:t>
            </a:fld>
            <a:endParaRPr lang="en-US" altLang="zh-CN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13D382-5706-282C-72B6-B0A095B9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75" y="186612"/>
            <a:ext cx="7772400" cy="23414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8F591D-B053-3186-32C0-0DA3F65D2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5" y="2528014"/>
            <a:ext cx="7772400" cy="32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39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95C15-E1A8-F40D-C176-117ABA53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6B510A3-84C4-C531-E3FA-58679DD54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24" y="150471"/>
            <a:ext cx="8080375" cy="219170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24A83-BFE5-083E-7B77-7BD0CC5B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30</a:t>
            </a:fld>
            <a:endParaRPr lang="en-US" altLang="zh-CN">
              <a:latin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53AC8A-D641-E84D-15BA-8CE404B3530F}"/>
              </a:ext>
            </a:extLst>
          </p:cNvPr>
          <p:cNvSpPr txBox="1"/>
          <p:nvPr/>
        </p:nvSpPr>
        <p:spPr>
          <a:xfrm>
            <a:off x="610146" y="2355730"/>
            <a:ext cx="822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highlight>
                  <a:srgbClr val="FFFF00"/>
                </a:highlight>
              </a:defRPr>
            </a:lvl1pPr>
          </a:lstStyle>
          <a:p>
            <a:r>
              <a:rPr lang="zh-CN" altLang="en-US" dirty="0"/>
              <a:t>误差：是直接的误差（样本均值与真实期望之差）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17C0AA2-8496-B5A0-5546-6D9D88628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996952"/>
            <a:ext cx="2667000" cy="8509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EBD2A8-86A6-548E-97F3-CECA3EF4A1CC}"/>
              </a:ext>
            </a:extLst>
          </p:cNvPr>
          <p:cNvSpPr txBox="1"/>
          <p:nvPr/>
        </p:nvSpPr>
        <p:spPr>
          <a:xfrm>
            <a:off x="610146" y="3863080"/>
            <a:ext cx="822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highlight>
                  <a:srgbClr val="FFFF00"/>
                </a:highlight>
              </a:defRPr>
            </a:lvl1pPr>
          </a:lstStyle>
          <a:p>
            <a:r>
              <a:rPr lang="zh-CN" altLang="en-US" dirty="0"/>
              <a:t>归一化误差：误差除以标准差来标准化（归一化）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4ABC84C-4697-866F-4415-5B4661A81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991" y="4428465"/>
            <a:ext cx="3360018" cy="127011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490062A-1774-7583-51DA-2F92853320CD}"/>
              </a:ext>
            </a:extLst>
          </p:cNvPr>
          <p:cNvSpPr txBox="1"/>
          <p:nvPr/>
        </p:nvSpPr>
        <p:spPr>
          <a:xfrm>
            <a:off x="269776" y="5657671"/>
            <a:ext cx="86044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52CF5"/>
                </a:solidFill>
              </a:rPr>
              <a:t>归一化误差的作用是将不同规模的误差</a:t>
            </a:r>
            <a:r>
              <a:rPr lang="zh-CN" altLang="en-US" b="1" u="sng" dirty="0">
                <a:solidFill>
                  <a:srgbClr val="352CF5"/>
                </a:solidFill>
              </a:rPr>
              <a:t>统一到标准尺度上（标准正态分布尺度）</a:t>
            </a:r>
            <a:r>
              <a:rPr lang="zh-CN" altLang="en-US" b="1" dirty="0">
                <a:solidFill>
                  <a:srgbClr val="352CF5"/>
                </a:solidFill>
              </a:rPr>
              <a:t>。随着样本量</a:t>
            </a:r>
            <a:r>
              <a:rPr lang="en-US" altLang="zh-CN" b="1" dirty="0">
                <a:solidFill>
                  <a:srgbClr val="352CF5"/>
                </a:solidFill>
              </a:rPr>
              <a:t>N</a:t>
            </a:r>
            <a:r>
              <a:rPr lang="zh-CN" altLang="en-US" b="1" dirty="0">
                <a:solidFill>
                  <a:srgbClr val="352CF5"/>
                </a:solidFill>
              </a:rPr>
              <a:t>的增大，这个归一化误差会逐渐趋近于标准正态分布 </a:t>
            </a:r>
            <a:r>
              <a:rPr lang="en-US" altLang="zh-CN" b="1" dirty="0">
                <a:solidFill>
                  <a:srgbClr val="352CF5"/>
                </a:solidFill>
              </a:rPr>
              <a:t>N(0,1)</a:t>
            </a:r>
            <a:endParaRPr lang="zh-CN" altLang="en-US" b="1" dirty="0">
              <a:solidFill>
                <a:srgbClr val="352C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4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1C2B5-449A-A023-1A84-6DEF3604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概念补充：归一化</a:t>
            </a:r>
            <a:r>
              <a:rPr kumimoji="1" lang="en-US" altLang="zh-CN" dirty="0"/>
              <a:t>/</a:t>
            </a:r>
            <a:r>
              <a:rPr kumimoji="1" lang="zh-CN" altLang="en-US" dirty="0"/>
              <a:t>标准化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A45E8-B3AF-5C56-3579-F3557AF5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31</a:t>
            </a:fld>
            <a:endParaRPr lang="en-US" altLang="zh-CN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5C5DED-1149-A00C-DC90-2E5323659D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" y="1556792"/>
            <a:ext cx="8080375" cy="361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D2D717E-C53C-8042-86EB-E909D18FA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681874"/>
            <a:ext cx="2410234" cy="9110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351586-585E-57B2-0B99-C0CA7A1792A2}"/>
              </a:ext>
            </a:extLst>
          </p:cNvPr>
          <p:cNvSpPr txBox="1"/>
          <p:nvPr/>
        </p:nvSpPr>
        <p:spPr>
          <a:xfrm>
            <a:off x="531812" y="5267380"/>
            <a:ext cx="8172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  <a:latin typeface="Helvetica" pitchFamily="2" charset="0"/>
              </a:rPr>
              <a:t>这里简单提醒一下，经过标准化后，原来的曲线的形状不会变化，即不会改变胖瘦，只是位置发生平移，比如下图中的例子，经过标准化实际上只是均数从</a:t>
            </a:r>
            <a:r>
              <a:rPr lang="en-US" altLang="zh-CN" dirty="0">
                <a:effectLst/>
                <a:latin typeface="Helvetica" pitchFamily="2" charset="0"/>
              </a:rPr>
              <a:t>1010</a:t>
            </a:r>
            <a:r>
              <a:rPr lang="zh-CN" altLang="en-US" dirty="0">
                <a:effectLst/>
                <a:latin typeface="Helvetica" pitchFamily="2" charset="0"/>
              </a:rPr>
              <a:t>移到了</a:t>
            </a:r>
            <a:r>
              <a:rPr lang="en-US" altLang="zh-CN" dirty="0">
                <a:effectLst/>
                <a:latin typeface="Helvetica" pitchFamily="2" charset="0"/>
              </a:rPr>
              <a:t>0</a:t>
            </a:r>
            <a:r>
              <a:rPr lang="zh-CN" altLang="en-US" dirty="0">
                <a:effectLst/>
                <a:latin typeface="Helvetica" pitchFamily="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9718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FBE98-DBA4-2CF3-A27F-908371DF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64" y="136465"/>
            <a:ext cx="8439472" cy="521018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中心极限定理（</a:t>
            </a:r>
            <a:r>
              <a:rPr lang="en-US" altLang="zh-CN" sz="3200" dirty="0"/>
              <a:t>Central Limit Theorem, CLT</a:t>
            </a:r>
            <a:r>
              <a:rPr lang="zh-CN" altLang="en-US" sz="32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820A5-68C3-EFD2-66B9-64B0B453F44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682625" y="1484315"/>
            <a:ext cx="8080375" cy="4537075"/>
          </a:xfrm>
          <a:blipFill>
            <a:blip r:embed="rId2"/>
            <a:stretch>
              <a:fillRect l="-2351" t="-55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319F8-B896-941A-1380-C8BA0C62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91619164-4D89-744A-99E1-0179996E231B}" type="slidenum">
              <a:rPr lang="en-US" altLang="zh-CN" smtClean="0"/>
              <a:pPr lvl="1">
                <a:defRPr/>
              </a:pPr>
              <a:t>32</a:t>
            </a:fld>
            <a:endParaRPr lang="en-US" altLang="zh-CN">
              <a:latin typeface="+mn-lt"/>
            </a:endParaRPr>
          </a:p>
        </p:txBody>
      </p:sp>
      <p:pic>
        <p:nvPicPr>
          <p:cNvPr id="57348" name="图片 4">
            <a:extLst>
              <a:ext uri="{FF2B5EF4-FFF2-40B4-BE49-F238E27FC236}">
                <a16:creationId xmlns:a16="http://schemas.microsoft.com/office/drawing/2014/main" id="{0C9E6FA9-EB20-6EBD-AE52-C02387D9D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3789040"/>
            <a:ext cx="39370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9" name="图片 5">
            <a:extLst>
              <a:ext uri="{FF2B5EF4-FFF2-40B4-BE49-F238E27FC236}">
                <a16:creationId xmlns:a16="http://schemas.microsoft.com/office/drawing/2014/main" id="{55F7E065-D1D2-0376-81FC-5CC026936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3" y="5233665"/>
            <a:ext cx="39497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E9377A4-6F4A-2720-8343-8B180883F1AF}"/>
                  </a:ext>
                </a:extLst>
              </p14:cNvPr>
              <p14:cNvContentPartPr/>
              <p14:nvPr/>
            </p14:nvContentPartPr>
            <p14:xfrm>
              <a:off x="1056368" y="3754882"/>
              <a:ext cx="2813400" cy="918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E9377A4-6F4A-2720-8343-8B180883F1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7368" y="3700882"/>
                <a:ext cx="28310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641F795-2956-39B8-8904-5ECD9FF5F34A}"/>
                  </a:ext>
                </a:extLst>
              </p14:cNvPr>
              <p14:cNvContentPartPr/>
              <p14:nvPr/>
            </p14:nvContentPartPr>
            <p14:xfrm>
              <a:off x="4946528" y="3214882"/>
              <a:ext cx="3249720" cy="842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641F795-2956-39B8-8904-5ECD9FF5F3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37528" y="3160882"/>
                <a:ext cx="32673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1584185-9FF1-F418-64F1-AF94200F7C45}"/>
                  </a:ext>
                </a:extLst>
              </p14:cNvPr>
              <p14:cNvContentPartPr/>
              <p14:nvPr/>
            </p14:nvContentPartPr>
            <p14:xfrm>
              <a:off x="4803248" y="5038282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1584185-9FF1-F418-64F1-AF94200F7C4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94608" y="4984642"/>
                <a:ext cx="18000" cy="10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90009213-F49C-1F9B-20FB-61114462801F}"/>
              </a:ext>
            </a:extLst>
          </p:cNvPr>
          <p:cNvSpPr txBox="1"/>
          <p:nvPr/>
        </p:nvSpPr>
        <p:spPr>
          <a:xfrm>
            <a:off x="534988" y="6280475"/>
            <a:ext cx="6175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CLT</a:t>
            </a:r>
            <a:r>
              <a:rPr lang="zh-CN" altLang="en-US" dirty="0"/>
              <a:t>给出的严格数学结论，已有严密证明。</a:t>
            </a:r>
          </a:p>
        </p:txBody>
      </p:sp>
      <p:graphicFrame>
        <p:nvGraphicFramePr>
          <p:cNvPr id="10" name="Object 1028">
            <a:extLst>
              <a:ext uri="{FF2B5EF4-FFF2-40B4-BE49-F238E27FC236}">
                <a16:creationId xmlns:a16="http://schemas.microsoft.com/office/drawing/2014/main" id="{04DB79F0-205E-F978-28BE-8F6772176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132112"/>
              </p:ext>
            </p:extLst>
          </p:nvPr>
        </p:nvGraphicFramePr>
        <p:xfrm>
          <a:off x="2071904" y="767038"/>
          <a:ext cx="5158459" cy="876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8465700" imgH="11696700" progId="Equation.3">
                  <p:embed/>
                </p:oleObj>
              </mc:Choice>
              <mc:Fallback>
                <p:oleObj r:id="rId11" imgW="68465700" imgH="11696700" progId="Equation.3">
                  <p:embed/>
                  <p:pic>
                    <p:nvPicPr>
                      <p:cNvPr id="35843" name="Object 1028">
                        <a:extLst>
                          <a:ext uri="{FF2B5EF4-FFF2-40B4-BE49-F238E27FC236}">
                            <a16:creationId xmlns:a16="http://schemas.microsoft.com/office/drawing/2014/main" id="{6455225A-3C41-29AC-F214-371D74F1F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904" y="767038"/>
                        <a:ext cx="5158459" cy="87604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DF3ED-2521-C325-7C91-8972BA6A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直观理解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D658D-3C20-C688-B0C9-BDAA5093C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</a:pPr>
            <a:r>
              <a:rPr lang="zh-CN" altLang="en-US" sz="2800" dirty="0"/>
              <a:t>当你有大量独立同分布随机变量进行求和或求均值时，由于各随机变量相互独立，其</a:t>
            </a:r>
            <a:r>
              <a:rPr lang="zh-CN" altLang="en-US" sz="2800" b="1" dirty="0"/>
              <a:t>波动误差（随机波动）会相互抵消或部分中和</a:t>
            </a:r>
            <a:r>
              <a:rPr lang="zh-CN" altLang="en-US" sz="2800" dirty="0"/>
              <a:t>。 </a:t>
            </a:r>
            <a:endParaRPr lang="en-US" altLang="zh-CN" sz="2800" dirty="0"/>
          </a:p>
          <a:p>
            <a:pPr>
              <a:buFont typeface="Wingdings" pitchFamily="2" charset="2"/>
              <a:buChar char="n"/>
            </a:pPr>
            <a:endParaRPr lang="en-US" altLang="zh-CN" sz="2800" dirty="0"/>
          </a:p>
          <a:p>
            <a:pPr>
              <a:buFont typeface="Wingdings" pitchFamily="2" charset="2"/>
              <a:buChar char="n"/>
            </a:pPr>
            <a:r>
              <a:rPr lang="zh-CN" altLang="en-US" sz="2800" dirty="0"/>
              <a:t>随着样本数量增加，样本均值的分布逐渐趋向稳定和规则化，具体来说就是趋近于正态分布。这种现象背后的原因是随机变量</a:t>
            </a:r>
            <a:r>
              <a:rPr lang="zh-CN" altLang="en-US" sz="2800" b="1" dirty="0"/>
              <a:t>叠加后的误差呈现对称、高斯型的稳定状态</a:t>
            </a:r>
            <a:r>
              <a:rPr lang="zh-CN" altLang="en-US" sz="2800" dirty="0"/>
              <a:t>。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E2FD3F-91FC-0011-01C8-07CAAF68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33</a:t>
            </a:fld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4502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3">
            <a:extLst>
              <a:ext uri="{FF2B5EF4-FFF2-40B4-BE49-F238E27FC236}">
                <a16:creationId xmlns:a16="http://schemas.microsoft.com/office/drawing/2014/main" id="{36127824-3DF6-FC28-8CA0-02C856BC6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328612"/>
            <a:ext cx="8780785" cy="6200776"/>
          </a:xfrm>
        </p:spPr>
        <p:txBody>
          <a:bodyPr/>
          <a:lstStyle/>
          <a:p>
            <a:pPr algn="just" eaLnBrk="1" hangingPunct="1"/>
            <a:r>
              <a:rPr lang="en-US" altLang="zh-CN" dirty="0"/>
              <a:t>     </a:t>
            </a:r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zh-CN" altLang="en-US" dirty="0"/>
              <a:t>充分大时，有如下的近似式</a:t>
            </a:r>
          </a:p>
          <a:p>
            <a:pPr algn="just" eaLnBrk="1" hangingPunct="1"/>
            <a:endParaRPr lang="zh-CN" altLang="en-US" dirty="0"/>
          </a:p>
          <a:p>
            <a:pPr algn="just" eaLnBrk="1" hangingPunct="1"/>
            <a:endParaRPr lang="zh-CN" altLang="en-US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52CF5"/>
                </a:solidFill>
              </a:rPr>
              <a:t> </a:t>
            </a:r>
            <a:r>
              <a:rPr lang="en-US" altLang="zh-CN" dirty="0">
                <a:solidFill>
                  <a:srgbClr val="352CF5"/>
                </a:solidFill>
              </a:rPr>
              <a:t>α</a:t>
            </a:r>
            <a:r>
              <a:rPr lang="zh-CN" altLang="en-US" dirty="0">
                <a:solidFill>
                  <a:srgbClr val="352CF5"/>
                </a:solidFill>
              </a:rPr>
              <a:t>称为置信度</a:t>
            </a:r>
            <a:r>
              <a:rPr lang="zh-CN" altLang="en-US" dirty="0"/>
              <a:t>：表示估计的误差范围有多大的把握，落在真实值周围的可能性。</a:t>
            </a:r>
            <a:endParaRPr lang="en-US" altLang="zh-CN" dirty="0"/>
          </a:p>
          <a:p>
            <a:pPr lvl="1" algn="just" eaLnBrk="1" hangingPunct="1">
              <a:buFont typeface="Wingdings" pitchFamily="2" charset="2"/>
              <a:buChar char="ü"/>
            </a:pPr>
            <a:r>
              <a:rPr lang="zh-CN" altLang="en-US" dirty="0"/>
              <a:t>当我们选取置信水平 </a:t>
            </a:r>
            <a:r>
              <a:rPr lang="el-GR" altLang="zh-CN" dirty="0"/>
              <a:t>α=0.05</a:t>
            </a:r>
            <a:r>
              <a:rPr lang="zh-CN" altLang="en-US" dirty="0"/>
              <a:t>时，我们的估计以</a:t>
            </a:r>
            <a:r>
              <a:rPr lang="en-US" altLang="zh-CN" dirty="0"/>
              <a:t>95%</a:t>
            </a:r>
            <a:r>
              <a:rPr lang="zh-CN" altLang="en-US" dirty="0"/>
              <a:t>的概率落入真实值附近的误差范围内。</a:t>
            </a:r>
            <a:endParaRPr lang="en-US" altLang="zh-CN" dirty="0"/>
          </a:p>
          <a:p>
            <a:pPr lvl="1" algn="just" eaLnBrk="1" hangingPunct="1">
              <a:buFont typeface="Wingdings" pitchFamily="2" charset="2"/>
              <a:buChar char="ü"/>
            </a:pPr>
            <a:r>
              <a:rPr lang="zh-CN" altLang="en-US" dirty="0">
                <a:solidFill>
                  <a:srgbClr val="000000"/>
                </a:solidFill>
              </a:rPr>
              <a:t>蒙特卡罗方法的误差</a:t>
            </a:r>
            <a:r>
              <a:rPr lang="en-US" altLang="zh-CN" dirty="0" err="1">
                <a:solidFill>
                  <a:srgbClr val="000000"/>
                </a:solidFill>
              </a:rPr>
              <a:t>ε</a:t>
            </a:r>
            <a:r>
              <a:rPr lang="zh-CN" altLang="en-US" dirty="0">
                <a:solidFill>
                  <a:srgbClr val="000000"/>
                </a:solidFill>
              </a:rPr>
              <a:t>定义为</a:t>
            </a:r>
            <a:endParaRPr lang="en-US" altLang="zh-CN" dirty="0">
              <a:solidFill>
                <a:srgbClr val="000000"/>
              </a:solidFill>
            </a:endParaRPr>
          </a:p>
          <a:p>
            <a:pPr lvl="1" algn="just" eaLnBrk="1" hangingPunct="1">
              <a:buFont typeface="Wingdings" pitchFamily="2" charset="2"/>
              <a:buChar char="ü"/>
            </a:pPr>
            <a:endParaRPr lang="en-US" altLang="zh-CN" dirty="0">
              <a:solidFill>
                <a:srgbClr val="000000"/>
              </a:solidFill>
            </a:endParaRPr>
          </a:p>
          <a:p>
            <a:pPr lvl="1" algn="just" eaLnBrk="1" hangingPunct="1">
              <a:buFont typeface="Wingdings" pitchFamily="2" charset="2"/>
              <a:buChar char="ü"/>
            </a:pPr>
            <a:r>
              <a:rPr lang="zh-CN" altLang="en-US" dirty="0"/>
              <a:t>误差随着样本数增加，以 </a:t>
            </a:r>
            <a:r>
              <a:rPr lang="en-US" altLang="zh-CN" dirty="0"/>
              <a:t>N</a:t>
            </a:r>
            <a:r>
              <a:rPr lang="en-US" altLang="zh-CN" baseline="30000" dirty="0"/>
              <a:t>−1/2</a:t>
            </a:r>
            <a:r>
              <a:rPr lang="zh-CN" altLang="en-US" dirty="0"/>
              <a:t>的速度减小（即误差收敛速度为 </a:t>
            </a:r>
            <a:r>
              <a:rPr lang="en-US" altLang="zh-CN" dirty="0"/>
              <a:t>O(N</a:t>
            </a:r>
            <a:r>
              <a:rPr lang="en-US" altLang="zh-CN" baseline="30000" dirty="0"/>
              <a:t>−1/2</a:t>
            </a:r>
            <a:r>
              <a:rPr lang="en-US" altLang="zh-CN" dirty="0"/>
              <a:t>)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52CF5"/>
                </a:solidFill>
              </a:rPr>
              <a:t>1</a:t>
            </a:r>
            <a:r>
              <a:rPr lang="zh-CN" altLang="en-US" dirty="0">
                <a:solidFill>
                  <a:srgbClr val="352CF5"/>
                </a:solidFill>
              </a:rPr>
              <a:t>－</a:t>
            </a:r>
            <a:r>
              <a:rPr lang="en-US" altLang="zh-CN" dirty="0">
                <a:solidFill>
                  <a:srgbClr val="352CF5"/>
                </a:solidFill>
              </a:rPr>
              <a:t>α</a:t>
            </a:r>
            <a:r>
              <a:rPr lang="zh-CN" altLang="en-US" dirty="0">
                <a:solidFill>
                  <a:srgbClr val="352CF5"/>
                </a:solidFill>
              </a:rPr>
              <a:t>称为置信水平</a:t>
            </a:r>
            <a:r>
              <a:rPr lang="zh-CN" altLang="en-US" dirty="0"/>
              <a:t>：表示样本均值落在真实均值附近的概率</a:t>
            </a:r>
          </a:p>
          <a:p>
            <a:pPr algn="just" eaLnBrk="1" hangingPunct="1"/>
            <a:endParaRPr lang="zh-CN" altLang="en-US" sz="800" dirty="0"/>
          </a:p>
          <a:p>
            <a:pPr algn="just" eaLnBrk="1" hangingPunct="1"/>
            <a:endParaRPr lang="zh-CN" altLang="en-US" sz="800" dirty="0"/>
          </a:p>
          <a:p>
            <a:pPr algn="just" eaLnBrk="1" hangingPunct="1"/>
            <a:endParaRPr lang="en-US" altLang="zh-CN" dirty="0"/>
          </a:p>
          <a:p>
            <a:pPr algn="just" eaLnBrk="1" hangingPunct="1"/>
            <a:endParaRPr lang="zh-CN" altLang="en-US" dirty="0"/>
          </a:p>
        </p:txBody>
      </p:sp>
      <p:graphicFrame>
        <p:nvGraphicFramePr>
          <p:cNvPr id="37890" name="Object 4">
            <a:extLst>
              <a:ext uri="{FF2B5EF4-FFF2-40B4-BE49-F238E27FC236}">
                <a16:creationId xmlns:a16="http://schemas.microsoft.com/office/drawing/2014/main" id="{67412FCA-07BD-F3A8-2C3A-B4667D646D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447628"/>
              </p:ext>
            </p:extLst>
          </p:nvPr>
        </p:nvGraphicFramePr>
        <p:xfrm>
          <a:off x="1763688" y="858416"/>
          <a:ext cx="61753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094600" imgH="10528300" progId="Equation.3">
                  <p:embed/>
                </p:oleObj>
              </mc:Choice>
              <mc:Fallback>
                <p:oleObj r:id="rId2" imgW="71094600" imgH="1052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858416"/>
                        <a:ext cx="6175375" cy="9144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97E8F6-5625-B367-D0A3-C1328129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95435A76-80E5-984C-8CE9-4507F1183909}" type="slidenum">
              <a:rPr lang="en-US" altLang="zh-CN"/>
              <a:pPr lvl="1">
                <a:defRPr/>
              </a:pPr>
              <a:t>34</a:t>
            </a:fld>
            <a:endParaRPr lang="en-US" altLang="zh-CN">
              <a:latin typeface="+mn-lt"/>
            </a:endParaRP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FF49D9C9-CCF4-5237-A706-36EC8DDACC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407575"/>
              </p:ext>
            </p:extLst>
          </p:nvPr>
        </p:nvGraphicFramePr>
        <p:xfrm>
          <a:off x="5652120" y="3861048"/>
          <a:ext cx="114458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169900" imgH="9944100" progId="Equation.3">
                  <p:embed/>
                </p:oleObj>
              </mc:Choice>
              <mc:Fallback>
                <p:oleObj r:id="rId4" imgW="13169900" imgH="9944100" progId="Equation.3">
                  <p:embed/>
                  <p:pic>
                    <p:nvPicPr>
                      <p:cNvPr id="37893" name="Object 10">
                        <a:extLst>
                          <a:ext uri="{FF2B5EF4-FFF2-40B4-BE49-F238E27FC236}">
                            <a16:creationId xmlns:a16="http://schemas.microsoft.com/office/drawing/2014/main" id="{A0221BFE-CCAA-F74D-6A34-460DCDCB52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861048"/>
                        <a:ext cx="1144588" cy="85883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8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8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DAC7F-0842-4FC0-FC2C-F9623E22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3">
            <a:extLst>
              <a:ext uri="{FF2B5EF4-FFF2-40B4-BE49-F238E27FC236}">
                <a16:creationId xmlns:a16="http://schemas.microsoft.com/office/drawing/2014/main" id="{AD1B59CB-9C72-78C1-D391-E510F21D6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196752"/>
            <a:ext cx="8131497" cy="1964252"/>
          </a:xfrm>
        </p:spPr>
        <p:txBody>
          <a:bodyPr/>
          <a:lstStyle/>
          <a:p>
            <a:pPr algn="just" eaLnBrk="1" hangingPunct="1"/>
            <a:r>
              <a:rPr lang="en-US" altLang="zh-CN" sz="2800" dirty="0"/>
              <a:t>	</a:t>
            </a:r>
            <a:r>
              <a:rPr lang="zh-CN" altLang="en-US" sz="2800" dirty="0"/>
              <a:t>为置信水平对应的</a:t>
            </a:r>
            <a:r>
              <a:rPr lang="zh-CN" altLang="en-US" sz="2800" dirty="0">
                <a:solidFill>
                  <a:srgbClr val="352CF5"/>
                </a:solidFill>
              </a:rPr>
              <a:t>标准正态分布临界值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000000"/>
                </a:solidFill>
              </a:rPr>
              <a:t>与</a:t>
            </a:r>
            <a:r>
              <a:rPr lang="zh-CN" altLang="en-US" sz="2800" dirty="0"/>
              <a:t>置信度</a:t>
            </a:r>
            <a:r>
              <a:rPr lang="en-US" altLang="zh-CN" sz="2800" dirty="0"/>
              <a:t>α</a:t>
            </a:r>
            <a:r>
              <a:rPr lang="zh-CN" altLang="en-US" sz="2800" dirty="0"/>
              <a:t>是一一对应的，根据问题的要求确定出置信水平后通过查标准正态分布表确定</a:t>
            </a:r>
            <a:r>
              <a:rPr lang="en-US" altLang="zh-CN" sz="2800" dirty="0"/>
              <a:t>	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just" eaLnBrk="1" hangingPunct="1"/>
            <a:endParaRPr lang="en-US" altLang="zh-CN" sz="2800" dirty="0"/>
          </a:p>
          <a:p>
            <a:pPr algn="just" eaLnBrk="1" hangingPunct="1"/>
            <a:endParaRPr lang="zh-CN" altLang="en-US" sz="2800" dirty="0"/>
          </a:p>
        </p:txBody>
      </p:sp>
      <p:graphicFrame>
        <p:nvGraphicFramePr>
          <p:cNvPr id="37893" name="Object 10">
            <a:extLst>
              <a:ext uri="{FF2B5EF4-FFF2-40B4-BE49-F238E27FC236}">
                <a16:creationId xmlns:a16="http://schemas.microsoft.com/office/drawing/2014/main" id="{A0221BFE-CCAA-F74D-6A34-460DCDCB5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979721"/>
              </p:ext>
            </p:extLst>
          </p:nvPr>
        </p:nvGraphicFramePr>
        <p:xfrm>
          <a:off x="3424237" y="119261"/>
          <a:ext cx="114458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169900" imgH="9944100" progId="Equation.3">
                  <p:embed/>
                </p:oleObj>
              </mc:Choice>
              <mc:Fallback>
                <p:oleObj r:id="rId2" imgW="13169900" imgH="9944100" progId="Equation.3">
                  <p:embed/>
                  <p:pic>
                    <p:nvPicPr>
                      <p:cNvPr id="37893" name="Object 10">
                        <a:extLst>
                          <a:ext uri="{FF2B5EF4-FFF2-40B4-BE49-F238E27FC236}">
                            <a16:creationId xmlns:a16="http://schemas.microsoft.com/office/drawing/2014/main" id="{0A1D824B-45B6-C26F-14FE-34502527F4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7" y="119261"/>
                        <a:ext cx="114458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14">
            <a:extLst>
              <a:ext uri="{FF2B5EF4-FFF2-40B4-BE49-F238E27FC236}">
                <a16:creationId xmlns:a16="http://schemas.microsoft.com/office/drawing/2014/main" id="{F7B2F820-8D11-2DD4-73B7-141359ACD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690045"/>
              </p:ext>
            </p:extLst>
          </p:nvPr>
        </p:nvGraphicFramePr>
        <p:xfrm>
          <a:off x="683568" y="1238784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94200" imgH="5270500" progId="Equation.3">
                  <p:embed/>
                </p:oleObj>
              </mc:Choice>
              <mc:Fallback>
                <p:oleObj r:id="rId4" imgW="4394200" imgH="5270500" progId="Equation.3">
                  <p:embed/>
                  <p:pic>
                    <p:nvPicPr>
                      <p:cNvPr id="37895" name="Object 14">
                        <a:extLst>
                          <a:ext uri="{FF2B5EF4-FFF2-40B4-BE49-F238E27FC236}">
                            <a16:creationId xmlns:a16="http://schemas.microsoft.com/office/drawing/2014/main" id="{D0AFB3AC-1519-0BFB-157F-9CBF9AF2D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238784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EAF7FA-D8C7-51ED-2685-633576BF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95435A76-80E5-984C-8CE9-4507F1183909}" type="slidenum">
              <a:rPr lang="en-US" altLang="zh-CN"/>
              <a:pPr lvl="1">
                <a:defRPr/>
              </a:pPr>
              <a:t>35</a:t>
            </a:fld>
            <a:endParaRPr lang="en-US" altLang="zh-CN">
              <a:latin typeface="+mn-lt"/>
            </a:endParaRPr>
          </a:p>
        </p:txBody>
      </p:sp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23ED872E-5C23-5C3E-6E6A-93B13716A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342837"/>
              </p:ext>
            </p:extLst>
          </p:nvPr>
        </p:nvGraphicFramePr>
        <p:xfrm>
          <a:off x="6516216" y="2408312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94200" imgH="5270500" progId="Equation.3">
                  <p:embed/>
                </p:oleObj>
              </mc:Choice>
              <mc:Fallback>
                <p:oleObj r:id="rId4" imgW="4394200" imgH="5270500" progId="Equation.3">
                  <p:embed/>
                  <p:pic>
                    <p:nvPicPr>
                      <p:cNvPr id="37895" name="Object 14">
                        <a:extLst>
                          <a:ext uri="{FF2B5EF4-FFF2-40B4-BE49-F238E27FC236}">
                            <a16:creationId xmlns:a16="http://schemas.microsoft.com/office/drawing/2014/main" id="{F7B2F820-8D11-2DD4-73B7-141359ACD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6" y="2408312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FCAC932D-4F6E-4E69-4289-AD77250C2E8C}"/>
              </a:ext>
            </a:extLst>
          </p:cNvPr>
          <p:cNvGrpSpPr/>
          <p:nvPr/>
        </p:nvGrpSpPr>
        <p:grpSpPr>
          <a:xfrm>
            <a:off x="2208213" y="328612"/>
            <a:ext cx="4991100" cy="6453336"/>
            <a:chOff x="2208213" y="328612"/>
            <a:chExt cx="4991100" cy="6453336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40F5B5A8-78F0-C252-6F5B-B41E4162A6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00"/>
            <a:stretch/>
          </p:blipFill>
          <p:spPr bwMode="auto">
            <a:xfrm>
              <a:off x="2208213" y="328612"/>
              <a:ext cx="4991100" cy="6453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7A6285D7-25D4-A8D7-F8BF-0A27CBF1E546}"/>
                    </a:ext>
                  </a:extLst>
                </p14:cNvPr>
                <p14:cNvContentPartPr/>
                <p14:nvPr/>
              </p14:nvContentPartPr>
              <p14:xfrm>
                <a:off x="5307968" y="4706002"/>
                <a:ext cx="537480" cy="24660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7A6285D7-25D4-A8D7-F8BF-0A27CBF1E54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72328" y="4670362"/>
                  <a:ext cx="609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7187DDFC-17B0-1AC8-D983-E0542CCA1048}"/>
                    </a:ext>
                  </a:extLst>
                </p14:cNvPr>
                <p14:cNvContentPartPr/>
                <p14:nvPr/>
              </p14:nvContentPartPr>
              <p14:xfrm>
                <a:off x="2212688" y="4954762"/>
                <a:ext cx="276120" cy="3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7187DDFC-17B0-1AC8-D983-E0542CCA10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77048" y="4918762"/>
                  <a:ext cx="347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298BDEB7-0AE9-F72B-22F1-1B22661BEEF1}"/>
                    </a:ext>
                  </a:extLst>
                </p14:cNvPr>
                <p14:cNvContentPartPr/>
                <p14:nvPr/>
              </p14:nvContentPartPr>
              <p14:xfrm>
                <a:off x="5382848" y="546922"/>
                <a:ext cx="39240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298BDEB7-0AE9-F72B-22F1-1B22661BEE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47208" y="510922"/>
                  <a:ext cx="46404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439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24EFC-267B-BC4F-ED53-C1D80B64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140" y="71195"/>
            <a:ext cx="8080375" cy="1143000"/>
          </a:xfrm>
        </p:spPr>
        <p:txBody>
          <a:bodyPr anchor="t"/>
          <a:lstStyle/>
          <a:p>
            <a:r>
              <a:rPr kumimoji="1" lang="zh-CN" altLang="en-US" dirty="0"/>
              <a:t>例题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C6CF3DC-BABD-4BB5-9B69-B19CDF154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289" y="707856"/>
            <a:ext cx="8080375" cy="307374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E9D96D-2235-C6BC-3DEA-117E9CD2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36</a:t>
            </a:fld>
            <a:endParaRPr lang="en-US" altLang="zh-CN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C5D334-2436-A236-E64E-61520DAD2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766"/>
          <a:stretch/>
        </p:blipFill>
        <p:spPr>
          <a:xfrm>
            <a:off x="653020" y="3689627"/>
            <a:ext cx="7772400" cy="28397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E026C7-B25A-FDB8-7429-BBC071C22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6055349"/>
            <a:ext cx="2247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12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142B2-5A7D-6139-8399-85373BFA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15" y="0"/>
            <a:ext cx="8080375" cy="1143000"/>
          </a:xfrm>
        </p:spPr>
        <p:txBody>
          <a:bodyPr anchor="t"/>
          <a:lstStyle/>
          <a:p>
            <a:r>
              <a:rPr kumimoji="1" lang="zh-CN" altLang="en-US" dirty="0"/>
              <a:t>如何确定临界值？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C4ABEBC-61F6-16DB-6D42-235111104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420" y="822286"/>
            <a:ext cx="8080375" cy="210265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BECB58-0553-42A4-DCF4-A51F4821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37</a:t>
            </a:fld>
            <a:endParaRPr lang="en-US" altLang="zh-CN">
              <a:latin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41EF41-BBD1-277D-A4B1-CE3A0A17A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15" y="2924944"/>
            <a:ext cx="7772400" cy="21585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4F06A48-E336-F9AD-0B2F-DA02438DB9FF}"/>
              </a:ext>
            </a:extLst>
          </p:cNvPr>
          <p:cNvSpPr txBox="1"/>
          <p:nvPr/>
        </p:nvSpPr>
        <p:spPr>
          <a:xfrm>
            <a:off x="470215" y="5204717"/>
            <a:ext cx="8300580" cy="1316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52CF5"/>
                </a:solidFill>
              </a:rPr>
              <a:t>这表示标准正态分布上，从</a:t>
            </a:r>
            <a:r>
              <a:rPr lang="en-US" altLang="zh-CN" dirty="0">
                <a:solidFill>
                  <a:srgbClr val="352CF5"/>
                </a:solidFill>
              </a:rPr>
              <a:t>-1.96</a:t>
            </a:r>
            <a:r>
              <a:rPr lang="zh-CN" altLang="en-US" dirty="0">
                <a:solidFill>
                  <a:srgbClr val="352CF5"/>
                </a:solidFill>
              </a:rPr>
              <a:t>到</a:t>
            </a:r>
            <a:r>
              <a:rPr lang="en-US" altLang="zh-CN" dirty="0">
                <a:solidFill>
                  <a:srgbClr val="352CF5"/>
                </a:solidFill>
              </a:rPr>
              <a:t>1.96</a:t>
            </a:r>
            <a:r>
              <a:rPr lang="zh-CN" altLang="en-US" dirty="0">
                <a:solidFill>
                  <a:srgbClr val="352CF5"/>
                </a:solidFill>
              </a:rPr>
              <a:t>之间覆盖了</a:t>
            </a:r>
            <a:r>
              <a:rPr lang="en-US" altLang="zh-CN" dirty="0">
                <a:solidFill>
                  <a:srgbClr val="352CF5"/>
                </a:solidFill>
              </a:rPr>
              <a:t>95%</a:t>
            </a:r>
            <a:r>
              <a:rPr lang="zh-CN" altLang="en-US" dirty="0">
                <a:solidFill>
                  <a:srgbClr val="352CF5"/>
                </a:solidFill>
              </a:rPr>
              <a:t>的概率，两侧各剩下</a:t>
            </a:r>
            <a:r>
              <a:rPr lang="en-US" altLang="zh-CN" dirty="0">
                <a:solidFill>
                  <a:srgbClr val="352CF5"/>
                </a:solidFill>
              </a:rPr>
              <a:t>2.5%</a:t>
            </a:r>
            <a:r>
              <a:rPr lang="zh-CN" altLang="en-US" dirty="0">
                <a:solidFill>
                  <a:srgbClr val="352CF5"/>
                </a:solidFill>
              </a:rPr>
              <a:t>的概率。</a:t>
            </a:r>
            <a:endParaRPr lang="en-US" altLang="zh-CN" dirty="0">
              <a:solidFill>
                <a:srgbClr val="352CF5"/>
              </a:solidFill>
            </a:endParaRPr>
          </a:p>
          <a:p>
            <a:pPr marL="342900" indent="-34290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52CF5"/>
                </a:solidFill>
              </a:rPr>
              <a:t>总结： </a:t>
            </a:r>
            <a:r>
              <a:rPr lang="en-US" altLang="zh-CN" dirty="0">
                <a:solidFill>
                  <a:srgbClr val="352CF5"/>
                </a:solidFill>
              </a:rPr>
              <a:t>95%</a:t>
            </a:r>
            <a:r>
              <a:rPr lang="zh-CN" altLang="en-US" dirty="0">
                <a:solidFill>
                  <a:srgbClr val="352CF5"/>
                </a:solidFill>
              </a:rPr>
              <a:t>置信水平下常用的临界值记住即可： </a:t>
            </a:r>
            <a:r>
              <a:rPr lang="en-US" altLang="zh-CN" dirty="0">
                <a:solidFill>
                  <a:srgbClr val="352CF5"/>
                </a:solidFill>
              </a:rPr>
              <a:t>1.96</a:t>
            </a:r>
            <a:endParaRPr lang="zh-CN" altLang="en-US" dirty="0">
              <a:solidFill>
                <a:srgbClr val="352C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59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91D57-91C9-55D1-890C-D962C236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6C568E2-1C53-AAD9-A26F-CCBC6CE69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625" y="4475418"/>
            <a:ext cx="8080375" cy="218759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E9E937-8D40-F8A1-77A6-4A9BDA87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C27EED1-37F4-254B-A888-BC9D4AF20D6B}" type="slidenum">
              <a:rPr lang="en-US" altLang="zh-CN" smtClean="0"/>
              <a:pPr lvl="1">
                <a:defRPr/>
              </a:pPr>
              <a:t>38</a:t>
            </a:fld>
            <a:endParaRPr lang="en-US" altLang="zh-CN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BE93FD-947F-3D88-53E4-6B8CA90CE5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81"/>
          <a:stretch/>
        </p:blipFill>
        <p:spPr>
          <a:xfrm>
            <a:off x="543970" y="1988840"/>
            <a:ext cx="8219030" cy="24865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B794E1-CD17-BBA5-621E-BBABA182A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4" y="48774"/>
            <a:ext cx="8080375" cy="19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71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D0D9F02-7321-E96F-41CB-97FF3967A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 typeface="Wingdings" pitchFamily="2" charset="2"/>
              <a:buChar char="Ø"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减小方差的各种技巧</a:t>
            </a:r>
            <a:r>
              <a:rPr lang="zh-CN" altLang="en-US" dirty="0"/>
              <a:t> 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5A1C5C06-A6AE-55AE-5CC7-61D9D067A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2716" y="1371600"/>
            <a:ext cx="8080375" cy="453707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600" dirty="0"/>
              <a:t> </a:t>
            </a:r>
            <a:r>
              <a:rPr lang="zh-CN" altLang="en-US" sz="2600" dirty="0"/>
              <a:t>显然，当给定置信度</a:t>
            </a:r>
            <a:r>
              <a:rPr lang="en-US" altLang="zh-CN" sz="2600" dirty="0"/>
              <a:t>α</a:t>
            </a:r>
            <a:r>
              <a:rPr lang="zh-CN" altLang="en-US" sz="2600" dirty="0"/>
              <a:t>后，</a:t>
            </a:r>
            <a:r>
              <a:rPr lang="zh-CN" altLang="en-US" sz="2600" dirty="0">
                <a:solidFill>
                  <a:srgbClr val="000000"/>
                </a:solidFill>
              </a:rPr>
              <a:t>误差</a:t>
            </a:r>
            <a:r>
              <a:rPr lang="en-US" altLang="zh-CN" sz="2600" dirty="0" err="1">
                <a:solidFill>
                  <a:srgbClr val="000000"/>
                </a:solidFill>
              </a:rPr>
              <a:t>ε</a:t>
            </a:r>
            <a:r>
              <a:rPr lang="zh-CN" altLang="en-US" sz="2600" dirty="0">
                <a:solidFill>
                  <a:srgbClr val="000000"/>
                </a:solidFill>
              </a:rPr>
              <a:t>由</a:t>
            </a:r>
            <a:r>
              <a:rPr lang="en-US" altLang="zh-CN" sz="2600" dirty="0" err="1">
                <a:solidFill>
                  <a:srgbClr val="000000"/>
                </a:solidFill>
              </a:rPr>
              <a:t>σ</a:t>
            </a:r>
            <a:r>
              <a:rPr lang="zh-CN" altLang="en-US" sz="2600" dirty="0">
                <a:solidFill>
                  <a:srgbClr val="000000"/>
                </a:solidFill>
              </a:rPr>
              <a:t>和</a:t>
            </a:r>
            <a:r>
              <a:rPr lang="en-US" altLang="zh-CN" sz="2600" i="1" dirty="0">
                <a:solidFill>
                  <a:srgbClr val="000000"/>
                </a:solidFill>
              </a:rPr>
              <a:t>N</a:t>
            </a:r>
            <a:r>
              <a:rPr lang="zh-CN" altLang="en-US" sz="2600" dirty="0">
                <a:solidFill>
                  <a:srgbClr val="000000"/>
                </a:solidFill>
              </a:rPr>
              <a:t>决定。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rgbClr val="000000"/>
                </a:solidFill>
              </a:rPr>
              <a:t>要减小</a:t>
            </a:r>
            <a:r>
              <a:rPr lang="en-US" altLang="zh-CN" sz="2600" dirty="0" err="1">
                <a:solidFill>
                  <a:srgbClr val="000000"/>
                </a:solidFill>
              </a:rPr>
              <a:t>ε</a:t>
            </a:r>
            <a:r>
              <a:rPr lang="zh-CN" altLang="en-US" sz="2600" dirty="0">
                <a:solidFill>
                  <a:srgbClr val="000000"/>
                </a:solidFill>
              </a:rPr>
              <a:t>，或者是增大</a:t>
            </a:r>
            <a:r>
              <a:rPr lang="en-US" altLang="zh-CN" sz="2600" i="1" dirty="0">
                <a:solidFill>
                  <a:srgbClr val="000000"/>
                </a:solidFill>
              </a:rPr>
              <a:t>N</a:t>
            </a:r>
            <a:r>
              <a:rPr lang="zh-CN" altLang="en-US" sz="2600" dirty="0">
                <a:solidFill>
                  <a:srgbClr val="000000"/>
                </a:solidFill>
              </a:rPr>
              <a:t>，或者是减小</a:t>
            </a:r>
            <a:r>
              <a:rPr lang="zh-CN" altLang="en-US" sz="2600" dirty="0"/>
              <a:t>方差</a:t>
            </a:r>
            <a:r>
              <a:rPr lang="en-US" altLang="zh-CN" sz="2600" dirty="0"/>
              <a:t>σ</a:t>
            </a:r>
            <a:r>
              <a:rPr lang="en-US" altLang="zh-CN" sz="2600" baseline="30000" dirty="0"/>
              <a:t>2</a:t>
            </a:r>
            <a:r>
              <a:rPr lang="zh-CN" altLang="en-US" sz="2600" dirty="0">
                <a:solidFill>
                  <a:srgbClr val="000000"/>
                </a:solidFill>
              </a:rPr>
              <a:t>。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>
                <a:solidFill>
                  <a:srgbClr val="000000"/>
                </a:solidFill>
              </a:rPr>
              <a:t>在</a:t>
            </a:r>
            <a:r>
              <a:rPr lang="en-US" altLang="zh-CN" sz="2600" dirty="0" err="1"/>
              <a:t>σ</a:t>
            </a:r>
            <a:r>
              <a:rPr lang="zh-CN" altLang="en-US" sz="2600" dirty="0">
                <a:solidFill>
                  <a:srgbClr val="000000"/>
                </a:solidFill>
              </a:rPr>
              <a:t>固定</a:t>
            </a:r>
            <a:r>
              <a:rPr lang="zh-CN" altLang="en-US" sz="2600" dirty="0"/>
              <a:t>的情况下，要把</a:t>
            </a:r>
            <a:r>
              <a:rPr lang="zh-CN" altLang="en-US" sz="2600" dirty="0">
                <a:solidFill>
                  <a:srgbClr val="352CF5"/>
                </a:solidFill>
              </a:rPr>
              <a:t>精度提高一个数量级，试验次数</a:t>
            </a:r>
            <a:r>
              <a:rPr lang="en-US" altLang="zh-CN" sz="2600" i="1" dirty="0">
                <a:solidFill>
                  <a:srgbClr val="352CF5"/>
                </a:solidFill>
              </a:rPr>
              <a:t>N</a:t>
            </a:r>
            <a:r>
              <a:rPr lang="zh-CN" altLang="en-US" sz="2600" dirty="0">
                <a:solidFill>
                  <a:srgbClr val="352CF5"/>
                </a:solidFill>
              </a:rPr>
              <a:t>需增加两个数量级</a:t>
            </a:r>
            <a:r>
              <a:rPr lang="zh-CN" altLang="en-US" sz="2600" dirty="0"/>
              <a:t>。因此，单纯增大</a:t>
            </a:r>
            <a:r>
              <a:rPr lang="en-US" altLang="zh-CN" sz="2600" i="1" dirty="0">
                <a:solidFill>
                  <a:srgbClr val="000000"/>
                </a:solidFill>
              </a:rPr>
              <a:t>N</a:t>
            </a:r>
            <a:r>
              <a:rPr lang="zh-CN" altLang="en-US" sz="2600" dirty="0"/>
              <a:t>不是一个有效的办法。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600" dirty="0"/>
              <a:t>另一方面，如能减小估计的均方差</a:t>
            </a:r>
            <a:r>
              <a:rPr lang="en-US" altLang="zh-CN" sz="2600" dirty="0" err="1"/>
              <a:t>σ</a:t>
            </a:r>
            <a:r>
              <a:rPr lang="zh-CN" altLang="en-US" sz="2600" dirty="0"/>
              <a:t>，比如降低一半，那误差就减小一半，这相当于</a:t>
            </a:r>
            <a:r>
              <a:rPr lang="en-US" altLang="zh-CN" sz="2600" i="1" dirty="0">
                <a:solidFill>
                  <a:srgbClr val="000000"/>
                </a:solidFill>
              </a:rPr>
              <a:t>N</a:t>
            </a:r>
            <a:r>
              <a:rPr lang="zh-CN" altLang="en-US" sz="2600" dirty="0"/>
              <a:t>增大四倍的效果。</a:t>
            </a:r>
          </a:p>
        </p:txBody>
      </p:sp>
      <p:sp>
        <p:nvSpPr>
          <p:cNvPr id="39939" name="AutoShap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5E4237B-697C-DF1E-C650-3160E7C8F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39940" name="AutoShape 8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CBB04DC5-98B6-BD8C-E6F1-C25018A6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8645BA-61ED-EA24-671B-F5AB4B0A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F8DDED70-0534-074C-8462-0DB4EAD3C42A}" type="slidenum">
              <a:rPr lang="en-US" altLang="zh-CN"/>
              <a:pPr lvl="1">
                <a:defRPr/>
              </a:pPr>
              <a:t>39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8F7EFB6-7DBD-5BCE-62D8-CCF006A09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 eaLnBrk="1" hangingPunct="1">
              <a:buFont typeface="Wingdings" pitchFamily="2" charset="2"/>
              <a:buChar char="Ø"/>
              <a:defRPr/>
            </a:pPr>
            <a:r>
              <a:rPr lang="zh-CN" altLang="en-US" b="1">
                <a:latin typeface="Times New Roman" panose="02020603050405020304" pitchFamily="18" charset="0"/>
              </a:rPr>
              <a:t>作 业</a:t>
            </a:r>
            <a:r>
              <a:rPr lang="zh-CN" altLang="en-US"/>
              <a:t> 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2429901A-5F86-2002-436F-2D458F8A6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buSzTx/>
              <a:buFont typeface="Wingdings" pitchFamily="2" charset="2"/>
              <a:buAutoNum type="arabicParenR"/>
            </a:pPr>
            <a:r>
              <a:rPr lang="zh-CN" altLang="en-US"/>
              <a:t>用蒲丰投针法在计算机上计算</a:t>
            </a:r>
            <a:r>
              <a:rPr lang="en-US" altLang="zh-CN"/>
              <a:t>π</a:t>
            </a:r>
            <a:r>
              <a:rPr lang="zh-CN" altLang="en-US"/>
              <a:t>值，取</a:t>
            </a:r>
            <a:r>
              <a:rPr lang="en-US" altLang="zh-CN" i="1"/>
              <a:t>a</a:t>
            </a:r>
            <a:r>
              <a:rPr lang="en-US" altLang="zh-CN"/>
              <a:t>=4</a:t>
            </a:r>
            <a:r>
              <a:rPr lang="zh-CN" altLang="en-US"/>
              <a:t>、</a:t>
            </a:r>
            <a:r>
              <a:rPr lang="en-US" altLang="zh-CN" i="1"/>
              <a:t>l</a:t>
            </a:r>
            <a:r>
              <a:rPr lang="en-US" altLang="zh-CN"/>
              <a:t>=3</a:t>
            </a:r>
            <a:r>
              <a:rPr lang="zh-CN" altLang="en-US"/>
              <a:t>。</a:t>
            </a:r>
          </a:p>
          <a:p>
            <a:pPr marL="457200" indent="-457200" eaLnBrk="1" hangingPunct="1">
              <a:buSzTx/>
              <a:buFont typeface="Wingdings" pitchFamily="2" charset="2"/>
              <a:buAutoNum type="arabicParenR"/>
            </a:pPr>
            <a:endParaRPr lang="zh-CN" altLang="en-US"/>
          </a:p>
          <a:p>
            <a:pPr marL="457200" indent="-457200" eaLnBrk="1" hangingPunct="1">
              <a:buSzTx/>
              <a:buFont typeface="Wingdings" pitchFamily="2" charset="2"/>
              <a:buAutoNum type="arabicParenR"/>
            </a:pPr>
            <a:r>
              <a:rPr lang="zh-CN" altLang="en-US"/>
              <a:t>分别用理论计算和计算机模拟计算，求连续掷两颗骰子，点数之和大于</a:t>
            </a:r>
            <a:r>
              <a:rPr lang="en-US" altLang="zh-CN"/>
              <a:t>6</a:t>
            </a:r>
            <a:r>
              <a:rPr lang="zh-CN" altLang="en-US"/>
              <a:t>且第一次掷出的点数大于第二次掷出点数的概率。 </a:t>
            </a:r>
          </a:p>
        </p:txBody>
      </p:sp>
      <p:sp>
        <p:nvSpPr>
          <p:cNvPr id="53251" name="AutoShap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DA792B9-AB7F-53A0-6A86-7CA8A277B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6638" y="6116638"/>
            <a:ext cx="522287" cy="522287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53252" name="AutoShape 8">
            <a:hlinkClick r:id="rId3" action="ppaction://hlinkpres?slideindex=2&amp;slidetitle=目  录 " highlightClick="1"/>
            <a:extLst>
              <a:ext uri="{FF2B5EF4-FFF2-40B4-BE49-F238E27FC236}">
                <a16:creationId xmlns:a16="http://schemas.microsoft.com/office/drawing/2014/main" id="{3B6F3ED7-B1B9-ED5B-6822-0A5B7AD88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16638"/>
            <a:ext cx="522288" cy="522287"/>
          </a:xfrm>
          <a:prstGeom prst="actionButtonHome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rgbClr val="00CCFF"/>
              </a:buClr>
              <a:buSzPct val="65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F1CB03-F2FC-F065-01D8-C5B6A536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1">
              <a:defRPr/>
            </a:pPr>
            <a:fld id="{BBBCAE08-7A0E-0A40-9108-B943D2F89D4D}" type="slidenum">
              <a:rPr lang="en-US" altLang="zh-CN"/>
              <a:pPr lvl="1">
                <a:defRPr/>
              </a:pPr>
              <a:t>40</a:t>
            </a:fld>
            <a:endParaRPr lang="en-US" altLang="zh-CN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培训">
  <a:themeElements>
    <a:clrScheme name="">
      <a:dk1>
        <a:srgbClr val="000000"/>
      </a:dk1>
      <a:lt1>
        <a:srgbClr val="FFFFFF"/>
      </a:lt1>
      <a:dk2>
        <a:srgbClr val="000000"/>
      </a:dk2>
      <a:lt2>
        <a:srgbClr val="CCECFF"/>
      </a:lt2>
      <a:accent1>
        <a:srgbClr val="6699FF"/>
      </a:accent1>
      <a:accent2>
        <a:srgbClr val="00CCCC"/>
      </a:accent2>
      <a:accent3>
        <a:srgbClr val="FFFFFF"/>
      </a:accent3>
      <a:accent4>
        <a:srgbClr val="000000"/>
      </a:accent4>
      <a:accent5>
        <a:srgbClr val="B8CAFF"/>
      </a:accent5>
      <a:accent6>
        <a:srgbClr val="00B9B9"/>
      </a:accent6>
      <a:hlink>
        <a:srgbClr val="3333FF"/>
      </a:hlink>
      <a:folHlink>
        <a:srgbClr val="66CCFF"/>
      </a:folHlink>
    </a:clrScheme>
    <a:fontScheme name="培训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46038" rIns="182562" bIns="46038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0" tIns="46038" rIns="182562" bIns="46038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5000"/>
          <a:buFont typeface="Wingdings" pitchFamily="2" charset="2"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培训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CCFF"/>
        </a:accent1>
        <a:accent2>
          <a:srgbClr val="FFFF00"/>
        </a:accent2>
        <a:accent3>
          <a:srgbClr val="AAAAFF"/>
        </a:accent3>
        <a:accent4>
          <a:srgbClr val="DADADA"/>
        </a:accent4>
        <a:accent5>
          <a:srgbClr val="AAE2FF"/>
        </a:accent5>
        <a:accent6>
          <a:srgbClr val="E7E700"/>
        </a:accent6>
        <a:hlink>
          <a:srgbClr val="FF0033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培训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00CCCC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00B9B9"/>
        </a:accent6>
        <a:hlink>
          <a:srgbClr val="CC99FF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培训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5F5F5F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培训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FFFF0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E7E700"/>
        </a:accent6>
        <a:hlink>
          <a:srgbClr val="6600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培训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FFFF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E7E700"/>
        </a:accent6>
        <a:hlink>
          <a:srgbClr val="CC0000"/>
        </a:hlink>
        <a:folHlink>
          <a:srgbClr val="CC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5412</TotalTime>
  <Words>2670</Words>
  <Application>Microsoft Macintosh PowerPoint</Application>
  <PresentationFormat>顶置</PresentationFormat>
  <Paragraphs>277</Paragraphs>
  <Slides>40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0" baseType="lpstr">
      <vt:lpstr>-apple-system</vt:lpstr>
      <vt:lpstr>仿宋_GB2312</vt:lpstr>
      <vt:lpstr>Arial</vt:lpstr>
      <vt:lpstr>Georgia</vt:lpstr>
      <vt:lpstr>Helvetica</vt:lpstr>
      <vt:lpstr>Times New Roman</vt:lpstr>
      <vt:lpstr>Wingdings</vt:lpstr>
      <vt:lpstr>培训</vt:lpstr>
      <vt:lpstr>Equation</vt:lpstr>
      <vt:lpstr>Equation.3</vt:lpstr>
      <vt:lpstr>第一章  蒙特卡罗方法概述</vt:lpstr>
      <vt:lpstr>第一章  蒙特卡罗方法概述</vt:lpstr>
      <vt:lpstr>蒙特卡罗方法的基本思想</vt:lpstr>
      <vt:lpstr>例1. 蒲丰氏问题</vt:lpstr>
      <vt:lpstr>PowerPoint 演示文稿</vt:lpstr>
      <vt:lpstr>π计算的另一个方法</vt:lpstr>
      <vt:lpstr>例2. 射击问题（打靶游戏） </vt:lpstr>
      <vt:lpstr>PowerPoint 演示文稿</vt:lpstr>
      <vt:lpstr>基本思想 </vt:lpstr>
      <vt:lpstr>证明过程</vt:lpstr>
      <vt:lpstr>PowerPoint 演示文稿</vt:lpstr>
      <vt:lpstr>PowerPoint 演示文稿</vt:lpstr>
      <vt:lpstr>蒙特卡罗方法的基本思想</vt:lpstr>
      <vt:lpstr>计算机模拟试验过程 </vt:lpstr>
      <vt:lpstr>例１．蒲丰氏问题</vt:lpstr>
      <vt:lpstr>PowerPoint 演示文稿</vt:lpstr>
      <vt:lpstr>PowerPoint 演示文稿</vt:lpstr>
      <vt:lpstr>MATLAB代码：</vt:lpstr>
      <vt:lpstr>例２．射击问题 </vt:lpstr>
      <vt:lpstr>第一章  蒙特卡罗方法概述</vt:lpstr>
      <vt:lpstr>蒙特卡罗方法的收敛性，误差 </vt:lpstr>
      <vt:lpstr>收敛性 </vt:lpstr>
      <vt:lpstr>强调 “以概率 1” 收敛的含义？</vt:lpstr>
      <vt:lpstr>举例：</vt:lpstr>
      <vt:lpstr>补充概念：随机变量的期望和方差 vs. 样本的期望和方差</vt:lpstr>
      <vt:lpstr>举例：</vt:lpstr>
      <vt:lpstr>误差 </vt:lpstr>
      <vt:lpstr>补充：样本均值的方差</vt:lpstr>
      <vt:lpstr>PowerPoint 演示文稿</vt:lpstr>
      <vt:lpstr>PowerPoint 演示文稿</vt:lpstr>
      <vt:lpstr>概念补充：归一化/标准化</vt:lpstr>
      <vt:lpstr>中心极限定理（Central Limit Theorem, CLT）</vt:lpstr>
      <vt:lpstr>直观理解</vt:lpstr>
      <vt:lpstr>PowerPoint 演示文稿</vt:lpstr>
      <vt:lpstr>PowerPoint 演示文稿</vt:lpstr>
      <vt:lpstr>例题</vt:lpstr>
      <vt:lpstr>如何确定临界值？</vt:lpstr>
      <vt:lpstr>PowerPoint 演示文稿</vt:lpstr>
      <vt:lpstr>减小方差的各种技巧 </vt:lpstr>
      <vt:lpstr>作 业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office</cp:lastModifiedBy>
  <cp:revision>97</cp:revision>
  <cp:lastPrinted>1601-01-01T00:00:00Z</cp:lastPrinted>
  <dcterms:created xsi:type="dcterms:W3CDTF">1601-01-01T00:00:00Z</dcterms:created>
  <dcterms:modified xsi:type="dcterms:W3CDTF">2025-03-20T03:36:04Z</dcterms:modified>
</cp:coreProperties>
</file>